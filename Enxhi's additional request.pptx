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6" r:id="rId4"/>
    <p:sldId id="262" r:id="rId5"/>
    <p:sldId id="267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95" d="100"/>
          <a:sy n="95" d="100"/>
        </p:scale>
        <p:origin x="124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617720" y="4572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-50292"/>
            <a:ext cx="2743200" cy="2743200"/>
          </a:xfrm>
          <a:prstGeom prst="ellipse">
            <a:avLst/>
          </a:prstGeom>
          <a:solidFill>
            <a:srgbClr val="0B2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RIDETRUE  ·  PROTOCOL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CFDF5"/>
                </a:solidFill>
                <a:latin typeface="Calibri"/>
              </a:rPr>
              <a:t>Claim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A7F3D0"/>
                </a:solidFill>
                <a:latin typeface="Calibri"/>
              </a:rPr>
              <a:t>End-to-end automated · oracle-verified · settled on-chain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97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85900" y="2491740"/>
            <a:ext cx="3611880" cy="3611880"/>
          </a:xfrm>
          <a:prstGeom prst="ellipse">
            <a:avLst/>
          </a:prstGeom>
          <a:noFill/>
          <a:ln w="19050">
            <a:solidFill>
              <a:srgbClr val="86EF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51760" y="3657600"/>
            <a:ext cx="1280160" cy="1280160"/>
          </a:xfrm>
          <a:prstGeom prst="ellipse">
            <a:avLst/>
          </a:prstGeom>
          <a:noFill/>
          <a:ln w="9525">
            <a:solidFill>
              <a:srgbClr val="4ADE8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 rot="7200000">
            <a:off x="4000500" y="2570607"/>
            <a:ext cx="365760" cy="36576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4892040" y="4114800"/>
            <a:ext cx="365760" cy="36576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14400000">
            <a:off x="4000500" y="5658992"/>
            <a:ext cx="365760" cy="36576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sosceles Triangle 14"/>
          <p:cNvSpPr/>
          <p:nvPr/>
        </p:nvSpPr>
        <p:spPr>
          <a:xfrm rot="18000000">
            <a:off x="2217420" y="5658992"/>
            <a:ext cx="365760" cy="36576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>
            <a:off x="1325880" y="4114800"/>
            <a:ext cx="365760" cy="36576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/>
          <p:cNvSpPr/>
          <p:nvPr/>
        </p:nvSpPr>
        <p:spPr>
          <a:xfrm rot="3600000">
            <a:off x="2217419" y="2570607"/>
            <a:ext cx="365760" cy="36576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66060" y="1988820"/>
            <a:ext cx="1051560" cy="1051560"/>
          </a:xfrm>
          <a:prstGeom prst="ellipse">
            <a:avLst/>
          </a:prstGeom>
          <a:solidFill>
            <a:srgbClr val="167A42"/>
          </a:solidFill>
          <a:ln w="285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>
                <a:solidFill>
                  <a:srgbClr val="F0FDF4"/>
                </a:solidFill>
                <a:latin typeface="Calibri"/>
              </a:rPr>
              <a:t>01</a:t>
            </a:r>
          </a:p>
        </p:txBody>
      </p:sp>
      <p:sp>
        <p:nvSpPr>
          <p:cNvPr id="19" name="Oval 18"/>
          <p:cNvSpPr/>
          <p:nvPr/>
        </p:nvSpPr>
        <p:spPr>
          <a:xfrm>
            <a:off x="4310252" y="2880360"/>
            <a:ext cx="1051560" cy="1051560"/>
          </a:xfrm>
          <a:prstGeom prst="ellipse">
            <a:avLst/>
          </a:prstGeom>
          <a:solidFill>
            <a:srgbClr val="167A42"/>
          </a:solidFill>
          <a:ln w="285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>
                <a:solidFill>
                  <a:srgbClr val="F0FDF4"/>
                </a:solidFill>
                <a:latin typeface="Calibri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4310252" y="4663440"/>
            <a:ext cx="1051560" cy="1051560"/>
          </a:xfrm>
          <a:prstGeom prst="ellipse">
            <a:avLst/>
          </a:prstGeom>
          <a:solidFill>
            <a:srgbClr val="167A42"/>
          </a:solidFill>
          <a:ln w="285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>
                <a:solidFill>
                  <a:srgbClr val="F0FDF4"/>
                </a:solidFill>
                <a:latin typeface="Calibri"/>
              </a:rPr>
              <a:t>03</a:t>
            </a:r>
          </a:p>
        </p:txBody>
      </p:sp>
      <p:sp>
        <p:nvSpPr>
          <p:cNvPr id="21" name="Oval 20"/>
          <p:cNvSpPr/>
          <p:nvPr/>
        </p:nvSpPr>
        <p:spPr>
          <a:xfrm>
            <a:off x="2766060" y="5554980"/>
            <a:ext cx="1051560" cy="1051560"/>
          </a:xfrm>
          <a:prstGeom prst="ellipse">
            <a:avLst/>
          </a:prstGeom>
          <a:solidFill>
            <a:srgbClr val="167A42"/>
          </a:solidFill>
          <a:ln w="285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>
                <a:solidFill>
                  <a:srgbClr val="F0FDF4"/>
                </a:solidFill>
                <a:latin typeface="Calibri"/>
              </a:rPr>
              <a:t>04</a:t>
            </a:r>
          </a:p>
        </p:txBody>
      </p:sp>
      <p:sp>
        <p:nvSpPr>
          <p:cNvPr id="22" name="Oval 21"/>
          <p:cNvSpPr/>
          <p:nvPr/>
        </p:nvSpPr>
        <p:spPr>
          <a:xfrm>
            <a:off x="1221867" y="4663440"/>
            <a:ext cx="1051560" cy="1051560"/>
          </a:xfrm>
          <a:prstGeom prst="ellipse">
            <a:avLst/>
          </a:prstGeom>
          <a:solidFill>
            <a:srgbClr val="167A42"/>
          </a:solidFill>
          <a:ln w="285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>
                <a:solidFill>
                  <a:srgbClr val="F0FDF4"/>
                </a:solidFill>
                <a:latin typeface="Calibri"/>
              </a:rPr>
              <a:t>05</a:t>
            </a:r>
          </a:p>
        </p:txBody>
      </p:sp>
      <p:sp>
        <p:nvSpPr>
          <p:cNvPr id="23" name="Oval 22"/>
          <p:cNvSpPr/>
          <p:nvPr/>
        </p:nvSpPr>
        <p:spPr>
          <a:xfrm>
            <a:off x="1221867" y="2880360"/>
            <a:ext cx="1051560" cy="1051560"/>
          </a:xfrm>
          <a:prstGeom prst="ellipse">
            <a:avLst/>
          </a:prstGeom>
          <a:solidFill>
            <a:srgbClr val="167A42"/>
          </a:solidFill>
          <a:ln w="285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>
                <a:solidFill>
                  <a:srgbClr val="F0FDF4"/>
                </a:solidFill>
                <a:latin typeface="Calibri"/>
              </a:rPr>
              <a:t>06</a:t>
            </a:r>
          </a:p>
        </p:txBody>
      </p:sp>
      <p:sp>
        <p:nvSpPr>
          <p:cNvPr id="24" name="Oval 23"/>
          <p:cNvSpPr/>
          <p:nvPr/>
        </p:nvSpPr>
        <p:spPr>
          <a:xfrm>
            <a:off x="2491740" y="3497580"/>
            <a:ext cx="1600200" cy="1600200"/>
          </a:xfrm>
          <a:prstGeom prst="ellipse">
            <a:avLst/>
          </a:prstGeom>
          <a:solidFill>
            <a:srgbClr val="22C55E"/>
          </a:solidFill>
          <a:ln w="317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dirty="0" err="1">
                <a:solidFill>
                  <a:srgbClr val="051C14"/>
                </a:solidFill>
                <a:latin typeface="Calibri"/>
              </a:rPr>
              <a:t>R</a:t>
            </a:r>
            <a:r>
              <a:rPr lang="en-US" sz="2000" b="1" dirty="0" err="1">
                <a:solidFill>
                  <a:srgbClr val="051C14"/>
                </a:solidFill>
                <a:latin typeface="Calibri"/>
              </a:rPr>
              <a:t>ide</a:t>
            </a:r>
            <a:r>
              <a:rPr sz="2000" b="1" dirty="0" err="1">
                <a:solidFill>
                  <a:srgbClr val="051C14"/>
                </a:solidFill>
                <a:latin typeface="Calibri"/>
              </a:rPr>
              <a:t>T</a:t>
            </a:r>
            <a:r>
              <a:rPr lang="en-US" sz="2000" b="1" dirty="0" err="1">
                <a:solidFill>
                  <a:srgbClr val="051C14"/>
                </a:solidFill>
                <a:latin typeface="Calibri"/>
              </a:rPr>
              <a:t>rue</a:t>
            </a:r>
            <a:endParaRPr sz="2000" b="1" dirty="0">
              <a:solidFill>
                <a:srgbClr val="051C14"/>
              </a:solidFill>
              <a:latin typeface="Calibri"/>
            </a:endParaRPr>
          </a:p>
          <a:p>
            <a:pPr algn="ctr"/>
            <a:r>
              <a:rPr sz="800" b="1" dirty="0">
                <a:solidFill>
                  <a:srgbClr val="051C14"/>
                </a:solidFill>
                <a:latin typeface="Calibri"/>
              </a:rPr>
              <a:t>claim 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194560"/>
            <a:ext cx="5394960" cy="4297680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103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23957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STAGES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743200"/>
            <a:ext cx="4572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720840" y="2944368"/>
            <a:ext cx="384048" cy="384048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0FDF4"/>
                </a:solidFill>
                <a:latin typeface="Calibr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889504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CFDF5"/>
                </a:solidFill>
                <a:latin typeface="Calibri"/>
              </a:rPr>
              <a:t>INCIDENT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4553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F3D0"/>
                </a:solidFill>
                <a:latin typeface="Calibri"/>
              </a:rPr>
              <a:t>Accident, theft, or damage event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3511296"/>
            <a:ext cx="384048" cy="384048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0FDF4"/>
                </a:solidFill>
                <a:latin typeface="Calibr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456432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CFDF5"/>
                </a:solidFill>
                <a:latin typeface="Calibri"/>
              </a:rPr>
              <a:t>CLAIM 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712464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F3D0"/>
                </a:solidFill>
                <a:latin typeface="Calibri"/>
              </a:rPr>
              <a:t>Submitted via app to smart contract</a:t>
            </a:r>
          </a:p>
        </p:txBody>
      </p:sp>
      <p:sp>
        <p:nvSpPr>
          <p:cNvPr id="34" name="Oval 33"/>
          <p:cNvSpPr/>
          <p:nvPr/>
        </p:nvSpPr>
        <p:spPr>
          <a:xfrm>
            <a:off x="6720840" y="4078224"/>
            <a:ext cx="384048" cy="384048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0FDF4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023360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CFDF5"/>
                </a:solidFill>
                <a:latin typeface="Calibri"/>
              </a:rPr>
              <a:t>ORACLE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4279392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F3D0"/>
                </a:solidFill>
                <a:latin typeface="Calibri"/>
              </a:rPr>
              <a:t>Multi-source evidence aggregated</a:t>
            </a:r>
          </a:p>
        </p:txBody>
      </p:sp>
      <p:sp>
        <p:nvSpPr>
          <p:cNvPr id="37" name="Oval 36"/>
          <p:cNvSpPr/>
          <p:nvPr/>
        </p:nvSpPr>
        <p:spPr>
          <a:xfrm>
            <a:off x="6720840" y="4645152"/>
            <a:ext cx="384048" cy="384048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0FDF4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590288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CFDF5"/>
                </a:solidFill>
                <a:latin typeface="Calibri"/>
              </a:rPr>
              <a:t>CONSENSUS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846320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F3D0"/>
                </a:solidFill>
                <a:latin typeface="Calibri"/>
              </a:rPr>
              <a:t>Validators reach quorum on validity</a:t>
            </a:r>
          </a:p>
        </p:txBody>
      </p:sp>
      <p:sp>
        <p:nvSpPr>
          <p:cNvPr id="40" name="Oval 39"/>
          <p:cNvSpPr/>
          <p:nvPr/>
        </p:nvSpPr>
        <p:spPr>
          <a:xfrm>
            <a:off x="6720840" y="5212080"/>
            <a:ext cx="384048" cy="384048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0FDF4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157216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CFDF5"/>
                </a:solidFill>
                <a:latin typeface="Calibri"/>
              </a:rPr>
              <a:t>AUTOMATED PAYOUT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413248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F3D0"/>
                </a:solidFill>
                <a:latin typeface="Calibri"/>
              </a:rPr>
              <a:t>USDC released from pool to rider</a:t>
            </a:r>
          </a:p>
        </p:txBody>
      </p:sp>
      <p:sp>
        <p:nvSpPr>
          <p:cNvPr id="43" name="Oval 42"/>
          <p:cNvSpPr/>
          <p:nvPr/>
        </p:nvSpPr>
        <p:spPr>
          <a:xfrm>
            <a:off x="6720840" y="5779008"/>
            <a:ext cx="384048" cy="384048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0FDF4"/>
                </a:solidFill>
                <a:latin typeface="Calibr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724144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CFDF5"/>
                </a:solidFill>
                <a:latin typeface="Calibri"/>
              </a:rPr>
              <a:t>POOL REBALANCE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98017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F3D0"/>
                </a:solidFill>
                <a:latin typeface="Calibri"/>
              </a:rPr>
              <a:t>Reserves and premiums recalibrate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5486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EE7B7"/>
                </a:solidFill>
                <a:latin typeface="Calibri"/>
              </a:rPr>
              <a:t>Smart-contract enforced · stablecoin settled · transparent by 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6EFAC"/>
                </a:solidFill>
                <a:latin typeface="Calibri"/>
              </a:rPr>
              <a:t>MotoChain &amp; RideTrue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0B2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RIDETRUE  ·  MONEY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CFDF5"/>
                </a:solidFill>
                <a:latin typeface="Calibri"/>
              </a:rPr>
              <a:t>Where the Money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A7F3D0"/>
                </a:solidFill>
                <a:latin typeface="Calibri"/>
              </a:rPr>
              <a:t>What comes in · What goes out · Year 1 (realistic model from Section 5.9)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1097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316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MONEY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05940"/>
            <a:ext cx="4572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2832" y="15316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MONEY 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832" y="1805940"/>
            <a:ext cx="4572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1760220"/>
            <a:ext cx="2834640" cy="2788920"/>
          </a:xfrm>
          <a:prstGeom prst="roundRect">
            <a:avLst/>
          </a:prstGeom>
          <a:noFill/>
          <a:ln w="12700">
            <a:solidFill>
              <a:srgbClr val="86EF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00600" y="1897380"/>
            <a:ext cx="2560320" cy="2514600"/>
          </a:xfrm>
          <a:prstGeom prst="roundRect">
            <a:avLst/>
          </a:prstGeom>
          <a:solidFill>
            <a:srgbClr val="167A42"/>
          </a:solidFill>
          <a:ln w="317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Ins="137160" bIns="182880" rtlCol="0" anchor="ctr"/>
          <a:lstStyle/>
          <a:p>
            <a:pPr algn="ctr"/>
            <a:r>
              <a:rPr sz="1600" b="1" i="0">
                <a:solidFill>
                  <a:srgbClr val="ECFDF5"/>
                </a:solidFill>
                <a:latin typeface="Calibri"/>
              </a:rPr>
              <a:t>RIDETRUE</a:t>
            </a:r>
          </a:p>
          <a:p>
            <a:pPr algn="ctr"/>
            <a:r>
              <a:rPr sz="1100" b="1" i="0">
                <a:solidFill>
                  <a:srgbClr val="86EFAC"/>
                </a:solidFill>
                <a:latin typeface="Calibri"/>
              </a:rPr>
              <a:t>INSURANCE POOL</a:t>
            </a:r>
          </a:p>
          <a:p>
            <a:pPr algn="ctr"/>
            <a:r>
              <a:rPr sz="600" b="0" i="0">
                <a:solidFill>
                  <a:srgbClr val="ECFDF5"/>
                </a:solidFill>
                <a:latin typeface="Calibri"/>
              </a:rPr>
              <a:t> </a:t>
            </a:r>
          </a:p>
          <a:p>
            <a:pPr algn="ctr"/>
            <a:r>
              <a:rPr sz="900" b="0" i="1">
                <a:solidFill>
                  <a:srgbClr val="A7F3D0"/>
                </a:solidFill>
                <a:latin typeface="Calibri"/>
              </a:rPr>
              <a:t>Year 1 total flow</a:t>
            </a:r>
          </a:p>
          <a:p>
            <a:pPr algn="ctr"/>
            <a:r>
              <a:rPr sz="2200" b="1" i="0">
                <a:solidFill>
                  <a:srgbClr val="22C55E"/>
                </a:solidFill>
                <a:latin typeface="Calibri"/>
              </a:rPr>
              <a:t>₩5.25B</a:t>
            </a:r>
          </a:p>
          <a:p>
            <a:pPr algn="ctr"/>
            <a:r>
              <a:rPr sz="900" b="0" i="1">
                <a:solidFill>
                  <a:srgbClr val="A7F3D0"/>
                </a:solidFill>
                <a:latin typeface="Calibri"/>
              </a:rPr>
              <a:t>processed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94310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RIDER PREMIUMS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2,000 riders × ₩90K/mo  →  ₩2.16B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8318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LP POOL CAPITAL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Foundation + DeFi + institutional  →  ₩3.00B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2326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B2B DATA FEES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Insurers, lenders, marketplaces  →  ₩60M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6334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DEFI YIELD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Conservative returns on reserves  →  ₩30M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2286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2286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291840" y="3154680"/>
            <a:ext cx="0" cy="0"/>
          </a:xfrm>
          <a:prstGeom prst="line">
            <a:avLst/>
          </a:prstGeom>
          <a:ln w="2286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291840" y="3154680"/>
            <a:ext cx="0" cy="0"/>
          </a:xfrm>
          <a:prstGeom prst="line">
            <a:avLst/>
          </a:prstGeom>
          <a:ln w="2286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42832" y="194310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CLAIMS PAID TO RIDERS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Verified claims, paid in USDC  →  ₩750M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258318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SAFE-RIDER REBATES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Returned to claim-free riders  →  ₩216M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22326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RESERVES &amp; REINSURANCE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Catastrophe + liquidity buffer  →  ₩1.19B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3863340"/>
            <a:ext cx="2606040" cy="502920"/>
          </a:xfrm>
          <a:prstGeom prst="roundRect">
            <a:avLst/>
          </a:prstGeom>
          <a:solidFill>
            <a:srgbClr val="10422C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100" b="1">
                <a:solidFill>
                  <a:srgbClr val="ECFDF5"/>
                </a:solidFill>
                <a:latin typeface="Calibri"/>
              </a:rPr>
              <a:t>TEAM &amp; OPERATIONS</a:t>
            </a:r>
          </a:p>
          <a:p>
            <a:pPr algn="l"/>
            <a:r>
              <a:rPr sz="900">
                <a:solidFill>
                  <a:srgbClr val="BBF7D0"/>
                </a:solidFill>
                <a:latin typeface="Calibri"/>
              </a:rPr>
              <a:t>Engineering, audits, BD, security  →  ₩1.80B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2860">
            <a:solidFill>
              <a:srgbClr val="86EF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2860">
            <a:solidFill>
              <a:srgbClr val="86EF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154680"/>
            <a:ext cx="0" cy="0"/>
          </a:xfrm>
          <a:prstGeom prst="line">
            <a:avLst/>
          </a:prstGeom>
          <a:ln w="22860">
            <a:solidFill>
              <a:srgbClr val="86EF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54680"/>
            <a:ext cx="0" cy="0"/>
          </a:xfrm>
          <a:prstGeom prst="line">
            <a:avLst/>
          </a:prstGeom>
          <a:ln w="22860">
            <a:solidFill>
              <a:srgbClr val="86EF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" y="4937760"/>
            <a:ext cx="10908792" cy="1691640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103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20640"/>
            <a:ext cx="54864" cy="13716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10235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EXAMPLE  ·  ONE RIDER  ·  ONE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CFDF5"/>
                </a:solidFill>
                <a:latin typeface="Calibri"/>
              </a:rPr>
              <a:t>Ji-min · 28 · delivery rider · Seoul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509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A7F3D0"/>
                </a:solidFill>
                <a:latin typeface="Calibri"/>
              </a:rPr>
              <a:t>Safety score 92/100 · top quartile · zero claims Y1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1081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E7B7"/>
                </a:solidFill>
                <a:latin typeface="Calibri"/>
              </a:rPr>
              <a:t>vs. comparable Korean motorcycle policy  ₩1.0M–₩1.4M  →  fairer pricing, portable behavior score, and claims paid on-chain in days.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96512" y="5138928"/>
            <a:ext cx="2286000" cy="932688"/>
          </a:xfrm>
          <a:prstGeom prst="roundRect">
            <a:avLst/>
          </a:prstGeom>
          <a:solidFill>
            <a:srgbClr val="103D2C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33672" y="52120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PAID 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3672" y="544982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CFDF5"/>
                </a:solidFill>
                <a:latin typeface="Calibri"/>
              </a:rPr>
              <a:t>₩1,080,000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3672" y="585216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7F3D0"/>
                </a:solidFill>
                <a:latin typeface="Calibri"/>
              </a:rPr>
              <a:t>₩90,000 × 12 months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19672" y="5138928"/>
            <a:ext cx="2286000" cy="932688"/>
          </a:xfrm>
          <a:prstGeom prst="roundRect">
            <a:avLst/>
          </a:prstGeom>
          <a:solidFill>
            <a:srgbClr val="103D2C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56832" y="52120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RECEIVED 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544982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CFDF5"/>
                </a:solidFill>
                <a:latin typeface="Calibri"/>
              </a:rPr>
              <a:t>₩180,000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585216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7F3D0"/>
                </a:solidFill>
                <a:latin typeface="Calibri"/>
              </a:rPr>
              <a:t>Safe-rider rebate (top quartile)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42832" y="5138928"/>
            <a:ext cx="2286000" cy="932688"/>
          </a:xfrm>
          <a:prstGeom prst="roundRect">
            <a:avLst/>
          </a:prstGeom>
          <a:solidFill>
            <a:srgbClr val="103D2C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52120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NET PREMIUM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9992" y="544982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DE047"/>
                </a:solidFill>
                <a:latin typeface="Calibri"/>
              </a:rPr>
              <a:t>₩900,000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585216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7F3D0"/>
                </a:solidFill>
                <a:latin typeface="Calibri"/>
              </a:rPr>
              <a:t>for full-year coverage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675120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729984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6EE7B7"/>
                </a:solidFill>
                <a:latin typeface="Calibri"/>
              </a:rPr>
              <a:t>Stress-tested model · 15% claim frequency · ₩2.5M average severity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72998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86EFAC"/>
                </a:solidFill>
                <a:latin typeface="Calibri"/>
              </a:rPr>
              <a:t>MotoChain &amp; RideTrue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0B2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RIDETRUE  ·  MECHANIC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CFDF5"/>
                </a:solidFill>
                <a:latin typeface="Calibri"/>
              </a:rPr>
              <a:t>How We Stop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A7F3D0"/>
                </a:solidFill>
                <a:latin typeface="Calibri"/>
              </a:rPr>
              <a:t>Three layers of defense — built into every service record on MotoChain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1097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1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256" y="1874519"/>
            <a:ext cx="1078077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Calibri"/>
              </a:rPr>
              <a:t>PREVENTION</a:t>
            </a:r>
            <a:r>
              <a:rPr sz="1100" i="1">
                <a:solidFill>
                  <a:srgbClr val="6EE7B7"/>
                </a:solidFill>
                <a:latin typeface="Calibri"/>
              </a:rPr>
              <a:t>    Stop fraud before it can happen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85415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2267711"/>
            <a:ext cx="5509260" cy="1005840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7512" y="2395727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423159"/>
            <a:ext cx="47228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BOTH SIGN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1"/>
            <a:ext cx="51435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The mechanic AND the bike owner have to confirm every service entry. No one can fake a repair the owner didn't agree 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267711"/>
            <a:ext cx="5509260" cy="1005840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41364" y="2395727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8564" y="2423159"/>
            <a:ext cx="47228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BUILT-IN 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9652" y="2770631"/>
            <a:ext cx="51435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Hardware reads mileage and key events directly from the bike. No room to fudge the odometer.</a:t>
            </a:r>
          </a:p>
        </p:txBody>
      </p:sp>
      <p:pic>
        <p:nvPicPr>
          <p:cNvPr id="21" name="Picture 20" descr="magn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8999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5256" y="3401567"/>
            <a:ext cx="1078077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Calibri"/>
              </a:rPr>
              <a:t>DETECTION</a:t>
            </a:r>
            <a:r>
              <a:rPr sz="1100" i="1">
                <a:solidFill>
                  <a:srgbClr val="6EE7B7"/>
                </a:solidFill>
                <a:latin typeface="Calibri"/>
              </a:rPr>
              <a:t>    Catch fraud when it tries to happen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12463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3794759"/>
            <a:ext cx="5509260" cy="1005840"/>
          </a:xfrm>
          <a:prstGeom prst="roundRect">
            <a:avLst/>
          </a:prstGeom>
          <a:solidFill>
            <a:srgbClr val="10442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67512" y="3922775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47228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BOUNTY HUNTERS WELCOME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97679"/>
            <a:ext cx="51435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Spot a fake record and prove it — earn a share of the cheater's stake. The community becomes the watchdog.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6772" y="3794759"/>
            <a:ext cx="5509260" cy="1005840"/>
          </a:xfrm>
          <a:prstGeom prst="roundRect">
            <a:avLst/>
          </a:prstGeom>
          <a:solidFill>
            <a:srgbClr val="10442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41364" y="3922775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8564" y="3950207"/>
            <a:ext cx="47228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RE-CHECK AT PAYDAY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9652" y="4297679"/>
            <a:ext cx="51435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When the bike is sold, financed, or insured, we re-verify the history. Fraud is caught the moment it would pay off.</a:t>
            </a:r>
          </a:p>
        </p:txBody>
      </p:sp>
      <p:pic>
        <p:nvPicPr>
          <p:cNvPr id="32" name="Picture 31" descr="sc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956047"/>
            <a:ext cx="292608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5256" y="4928615"/>
            <a:ext cx="1078077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Calibri"/>
              </a:rPr>
              <a:t>ENFORCEMENT</a:t>
            </a:r>
            <a:r>
              <a:rPr sz="1100" i="1">
                <a:solidFill>
                  <a:srgbClr val="6EE7B7"/>
                </a:solidFill>
                <a:latin typeface="Calibri"/>
              </a:rPr>
              <a:t>    Make fraud expensive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239511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02920" y="5321807"/>
            <a:ext cx="3617976" cy="1005840"/>
          </a:xfrm>
          <a:prstGeom prst="roundRect">
            <a:avLst/>
          </a:prstGeom>
          <a:solidFill>
            <a:srgbClr val="0C3F2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7512" y="5449823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5477255"/>
            <a:ext cx="2831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EARN TRUST, EARN MORE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24727"/>
            <a:ext cx="3252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Start small. As reputation grows, both your rewards and your stake at risk grow with you.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85488" y="5321807"/>
            <a:ext cx="3617976" cy="1005840"/>
          </a:xfrm>
          <a:prstGeom prst="roundRect">
            <a:avLst/>
          </a:prstGeom>
          <a:solidFill>
            <a:srgbClr val="0C3F2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50080" y="5449823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7280" y="5477255"/>
            <a:ext cx="2831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WAIT BEFORE YOU GET PAID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8368" y="5824727"/>
            <a:ext cx="3252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Fees sit in escrow for 30–90 days. Any dispute claws the fee back and slashes part of the stake.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68056" y="5321807"/>
            <a:ext cx="3617976" cy="1005840"/>
          </a:xfrm>
          <a:prstGeom prst="roundRect">
            <a:avLst/>
          </a:prstGeom>
          <a:solidFill>
            <a:srgbClr val="0C3F2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32648" y="5449823"/>
            <a:ext cx="329184" cy="329184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9848" y="5477255"/>
            <a:ext cx="2831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RISK SCALES WITH ACTIVITY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0936" y="5824727"/>
            <a:ext cx="3252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Each entry locks a slice of stake. Log a lot, have a lot to lose. Throwaway accounts can't profit.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6601968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6656832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  <a:latin typeface="Calibri"/>
              </a:rPr>
              <a:t>Each layer covers what the others miss — none of them works alone, all three together make fraud unprofitable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65683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6EFAC"/>
                </a:solidFill>
                <a:latin typeface="Calibri"/>
              </a:rPr>
              <a:t>MotoChain &amp; RideTrue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17625" y="-1522476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0B2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RIDETRUE  ·  STRESS TESTING &amp; BLACK SWAN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CFDF5"/>
                </a:solidFill>
                <a:latin typeface="Calibri"/>
              </a:rPr>
              <a:t>Built to Survive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A7F3D0"/>
                </a:solidFill>
                <a:latin typeface="Calibri"/>
              </a:rPr>
              <a:t>Nine safeguards across three layers — what keeps the pool standing when many claims hit at once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1097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11831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Calibri"/>
              </a:rPr>
              <a:t>1.  RESERVE LAYERS</a:t>
            </a:r>
            <a:r>
              <a:rPr sz="1000" i="1">
                <a:solidFill>
                  <a:srgbClr val="6EE7B7"/>
                </a:solidFill>
                <a:latin typeface="Calibri"/>
              </a:rPr>
              <a:t>    capital buffers built before anything goes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21408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203704"/>
            <a:ext cx="3617976" cy="1097280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7512" y="2322576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50008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LIQUID RESERVE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52344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≥25% of pool always liquid. Never deployed to DeFi yield.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49880" y="3026664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25%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5488" y="2203704"/>
            <a:ext cx="3617976" cy="1097280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50080" y="2322576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5568" y="2350008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CATASTROPHE RESERVE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8368" y="2752344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20% of every premium routed aside. Used only in extreme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2448" y="3026664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056" y="2203704"/>
            <a:ext cx="3617976" cy="1097280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32648" y="2322576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8136" y="2350008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REINSURANCE BACKSTOP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0936" y="2752344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External partner covers tail risk above pool capacity. Required before launch.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15016" y="3026664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Tail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19856"/>
            <a:ext cx="111831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Calibri"/>
              </a:rPr>
              <a:t>2.  AUTOMATIC SAFEGUARDS</a:t>
            </a:r>
            <a:r>
              <a:rPr sz="1000" i="1">
                <a:solidFill>
                  <a:srgbClr val="6EE7B7"/>
                </a:solidFill>
                <a:latin typeface="Calibri"/>
              </a:rPr>
              <a:t>    always-on rules baked into the smart contracts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21024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3703320"/>
            <a:ext cx="3617976" cy="1097280"/>
          </a:xfrm>
          <a:prstGeom prst="roundRect">
            <a:avLst/>
          </a:prstGeom>
          <a:solidFill>
            <a:srgbClr val="10442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67512" y="3822192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849624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CIRCUIT BREAKER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251960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Auto-triggers emergency mode on claim spikes, low reserves, disaster zones, or 3× volume.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49880" y="4526280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4 triggers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5488" y="3703320"/>
            <a:ext cx="3617976" cy="1097280"/>
          </a:xfrm>
          <a:prstGeom prst="roundRect">
            <a:avLst/>
          </a:prstGeom>
          <a:solidFill>
            <a:srgbClr val="10442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450080" y="3822192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25568" y="3849624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COVERAGE CAPS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8368" y="4251960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Max ₩5M for normal claims, ₩3M for catastrophes. Clear exclusions on force majeure.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32448" y="4526280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₩5M / ₩3M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8056" y="3703320"/>
            <a:ext cx="3617976" cy="1097280"/>
          </a:xfrm>
          <a:prstGeom prst="roundRect">
            <a:avLst/>
          </a:prstGeom>
          <a:solidFill>
            <a:srgbClr val="10442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32648" y="3822192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8136" y="3849624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CONSERVATIVE YIELD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0936" y="4251960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Max 10–15% of pool deployed to DeFi. Blue-chip protocols only. Always withdrawable.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15016" y="4526280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10–15%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919472"/>
            <a:ext cx="111831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Calibri"/>
              </a:rPr>
              <a:t>3.  CRISIS PLAYBOOK</a:t>
            </a:r>
            <a:r>
              <a:rPr sz="1000" i="1">
                <a:solidFill>
                  <a:srgbClr val="6EE7B7"/>
                </a:solidFill>
                <a:latin typeface="Calibri"/>
              </a:rPr>
              <a:t>    what happens when a black swan actually hits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120640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02920" y="5202936"/>
            <a:ext cx="3617976" cy="1097280"/>
          </a:xfrm>
          <a:prstGeom prst="roundRect">
            <a:avLst/>
          </a:prstGeom>
          <a:solidFill>
            <a:srgbClr val="0C3F2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67512" y="5321808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349240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STAGED PAYOUTS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751576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Emergency mode: 50% paid immediately, 50% over 3–6 months as liquidity returns.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49880" y="6025896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50% / 50%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85488" y="5202936"/>
            <a:ext cx="3617976" cy="1097280"/>
          </a:xfrm>
          <a:prstGeom prst="roundRect">
            <a:avLst/>
          </a:prstGeom>
          <a:solidFill>
            <a:srgbClr val="0C3F2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450080" y="5321808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5568" y="5349240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PRO-RATA SHARING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68368" y="5751576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If pool is short, everyone receives a proportional share. Fair and transparent.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32448" y="6025896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Fair share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8056" y="5202936"/>
            <a:ext cx="3617976" cy="1097280"/>
          </a:xfrm>
          <a:prstGeom prst="roundRect">
            <a:avLst/>
          </a:prstGeom>
          <a:solidFill>
            <a:srgbClr val="0C3F2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232648" y="5321808"/>
            <a:ext cx="347472" cy="347472"/>
          </a:xfrm>
          <a:prstGeom prst="ellipse">
            <a:avLst/>
          </a:prstGeom>
          <a:solidFill>
            <a:srgbClr val="167A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FDF4"/>
                </a:solidFill>
                <a:latin typeface="Calibri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8136" y="5349240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CFDF5"/>
                </a:solidFill>
                <a:latin typeface="Calibri"/>
              </a:rPr>
              <a:t>PREMIUM ADJUSTMENT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0936" y="5751576"/>
            <a:ext cx="32522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Post-shock: 10–20% temporary increase to rebuild reserves. Capped to protect riders.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15016" y="6025896"/>
            <a:ext cx="1143000" cy="201168"/>
          </a:xfrm>
          <a:prstGeom prst="roundRect">
            <a:avLst/>
          </a:prstGeom>
          <a:solidFill>
            <a:srgbClr val="0B2F21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FDE047"/>
                </a:solidFill>
                <a:latin typeface="Calibri"/>
              </a:rPr>
              <a:t>+10–20%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6601968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665683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  <a:latin typeface="Calibri"/>
              </a:rPr>
              <a:t>Korean typhoons are base-case events, not tail events — calibrated accordingly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665683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6EFAC"/>
                </a:solidFill>
                <a:latin typeface="Calibri"/>
              </a:rPr>
              <a:t>MotoChain &amp; RideTrue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07592" y="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43800" y="2137333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10625328" y="588979"/>
            <a:ext cx="329184" cy="285081"/>
          </a:xfrm>
          <a:prstGeom prst="hexagon">
            <a:avLst/>
          </a:prstGeom>
          <a:noFill/>
          <a:ln w="9525">
            <a:solidFill>
              <a:srgbClr val="86EF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11311128" y="1177213"/>
            <a:ext cx="237744" cy="205892"/>
          </a:xfrm>
          <a:prstGeom prst="hexagon">
            <a:avLst/>
          </a:prstGeom>
          <a:noFill/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10241280" y="1338130"/>
            <a:ext cx="182880" cy="158378"/>
          </a:xfrm>
          <a:prstGeom prst="hexagon">
            <a:avLst/>
          </a:prstGeom>
          <a:noFill/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1148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RIDETRUE  ·  TOKEN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CFDF5"/>
                </a:solidFill>
                <a:latin typeface="Calibri"/>
              </a:rPr>
              <a:t>$MOTO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984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A7F3D0"/>
                </a:solidFill>
                <a:latin typeface="Calibri"/>
              </a:rPr>
              <a:t>Working draft — utility &amp; governance only · no speculative payouts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64208"/>
            <a:ext cx="1097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2713482" cy="658368"/>
          </a:xfrm>
          <a:prstGeom prst="roundRect">
            <a:avLst/>
          </a:prstGeom>
          <a:solidFill>
            <a:srgbClr val="0B2F21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1901952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  <a:latin typeface="Calibri"/>
              </a:rPr>
              <a:t>TOTAL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048256"/>
            <a:ext cx="2384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FDF5"/>
                </a:solidFill>
                <a:latin typeface="Calibri"/>
              </a:rPr>
              <a:t>1,000,000,000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304288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A7F3D0"/>
                </a:solidFill>
                <a:latin typeface="Calibri"/>
              </a:rPr>
              <a:t>fixed cap · no inflation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6130" y="1828800"/>
            <a:ext cx="2713482" cy="658368"/>
          </a:xfrm>
          <a:prstGeom prst="roundRect">
            <a:avLst/>
          </a:prstGeom>
          <a:solidFill>
            <a:srgbClr val="0B2F21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90722" y="1901952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  <a:latin typeface="Calibri"/>
              </a:rPr>
              <a:t>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0722" y="2048256"/>
            <a:ext cx="2384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FDF5"/>
                </a:solidFill>
                <a:latin typeface="Calibri"/>
              </a:rPr>
              <a:t>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0722" y="2304288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A7F3D0"/>
                </a:solidFill>
                <a:latin typeface="Calibri"/>
              </a:rPr>
              <a:t>Ethereum Layer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828800"/>
            <a:ext cx="2713482" cy="658368"/>
          </a:xfrm>
          <a:prstGeom prst="roundRect">
            <a:avLst/>
          </a:prstGeom>
          <a:solidFill>
            <a:srgbClr val="0B2F21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3932" y="1901952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  <a:latin typeface="Calibri"/>
              </a:rPr>
              <a:t>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2048256"/>
            <a:ext cx="2384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FDF5"/>
                </a:solidFill>
                <a:latin typeface="Calibri"/>
              </a:rPr>
              <a:t>ERC-20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932" y="2304288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A7F3D0"/>
                </a:solidFill>
                <a:latin typeface="Calibri"/>
              </a:rPr>
              <a:t>governance + staking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1828800"/>
            <a:ext cx="2713482" cy="658368"/>
          </a:xfrm>
          <a:prstGeom prst="roundRect">
            <a:avLst/>
          </a:prstGeom>
          <a:solidFill>
            <a:srgbClr val="0B2F21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7142" y="1901952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  <a:latin typeface="Calibri"/>
              </a:rPr>
              <a:t>INFLATION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7142" y="2048256"/>
            <a:ext cx="2384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FDF5"/>
                </a:solidFill>
                <a:latin typeface="Calibri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7142" y="2304288"/>
            <a:ext cx="23842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A7F3D0"/>
                </a:solidFill>
                <a:latin typeface="Calibri"/>
              </a:rPr>
              <a:t>fully diluted at TGE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670048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6EFAC"/>
                </a:solidFill>
                <a:latin typeface="Calibri"/>
              </a:rPr>
              <a:t>01  ·  ALLOCATION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16936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allocation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054096"/>
            <a:ext cx="2011680" cy="201168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548640" y="5202936"/>
            <a:ext cx="118872" cy="1188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1846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Community &amp; Ecosystem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1846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30%</a:t>
            </a:r>
          </a:p>
        </p:txBody>
      </p:sp>
      <p:sp>
        <p:nvSpPr>
          <p:cNvPr id="35" name="Oval 34"/>
          <p:cNvSpPr/>
          <p:nvPr/>
        </p:nvSpPr>
        <p:spPr>
          <a:xfrm>
            <a:off x="3291840" y="5202936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51846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Team &amp; Founders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51846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18%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376672"/>
            <a:ext cx="118872" cy="1188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3583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Treasury / DAO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3583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15%</a:t>
            </a:r>
          </a:p>
        </p:txBody>
      </p:sp>
      <p:sp>
        <p:nvSpPr>
          <p:cNvPr id="41" name="Oval 40"/>
          <p:cNvSpPr/>
          <p:nvPr/>
        </p:nvSpPr>
        <p:spPr>
          <a:xfrm>
            <a:off x="3291840" y="5376672"/>
            <a:ext cx="118872" cy="118872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0" y="53583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Pool Subsidy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3583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15%</a:t>
            </a:r>
          </a:p>
        </p:txBody>
      </p:sp>
      <p:sp>
        <p:nvSpPr>
          <p:cNvPr id="44" name="Oval 43"/>
          <p:cNvSpPr/>
          <p:nvPr/>
        </p:nvSpPr>
        <p:spPr>
          <a:xfrm>
            <a:off x="548640" y="5550408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5321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Investors — Private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5321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9%</a:t>
            </a:r>
          </a:p>
        </p:txBody>
      </p:sp>
      <p:sp>
        <p:nvSpPr>
          <p:cNvPr id="47" name="Oval 46"/>
          <p:cNvSpPr/>
          <p:nvPr/>
        </p:nvSpPr>
        <p:spPr>
          <a:xfrm>
            <a:off x="3291840" y="5550408"/>
            <a:ext cx="118872" cy="1188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0" y="55321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Investors — Seed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5321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8%</a:t>
            </a:r>
          </a:p>
        </p:txBody>
      </p:sp>
      <p:sp>
        <p:nvSpPr>
          <p:cNvPr id="50" name="Oval 49"/>
          <p:cNvSpPr/>
          <p:nvPr/>
        </p:nvSpPr>
        <p:spPr>
          <a:xfrm>
            <a:off x="548640" y="5724144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5705856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7F3D0"/>
                </a:solidFill>
                <a:latin typeface="Calibri"/>
              </a:rPr>
              <a:t>Liquidity Provision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70585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ADE80"/>
                </a:solidFill>
                <a:latin typeface="Calibri"/>
              </a:rPr>
              <a:t>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2670048"/>
            <a:ext cx="5605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6EFAC"/>
                </a:solidFill>
                <a:latin typeface="Calibri"/>
              </a:rPr>
              <a:t>02  ·  TOKEN UTILITY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2916936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126480" y="3054096"/>
            <a:ext cx="5605272" cy="603504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44768" y="3127248"/>
            <a:ext cx="54864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09360" y="3118104"/>
            <a:ext cx="52395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CFDF5"/>
                </a:solidFill>
                <a:latin typeface="Calibri"/>
              </a:rPr>
              <a:t>STAKING &amp; SLASHING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346704"/>
            <a:ext cx="5239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Lock $MOTO to gain write or verification rights. Bad behavior gets your stake slashed.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3749040"/>
            <a:ext cx="5605272" cy="603504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44768" y="3822192"/>
            <a:ext cx="54864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09360" y="3813048"/>
            <a:ext cx="52395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CFDF5"/>
                </a:solidFill>
                <a:latin typeface="Calibri"/>
              </a:rPr>
              <a:t>GOVERNANCE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4041648"/>
            <a:ext cx="5239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Token holders vote on fees, reserve ratios, rebate formulas, and supported integrations.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26480" y="4443984"/>
            <a:ext cx="5605272" cy="603504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44768" y="4517136"/>
            <a:ext cx="54864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09360" y="4507992"/>
            <a:ext cx="52395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CFDF5"/>
                </a:solidFill>
                <a:latin typeface="Calibri"/>
              </a:rPr>
              <a:t>REPUTATION GATING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4736592"/>
            <a:ext cx="5239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Tiered staking unlocks higher write limits and bigger reward shares for trusted participants.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5138928"/>
            <a:ext cx="5605272" cy="603504"/>
          </a:xfrm>
          <a:prstGeom prst="roundRect">
            <a:avLst/>
          </a:prstGeom>
          <a:solidFill>
            <a:srgbClr val="124A32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44768" y="5212080"/>
            <a:ext cx="54864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09360" y="5202936"/>
            <a:ext cx="52395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CFDF5"/>
                </a:solidFill>
                <a:latin typeface="Calibri"/>
              </a:rPr>
              <a:t>FEE DISCOUNTS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431536"/>
            <a:ext cx="5239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Pay select API and registration fees in $MOTO at a discount — collected fees are burned or sent to treasury.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6080760"/>
            <a:ext cx="11183112" cy="502920"/>
          </a:xfrm>
          <a:prstGeom prst="roundRect">
            <a:avLst/>
          </a:prstGeom>
          <a:solidFill>
            <a:srgbClr val="2A2006"/>
          </a:solidFill>
          <a:ln w="1587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85800" y="6172200"/>
            <a:ext cx="310896" cy="310896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3150F"/>
                </a:solidFill>
                <a:latin typeface="Calibri"/>
              </a:rPr>
              <a:t>!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61288" y="6135624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ACC15"/>
                </a:solidFill>
                <a:latin typeface="Calibri"/>
              </a:rPr>
              <a:t>$MOTO IS UTILITY-ONLY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61288" y="6327648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ECFDF5"/>
                </a:solidFill>
                <a:latin typeface="Calibri"/>
              </a:rPr>
              <a:t>Insurance returns, rider rebates, and protocol revenue are paid in stablecoins — never in $MOTO. This separation protects users from speculative pressure and is deliberate.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6601968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0080" y="6656832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  <a:latin typeface="Calibri"/>
              </a:rPr>
              <a:t>Draft assumptions · final parameters subject to legal and token-design advisor review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665683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6EFAC"/>
                </a:solidFill>
                <a:latin typeface="Calibri"/>
              </a:rPr>
              <a:t>MotoChain &amp; RideTrue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3767328"/>
            <a:ext cx="4572000" cy="4572000"/>
          </a:xfrm>
          <a:prstGeom prst="ellipse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0B2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RIDETRUE  ·  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CFDF5"/>
                </a:solidFill>
                <a:latin typeface="Calibri"/>
              </a:rPr>
              <a:t>Who We're Up Against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A7F3D0"/>
                </a:solidFill>
                <a:latin typeface="Calibri"/>
              </a:rPr>
              <a:t>Three competitor types — what they're good at, and where they break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1097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3657600" cy="3246120"/>
          </a:xfrm>
          <a:prstGeom prst="roundRect">
            <a:avLst/>
          </a:prstGeom>
          <a:solidFill>
            <a:srgbClr val="124A3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ntr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039111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271576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CFDF5"/>
                </a:solidFill>
                <a:latin typeface="Calibri"/>
              </a:rPr>
              <a:t>CENTRALIZED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3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EE7B7"/>
                </a:solidFill>
                <a:latin typeface="Calibri"/>
              </a:rPr>
              <a:t>CARFAX  ·  Korea Auto Inspection  ·  AutoCheck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37559"/>
            <a:ext cx="2651760" cy="18288"/>
          </a:xfrm>
          <a:prstGeom prst="rect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3465575"/>
            <a:ext cx="1508760" cy="201168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FBA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FBA74B"/>
                </a:solidFill>
                <a:latin typeface="Calibri"/>
              </a:rPr>
              <a:t>WHERE THEY 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21607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Data is owned by them, not you. You can't take your history if you switch. There's no real penalty for fake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59"/>
            <a:ext cx="1508760" cy="201168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4ADE80"/>
                </a:solidFill>
                <a:latin typeface="Calibri"/>
              </a:rPr>
              <a:t>OUR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07991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ECFDF5"/>
                </a:solidFill>
                <a:latin typeface="Calibri"/>
              </a:rPr>
              <a:t>Records are user-owned, signed, and economically staked. Fraud is automatically slashed — accuracy has skin in the game.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874519"/>
            <a:ext cx="3657600" cy="3246120"/>
          </a:xfrm>
          <a:prstGeom prst="roundRect">
            <a:avLst/>
          </a:prstGeom>
          <a:solidFill>
            <a:srgbClr val="124A3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39111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80560" y="271576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CFDF5"/>
                </a:solidFill>
                <a:latin typeface="Calibri"/>
              </a:rPr>
              <a:t>TRADITIONAL INSURERS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26663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EE7B7"/>
                </a:solidFill>
                <a:latin typeface="Calibri"/>
              </a:rPr>
              <a:t>Samsung F&amp;M  ·  Hyundai M&amp;F  ·  DB Insurance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3337559"/>
            <a:ext cx="2651760" cy="18288"/>
          </a:xfrm>
          <a:prstGeom prst="rect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80560" y="3465575"/>
            <a:ext cx="1508760" cy="201168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FBA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FBA74B"/>
                </a:solidFill>
                <a:latin typeface="Calibri"/>
              </a:rPr>
              <a:t>WHERE THEY BREAK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721607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Behavior data is locked to one insurer. Pricing still relies on age and demographics. Innovation is slow.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251959"/>
            <a:ext cx="1508760" cy="201168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4ADE80"/>
                </a:solidFill>
                <a:latin typeface="Calibri"/>
              </a:rPr>
              <a:t>OUR 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507991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ECFDF5"/>
                </a:solidFill>
                <a:latin typeface="Calibri"/>
              </a:rPr>
              <a:t>Behavior score follows the rider across providers. Pricing reflects actual riding. Claims settle on-chain in days.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874519"/>
            <a:ext cx="3657600" cy="3246120"/>
          </a:xfrm>
          <a:prstGeom prst="roundRect">
            <a:avLst/>
          </a:prstGeom>
          <a:solidFill>
            <a:srgbClr val="124A3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039111"/>
            <a:ext cx="640080" cy="640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75320" y="271576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CFDF5"/>
                </a:solidFill>
                <a:latin typeface="Calibri"/>
              </a:rPr>
              <a:t>DEFI 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026663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EE7B7"/>
                </a:solidFill>
                <a:latin typeface="Calibri"/>
              </a:rPr>
              <a:t>Nexus Mutual  ·  InsurAce  ·  Cover 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3337559"/>
            <a:ext cx="2651760" cy="18288"/>
          </a:xfrm>
          <a:prstGeom prst="rect">
            <a:avLst/>
          </a:prstGeom>
          <a:solidFill>
            <a:srgbClr val="10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75320" y="3465575"/>
            <a:ext cx="1508760" cy="201168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FBA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FBA74B"/>
                </a:solidFill>
                <a:latin typeface="Calibri"/>
              </a:rPr>
              <a:t>WHERE THEY 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721607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7F3D0"/>
                </a:solidFill>
                <a:latin typeface="Calibri"/>
              </a:rPr>
              <a:t>Built for crypto-native risks like smart-contract bugs. No real-world data moat. Almost zero consumer reach.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4251959"/>
            <a:ext cx="1508760" cy="201168"/>
          </a:xfrm>
          <a:prstGeom prst="roundRect">
            <a:avLst/>
          </a:prstGeom>
          <a:solidFill>
            <a:srgbClr val="0B2F21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4ADE80"/>
                </a:solidFill>
                <a:latin typeface="Calibri"/>
              </a:rPr>
              <a:t>OUR 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507991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ECFDF5"/>
                </a:solidFill>
                <a:latin typeface="Calibri"/>
              </a:rPr>
              <a:t>Real-world motorcycle data. Identity + behavior in one stack. Consumer-grade UX via account abstraction.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212080"/>
            <a:ext cx="11183112" cy="1371600"/>
          </a:xfrm>
          <a:prstGeom prst="roundRect">
            <a:avLst/>
          </a:prstGeom>
          <a:solidFill>
            <a:srgbClr val="0B2F21"/>
          </a:solidFill>
          <a:ln w="1587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5376672"/>
            <a:ext cx="73152" cy="104241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mo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63540"/>
            <a:ext cx="868680" cy="8686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783080" y="539496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OUR MOAT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6509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FDF5"/>
                </a:solidFill>
                <a:latin typeface="Calibri"/>
              </a:rPr>
              <a:t>Vertical data network effect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605332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A7F3D0"/>
                </a:solidFill>
                <a:latin typeface="Calibri"/>
              </a:rPr>
              <a:t>Every new bike, rider, mechanic, dealer, and partner makes the dataset more valuable — and harder for anyone to copy from scratch.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5376672"/>
            <a:ext cx="1417320" cy="1042416"/>
          </a:xfrm>
          <a:prstGeom prst="roundRect">
            <a:avLst/>
          </a:prstGeom>
          <a:solidFill>
            <a:srgbClr val="124A3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vert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5468112"/>
            <a:ext cx="502920" cy="5029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23760" y="601675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CFDF5"/>
                </a:solidFill>
                <a:latin typeface="Calibri"/>
              </a:rPr>
              <a:t>Two-wheelers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6217920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A7F3D0"/>
                </a:solidFill>
                <a:latin typeface="Calibri"/>
              </a:rPr>
              <a:t>Specialized data, not generic insurance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5376672"/>
            <a:ext cx="1417320" cy="1042416"/>
          </a:xfrm>
          <a:prstGeom prst="roundRect">
            <a:avLst/>
          </a:prstGeom>
          <a:solidFill>
            <a:srgbClr val="124A3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d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468112"/>
            <a:ext cx="50292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732520" y="601675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CFDF5"/>
                </a:solidFill>
                <a:latin typeface="Calibri"/>
              </a:rPr>
              <a:t>Identity + 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9952" y="6217920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A7F3D0"/>
                </a:solidFill>
                <a:latin typeface="Calibri"/>
              </a:rPr>
              <a:t>Two protocols, one stack — each reinforces the other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95560" y="5376672"/>
            <a:ext cx="1417320" cy="1042416"/>
          </a:xfrm>
          <a:prstGeom prst="roundRect">
            <a:avLst/>
          </a:prstGeom>
          <a:solidFill>
            <a:srgbClr val="124A3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we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5468112"/>
            <a:ext cx="502920" cy="5029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241280" y="601675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CFDF5"/>
                </a:solidFill>
                <a:latin typeface="Calibri"/>
              </a:rPr>
              <a:t>Korea-first wedge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68712" y="6217920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A7F3D0"/>
                </a:solidFill>
                <a:latin typeface="Calibri"/>
              </a:rPr>
              <a:t>Dense urban motorcycle market, expandable across Asia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6647688"/>
            <a:ext cx="4572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6702552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  <a:latin typeface="Calibri"/>
              </a:rPr>
              <a:t>We don't beat any one competitor head-on — we own the intersection none of them can occupy alone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70255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6EFAC"/>
                </a:solidFill>
                <a:latin typeface="Calibri"/>
              </a:rPr>
              <a:t>MotoChain &amp; RideTrue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</TotalTime>
  <Words>1308</Words>
  <Application>Microsoft Macintosh PowerPoint</Application>
  <PresentationFormat>Widescreen</PresentationFormat>
  <Paragraphs>223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Topalli, Ms. Enxhi</cp:lastModifiedBy>
  <cp:revision>8</cp:revision>
  <dcterms:created xsi:type="dcterms:W3CDTF">2013-01-27T09:14:16Z</dcterms:created>
  <dcterms:modified xsi:type="dcterms:W3CDTF">2026-05-18T08:08:41Z</dcterms:modified>
  <cp:category/>
</cp:coreProperties>
</file>