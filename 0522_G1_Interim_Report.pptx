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EAF0"/>
                </a:solidFill>
              </a:rPr>
              <a:t>MotoChain &amp; RideTrue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9748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92A0"/>
                </a:solidFill>
              </a:rPr>
              <a:t>A Verifiable Identity &amp; Behavior-Based
Insurance Protocol for Motorcycles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611880"/>
            <a:ext cx="6400800" cy="3175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3FF"/>
                </a:solidFill>
              </a:rPr>
              <a:t>Mireu Kim  ·  Enxhi Topalli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24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A0"/>
                </a:solidFill>
              </a:rPr>
              <a:t>CS495 DeFi  ·  May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828800"/>
            <a:ext cx="2834640" cy="1234440"/>
          </a:xfrm>
          <a:prstGeom prst="rect">
            <a:avLst/>
          </a:prstGeom>
          <a:solidFill>
            <a:srgbClr val="111C2E"/>
          </a:solidFill>
          <a:ln w="1905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17152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AA3FF"/>
                </a:solidFill>
              </a:rPr>
              <a:t>$120 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7152" y="2514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0"/>
                </a:solidFill>
              </a:rPr>
              <a:t>Global Motorcycle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3291840"/>
            <a:ext cx="2834640" cy="1234440"/>
          </a:xfrm>
          <a:prstGeom prst="rect">
            <a:avLst/>
          </a:prstGeom>
          <a:solidFill>
            <a:srgbClr val="111C2E"/>
          </a:solidFill>
          <a:ln w="1905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33832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EE59A"/>
                </a:solidFill>
              </a:rPr>
              <a:t>$70 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7152" y="39776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0"/>
                </a:solidFill>
              </a:rPr>
              <a:t>Motorcycle Insurance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4754880"/>
            <a:ext cx="2834640" cy="1234440"/>
          </a:xfrm>
          <a:prstGeom prst="rect">
            <a:avLst/>
          </a:prstGeom>
          <a:solidFill>
            <a:srgbClr val="111C2E"/>
          </a:solidFill>
          <a:ln w="1905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4846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D8D8"/>
                </a:solidFill>
              </a:rPr>
              <a:t>Base 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544068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2A0"/>
                </a:solidFill>
              </a:rPr>
              <a:t>Ethereum Layer 2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I. THE ELEVATOR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I. THE ELEVATOR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A Dual-Protocol DeFi System for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On-chain identity + economic incentives + ZK proofs = verifiable, self-enforcing markets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35608"/>
            <a:ext cx="5570067" cy="4389120"/>
          </a:xfrm>
          <a:prstGeom prst="rect">
            <a:avLst/>
          </a:prstGeom>
          <a:solidFill>
            <a:srgbClr val="111C2E"/>
          </a:solidFill>
          <a:ln w="1905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5700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A3FF"/>
                </a:solidFill>
              </a:rPr>
              <a:t>MotoChain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12264"/>
            <a:ext cx="5250027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Tamper-proof identity layer for motorcycles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VIN-linked ERC-721 NFT for every bike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Immutable, staked service records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Solves information asymmetry in resale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Portable history owned by the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435608"/>
            <a:ext cx="5570067" cy="4389120"/>
          </a:xfrm>
          <a:prstGeom prst="rect">
            <a:avLst/>
          </a:prstGeom>
          <a:solidFill>
            <a:srgbClr val="111C2E"/>
          </a:solidFill>
          <a:ln w="1905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1572768"/>
            <a:ext cx="55700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E59A"/>
                </a:solidFill>
              </a:rPr>
              <a:t>RideTrue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027" y="2112264"/>
            <a:ext cx="5250027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Behavior-based insurance market for riders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ZK proofs for privacy-preserving scoring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Pooled USDC insurance — claims on-chain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Replaces demographic proxies with real data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E8EAF0"/>
                </a:solidFill>
              </a:rPr>
              <a:t>• Safe-rider rebates from verified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053328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BF56"/>
                </a:solidFill>
              </a:rPr>
              <a:t>Core innovation: combining on-chain identity, economic enforcement through staking, and privacy-preserving ZK proofs — transforming trust-dependent markets into verifiable, self-enforcing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MISSION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MISSION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Verifiable Truth, User-Owned Identity, Economically Enforced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11368735" cy="1371600"/>
          </a:xfrm>
          <a:prstGeom prst="rect">
            <a:avLst/>
          </a:prstGeom>
          <a:solidFill>
            <a:srgbClr val="111C2E"/>
          </a:solidFill>
          <a:ln w="1905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1091153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E8EAF0"/>
                </a:solidFill>
              </a:rPr>
              <a:t>"MotoChain and RideTrue aim to eliminate trust-based inefficiencies in real-world markets
by replacing them with verifiable, user-owned data and economically enforced truth systems."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08376"/>
            <a:ext cx="3667658" cy="246888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45536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A3FF"/>
                </a:solidFill>
              </a:rPr>
              <a:t>Starting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33933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Motorcycles &amp; rider insurance in Seoul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7426" y="4014216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2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2018" y="3008376"/>
            <a:ext cx="3667658" cy="246888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9178" y="3145536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D8D8"/>
                </a:solidFill>
              </a:rPr>
              <a:t>Medium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9178" y="3511296"/>
            <a:ext cx="33933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Broader mobility markets — Vietnam, Indonesia, Thailand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7964" y="4014216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2A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2556" y="3008376"/>
            <a:ext cx="3667658" cy="246888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3145536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E59A"/>
                </a:solidFill>
              </a:rPr>
              <a:t>Long-term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3511296"/>
            <a:ext cx="33933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Global trustless layer for real-world asset verification
and behavior-based financial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0080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FFBF56"/>
                </a:solidFill>
              </a:rPr>
              <a:t>Individuals — not institutions — control their history, reputation, and financial outcomes.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II.1 — COMPREHENSIVE PROBLEM &amp; 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II.1 — PROBLEM &amp; 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Two Broken Markets — One Structural Failure: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2560320" cy="3840480"/>
          </a:xfrm>
          <a:prstGeom prst="rect">
            <a:avLst/>
          </a:prstGeom>
          <a:solidFill>
            <a:srgbClr val="111C2E"/>
          </a:solidFill>
          <a:ln w="1905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53896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AA3FF"/>
                </a:solidFill>
              </a:rPr>
              <a:t>$120 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185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Global Motorcycle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51176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0"/>
                </a:solidFill>
              </a:rPr>
              <a:t>Sellers possess full knowledge of vehicle history.
Buyers depend on unverifiable claims.
→ Classic "market for lemons" (Akerlof 1970)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344168"/>
            <a:ext cx="2560320" cy="3840480"/>
          </a:xfrm>
          <a:prstGeom prst="rect">
            <a:avLst/>
          </a:prstGeom>
          <a:solidFill>
            <a:srgbClr val="111C2E"/>
          </a:solidFill>
          <a:ln w="1905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453896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BF56"/>
                </a:solidFill>
              </a:rPr>
              <a:t>$70 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185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Insurance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551176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A0"/>
                </a:solidFill>
              </a:rPr>
              <a:t>Risk priced using age, demographics, not behavior.
Safe riders subsidize risky ones.
→ Systematic mispricing, reduced trust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44168"/>
            <a:ext cx="6080760" cy="38404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11480" y="5367528"/>
            <a:ext cx="11368735" cy="658368"/>
          </a:xfrm>
          <a:prstGeom prst="rect">
            <a:avLst/>
          </a:prstGeom>
          <a:solidFill>
            <a:srgbClr val="111C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819656"/>
            <a:ext cx="109115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Root cause:  No shared, tamper-proof, portable record of real-world events — data is siloed, mutable, and inaccessible across platforms.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II.1 — WHY BLOCKCHAIN IS A STRUCTURAL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II.1 — WHY BLOCKCHAIN IS A STRUCTURAL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Centralized Systems Cannot Provide All Four Properties Simultaneously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5303520" cy="4389120"/>
          </a:xfrm>
          <a:prstGeom prst="rect">
            <a:avLst/>
          </a:prstGeom>
          <a:solidFill>
            <a:srgbClr val="111C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Why Centralized Alternatives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✗  Data-holders have conflicts of interest in monetizing access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✗  Competing institutions have no incentive to share data openly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✗  Centralized records remain mutable and selectively disclosable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✗  No economic enforcement — data providers have no "skin in the game"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✗  Users cannot carry their history across platforms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35608"/>
            <a:ext cx="2918307" cy="214884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572768"/>
            <a:ext cx="29183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A3FF"/>
                </a:solidFill>
              </a:rPr>
              <a:t>Immutability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121408"/>
            <a:ext cx="26439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Once written, history cannot be altered by any single 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9067" y="1435608"/>
            <a:ext cx="2918307" cy="214884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6227" y="1572768"/>
            <a:ext cx="29183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D8D8"/>
                </a:solidFill>
              </a:rPr>
              <a:t>Decentralized
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6227" y="2121408"/>
            <a:ext cx="26439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Multiple independent participants validate every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721608"/>
            <a:ext cx="2918307" cy="214884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858768"/>
            <a:ext cx="29183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E59A"/>
                </a:solidFill>
              </a:rPr>
              <a:t>Economic
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407408"/>
            <a:ext cx="26439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Staking and slashing create real financial consequences for fraud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9067" y="3721608"/>
            <a:ext cx="2918307" cy="214884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6227" y="3858768"/>
            <a:ext cx="29183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F56"/>
                </a:solidFill>
              </a:rPr>
              <a:t>Portable
User-Owned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6227" y="4407408"/>
            <a:ext cx="26439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0"/>
                </a:solidFill>
              </a:rPr>
              <a:t>Reputation and history follow the user across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FFBF56"/>
                </a:solidFill>
              </a:rPr>
              <a:t>In this context, blockchain is not an implementation choice — it is a structural requirement.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II.2 — TECHNICAL ARCHITECTURE &amp; SYSTEM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II.2 — TECHNICAL ARCHITECTURE &amp; SYSTEM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MotoChain: VIN Token Lifecycle on Base 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Each motorcycle is anchored by an ERC-721 NFT. Every event is co-signed and permanently locked on-chain.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1328"/>
            <a:ext cx="11368735" cy="1965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" y="3630168"/>
            <a:ext cx="2732455" cy="256032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3767328"/>
            <a:ext cx="258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A3FF"/>
                </a:solidFill>
              </a:rPr>
              <a:t>Tamper-Resistant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Once written, no single actor can alter the record. Immutability is enforced at the protocol level.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3663" y="3630168"/>
            <a:ext cx="2732455" cy="256032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1679" y="3767328"/>
            <a:ext cx="258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E59A"/>
                </a:solidFill>
              </a:rPr>
              <a:t>Multi-Party Signed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679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Every service entry requires cryptographic signatures from BOTH the mechanic and the bike owner.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3630168"/>
            <a:ext cx="2732455" cy="256032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863" y="3767328"/>
            <a:ext cx="258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D8D8"/>
                </a:solidFill>
              </a:rPr>
              <a:t>Auto-Validation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3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Smart contracts flag inconsistencies — non-sequential mileage, conflicting records — 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031" y="3630168"/>
            <a:ext cx="2732455" cy="256032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6047" y="3767328"/>
            <a:ext cx="2586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F56"/>
                </a:solidFill>
              </a:rPr>
              <a:t>Composable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047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Open API for insurers, lenders, and marketplaces. History is a public good, not a silo.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II.2.1 — TELEMATICS INTEGRITY &amp; ANTI-SPOOFING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II.2.1 — TELEMATICS INTEGRITY &amp; ANTI-SPOOFING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RideTrue: Scoring Behavior Without Exposing Your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ZK proofs validate computation — not input authenticity. Four defenses close the remaining gap.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53896"/>
            <a:ext cx="11368735" cy="18745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" y="3493008"/>
            <a:ext cx="2732455" cy="265176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3630168"/>
            <a:ext cx="2586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A3FF"/>
                </a:solidFill>
              </a:rPr>
              <a:t>Hardware
Attestation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Android Play Integrity API + iOS DeviceCheck confirm data originates from a genuine, uncompromised device.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3663" y="3493008"/>
            <a:ext cx="2732455" cy="265176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1679" y="3630168"/>
            <a:ext cx="2586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D8D8"/>
                </a:solidFill>
              </a:rPr>
              <a:t>Sensor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679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GPS + accelerometer + gyroscope + ECU data must be internally consistent across all sensors — much harder to spoof than a single feed.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3493008"/>
            <a:ext cx="2732455" cy="265176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863" y="3630168"/>
            <a:ext cx="2586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F56"/>
                </a:solidFill>
              </a:rPr>
              <a:t>Statistical
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863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Per-rider behavioral baseline detects physically implausible trajectories, instantaneous position changes, and accelerometer inconsistencies.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031" y="3493008"/>
            <a:ext cx="2732455" cy="265176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6047" y="3630168"/>
            <a:ext cx="2586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E59A"/>
                </a:solidFill>
              </a:rPr>
              <a:t>Sampling &amp;
Challenge Mechanics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047" y="4160520"/>
            <a:ext cx="258615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Random rides re-verified against cell tower triangulation, traffic data, and (optionally) paired hardware tokens installed on the bike.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II.2.2 — INSURANCE POOL, CLAIMS &amp; ORACLES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II.2.2 — INSURANCE POOL, CLAIMS &amp; ORACLES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From Premium Deposit to Automated Payout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4168"/>
            <a:ext cx="11368735" cy="17373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18687"/>
            <a:ext cx="640080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3218687"/>
            <a:ext cx="4785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D8D8"/>
                </a:solidFill>
              </a:rPr>
              <a:t>Oracle Design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602735"/>
            <a:ext cx="47850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50">
                <a:solidFill>
                  <a:srgbClr val="E8EAF0"/>
                </a:solidFill>
              </a:rPr>
              <a:t>• Multi-source aggregation — no single provider trusted in isolation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E8EAF0"/>
                </a:solidFill>
              </a:rPr>
              <a:t>• Economic staking by oracle operators — bad data = slashed stake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E8EAF0"/>
                </a:solidFill>
              </a:rPr>
              <a:t>• Stale or conflicting data → verification-pending state, not auto-execution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E8EAF0"/>
                </a:solidFill>
              </a:rPr>
              <a:t>• High-value claims require higher consensus thresholds and longer review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E8EAF0"/>
                </a:solidFill>
              </a:rPr>
              <a:t>• DeFi integration: idle capital deployed to Aave for yield on excess reserves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II.3 — USER EXPERIENCE &amp; ONBOARDING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II.3 — USER EXPERIENCE &amp; ONBOARDING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DeFi That Feels Like a Normal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Account abstraction + gasless transactions + mobile-first — no seed phrases, no gas fees, no crypto knowledge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27048"/>
            <a:ext cx="3667658" cy="4663440"/>
          </a:xfrm>
          <a:prstGeom prst="rect">
            <a:avLst/>
          </a:prstGeom>
          <a:solidFill>
            <a:srgbClr val="111C2E"/>
          </a:solidFill>
          <a:ln w="1905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64208"/>
            <a:ext cx="36676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A3FF"/>
                </a:solidFill>
              </a:rPr>
              <a:t>Rider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21408"/>
            <a:ext cx="334761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Safety score, premium level, projected savings — one screen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Behavioral tracking runs passively in the background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Rebate eligibility and score history always visible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Dynamic premium adjustments and periodic rebates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Retention: financial incentives compound with safe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2018" y="1527048"/>
            <a:ext cx="3667658" cy="4663440"/>
          </a:xfrm>
          <a:prstGeom prst="rect">
            <a:avLst/>
          </a:prstGeom>
          <a:solidFill>
            <a:srgbClr val="111C2E"/>
          </a:solidFill>
          <a:ln w="1905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6610" y="1664208"/>
            <a:ext cx="36676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E59A"/>
                </a:solidFill>
              </a:rPr>
              <a:t>Mechanic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6610" y="2121408"/>
            <a:ext cx="334761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QR code scans identify the vehicle instantly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Structured form captures service type, mileage, parts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Owner co-signs via rider app — QR handoff at the shop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End-to-end record entry: under 30 seconds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Reputation capital builds with each verified entry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2556" y="1527048"/>
            <a:ext cx="3667658" cy="4663440"/>
          </a:xfrm>
          <a:prstGeom prst="rect">
            <a:avLst/>
          </a:prstGeom>
          <a:solidFill>
            <a:srgbClr val="111C2E"/>
          </a:solidFill>
          <a:ln w="1905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7148" y="1664208"/>
            <a:ext cx="36676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F56"/>
                </a:solidFill>
              </a:rPr>
              <a:t>Buyer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148" y="2121408"/>
            <a:ext cx="334761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Scan a code or enter a VIN — no account required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Complete, cryptographically verified history displayed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Ownership transfers, service records, claims visible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MotoChain Verified badge at point of sale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E8EAF0"/>
                </a:solidFill>
              </a:rPr>
              <a:t>• No wallet, no crypto — just verifiable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II.4 — TARGET AUDIENCE &amp; CUSTOMER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II.4 — TARGET AUDIENCE &amp; CUSTOMER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Two-Sided Marketplace — Both Sides Must Join Simultaneously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4168"/>
            <a:ext cx="8229600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23960" y="1344168"/>
            <a:ext cx="295625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399032"/>
            <a:ext cx="2956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A3FF"/>
                </a:solidFill>
              </a:rPr>
              <a:t>Seoul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1645920"/>
            <a:ext cx="2819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Launch in dense urban motorcycle market with high-volume dealers &amp; repair shops.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057400"/>
            <a:ext cx="295625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2112264"/>
            <a:ext cx="2956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E59A"/>
                </a:solidFill>
              </a:rPr>
              <a:t>Dealer Pull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359152"/>
            <a:ext cx="2819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Verified history → faster sales, higher prices, fewer disputes → dealers adopt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770632"/>
            <a:ext cx="295625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2825496"/>
            <a:ext cx="2956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D8D8"/>
                </a:solidFill>
              </a:rPr>
              <a:t>Mechanic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3072384"/>
            <a:ext cx="2819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Dealer adoption forces mechanic-side onboarding through commercial pressure.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3483864"/>
            <a:ext cx="295625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8" y="3538728"/>
            <a:ext cx="2956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56"/>
                </a:solidFill>
              </a:rPr>
              <a:t>Sybil Resistance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3785616"/>
            <a:ext cx="2819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Rewards require verified actions: real vehicle, real rides, real service logs.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4197096"/>
            <a:ext cx="295625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8" y="4251960"/>
            <a:ext cx="2956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B2B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4498848"/>
            <a:ext cx="2819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Marketplace + insurer + lender integrations convert data into immediate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84648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BF56"/>
                </a:solidFill>
              </a:rPr>
              <a:t>Expansion: Seoul → Vietnam, Indonesia, Thailand — Asia's largest two-wheeler markets.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II.5 — ECONOMIC ENGINEERING &amp; TOKENOMICS  ·  II.5.1–5.2 REVENUE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II.5.1-5.2 — ECONOMIC DESIGN &amp; REVENUE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Revenue Built on Real Usage — Not Speculative Token Emissions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The token is not the product. The token is an enforcement and coordination tool.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435608"/>
            <a:ext cx="5303520" cy="5120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32120" y="1527048"/>
            <a:ext cx="624809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0136" y="1591056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A3FF"/>
                </a:solidFill>
              </a:rPr>
              <a:t>VIN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0136" y="1865376"/>
            <a:ext cx="606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₩10,000 / bike  ·  5,000 bikes Y1  →  ₩50 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240280"/>
            <a:ext cx="624809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2304288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D8D8"/>
                </a:solidFill>
              </a:rPr>
              <a:t>Ownership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578608"/>
            <a:ext cx="606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₩15,000 / transfer  ·  1,000 Y1  →  ₩15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2953512"/>
            <a:ext cx="624809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0136" y="3017520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E59A"/>
                </a:solidFill>
              </a:rPr>
              <a:t>Service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0136" y="3291840"/>
            <a:ext cx="606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₩5,000 / record  ·  10,000 Y1  →  ₩50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666744"/>
            <a:ext cx="624809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0136" y="3730752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56"/>
                </a:solidFill>
              </a:rPr>
              <a:t>Insurance Pool 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4005072"/>
            <a:ext cx="606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5% of premium pool  ·  ₩2B pool  →  ₩100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4379976"/>
            <a:ext cx="624809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0136" y="4443984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Claims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4718304"/>
            <a:ext cx="606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1.5% of claim value  ·  1% net margin  →  ₩2.25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5093208"/>
            <a:ext cx="6248095" cy="621792"/>
          </a:xfrm>
          <a:prstGeom prst="rect">
            <a:avLst/>
          </a:prstGeom>
          <a:solidFill>
            <a:srgbClr val="111C2E"/>
          </a:solidFill>
          <a:ln w="12700">
            <a:solidFill>
              <a:srgbClr val="889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0136" y="5157216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A0"/>
                </a:solidFill>
              </a:rPr>
              <a:t>API / Data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0136" y="5431536"/>
            <a:ext cx="6065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Subscription  ·  Highest long-term margin  →  ₩50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5806440"/>
            <a:ext cx="6248095" cy="502920"/>
          </a:xfrm>
          <a:prstGeom prst="rect">
            <a:avLst/>
          </a:prstGeom>
          <a:solidFill>
            <a:srgbClr val="111C2E"/>
          </a:solidFill>
          <a:ln w="2540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0136" y="5897880"/>
            <a:ext cx="6248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E59A"/>
                </a:solidFill>
              </a:rPr>
              <a:t>TOTAL YEAR 1  →  ₩ 227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II.5.3–5.4 — CORE FINANCIAL ASSUMPTIONS · SEOUL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II.5.3-5.4 — FINANCIAL ASSUMPTIONS &amp; REVENUE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Year 1 Revenue Model: Seoul Launch · Conservative Loss Ratio (~8.9%)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5577840" cy="502920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A3FF"/>
                </a:solidFill>
              </a:rPr>
              <a:t>Core Assumptions (Seoul Y1)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" y="1938528"/>
            <a:ext cx="5358384" cy="36576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025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Registered motorcycles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025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5,000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" y="2350008"/>
            <a:ext cx="5358384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14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Monthly insurance riders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4140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2,000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2761488"/>
            <a:ext cx="5358384" cy="36576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254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Avg annual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8254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₩1,080,000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3172968"/>
            <a:ext cx="5358384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369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Monthly premium pool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2369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₩180M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" y="3584448"/>
            <a:ext cx="5358384" cy="36576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484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Annual premium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6484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₩2,160M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" y="3995928"/>
            <a:ext cx="5358384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599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Modeled loss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059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~8.9% (intentionally conservative)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" y="4407408"/>
            <a:ext cx="5358384" cy="36576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4714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Avg monthly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471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₩90,000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4818888"/>
            <a:ext cx="5358384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8828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Claim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8828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" y="5230368"/>
            <a:ext cx="5358384" cy="36576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2943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Avg claim severity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294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₩1,200,000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" y="5641848"/>
            <a:ext cx="5358384" cy="3657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705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Protocol fee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57058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5% of premiums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344168"/>
            <a:ext cx="5562295" cy="502920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481328"/>
            <a:ext cx="5562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E59A"/>
                </a:solidFill>
              </a:rPr>
              <a:t>Revenue Stream Detail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1938528"/>
            <a:ext cx="5342839" cy="566928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VIN Registration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2402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>5,000 × ₩10,000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82935" y="20482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E59A"/>
                </a:solidFill>
              </a:rPr>
              <a:t>₩50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7648" y="2551176"/>
            <a:ext cx="5342839" cy="56692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624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Ownership Transfer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8529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>1,000 × ₩15,000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82935" y="26609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E59A"/>
                </a:solidFill>
              </a:rPr>
              <a:t>₩15 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3163824"/>
            <a:ext cx="5342839" cy="566928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2369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Service Logging (protocol share)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34655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>10,000 × ₩5,000 × 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82935" y="32735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E59A"/>
                </a:solidFill>
              </a:rPr>
              <a:t>₩10 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3776472"/>
            <a:ext cx="5342839" cy="56692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8496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Insurance Pool Fee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0782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>₩2,160M × 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82935" y="3886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E59A"/>
                </a:solidFill>
              </a:rPr>
              <a:t>₩108 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4389120"/>
            <a:ext cx="5342839" cy="566928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44622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Claims Processing Fee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46908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>₩150M × 1.5%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82935" y="4498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E59A"/>
                </a:solidFill>
              </a:rPr>
              <a:t>₩2.25 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27648" y="5001768"/>
            <a:ext cx="5342839" cy="56692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API / Data Access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303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>Pilot subscriptions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82935" y="51114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EE59A"/>
                </a:solidFill>
              </a:rPr>
              <a:t>₩50 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5614416"/>
            <a:ext cx="5342839" cy="566928"/>
          </a:xfrm>
          <a:prstGeom prst="rect">
            <a:avLst/>
          </a:prstGeom>
          <a:solidFill>
            <a:srgbClr val="0D2010"/>
          </a:solidFill>
          <a:ln w="1905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56875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EE59A"/>
                </a:solidFill>
              </a:rPr>
              <a:t>TOTAL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5916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0"/>
                </a:solidFill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82935" y="57241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EE59A"/>
                </a:solidFill>
              </a:rPr>
              <a:t>₩235 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400800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BF56"/>
                </a:solidFill>
              </a:rPr>
              <a:t>Note: Loss ratio of ~8.9% is intentionally conservative. Industry-standard motorcycle insurance loss ratios are 55–70%. Protocol prioritizes pool solvency over premium competitiveness during first 12–24 months.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II.5.5 — TOKEN DESIGN ($MOTO) — DRAFT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II.5.5 — $MOTO TOKEN DESIGN · DRAFT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$MOTO: Utility &amp; Governance Only — Not a Speculative Yield Engine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52728"/>
            <a:ext cx="5303520" cy="5303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32120" y="1344168"/>
            <a:ext cx="6248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AF0"/>
                </a:solidFill>
              </a:rPr>
              <a:t>Token Utility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691640"/>
            <a:ext cx="6248095" cy="987552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0136" y="1783080"/>
            <a:ext cx="6248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E59A"/>
                </a:solidFill>
              </a:rPr>
              <a:t>Staking &amp; Slashing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0136" y="2112264"/>
            <a:ext cx="5992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Mechanics, validators, oracle operators stake $MOTO for write access. Misbehavior is penalized via slashing.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788920"/>
            <a:ext cx="6248095" cy="987552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2880360"/>
            <a:ext cx="6248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A3FF"/>
                </a:solidFill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3209544"/>
            <a:ext cx="5992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Token holders vote on fees, reserve ratios, rebate formulas, treasury deployment, and integrations.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3886200"/>
            <a:ext cx="6248095" cy="987552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0136" y="3977640"/>
            <a:ext cx="6248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F56"/>
                </a:solidFill>
              </a:rPr>
              <a:t>Reputation Gating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0136" y="4306824"/>
            <a:ext cx="5992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Tiered staking unlocks higher write limits and reward shares for established mechanics and dealers.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4983479"/>
            <a:ext cx="6248095" cy="987552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0136" y="5074919"/>
            <a:ext cx="6248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D8D8"/>
                </a:solidFill>
              </a:rPr>
              <a:t>Fee Discounts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5404103"/>
            <a:ext cx="5992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Select API and registration fees payable in $MOTO at a discount. Received tokens burned or accrued by treasury.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6190488"/>
            <a:ext cx="624809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BF56"/>
                </a:solidFill>
              </a:rPr>
              <a:t>⚠  Critical: Insurance pool returns, rider rebates, and all protocol revenue are paid in USDC — NOT in $MOTO. This is intentional: preserves economic discipline and reduces risk of securities classification.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6784848"/>
            <a:ext cx="62480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2A0"/>
                </a:solidFill>
              </a:rPr>
              <a:t>Network: Base L2  ·  Supply: 1,000,000,000 fixed  ·  Standard: ERC-20 with governance + staking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II.5.6 — MECHANIC TRUST: A LAYERED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II.5.6 — MECHANIC TRUST: A LAYERED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Prevention → Detection →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Without trustworthy service records, the vehicle history layer is no better than a centralized database.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1328"/>
            <a:ext cx="11368735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" y="5596128"/>
            <a:ext cx="36576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3270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596128"/>
            <a:ext cx="146304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327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5596128"/>
            <a:ext cx="118872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63270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Stake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5596128"/>
            <a:ext cx="128016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563270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Writes /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5596128"/>
            <a:ext cx="82296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Fee Share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5596128"/>
            <a:ext cx="237744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56327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Unlock Requirement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888736"/>
            <a:ext cx="36576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A3FF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888736"/>
            <a:ext cx="146304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916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New Verified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5888736"/>
            <a:ext cx="118872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9161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₩200,000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5888736"/>
            <a:ext cx="128016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59161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50 / 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5888736"/>
            <a:ext cx="82296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9161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5888736"/>
            <a:ext cx="237744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59161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Business verified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163056"/>
            <a:ext cx="36576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190487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E59A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163056"/>
            <a:ext cx="146304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90487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Trusted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6163056"/>
            <a:ext cx="118872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619048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₩750,000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6163056"/>
            <a:ext cx="128016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619048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200 / month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6163056"/>
            <a:ext cx="82296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6190487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6163056"/>
            <a:ext cx="237744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77840" y="6190487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90+ day clean record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437375"/>
            <a:ext cx="36576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46480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BF56"/>
                </a:solidFill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6437375"/>
            <a:ext cx="146304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4648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Premium / Dealer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6437375"/>
            <a:ext cx="118872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0" y="64648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₩2,000,000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6437375"/>
            <a:ext cx="128016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0" y="64648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1,000 / month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6437375"/>
            <a:ext cx="82296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646480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70%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32120" y="6437375"/>
            <a:ext cx="2377440" cy="256032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0" y="64648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High rating, no disputes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6711696"/>
            <a:ext cx="36576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7391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6B6B"/>
                </a:solidFill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6711696"/>
            <a:ext cx="146304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67391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Institutional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0280" y="6711696"/>
            <a:ext cx="118872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0" y="67391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₩5,000,000+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29000" y="6711696"/>
            <a:ext cx="128016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67391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Custom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09160" y="6711696"/>
            <a:ext cx="82296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67391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70–75%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6711696"/>
            <a:ext cx="2377440" cy="25603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0" y="6739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Audited partner status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II.5.7 — PREMIUM POOL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II.5.7 — PREMIUM POOL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Conservative Capital Management — Insurance ≠ Speculative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Premiums are not free revenue. Every dollar is allocated with solvency as the first priority.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44168"/>
            <a:ext cx="548640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0" y="14996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E59A"/>
                </a:solidFill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E59A"/>
                </a:solidFill>
              </a:rPr>
              <a:t>Liquid Reserve 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282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Always liquid. Ineligible for DeFi yield. Pays claims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1854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A3FF"/>
                </a:solidFill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488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A3FF"/>
                </a:solidFill>
              </a:rPr>
              <a:t>Catastrophe Reserve 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140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Used only during extreme events. Calibrated to Korean typhoon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8712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D8D8"/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346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D8D8"/>
                </a:solidFill>
              </a:rPr>
              <a:t>Safe-Rider Rebates  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998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Returned quarterly to claim-free riders — the "fairness dividend."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5570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6B6B"/>
                </a:solidFill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Expected Claims  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7856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Pays approved claims. Buffer above modeled ~9% loss ratio.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2428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BF56"/>
                </a:solidFill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062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56"/>
                </a:solidFill>
              </a:rPr>
              <a:t>Reinsurance 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714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External backstop. Required before launch. Covers tail risk above pool capacity.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9286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2A0"/>
                </a:solidFill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920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2A0"/>
                </a:solidFill>
              </a:rPr>
              <a:t>Treasury  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572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Protocol operational reserve and governance discretion.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61441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577840"/>
            <a:ext cx="6065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Protocol Fee  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843016"/>
            <a:ext cx="5973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Operating revenue captured for protocol development and team.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6419088"/>
            <a:ext cx="60652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BF56"/>
                </a:solidFill>
              </a:rPr>
              <a:t>The DeFi yield cap (up to 10% of excess reserves) is a ceiling — not a target. Only excess reserves above both the 25% liquidity floor and 20% catastrophe floor are eligible for deployment.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II.5.8–5.9 — FX RISK &amp; STRESS-TESTED FINANCIAL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II.5.8-5.9 — FX RISK &amp; STRESS-TESTED FINANCIAL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Commercially Viable Under Realistic Assumptions · Break-Even Year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4114800" cy="160020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538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56"/>
                </a:solidFill>
              </a:rPr>
              <a:t>II.5.8 — Currency &amp; FX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73936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Premiums priced in ₩ (KRW) for riders but pool contributions held in USDC on-chain. Structural FX exposure managed via: (i) KRW-pegged stablecoins for a portion of reserves, (ii) USD-equivalent + KRW reserve ratios tracked in parallel, (iii) yield deployment paused when FX volatility exceeds governance thresholds.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344168"/>
            <a:ext cx="7071055" cy="1600200"/>
          </a:xfrm>
          <a:prstGeom prst="rect">
            <a:avLst/>
          </a:prstGeom>
          <a:solidFill>
            <a:srgbClr val="111C2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45389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II.5.9 — Stress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19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Claim frequency: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819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8% → 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0756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Avg claim severity: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0756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₩1.2M → ₩2.5M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331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Modeled loss ratio: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331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~8.9% → ~34.7%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877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0"/>
                </a:solidFill>
              </a:rPr>
              <a:t>Safe-rider rebates: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5877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18% → ~10% (reduced under stress)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81528"/>
            <a:ext cx="7863840" cy="374903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081528"/>
            <a:ext cx="3322015" cy="37490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644652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F56"/>
                </a:solidFill>
              </a:rPr>
              <a:t>Total funding requirement: ~₩4.5B (~$3.3M USD) seed + Series A, separately from LP capital for pool underwriting.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II.6.1 — COMPETITIVE ANALYSIS &amp;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II.6.1 — COMPETITIVE ANALYSIS &amp;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Three Competitor Groups — One Intersection They Cannot Occupy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4168"/>
            <a:ext cx="11368735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4864608"/>
            <a:ext cx="2732455" cy="201168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4974336"/>
            <a:ext cx="25861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A3FF"/>
                </a:solidFill>
              </a:rPr>
              <a:t>Vertical Data
Network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5486400"/>
            <a:ext cx="2586151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More bikes, riders, mechanics, dealers, partners → dataset value compounds for every participant. Structurally hard to replicate from a standing start.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3663" y="4864608"/>
            <a:ext cx="2732455" cy="201168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1679" y="4974336"/>
            <a:ext cx="25861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E59A"/>
                </a:solidFill>
              </a:rPr>
              <a:t>Dual-Protocol
Composability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679" y="5486400"/>
            <a:ext cx="2586151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MotoChain identity data enriches RideTrue behavior scoring. Each protocol makes the other more valuable. No single competitor can replicate both.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4864608"/>
            <a:ext cx="2732455" cy="201168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863" y="4974336"/>
            <a:ext cx="25861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7D8D8"/>
                </a:solidFill>
              </a:rPr>
              <a:t>Korea-First
Wedge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5486400"/>
            <a:ext cx="2586151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Dense urban motorcycle market with realistic expansion to Vietnam, Indonesia, Thailand — Asia's largest two-wheeler markets.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8031" y="4864608"/>
            <a:ext cx="2732455" cy="201168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6047" y="4974336"/>
            <a:ext cx="25861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F56"/>
                </a:solidFill>
              </a:rPr>
              <a:t>Consumer-Grade
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6047" y="5486400"/>
            <a:ext cx="2586151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AF0"/>
                </a:solidFill>
              </a:rPr>
              <a:t>Account abstraction + gasless transactions target non-crypto users. Competitors in all three categories require crypto sophistication.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II.6.2 — SECURITY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II.6.2 — SECURITY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Security Is a Launch Gate — Not a Post-Launch Concern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A0"/>
                </a:solidFill>
              </a:rPr>
              <a:t>The protocol will not accept user funds until both independent audits complete and all critical findings are resolved.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27048"/>
            <a:ext cx="11368735" cy="3200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" y="4864608"/>
            <a:ext cx="11368735" cy="201168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74336"/>
            <a:ext cx="11368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E59A"/>
                </a:solidFill>
              </a:rPr>
              <a:t>Operational Security Commitments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21808"/>
            <a:ext cx="110029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E8EAF0"/>
                </a:solidFill>
              </a:rPr>
              <a:t>• 5-of-9 multi-sig wallet with geographically distributed signers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E8EAF0"/>
                </a:solidFill>
              </a:rPr>
              <a:t>• 48-hour minimum time-lock on any non-emergency parameter change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E8EAF0"/>
                </a:solidFill>
              </a:rPr>
              <a:t>• Emergency pause restricted to narrow scope with documented invocation criteria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E8EAF0"/>
                </a:solidFill>
              </a:rPr>
              <a:t>• Public incident response runbook with quarterly drills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E8EAF0"/>
                </a:solidFill>
              </a:rPr>
              <a:t>• Annual third-party penetration testing for mobile and telematics back-end systems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E8EAF0"/>
                </a:solidFill>
              </a:rPr>
              <a:t>• Each material protocol upgrade preceded by an incremental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II.6.3–6.4 — ECONOMIC STRESS TESTING &amp; LIQUIDITY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II.6.3-6.4 — BLACK SWAN PLAN &amp; LIQUIDITY SAFEGUARDS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9 Safeguards Against Pool Collapse — Korea Typhoons Are Base-Case, Not Tail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E59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417320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E59A"/>
                </a:solidFill>
              </a:rPr>
              <a:t>Mandatory
Liquid Reserve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911096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≥25% of pool always
liquid — ineligible
for DeFi yield.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778" y="1344168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506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A3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0826" y="1417320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A3FF"/>
                </a:solidFill>
              </a:rPr>
              <a:t>Catastrophe
Reserve Fund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6506" y="1911096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20% of every premium
routed to dedicated
catastrophe fund.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1344168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1804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D8D8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6124" y="1417320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D8D8"/>
                </a:solidFill>
              </a:rPr>
              <a:t>Reinsurance
Backstop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804" y="1911096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External partner covers
tail risk above pool
capacity. Required pre-launch.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79776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8529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56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852928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56"/>
                </a:solidFill>
              </a:rPr>
              <a:t>Emergency
Payout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3346704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Circuit breaker → 50%
immediate, 50% over
3–6 months.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6778" y="2779776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506" y="28529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0826" y="2852928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Pro-Rata
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6506" y="3346704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If undercollateralized,
all claimants receive
proportional share.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2076" y="2779776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1804" y="28529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A3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6124" y="2852928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A3FF"/>
                </a:solidFill>
              </a:rPr>
              <a:t>Catastrophe
Circuit Breaker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804" y="3346704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Triggers on: &gt;20%
pool claims in 7 days,
reserve ratio &lt;15%.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15384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288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EE59A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4288536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E59A"/>
                </a:solidFill>
              </a:rPr>
              <a:t>Conservative
DeFi Yield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4782312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Only excess reserves
deployed. Cap 10–15%.
Blue-chip only.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6778" y="4215384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6506" y="4288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BF56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0826" y="4288536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56"/>
                </a:solidFill>
              </a:rPr>
              <a:t>Dynamic
Premium Adj.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6506" y="4782312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Post-shock: +10–20%
temporary increase to
rebuild reserves.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2076" y="4215384"/>
            <a:ext cx="3698138" cy="1325880"/>
          </a:xfrm>
          <a:prstGeom prst="rect">
            <a:avLst/>
          </a:prstGeom>
          <a:solidFill>
            <a:srgbClr val="111C2E"/>
          </a:solidFill>
          <a:ln w="15240">
            <a:solidFill>
              <a:srgbClr val="27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1804" y="4288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D8D8"/>
                </a:solidFill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6124" y="4288536"/>
            <a:ext cx="3195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D8D8"/>
                </a:solidFill>
              </a:rPr>
              <a:t>Coverage
Exclusions &amp; Caps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1804" y="4782312"/>
            <a:ext cx="34695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Max normal payout:
₩5M. Max catastrophe:
₩3M immediate.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1908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F56"/>
                </a:solidFill>
              </a:rPr>
              <a:t>Liquidity safeguards: 25% liquid floor · capped DeFi deployment · 30-day LP withdrawal notice · pro-rata exit queue in emergency mode · stablecoin diversification (USDC + KRW-pegged) · real-time public liquidity dashboard.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1624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A3FF"/>
                </a:solidFill>
              </a:rPr>
              <a:t>MotoChain &amp; RideTrue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54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92A0"/>
                </a:solidFill>
              </a:rPr>
              <a:t>Mireu Kim  ·  Enxhi Topalli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"/>
            <a:ext cx="115516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BF56"/>
                </a:solidFill>
              </a:rPr>
              <a:t>II.6.5–6.6 — ORACLE RISK &amp; MECHANIC/VALIDATOR FRAUD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"/>
            <a:ext cx="1136873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A3FF"/>
                </a:solidFill>
              </a:rPr>
              <a:t>II.6.5-6.6 — ORACLE RISK &amp; MECHANIC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13687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AF0"/>
                </a:solidFill>
              </a:rPr>
              <a:t>The Last Line of Defense: Data Integrity End to End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4168"/>
            <a:ext cx="68580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344168"/>
            <a:ext cx="4327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D8D8"/>
                </a:solidFill>
              </a:rPr>
              <a:t>Oracle Risk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91640"/>
            <a:ext cx="4327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950">
                <a:solidFill>
                  <a:srgbClr val="E8EAF0"/>
                </a:solidFill>
              </a:rPr>
              <a:t>• Multi-source aggregation — theft claim needs police record + vehicle registry + insurer confirmation</a:t>
            </a:r>
          </a:p>
          <a:p>
            <a:pPr>
              <a:spcBef>
                <a:spcPts val="700"/>
              </a:spcBef>
            </a:pPr>
            <a:r>
              <a:rPr sz="950">
                <a:solidFill>
                  <a:srgbClr val="E8EAF0"/>
                </a:solidFill>
              </a:rPr>
              <a:t>• No single oracle trusted in isolation — consensus threshold required</a:t>
            </a:r>
          </a:p>
          <a:p>
            <a:pPr>
              <a:spcBef>
                <a:spcPts val="700"/>
              </a:spcBef>
            </a:pPr>
            <a:r>
              <a:rPr sz="950">
                <a:solidFill>
                  <a:srgbClr val="E8EAF0"/>
                </a:solidFill>
              </a:rPr>
              <a:t>• Stale / conflicting data → verification-pending state, not auto-execution</a:t>
            </a:r>
          </a:p>
          <a:p>
            <a:pPr>
              <a:spcBef>
                <a:spcPts val="700"/>
              </a:spcBef>
            </a:pPr>
            <a:r>
              <a:rPr sz="950">
                <a:solidFill>
                  <a:srgbClr val="E8EAF0"/>
                </a:solidFill>
              </a:rPr>
              <a:t>• High-value claims require higher consensus thresholds + longer review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721608"/>
            <a:ext cx="4327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F56"/>
                </a:solidFill>
              </a:rPr>
              <a:t>Mechanic Fraud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4087368"/>
            <a:ext cx="4327855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160520"/>
            <a:ext cx="4327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E59A"/>
                </a:solidFill>
              </a:rPr>
              <a:t>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4434840"/>
            <a:ext cx="4144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Co-signing + hardware telemetry eliminate categories of unilateral fraud at the source.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4864608"/>
            <a:ext cx="4327855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FF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4937760"/>
            <a:ext cx="4327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F56"/>
                </a:solidFill>
              </a:rP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5212080"/>
            <a:ext cx="4144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Bounty market + monetization-triggered re-verification surface fraud beyond the escrow window.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5641848"/>
            <a:ext cx="4327855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5715000"/>
            <a:ext cx="4327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5989320"/>
            <a:ext cx="41449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AF0"/>
                </a:solidFill>
              </a:rPr>
              <a:t>Tiered staking + risk-tiered escrow + per-entry stake-at-risk make detected fraud economically irrational.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84648"/>
            <a:ext cx="6858000" cy="868680"/>
          </a:xfrm>
          <a:prstGeom prst="rect">
            <a:avLst/>
          </a:prstGeom>
          <a:solidFill>
            <a:srgbClr val="111C2E"/>
          </a:solidFill>
          <a:ln w="15240">
            <a:solidFill>
              <a:srgbClr val="4EE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294376"/>
            <a:ext cx="6492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EAF0"/>
                </a:solidFill>
              </a:rPr>
              <a:t>Design Goal:  The architecture does not assume mechanics are honest or dishonest by default. It assumes they are rational actors — and keeps the expected value of fraud negative across all attack vectors.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4143" y="65471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92A0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