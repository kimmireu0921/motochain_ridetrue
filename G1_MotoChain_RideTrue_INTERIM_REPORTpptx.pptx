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73" r:id="rId2"/>
    <p:sldId id="283" r:id="rId3"/>
    <p:sldId id="282" r:id="rId4"/>
    <p:sldId id="284" r:id="rId5"/>
    <p:sldId id="285" r:id="rId6"/>
    <p:sldId id="286" r:id="rId7"/>
    <p:sldId id="287" r:id="rId8"/>
    <p:sldId id="288" r:id="rId9"/>
    <p:sldId id="289" r:id="rId10"/>
    <p:sldId id="290" r:id="rId11"/>
    <p:sldId id="256" r:id="rId12"/>
    <p:sldId id="262" r:id="rId13"/>
    <p:sldId id="263" r:id="rId14"/>
    <p:sldId id="264" r:id="rId15"/>
    <p:sldId id="257" r:id="rId16"/>
    <p:sldId id="259" r:id="rId17"/>
    <p:sldId id="265" r:id="rId18"/>
    <p:sldId id="266" r:id="rId19"/>
    <p:sldId id="267" r:id="rId20"/>
    <p:sldId id="268" r:id="rId21"/>
    <p:sldId id="261" r:id="rId22"/>
    <p:sldId id="269" r:id="rId23"/>
    <p:sldId id="270" r:id="rId24"/>
    <p:sldId id="271" r:id="rId25"/>
    <p:sldId id="258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00"/>
    <p:restoredTop sz="94765"/>
  </p:normalViewPr>
  <p:slideViewPr>
    <p:cSldViewPr snapToGrid="0" snapToObjects="1">
      <p:cViewPr varScale="1">
        <p:scale>
          <a:sx n="88" d="100"/>
          <a:sy n="88" d="100"/>
        </p:scale>
        <p:origin x="184" y="8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C645D6-E495-F748-95BA-391A5EA7FC88}" type="datetimeFigureOut">
              <a:rPr lang="en-US" smtClean="0"/>
              <a:t>5/21/26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5ADB9B-ABEC-B641-9735-8613943C42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1570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>
            <a:extLst>
              <a:ext uri="{FF2B5EF4-FFF2-40B4-BE49-F238E27FC236}">
                <a16:creationId xmlns:a16="http://schemas.microsoft.com/office/drawing/2014/main" id="{EC797202-2C45-3E2D-6268-A14907A1336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38100"/>
            <a:ext cx="12171219" cy="6932386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41BCEC71-72C6-134F-B91A-36016F784560}"/>
              </a:ext>
            </a:extLst>
          </p:cNvPr>
          <p:cNvSpPr/>
          <p:nvPr/>
        </p:nvSpPr>
        <p:spPr>
          <a:xfrm>
            <a:off x="9144000" y="0"/>
            <a:ext cx="3048000" cy="762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38E6EE-FC19-5F44-8F58-1F842A868601}"/>
              </a:ext>
            </a:extLst>
          </p:cNvPr>
          <p:cNvSpPr txBox="1"/>
          <p:nvPr/>
        </p:nvSpPr>
        <p:spPr>
          <a:xfrm>
            <a:off x="635000" y="2286000"/>
            <a:ext cx="109220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5200" b="1" dirty="0" err="1">
                <a:solidFill>
                  <a:srgbClr val="EDF4FF"/>
                </a:solidFill>
              </a:rPr>
              <a:t>MotoChain</a:t>
            </a:r>
            <a:r>
              <a:rPr lang="en-US" altLang="ko-KR" sz="5200" b="1" dirty="0">
                <a:solidFill>
                  <a:srgbClr val="EDF4FF"/>
                </a:solidFill>
              </a:rPr>
              <a:t>  &amp;  </a:t>
            </a:r>
            <a:r>
              <a:rPr lang="en-US" altLang="ko-KR" sz="5200" b="1" dirty="0" err="1">
                <a:solidFill>
                  <a:srgbClr val="EDF4FF"/>
                </a:solidFill>
              </a:rPr>
              <a:t>RideTrue</a:t>
            </a:r>
            <a:endParaRPr lang="ko-KR" altLang="en-US" sz="5200" b="1" dirty="0">
              <a:solidFill>
                <a:srgbClr val="EDF4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E2C389-EBEE-BC4D-8B03-682BA640CB1D}"/>
              </a:ext>
            </a:extLst>
          </p:cNvPr>
          <p:cNvSpPr txBox="1"/>
          <p:nvPr/>
        </p:nvSpPr>
        <p:spPr>
          <a:xfrm>
            <a:off x="635000" y="3251200"/>
            <a:ext cx="10922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2200" i="1" dirty="0">
                <a:solidFill>
                  <a:srgbClr val="B8C8E0"/>
                </a:solidFill>
              </a:rPr>
              <a:t>A Decentralized Identity Layer for Motorcycles and Their Riders</a:t>
            </a:r>
            <a:endParaRPr lang="ko-KR" altLang="en-US" sz="2200" i="1" dirty="0">
              <a:solidFill>
                <a:srgbClr val="B8C8E0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141C57C-56E9-2746-B4FB-060F60F2A18A}"/>
              </a:ext>
            </a:extLst>
          </p:cNvPr>
          <p:cNvSpPr/>
          <p:nvPr/>
        </p:nvSpPr>
        <p:spPr>
          <a:xfrm>
            <a:off x="635000" y="4800600"/>
            <a:ext cx="3440953" cy="1016000"/>
          </a:xfrm>
          <a:prstGeom prst="rect">
            <a:avLst/>
          </a:prstGeom>
          <a:solidFill>
            <a:srgbClr val="0D1625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CD89FD-1162-D245-960F-4B8DBE80FF44}"/>
              </a:ext>
            </a:extLst>
          </p:cNvPr>
          <p:cNvSpPr txBox="1"/>
          <p:nvPr/>
        </p:nvSpPr>
        <p:spPr>
          <a:xfrm>
            <a:off x="863600" y="4901084"/>
            <a:ext cx="2540000" cy="230832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 dirty="0">
                <a:solidFill>
                  <a:srgbClr val="9CC6FF"/>
                </a:solidFill>
              </a:rPr>
              <a:t>Group 1: Interim Report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5F31AF-7C85-7D48-8EEB-8D03D7421063}"/>
              </a:ext>
            </a:extLst>
          </p:cNvPr>
          <p:cNvSpPr txBox="1"/>
          <p:nvPr/>
        </p:nvSpPr>
        <p:spPr>
          <a:xfrm>
            <a:off x="863600" y="5076256"/>
            <a:ext cx="3440953" cy="646331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r>
              <a:rPr lang="en-US" altLang="ko-KR" b="1" dirty="0">
                <a:solidFill>
                  <a:srgbClr val="EDF4FF"/>
                </a:solidFill>
              </a:rPr>
              <a:t>Mireu Kim </a:t>
            </a:r>
            <a:r>
              <a:rPr lang="en-US" altLang="ko-KR" dirty="0">
                <a:solidFill>
                  <a:srgbClr val="7E94B0"/>
                </a:solidFill>
              </a:rPr>
              <a:t>(2025462112)</a:t>
            </a:r>
          </a:p>
          <a:p>
            <a:r>
              <a:rPr lang="en-US" altLang="ko-KR" b="1" dirty="0">
                <a:solidFill>
                  <a:srgbClr val="EDF4FF"/>
                </a:solidFill>
              </a:rPr>
              <a:t>Enxhi Topalli </a:t>
            </a:r>
            <a:r>
              <a:rPr lang="en-US" altLang="ko-KR" dirty="0">
                <a:solidFill>
                  <a:srgbClr val="7E94B0"/>
                </a:solidFill>
              </a:rPr>
              <a:t>(2026460049)</a:t>
            </a:r>
            <a:endParaRPr lang="ko-KR" altLang="en-US" b="1" dirty="0">
              <a:solidFill>
                <a:srgbClr val="EDF4FF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34CA8EC-763D-F04A-AFE3-8D7963CAE593}"/>
              </a:ext>
            </a:extLst>
          </p:cNvPr>
          <p:cNvSpPr/>
          <p:nvPr/>
        </p:nvSpPr>
        <p:spPr>
          <a:xfrm>
            <a:off x="635000" y="6477000"/>
            <a:ext cx="457200" cy="254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267A87-544A-28F3-87E0-1489EF98A85B}"/>
              </a:ext>
            </a:extLst>
          </p:cNvPr>
          <p:cNvSpPr txBox="1"/>
          <p:nvPr/>
        </p:nvSpPr>
        <p:spPr>
          <a:xfrm>
            <a:off x="3058391" y="3230479"/>
            <a:ext cx="61167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B9AD0F9-11D6-960B-1029-027062BC36FF}"/>
              </a:ext>
            </a:extLst>
          </p:cNvPr>
          <p:cNvSpPr txBox="1"/>
          <p:nvPr/>
        </p:nvSpPr>
        <p:spPr>
          <a:xfrm>
            <a:off x="3058391" y="3230479"/>
            <a:ext cx="61167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238C4F1-80B7-842A-5C70-04A1D685F088}"/>
              </a:ext>
            </a:extLst>
          </p:cNvPr>
          <p:cNvSpPr txBox="1"/>
          <p:nvPr/>
        </p:nvSpPr>
        <p:spPr>
          <a:xfrm>
            <a:off x="8148918" y="732864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77707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B5011D-5840-3440-83AD-339A36C066CA}"/>
              </a:ext>
            </a:extLst>
          </p:cNvPr>
          <p:cNvSpPr txBox="1"/>
          <p:nvPr/>
        </p:nvSpPr>
        <p:spPr>
          <a:xfrm>
            <a:off x="635000" y="6350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r>
              <a:rPr lang="en-US" sz="1200" b="1" dirty="0">
                <a:solidFill>
                  <a:srgbClr val="9CC6FF"/>
                </a:solidFill>
              </a:rPr>
              <a:t>PROBLEM &amp; ROOT CAUSE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4DE4FA-0E98-1C4B-BCB4-91624B03872F}"/>
              </a:ext>
            </a:extLst>
          </p:cNvPr>
          <p:cNvSpPr txBox="1"/>
          <p:nvPr/>
        </p:nvSpPr>
        <p:spPr>
          <a:xfrm>
            <a:off x="635000" y="990600"/>
            <a:ext cx="10922000" cy="58477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r>
              <a:rPr lang="en-US" sz="3200" b="1" dirty="0">
                <a:solidFill>
                  <a:srgbClr val="EDF4FF"/>
                </a:solidFill>
              </a:rPr>
              <a:t>Two markets, one structural failure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8331410-585B-9244-A633-1FF786DF1530}"/>
              </a:ext>
            </a:extLst>
          </p:cNvPr>
          <p:cNvSpPr/>
          <p:nvPr/>
        </p:nvSpPr>
        <p:spPr>
          <a:xfrm>
            <a:off x="635000" y="1778000"/>
            <a:ext cx="1092200" cy="508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53A7318-47B9-BA49-A69E-96BFA12A9524}"/>
              </a:ext>
            </a:extLst>
          </p:cNvPr>
          <p:cNvSpPr/>
          <p:nvPr/>
        </p:nvSpPr>
        <p:spPr>
          <a:xfrm>
            <a:off x="635000" y="2159000"/>
            <a:ext cx="5207000" cy="3683000"/>
          </a:xfrm>
          <a:prstGeom prst="rect">
            <a:avLst/>
          </a:prstGeom>
          <a:solidFill>
            <a:srgbClr val="0D1625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F8E74-9DA5-5946-832F-FFA97A8133EB}"/>
              </a:ext>
            </a:extLst>
          </p:cNvPr>
          <p:cNvSpPr txBox="1"/>
          <p:nvPr/>
        </p:nvSpPr>
        <p:spPr>
          <a:xfrm>
            <a:off x="889000" y="2387600"/>
            <a:ext cx="4699000" cy="246221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r>
              <a:rPr lang="en-US" sz="1000" b="1" dirty="0">
                <a:solidFill>
                  <a:srgbClr val="9CC6FF"/>
                </a:solidFill>
              </a:rPr>
              <a:t>USED-BIKE MARKET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B8A3AD-013B-F54C-9F84-34A24FD62A83}"/>
              </a:ext>
            </a:extLst>
          </p:cNvPr>
          <p:cNvSpPr txBox="1"/>
          <p:nvPr/>
        </p:nvSpPr>
        <p:spPr>
          <a:xfrm>
            <a:off x="889000" y="2667000"/>
            <a:ext cx="4699000" cy="35394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r>
              <a:rPr lang="en-US" sz="1700" b="1" dirty="0">
                <a:solidFill>
                  <a:srgbClr val="EDF4FF"/>
                </a:solidFill>
              </a:rPr>
              <a:t>Information asymmetry, then adverse selection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CE78EB-08EE-454E-8FF0-A708FD53F2A5}"/>
              </a:ext>
            </a:extLst>
          </p:cNvPr>
          <p:cNvSpPr txBox="1"/>
          <p:nvPr/>
        </p:nvSpPr>
        <p:spPr>
          <a:xfrm>
            <a:off x="889000" y="3175000"/>
            <a:ext cx="4699000" cy="276999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r>
              <a:rPr lang="en-US" sz="1200" dirty="0">
                <a:solidFill>
                  <a:srgbClr val="D6E2F2"/>
                </a:solidFill>
              </a:rPr>
              <a:t>Sellers know the full history. Buyers depend on unverifiable claims.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AF6D09-227C-A642-B933-AB2C255B37F6}"/>
              </a:ext>
            </a:extLst>
          </p:cNvPr>
          <p:cNvSpPr txBox="1"/>
          <p:nvPr/>
        </p:nvSpPr>
        <p:spPr>
          <a:xfrm>
            <a:off x="889000" y="3530600"/>
            <a:ext cx="4699000" cy="4616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r>
              <a:rPr lang="en-US" sz="1200" dirty="0">
                <a:solidFill>
                  <a:srgbClr val="D6E2F2"/>
                </a:solidFill>
              </a:rPr>
              <a:t>Accident records, mileage, and maintenance can be selectively disclosed or altered.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B5D9F6-BFD2-9E43-82FD-D235826DDCA9}"/>
              </a:ext>
            </a:extLst>
          </p:cNvPr>
          <p:cNvSpPr txBox="1"/>
          <p:nvPr/>
        </p:nvSpPr>
        <p:spPr>
          <a:xfrm>
            <a:off x="889000" y="3886200"/>
            <a:ext cx="4699000" cy="4616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r>
              <a:rPr lang="en-US" sz="1200" i="1" dirty="0">
                <a:solidFill>
                  <a:srgbClr val="D6E2F2"/>
                </a:solidFill>
              </a:rPr>
              <a:t>Akerlof's classic lemons problem: low-quality assets drive out high-quality ones.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83BFE2F-5BE2-DF4E-B5AE-E45F8F21F238}"/>
              </a:ext>
            </a:extLst>
          </p:cNvPr>
          <p:cNvSpPr/>
          <p:nvPr/>
        </p:nvSpPr>
        <p:spPr>
          <a:xfrm>
            <a:off x="889000" y="4419600"/>
            <a:ext cx="4699000" cy="12700"/>
          </a:xfrm>
          <a:prstGeom prst="rect">
            <a:avLst/>
          </a:prstGeom>
          <a:solidFill>
            <a:srgbClr val="1F355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29FF35-CE73-6743-87BD-C0608C07F6C6}"/>
              </a:ext>
            </a:extLst>
          </p:cNvPr>
          <p:cNvSpPr txBox="1"/>
          <p:nvPr/>
        </p:nvSpPr>
        <p:spPr>
          <a:xfrm>
            <a:off x="889000" y="4546600"/>
            <a:ext cx="4699000" cy="230832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r>
              <a:rPr lang="en-US" sz="900" b="1" dirty="0">
                <a:solidFill>
                  <a:srgbClr val="F4A261"/>
                </a:solidFill>
              </a:rPr>
              <a:t>CONSEQUENCE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011CD3-D6F4-0C43-9395-67F1FC42C7B3}"/>
              </a:ext>
            </a:extLst>
          </p:cNvPr>
          <p:cNvSpPr txBox="1"/>
          <p:nvPr/>
        </p:nvSpPr>
        <p:spPr>
          <a:xfrm>
            <a:off x="889000" y="4800600"/>
            <a:ext cx="4699000" cy="44627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r>
              <a:rPr lang="en-US" sz="1150" dirty="0">
                <a:solidFill>
                  <a:srgbClr val="EDF4FF"/>
                </a:solidFill>
              </a:rPr>
              <a:t>Transaction friction rises, prices grow inefficient, and honest sellers are penalized alongside buyers.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87A6A8A-76D4-EC49-B0AA-A1CBFDD25891}"/>
              </a:ext>
            </a:extLst>
          </p:cNvPr>
          <p:cNvSpPr/>
          <p:nvPr/>
        </p:nvSpPr>
        <p:spPr>
          <a:xfrm>
            <a:off x="6350000" y="2159000"/>
            <a:ext cx="5207000" cy="3683000"/>
          </a:xfrm>
          <a:prstGeom prst="rect">
            <a:avLst/>
          </a:prstGeom>
          <a:solidFill>
            <a:srgbClr val="0D1625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230398-EC60-CC46-A023-073B2056737E}"/>
              </a:ext>
            </a:extLst>
          </p:cNvPr>
          <p:cNvSpPr txBox="1"/>
          <p:nvPr/>
        </p:nvSpPr>
        <p:spPr>
          <a:xfrm>
            <a:off x="6604000" y="2387600"/>
            <a:ext cx="4699000" cy="246221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r>
              <a:rPr lang="en-US" sz="1000" b="1" dirty="0">
                <a:solidFill>
                  <a:srgbClr val="A8E89E"/>
                </a:solidFill>
              </a:rPr>
              <a:t>INSURANCE MARKET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066196-66CF-BC4B-973F-D971BC1CC9E9}"/>
              </a:ext>
            </a:extLst>
          </p:cNvPr>
          <p:cNvSpPr txBox="1"/>
          <p:nvPr/>
        </p:nvSpPr>
        <p:spPr>
          <a:xfrm>
            <a:off x="6604000" y="2667000"/>
            <a:ext cx="4699000" cy="35394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r>
              <a:rPr lang="en-US" sz="1700" b="1" dirty="0">
                <a:solidFill>
                  <a:srgbClr val="EDF4FF"/>
                </a:solidFill>
              </a:rPr>
              <a:t>Demographic proxies, not real behavior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04940E-06B2-0041-8D9E-E28FDB2D75F3}"/>
              </a:ext>
            </a:extLst>
          </p:cNvPr>
          <p:cNvSpPr txBox="1"/>
          <p:nvPr/>
        </p:nvSpPr>
        <p:spPr>
          <a:xfrm>
            <a:off x="6604000" y="3175000"/>
            <a:ext cx="4699000" cy="4616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r>
              <a:rPr lang="en-US" sz="1200" dirty="0">
                <a:solidFill>
                  <a:srgbClr val="D6E2F2"/>
                </a:solidFill>
              </a:rPr>
              <a:t>Insurers price on age and registration duration because behavioral data is unavailable.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F4C9A3-7C86-2248-A985-519DEE433BF6}"/>
              </a:ext>
            </a:extLst>
          </p:cNvPr>
          <p:cNvSpPr txBox="1"/>
          <p:nvPr/>
        </p:nvSpPr>
        <p:spPr>
          <a:xfrm>
            <a:off x="6604000" y="3530600"/>
            <a:ext cx="4699000" cy="4616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r>
              <a:rPr lang="en-US" sz="1200" dirty="0">
                <a:solidFill>
                  <a:srgbClr val="D6E2F2"/>
                </a:solidFill>
              </a:rPr>
              <a:t>Safe riders subsidize risky ones. Premiums systematically misprice exposure.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65C3B0-8D46-F847-838E-5BAD8785EBF4}"/>
              </a:ext>
            </a:extLst>
          </p:cNvPr>
          <p:cNvSpPr txBox="1"/>
          <p:nvPr/>
        </p:nvSpPr>
        <p:spPr>
          <a:xfrm>
            <a:off x="6604000" y="3886200"/>
            <a:ext cx="4699000" cy="4616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r>
              <a:rPr lang="en-US" sz="1200" i="1" dirty="0">
                <a:solidFill>
                  <a:srgbClr val="D6E2F2"/>
                </a:solidFill>
              </a:rPr>
              <a:t>Younger and experienced riders face the worst penalties — through no behavior of their own.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5339E09-FAB0-7B40-B611-72F43C766426}"/>
              </a:ext>
            </a:extLst>
          </p:cNvPr>
          <p:cNvSpPr/>
          <p:nvPr/>
        </p:nvSpPr>
        <p:spPr>
          <a:xfrm>
            <a:off x="6604000" y="4419600"/>
            <a:ext cx="4699000" cy="12700"/>
          </a:xfrm>
          <a:prstGeom prst="rect">
            <a:avLst/>
          </a:prstGeom>
          <a:solidFill>
            <a:srgbClr val="1F355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10890B9-1E3E-7A4D-A5FE-FB76917221C8}"/>
              </a:ext>
            </a:extLst>
          </p:cNvPr>
          <p:cNvSpPr txBox="1"/>
          <p:nvPr/>
        </p:nvSpPr>
        <p:spPr>
          <a:xfrm>
            <a:off x="6604000" y="4546600"/>
            <a:ext cx="4699000" cy="230832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r>
              <a:rPr lang="en-US" sz="900" b="1" dirty="0">
                <a:solidFill>
                  <a:srgbClr val="F4A261"/>
                </a:solidFill>
              </a:rPr>
              <a:t>CONSEQUENCE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3A05CE7-009D-D643-8D0F-3C38F83E6EBA}"/>
              </a:ext>
            </a:extLst>
          </p:cNvPr>
          <p:cNvSpPr txBox="1"/>
          <p:nvPr/>
        </p:nvSpPr>
        <p:spPr>
          <a:xfrm>
            <a:off x="6604000" y="4800600"/>
            <a:ext cx="4699000" cy="269304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r>
              <a:rPr lang="en-US" sz="1150" dirty="0">
                <a:solidFill>
                  <a:srgbClr val="EDF4FF"/>
                </a:solidFill>
              </a:rPr>
              <a:t>Economic inefficiency compounds with eroded trust in insurance providers.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CE0F537-3E14-7145-9725-B1AD7A36F789}"/>
              </a:ext>
            </a:extLst>
          </p:cNvPr>
          <p:cNvSpPr/>
          <p:nvPr/>
        </p:nvSpPr>
        <p:spPr>
          <a:xfrm>
            <a:off x="635000" y="6070600"/>
            <a:ext cx="50800" cy="3048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D851421-F079-4649-B570-4E1942689E60}"/>
              </a:ext>
            </a:extLst>
          </p:cNvPr>
          <p:cNvSpPr txBox="1"/>
          <p:nvPr/>
        </p:nvSpPr>
        <p:spPr>
          <a:xfrm>
            <a:off x="812800" y="6070600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r>
              <a:rPr lang="en-US" sz="900" b="1" dirty="0">
                <a:solidFill>
                  <a:srgbClr val="9CC6FF"/>
                </a:solidFill>
              </a:rPr>
              <a:t>ROOT CAUSE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7EFD39-75C1-DF4C-91B4-E5B81CC56B14}"/>
              </a:ext>
            </a:extLst>
          </p:cNvPr>
          <p:cNvSpPr txBox="1"/>
          <p:nvPr/>
        </p:nvSpPr>
        <p:spPr>
          <a:xfrm>
            <a:off x="812800" y="6273800"/>
            <a:ext cx="107442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r>
              <a:rPr lang="en-US" sz="1300" b="1" dirty="0">
                <a:solidFill>
                  <a:srgbClr val="EDF4FF"/>
                </a:solidFill>
              </a:rPr>
              <a:t>No shared, tamper-proof, portable record of real-world events. Data is siloed, mutable, and inaccessible across platforms.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908A218-06AE-574B-A165-A1FC6423DA19}"/>
              </a:ext>
            </a:extLst>
          </p:cNvPr>
          <p:cNvSpPr/>
          <p:nvPr/>
        </p:nvSpPr>
        <p:spPr>
          <a:xfrm>
            <a:off x="635000" y="6705600"/>
            <a:ext cx="457200" cy="254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60FD11F-EB4A-E44A-9A69-03A491F66E21}"/>
              </a:ext>
            </a:extLst>
          </p:cNvPr>
          <p:cNvSpPr txBox="1"/>
          <p:nvPr/>
        </p:nvSpPr>
        <p:spPr>
          <a:xfrm>
            <a:off x="9601200" y="6656832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1" i="0">
                <a:solidFill>
                  <a:srgbClr val="9CC6FF"/>
                </a:solidFill>
                <a:latin typeface="Calibri"/>
              </a:rPr>
              <a:t>MotoChain &amp; RideTrue</a:t>
            </a:r>
          </a:p>
        </p:txBody>
      </p:sp>
    </p:spTree>
    <p:extLst>
      <p:ext uri="{BB962C8B-B14F-4D97-AF65-F5344CB8AC3E}">
        <p14:creationId xmlns:p14="http://schemas.microsoft.com/office/powerpoint/2010/main" val="871446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32F854-7BF8-284B-B732-0A26450B1888}"/>
              </a:ext>
            </a:extLst>
          </p:cNvPr>
          <p:cNvSpPr txBox="1"/>
          <p:nvPr/>
        </p:nvSpPr>
        <p:spPr>
          <a:xfrm>
            <a:off x="635000" y="635000"/>
            <a:ext cx="635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200" b="1">
                <a:solidFill>
                  <a:srgbClr val="9CC6FF"/>
                </a:solidFill>
              </a:rPr>
              <a:t>I  ·  ELEVATOR PITCH &amp; MISSION</a:t>
            </a:r>
            <a:endParaRPr lang="ko-KR" altLang="en-US" sz="1200" b="1">
              <a:solidFill>
                <a:srgbClr val="9CC6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264AEC-71AA-5340-9D2C-CD910222D308}"/>
              </a:ext>
            </a:extLst>
          </p:cNvPr>
          <p:cNvSpPr txBox="1"/>
          <p:nvPr/>
        </p:nvSpPr>
        <p:spPr>
          <a:xfrm>
            <a:off x="635000" y="990600"/>
            <a:ext cx="1092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3200" b="1">
                <a:solidFill>
                  <a:srgbClr val="EDF4FF"/>
                </a:solidFill>
              </a:rPr>
              <a:t>Turning trust into a verifiable layer</a:t>
            </a:r>
            <a:endParaRPr lang="ko-KR" altLang="en-US" sz="3200" b="1">
              <a:solidFill>
                <a:srgbClr val="EDF4FF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F8DD986-1C8E-7B43-92A5-1DDAEBDA10E3}"/>
              </a:ext>
            </a:extLst>
          </p:cNvPr>
          <p:cNvSpPr/>
          <p:nvPr/>
        </p:nvSpPr>
        <p:spPr>
          <a:xfrm>
            <a:off x="635000" y="1778000"/>
            <a:ext cx="1092200" cy="508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6047E5-5818-F24E-844F-F28137365FEA}"/>
              </a:ext>
            </a:extLst>
          </p:cNvPr>
          <p:cNvSpPr txBox="1"/>
          <p:nvPr/>
        </p:nvSpPr>
        <p:spPr>
          <a:xfrm>
            <a:off x="635000" y="2159000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7E94B0"/>
                </a:solidFill>
              </a:rPr>
              <a:t>THE PITCH</a:t>
            </a:r>
            <a:endParaRPr lang="ko-KR" altLang="en-US" sz="900" b="1">
              <a:solidFill>
                <a:srgbClr val="7E94B0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BF5F344-CD75-5540-B0C1-493D306009B3}"/>
              </a:ext>
            </a:extLst>
          </p:cNvPr>
          <p:cNvSpPr/>
          <p:nvPr/>
        </p:nvSpPr>
        <p:spPr>
          <a:xfrm>
            <a:off x="635000" y="2438400"/>
            <a:ext cx="10922000" cy="1574800"/>
          </a:xfrm>
          <a:prstGeom prst="rect">
            <a:avLst/>
          </a:prstGeom>
          <a:solidFill>
            <a:srgbClr val="0D1625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8E3C0E2-1B6E-974F-A85A-B5E0230DB920}"/>
              </a:ext>
            </a:extLst>
          </p:cNvPr>
          <p:cNvSpPr/>
          <p:nvPr/>
        </p:nvSpPr>
        <p:spPr>
          <a:xfrm>
            <a:off x="635000" y="2438400"/>
            <a:ext cx="50800" cy="15748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F3EB79-12C8-C244-AE22-25840C3FA9F1}"/>
              </a:ext>
            </a:extLst>
          </p:cNvPr>
          <p:cNvSpPr txBox="1"/>
          <p:nvPr/>
        </p:nvSpPr>
        <p:spPr>
          <a:xfrm>
            <a:off x="889000" y="2616200"/>
            <a:ext cx="10414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600" b="1">
                <a:solidFill>
                  <a:srgbClr val="EDF4FF"/>
                </a:solidFill>
              </a:rPr>
              <a:t>MotoChain and RideTrue are a dual-protocol DeFi system: a tamper-proof identity layer for motorcycles and a behavior-based insurance market for riders.</a:t>
            </a:r>
            <a:endParaRPr lang="ko-KR" altLang="en-US" sz="1600" b="1">
              <a:solidFill>
                <a:srgbClr val="EDF4FF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D87C11-CE3D-214F-9518-56BD6A614162}"/>
              </a:ext>
            </a:extLst>
          </p:cNvPr>
          <p:cNvSpPr txBox="1"/>
          <p:nvPr/>
        </p:nvSpPr>
        <p:spPr>
          <a:xfrm>
            <a:off x="889000" y="3149600"/>
            <a:ext cx="10414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200">
                <a:solidFill>
                  <a:srgbClr val="D6E2F2"/>
                </a:solidFill>
              </a:rPr>
              <a:t>MotoChain replaces unverifiable seller claims with an immutable on-chain history of each bike. RideTrue replaces demographic-proxy pricing with real-time, privacy-preserving behavioral risk assessment.</a:t>
            </a:r>
            <a:endParaRPr lang="ko-KR" altLang="en-US" sz="1200">
              <a:solidFill>
                <a:srgbClr val="D6E2F2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FB26D1-DDC1-4047-9E48-F23868BFDF1A}"/>
              </a:ext>
            </a:extLst>
          </p:cNvPr>
          <p:cNvSpPr txBox="1"/>
          <p:nvPr/>
        </p:nvSpPr>
        <p:spPr>
          <a:xfrm>
            <a:off x="889000" y="3657600"/>
            <a:ext cx="10414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 i="1">
                <a:solidFill>
                  <a:srgbClr val="9CC6FF"/>
                </a:solidFill>
              </a:rPr>
              <a:t>Core innovation: combining on-chain identity, economic incentives, and zero-knowledge proofs to convert trust-dependent markets into verifiable, self-enforcing ones.</a:t>
            </a:r>
            <a:endParaRPr lang="ko-KR" altLang="en-US" sz="1100" i="1">
              <a:solidFill>
                <a:srgbClr val="9CC6F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56E6A6-86EE-C24D-82CF-114741239EED}"/>
              </a:ext>
            </a:extLst>
          </p:cNvPr>
          <p:cNvSpPr txBox="1"/>
          <p:nvPr/>
        </p:nvSpPr>
        <p:spPr>
          <a:xfrm>
            <a:off x="635000" y="4216400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7E94B0"/>
                </a:solidFill>
              </a:rPr>
              <a:t>THE MISSION</a:t>
            </a:r>
            <a:endParaRPr lang="ko-KR" altLang="en-US" sz="900" b="1">
              <a:solidFill>
                <a:srgbClr val="7E94B0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FD020F6-AAC9-2D47-A2DB-7773E5DD114F}"/>
              </a:ext>
            </a:extLst>
          </p:cNvPr>
          <p:cNvSpPr/>
          <p:nvPr/>
        </p:nvSpPr>
        <p:spPr>
          <a:xfrm>
            <a:off x="635000" y="4495800"/>
            <a:ext cx="10922000" cy="1778000"/>
          </a:xfrm>
          <a:prstGeom prst="rect">
            <a:avLst/>
          </a:prstGeom>
          <a:solidFill>
            <a:srgbClr val="0A122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BCAF281-2A57-A345-965F-4BBABEB4E86D}"/>
              </a:ext>
            </a:extLst>
          </p:cNvPr>
          <p:cNvSpPr/>
          <p:nvPr/>
        </p:nvSpPr>
        <p:spPr>
          <a:xfrm>
            <a:off x="812800" y="4775200"/>
            <a:ext cx="50800" cy="11430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9B41330-D6FC-0D46-B10E-040C49F15D5F}"/>
              </a:ext>
            </a:extLst>
          </p:cNvPr>
          <p:cNvSpPr txBox="1"/>
          <p:nvPr/>
        </p:nvSpPr>
        <p:spPr>
          <a:xfrm>
            <a:off x="889000" y="4775200"/>
            <a:ext cx="3048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4AA3FF"/>
                </a:solidFill>
              </a:rPr>
              <a:t>WHAT WE REPLACE</a:t>
            </a:r>
            <a:endParaRPr lang="ko-KR" altLang="en-US" sz="900" b="1">
              <a:solidFill>
                <a:srgbClr val="4AA3F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2798D0-B351-2A4E-88EA-9E24EA5DAD52}"/>
              </a:ext>
            </a:extLst>
          </p:cNvPr>
          <p:cNvSpPr txBox="1"/>
          <p:nvPr/>
        </p:nvSpPr>
        <p:spPr>
          <a:xfrm>
            <a:off x="889000" y="4978400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400" b="1">
                <a:solidFill>
                  <a:srgbClr val="EDF4FF"/>
                </a:solidFill>
              </a:rPr>
              <a:t>Trust-based inefficiency</a:t>
            </a:r>
            <a:endParaRPr lang="ko-KR" altLang="en-US" sz="1400" b="1">
              <a:solidFill>
                <a:srgbClr val="EDF4FF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9DF4B2-533D-C144-BFF0-D2461412B102}"/>
              </a:ext>
            </a:extLst>
          </p:cNvPr>
          <p:cNvSpPr txBox="1"/>
          <p:nvPr/>
        </p:nvSpPr>
        <p:spPr>
          <a:xfrm>
            <a:off x="889000" y="5308600"/>
            <a:ext cx="30480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>
                <a:solidFill>
                  <a:srgbClr val="D6E2F2"/>
                </a:solidFill>
              </a:rPr>
              <a:t>Replace trust-dependent intermediaries with verifiable, user-owned data and economically enforced truth.</a:t>
            </a:r>
            <a:endParaRPr lang="ko-KR" altLang="en-US" sz="1100">
              <a:solidFill>
                <a:srgbClr val="D6E2F2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856FD26-6DE8-D64D-B285-7FA459701ED7}"/>
              </a:ext>
            </a:extLst>
          </p:cNvPr>
          <p:cNvSpPr/>
          <p:nvPr/>
        </p:nvSpPr>
        <p:spPr>
          <a:xfrm>
            <a:off x="4495800" y="4775200"/>
            <a:ext cx="50800" cy="1143000"/>
          </a:xfrm>
          <a:prstGeom prst="rect">
            <a:avLst/>
          </a:prstGeom>
          <a:solidFill>
            <a:srgbClr val="A8E89E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BC3486-C104-DD41-8917-C4BA09E14160}"/>
              </a:ext>
            </a:extLst>
          </p:cNvPr>
          <p:cNvSpPr txBox="1"/>
          <p:nvPr/>
        </p:nvSpPr>
        <p:spPr>
          <a:xfrm>
            <a:off x="4572000" y="4775200"/>
            <a:ext cx="3048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A8E89E"/>
                </a:solidFill>
              </a:rPr>
              <a:t>WHO OWNS THE DATA</a:t>
            </a:r>
            <a:endParaRPr lang="ko-KR" altLang="en-US" sz="900" b="1">
              <a:solidFill>
                <a:srgbClr val="A8E89E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17BE54-D7AE-6244-9D05-4228975C0DBE}"/>
              </a:ext>
            </a:extLst>
          </p:cNvPr>
          <p:cNvSpPr txBox="1"/>
          <p:nvPr/>
        </p:nvSpPr>
        <p:spPr>
          <a:xfrm>
            <a:off x="4572000" y="4978400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400" b="1">
                <a:solidFill>
                  <a:srgbClr val="EDF4FF"/>
                </a:solidFill>
              </a:rPr>
              <a:t>Individuals — not institutions</a:t>
            </a:r>
            <a:endParaRPr lang="ko-KR" altLang="en-US" sz="1400" b="1">
              <a:solidFill>
                <a:srgbClr val="EDF4FF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E7930C9-53D0-1445-9541-4909C9E62287}"/>
              </a:ext>
            </a:extLst>
          </p:cNvPr>
          <p:cNvSpPr txBox="1"/>
          <p:nvPr/>
        </p:nvSpPr>
        <p:spPr>
          <a:xfrm>
            <a:off x="4572000" y="5308600"/>
            <a:ext cx="30480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>
                <a:solidFill>
                  <a:srgbClr val="D6E2F2"/>
                </a:solidFill>
              </a:rPr>
              <a:t>Users control their history, reputation, and financial outcomes — portable across platforms and providers.</a:t>
            </a:r>
            <a:endParaRPr lang="ko-KR" altLang="en-US" sz="1100">
              <a:solidFill>
                <a:srgbClr val="D6E2F2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1636922-0351-674B-8224-6DE85B52E788}"/>
              </a:ext>
            </a:extLst>
          </p:cNvPr>
          <p:cNvSpPr/>
          <p:nvPr/>
        </p:nvSpPr>
        <p:spPr>
          <a:xfrm>
            <a:off x="8178800" y="4775200"/>
            <a:ext cx="50800" cy="1143000"/>
          </a:xfrm>
          <a:prstGeom prst="rect">
            <a:avLst/>
          </a:prstGeom>
          <a:solidFill>
            <a:srgbClr val="F4A261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6C4D994-B5BF-D04D-92E7-C2C5AA44052B}"/>
              </a:ext>
            </a:extLst>
          </p:cNvPr>
          <p:cNvSpPr txBox="1"/>
          <p:nvPr/>
        </p:nvSpPr>
        <p:spPr>
          <a:xfrm>
            <a:off x="8255000" y="4775200"/>
            <a:ext cx="3048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F4A261"/>
                </a:solidFill>
              </a:rPr>
              <a:t>WHERE WE START</a:t>
            </a:r>
            <a:endParaRPr lang="ko-KR" altLang="en-US" sz="900" b="1">
              <a:solidFill>
                <a:srgbClr val="F4A26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1DADA05-38F6-4941-96A5-64257B177E27}"/>
              </a:ext>
            </a:extLst>
          </p:cNvPr>
          <p:cNvSpPr txBox="1"/>
          <p:nvPr/>
        </p:nvSpPr>
        <p:spPr>
          <a:xfrm>
            <a:off x="8255000" y="4978400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400" b="1">
                <a:solidFill>
                  <a:srgbClr val="EDF4FF"/>
                </a:solidFill>
              </a:rPr>
              <a:t>Motorcycles + rider insurance</a:t>
            </a:r>
            <a:endParaRPr lang="ko-KR" altLang="en-US" sz="1400" b="1">
              <a:solidFill>
                <a:srgbClr val="EDF4FF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5DB7BE-5FA4-454C-BD6E-2D277A113BC2}"/>
              </a:ext>
            </a:extLst>
          </p:cNvPr>
          <p:cNvSpPr txBox="1"/>
          <p:nvPr/>
        </p:nvSpPr>
        <p:spPr>
          <a:xfrm>
            <a:off x="8255000" y="5308600"/>
            <a:ext cx="30480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>
                <a:solidFill>
                  <a:srgbClr val="D6E2F2"/>
                </a:solidFill>
              </a:rPr>
              <a:t>Expand toward a global trustless layer for real-world asset verification and behavior-based finance.</a:t>
            </a:r>
            <a:endParaRPr lang="ko-KR" altLang="en-US" sz="1100">
              <a:solidFill>
                <a:srgbClr val="D6E2F2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509B0B8C-44B7-144D-8055-645D77431ABD}"/>
              </a:ext>
            </a:extLst>
          </p:cNvPr>
          <p:cNvSpPr/>
          <p:nvPr/>
        </p:nvSpPr>
        <p:spPr>
          <a:xfrm>
            <a:off x="635000" y="6477000"/>
            <a:ext cx="50800" cy="2794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2D80AB5-6E39-0542-A820-876C926F86CB}"/>
              </a:ext>
            </a:extLst>
          </p:cNvPr>
          <p:cNvSpPr txBox="1"/>
          <p:nvPr/>
        </p:nvSpPr>
        <p:spPr>
          <a:xfrm>
            <a:off x="812800" y="65024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300" b="1">
                <a:solidFill>
                  <a:srgbClr val="EDF4FF"/>
                </a:solidFill>
              </a:rPr>
              <a:t>Verifiable identity for the bike. Verifiable behavior for the rider. Both on-chain, both user-owned.</a:t>
            </a:r>
            <a:endParaRPr lang="ko-KR" altLang="en-US" sz="1300" b="1">
              <a:solidFill>
                <a:srgbClr val="EDF4FF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67A70C3-1FA5-B138-ACB5-AE84805894E7}"/>
              </a:ext>
            </a:extLst>
          </p:cNvPr>
          <p:cNvSpPr txBox="1"/>
          <p:nvPr/>
        </p:nvSpPr>
        <p:spPr>
          <a:xfrm>
            <a:off x="9601200" y="6656832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1" i="0">
                <a:solidFill>
                  <a:srgbClr val="9CC6FF"/>
                </a:solidFill>
                <a:latin typeface="Calibri"/>
              </a:rPr>
              <a:t>MotoChain &amp; RideTrue</a:t>
            </a:r>
          </a:p>
        </p:txBody>
      </p:sp>
    </p:spTree>
    <p:extLst>
      <p:ext uri="{BB962C8B-B14F-4D97-AF65-F5344CB8AC3E}">
        <p14:creationId xmlns:p14="http://schemas.microsoft.com/office/powerpoint/2010/main" val="2137465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5AE587-C88B-9142-BC69-324DBEA8F786}"/>
              </a:ext>
            </a:extLst>
          </p:cNvPr>
          <p:cNvSpPr txBox="1"/>
          <p:nvPr/>
        </p:nvSpPr>
        <p:spPr>
          <a:xfrm>
            <a:off x="635000" y="635000"/>
            <a:ext cx="762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200" b="1">
                <a:solidFill>
                  <a:srgbClr val="9CC6FF"/>
                </a:solidFill>
              </a:rPr>
              <a:t>II.1  ·  MARKET SIZE &amp; STRUCTURAL NECESSITY</a:t>
            </a:r>
            <a:endParaRPr lang="ko-KR" altLang="en-US" sz="1200" b="1">
              <a:solidFill>
                <a:srgbClr val="9CC6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75061F-6A61-414E-BC56-98C800959A60}"/>
              </a:ext>
            </a:extLst>
          </p:cNvPr>
          <p:cNvSpPr txBox="1"/>
          <p:nvPr/>
        </p:nvSpPr>
        <p:spPr>
          <a:xfrm>
            <a:off x="635000" y="990600"/>
            <a:ext cx="1092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3000" b="1">
                <a:solidFill>
                  <a:srgbClr val="EDF4FF"/>
                </a:solidFill>
              </a:rPr>
              <a:t>A $190B market with structurally fixable inefficiency</a:t>
            </a:r>
            <a:endParaRPr lang="ko-KR" altLang="en-US" sz="3000" b="1">
              <a:solidFill>
                <a:srgbClr val="EDF4FF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E644777-A9EB-034E-8E27-39E1F3E8A6C8}"/>
              </a:ext>
            </a:extLst>
          </p:cNvPr>
          <p:cNvSpPr/>
          <p:nvPr/>
        </p:nvSpPr>
        <p:spPr>
          <a:xfrm>
            <a:off x="635000" y="1778000"/>
            <a:ext cx="1092200" cy="508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C43B1A-E584-5543-93BF-5191AC104F52}"/>
              </a:ext>
            </a:extLst>
          </p:cNvPr>
          <p:cNvSpPr txBox="1"/>
          <p:nvPr/>
        </p:nvSpPr>
        <p:spPr>
          <a:xfrm>
            <a:off x="635000" y="2159000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7E94B0"/>
                </a:solidFill>
              </a:rPr>
              <a:t>MARKET SIZE</a:t>
            </a:r>
            <a:endParaRPr lang="ko-KR" altLang="en-US" sz="900" b="1">
              <a:solidFill>
                <a:srgbClr val="7E94B0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41A96D1-0D74-E84A-AD6E-F3BFE444EF25}"/>
              </a:ext>
            </a:extLst>
          </p:cNvPr>
          <p:cNvSpPr/>
          <p:nvPr/>
        </p:nvSpPr>
        <p:spPr>
          <a:xfrm>
            <a:off x="635000" y="2438400"/>
            <a:ext cx="5207000" cy="1676400"/>
          </a:xfrm>
          <a:prstGeom prst="rect">
            <a:avLst/>
          </a:prstGeom>
          <a:solidFill>
            <a:srgbClr val="0D1625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34C1926-E494-C142-A4CA-9A9C2FAF1E44}"/>
              </a:ext>
            </a:extLst>
          </p:cNvPr>
          <p:cNvSpPr/>
          <p:nvPr/>
        </p:nvSpPr>
        <p:spPr>
          <a:xfrm>
            <a:off x="635000" y="2438400"/>
            <a:ext cx="50800" cy="16764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7BDF81-D45E-7344-9886-C451BF578825}"/>
              </a:ext>
            </a:extLst>
          </p:cNvPr>
          <p:cNvSpPr txBox="1"/>
          <p:nvPr/>
        </p:nvSpPr>
        <p:spPr>
          <a:xfrm>
            <a:off x="889000" y="2616200"/>
            <a:ext cx="4699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000" b="1">
                <a:solidFill>
                  <a:srgbClr val="9CC6FF"/>
                </a:solidFill>
              </a:rPr>
              <a:t>GLOBAL MOTORCYCLE MARKET</a:t>
            </a:r>
            <a:endParaRPr lang="ko-KR" altLang="en-US" sz="1000" b="1">
              <a:solidFill>
                <a:srgbClr val="9CC6FF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71B64D-678D-5B46-ACE1-124D8782A2B0}"/>
              </a:ext>
            </a:extLst>
          </p:cNvPr>
          <p:cNvSpPr txBox="1"/>
          <p:nvPr/>
        </p:nvSpPr>
        <p:spPr>
          <a:xfrm>
            <a:off x="889000" y="2844800"/>
            <a:ext cx="46990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3600" b="1">
                <a:solidFill>
                  <a:srgbClr val="4AA3FF"/>
                </a:solidFill>
              </a:rPr>
              <a:t>$120B+</a:t>
            </a:r>
            <a:endParaRPr lang="ko-KR" altLang="en-US" sz="3600" b="1">
              <a:solidFill>
                <a:srgbClr val="4AA3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C2BAF9-04E9-BE43-9772-2D2AE1153F6B}"/>
              </a:ext>
            </a:extLst>
          </p:cNvPr>
          <p:cNvSpPr txBox="1"/>
          <p:nvPr/>
        </p:nvSpPr>
        <p:spPr>
          <a:xfrm>
            <a:off x="889000" y="3429000"/>
            <a:ext cx="469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200" i="1">
                <a:solidFill>
                  <a:srgbClr val="B8C8E0"/>
                </a:solidFill>
              </a:rPr>
              <a:t>annually  ·  used vehicles a substantial share</a:t>
            </a:r>
            <a:endParaRPr lang="ko-KR" altLang="en-US" sz="1200" i="1">
              <a:solidFill>
                <a:srgbClr val="B8C8E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FD999A-AB78-944E-8688-189DB43C674B}"/>
              </a:ext>
            </a:extLst>
          </p:cNvPr>
          <p:cNvSpPr txBox="1"/>
          <p:nvPr/>
        </p:nvSpPr>
        <p:spPr>
          <a:xfrm>
            <a:off x="889000" y="3733800"/>
            <a:ext cx="469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200" b="1">
                <a:solidFill>
                  <a:srgbClr val="EDF4FF"/>
                </a:solidFill>
              </a:rPr>
              <a:t>5–10% transaction value lost to fraud and misrepresentation</a:t>
            </a:r>
            <a:endParaRPr lang="ko-KR" altLang="en-US" sz="1200" b="1">
              <a:solidFill>
                <a:srgbClr val="EDF4FF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6EF8A87-F2E0-EC44-AA16-9B7ED83FBE04}"/>
              </a:ext>
            </a:extLst>
          </p:cNvPr>
          <p:cNvSpPr/>
          <p:nvPr/>
        </p:nvSpPr>
        <p:spPr>
          <a:xfrm>
            <a:off x="6350000" y="2438400"/>
            <a:ext cx="5207000" cy="1676400"/>
          </a:xfrm>
          <a:prstGeom prst="rect">
            <a:avLst/>
          </a:prstGeom>
          <a:solidFill>
            <a:srgbClr val="0D1625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2A130F4-6270-B74E-872A-9C219589574E}"/>
              </a:ext>
            </a:extLst>
          </p:cNvPr>
          <p:cNvSpPr/>
          <p:nvPr/>
        </p:nvSpPr>
        <p:spPr>
          <a:xfrm>
            <a:off x="6350000" y="2438400"/>
            <a:ext cx="50800" cy="1676400"/>
          </a:xfrm>
          <a:prstGeom prst="rect">
            <a:avLst/>
          </a:prstGeom>
          <a:solidFill>
            <a:srgbClr val="A8E89E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F426B1-68B6-DA4D-9F1E-2DB96B577B52}"/>
              </a:ext>
            </a:extLst>
          </p:cNvPr>
          <p:cNvSpPr txBox="1"/>
          <p:nvPr/>
        </p:nvSpPr>
        <p:spPr>
          <a:xfrm>
            <a:off x="6604000" y="2616200"/>
            <a:ext cx="4699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000" b="1">
                <a:solidFill>
                  <a:srgbClr val="A8E89E"/>
                </a:solidFill>
              </a:rPr>
              <a:t>GLOBAL MOTORCYCLE INSURANCE</a:t>
            </a:r>
            <a:endParaRPr lang="ko-KR" altLang="en-US" sz="1000" b="1">
              <a:solidFill>
                <a:srgbClr val="A8E89E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7974E4-CC44-D84B-A8D1-EC33FF4E6DA5}"/>
              </a:ext>
            </a:extLst>
          </p:cNvPr>
          <p:cNvSpPr txBox="1"/>
          <p:nvPr/>
        </p:nvSpPr>
        <p:spPr>
          <a:xfrm>
            <a:off x="6604000" y="2844800"/>
            <a:ext cx="46990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3600" b="1">
                <a:solidFill>
                  <a:srgbClr val="A8E89E"/>
                </a:solidFill>
              </a:rPr>
              <a:t>$70B+</a:t>
            </a:r>
            <a:endParaRPr lang="ko-KR" altLang="en-US" sz="3600" b="1">
              <a:solidFill>
                <a:srgbClr val="A8E89E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895D42-9959-5540-9066-AF58DDCBFB47}"/>
              </a:ext>
            </a:extLst>
          </p:cNvPr>
          <p:cNvSpPr txBox="1"/>
          <p:nvPr/>
        </p:nvSpPr>
        <p:spPr>
          <a:xfrm>
            <a:off x="6604000" y="3429000"/>
            <a:ext cx="469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200" i="1">
                <a:solidFill>
                  <a:srgbClr val="B8C8E0"/>
                </a:solidFill>
              </a:rPr>
              <a:t>annually  ·  persistent risk misallocation</a:t>
            </a:r>
            <a:endParaRPr lang="ko-KR" altLang="en-US" sz="1200" i="1">
              <a:solidFill>
                <a:srgbClr val="B8C8E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60554D-F44A-2548-BECA-CC964903BE9F}"/>
              </a:ext>
            </a:extLst>
          </p:cNvPr>
          <p:cNvSpPr txBox="1"/>
          <p:nvPr/>
        </p:nvSpPr>
        <p:spPr>
          <a:xfrm>
            <a:off x="6604000" y="3733800"/>
            <a:ext cx="469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200" b="1">
                <a:solidFill>
                  <a:srgbClr val="EDF4FF"/>
                </a:solidFill>
              </a:rPr>
              <a:t>1–2% pricing-accuracy gain  =  billions in recoverable value</a:t>
            </a:r>
            <a:endParaRPr lang="ko-KR" altLang="en-US" sz="1200" b="1">
              <a:solidFill>
                <a:srgbClr val="EDF4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C28445-9CB7-5E45-8BBF-E792AEDC1290}"/>
              </a:ext>
            </a:extLst>
          </p:cNvPr>
          <p:cNvSpPr txBox="1"/>
          <p:nvPr/>
        </p:nvSpPr>
        <p:spPr>
          <a:xfrm>
            <a:off x="635000" y="4343400"/>
            <a:ext cx="6350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7E94B0"/>
                </a:solidFill>
              </a:rPr>
              <a:t>WHY BLOCKCHAIN IS STRUCTURAL — NOT A CHOICE</a:t>
            </a:r>
            <a:endParaRPr lang="ko-KR" altLang="en-US" sz="900" b="1">
              <a:solidFill>
                <a:srgbClr val="7E94B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D5D469E-0A73-CC4C-A8DF-F5F11589E2EF}"/>
              </a:ext>
            </a:extLst>
          </p:cNvPr>
          <p:cNvSpPr txBox="1"/>
          <p:nvPr/>
        </p:nvSpPr>
        <p:spPr>
          <a:xfrm>
            <a:off x="635000" y="4572000"/>
            <a:ext cx="10922000" cy="406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200" i="1">
                <a:solidFill>
                  <a:srgbClr val="B8C8E0"/>
                </a:solidFill>
              </a:rPr>
              <a:t>Centralized alternatives fail because data-holders have conflicts of interest, competitors won't share, and records remain mutable. Only four properties — held simultaneously — break the bind:</a:t>
            </a:r>
            <a:endParaRPr lang="ko-KR" altLang="en-US" sz="1200" i="1">
              <a:solidFill>
                <a:srgbClr val="B8C8E0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8C1EAAB-3EC4-F942-ADD7-F04FA22AAF1A}"/>
              </a:ext>
            </a:extLst>
          </p:cNvPr>
          <p:cNvSpPr/>
          <p:nvPr/>
        </p:nvSpPr>
        <p:spPr>
          <a:xfrm>
            <a:off x="635000" y="5080000"/>
            <a:ext cx="2540000" cy="1143000"/>
          </a:xfrm>
          <a:prstGeom prst="rect">
            <a:avLst/>
          </a:prstGeom>
          <a:solidFill>
            <a:srgbClr val="0A122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DBBF4350-EACC-0D44-BC4A-E797AC3008A7}"/>
              </a:ext>
            </a:extLst>
          </p:cNvPr>
          <p:cNvSpPr/>
          <p:nvPr/>
        </p:nvSpPr>
        <p:spPr>
          <a:xfrm>
            <a:off x="635000" y="5080000"/>
            <a:ext cx="50800" cy="11430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5E4E352-6D5F-D241-9277-0EF17455C4DD}"/>
              </a:ext>
            </a:extLst>
          </p:cNvPr>
          <p:cNvSpPr txBox="1"/>
          <p:nvPr/>
        </p:nvSpPr>
        <p:spPr>
          <a:xfrm>
            <a:off x="787400" y="5181600"/>
            <a:ext cx="2235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4AA3FF"/>
                </a:solidFill>
              </a:rPr>
              <a:t>IMMUTABILITY</a:t>
            </a:r>
            <a:endParaRPr lang="ko-KR" altLang="en-US" sz="900" b="1">
              <a:solidFill>
                <a:srgbClr val="4AA3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61410F7-02E6-404A-8517-A71434B10844}"/>
              </a:ext>
            </a:extLst>
          </p:cNvPr>
          <p:cNvSpPr txBox="1"/>
          <p:nvPr/>
        </p:nvSpPr>
        <p:spPr>
          <a:xfrm>
            <a:off x="787400" y="5410200"/>
            <a:ext cx="22352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000">
                <a:solidFill>
                  <a:srgbClr val="EDF4FF"/>
                </a:solidFill>
              </a:rPr>
              <a:t>Records cannot be altered retroactively. The history you write today is the history that exists in five years.</a:t>
            </a:r>
            <a:endParaRPr lang="ko-KR" altLang="en-US" sz="1000">
              <a:solidFill>
                <a:srgbClr val="EDF4FF"/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54E4D36D-D4B9-AC48-BBC7-9ED833042C0B}"/>
              </a:ext>
            </a:extLst>
          </p:cNvPr>
          <p:cNvSpPr/>
          <p:nvPr/>
        </p:nvSpPr>
        <p:spPr>
          <a:xfrm>
            <a:off x="3429000" y="5080000"/>
            <a:ext cx="2540000" cy="1143000"/>
          </a:xfrm>
          <a:prstGeom prst="rect">
            <a:avLst/>
          </a:prstGeom>
          <a:solidFill>
            <a:srgbClr val="0A122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3A09EFC5-CCEB-6546-88FC-30CF0D5AD424}"/>
              </a:ext>
            </a:extLst>
          </p:cNvPr>
          <p:cNvSpPr/>
          <p:nvPr/>
        </p:nvSpPr>
        <p:spPr>
          <a:xfrm>
            <a:off x="3429000" y="5080000"/>
            <a:ext cx="50800" cy="1143000"/>
          </a:xfrm>
          <a:prstGeom prst="rect">
            <a:avLst/>
          </a:prstGeom>
          <a:solidFill>
            <a:srgbClr val="4ECDC4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DE53CC9-CD4A-944B-A3BA-983E6CFB7F9B}"/>
              </a:ext>
            </a:extLst>
          </p:cNvPr>
          <p:cNvSpPr txBox="1"/>
          <p:nvPr/>
        </p:nvSpPr>
        <p:spPr>
          <a:xfrm>
            <a:off x="3581400" y="5181600"/>
            <a:ext cx="2235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4ECDC4"/>
                </a:solidFill>
              </a:rPr>
              <a:t>DECENTRALIZED VALIDATION</a:t>
            </a:r>
            <a:endParaRPr lang="ko-KR" altLang="en-US" sz="900" b="1">
              <a:solidFill>
                <a:srgbClr val="4ECDC4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49EDB00-171C-B34C-A5D2-A31B5EAB5667}"/>
              </a:ext>
            </a:extLst>
          </p:cNvPr>
          <p:cNvSpPr txBox="1"/>
          <p:nvPr/>
        </p:nvSpPr>
        <p:spPr>
          <a:xfrm>
            <a:off x="3581400" y="5410200"/>
            <a:ext cx="22352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000">
                <a:solidFill>
                  <a:srgbClr val="EDF4FF"/>
                </a:solidFill>
              </a:rPr>
              <a:t>Independent participants verify entries — no single institution gatekeeps truth.</a:t>
            </a:r>
            <a:endParaRPr lang="ko-KR" altLang="en-US" sz="1000">
              <a:solidFill>
                <a:srgbClr val="EDF4FF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20B06BC3-D5D0-5544-A13F-455A8F0543BE}"/>
              </a:ext>
            </a:extLst>
          </p:cNvPr>
          <p:cNvSpPr/>
          <p:nvPr/>
        </p:nvSpPr>
        <p:spPr>
          <a:xfrm>
            <a:off x="6223000" y="5080000"/>
            <a:ext cx="2540000" cy="1143000"/>
          </a:xfrm>
          <a:prstGeom prst="rect">
            <a:avLst/>
          </a:prstGeom>
          <a:solidFill>
            <a:srgbClr val="0A122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D115E23-9929-604D-AAE9-1F812D615C06}"/>
              </a:ext>
            </a:extLst>
          </p:cNvPr>
          <p:cNvSpPr/>
          <p:nvPr/>
        </p:nvSpPr>
        <p:spPr>
          <a:xfrm>
            <a:off x="6223000" y="5080000"/>
            <a:ext cx="50800" cy="1143000"/>
          </a:xfrm>
          <a:prstGeom prst="rect">
            <a:avLst/>
          </a:prstGeom>
          <a:solidFill>
            <a:srgbClr val="F4A261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4A8BA8-643A-854B-BF7F-2FAFA07E6FB6}"/>
              </a:ext>
            </a:extLst>
          </p:cNvPr>
          <p:cNvSpPr txBox="1"/>
          <p:nvPr/>
        </p:nvSpPr>
        <p:spPr>
          <a:xfrm>
            <a:off x="6375400" y="5181600"/>
            <a:ext cx="2235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F4A261"/>
                </a:solidFill>
              </a:rPr>
              <a:t>ECONOMIC ENFORCEMENT</a:t>
            </a:r>
            <a:endParaRPr lang="ko-KR" altLang="en-US" sz="900" b="1">
              <a:solidFill>
                <a:srgbClr val="F4A261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027042-BC6D-4C45-A016-482C18251509}"/>
              </a:ext>
            </a:extLst>
          </p:cNvPr>
          <p:cNvSpPr txBox="1"/>
          <p:nvPr/>
        </p:nvSpPr>
        <p:spPr>
          <a:xfrm>
            <a:off x="6375400" y="5410200"/>
            <a:ext cx="22352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000">
                <a:solidFill>
                  <a:srgbClr val="EDF4FF"/>
                </a:solidFill>
              </a:rPr>
              <a:t>Staking and slashing make dishonest entries directly costly. Trust comes from skin in the game, not branding.</a:t>
            </a:r>
            <a:endParaRPr lang="ko-KR" altLang="en-US" sz="1000">
              <a:solidFill>
                <a:srgbClr val="EDF4FF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6E06476-F29B-FA46-A4D7-25920AD3DFF8}"/>
              </a:ext>
            </a:extLst>
          </p:cNvPr>
          <p:cNvSpPr/>
          <p:nvPr/>
        </p:nvSpPr>
        <p:spPr>
          <a:xfrm>
            <a:off x="9017000" y="5080000"/>
            <a:ext cx="2540000" cy="1143000"/>
          </a:xfrm>
          <a:prstGeom prst="rect">
            <a:avLst/>
          </a:prstGeom>
          <a:solidFill>
            <a:srgbClr val="0A122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EB163B23-CE0C-4B44-836B-4545ADC8EF29}"/>
              </a:ext>
            </a:extLst>
          </p:cNvPr>
          <p:cNvSpPr/>
          <p:nvPr/>
        </p:nvSpPr>
        <p:spPr>
          <a:xfrm>
            <a:off x="9017000" y="5080000"/>
            <a:ext cx="50800" cy="1143000"/>
          </a:xfrm>
          <a:prstGeom prst="rect">
            <a:avLst/>
          </a:prstGeom>
          <a:solidFill>
            <a:srgbClr val="A8E89E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856AF5E-8364-1941-8480-1C88FF53A2D2}"/>
              </a:ext>
            </a:extLst>
          </p:cNvPr>
          <p:cNvSpPr txBox="1"/>
          <p:nvPr/>
        </p:nvSpPr>
        <p:spPr>
          <a:xfrm>
            <a:off x="9169400" y="5181600"/>
            <a:ext cx="2235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A8E89E"/>
                </a:solidFill>
              </a:rPr>
              <a:t>PORTABLE IDENTITY</a:t>
            </a:r>
            <a:endParaRPr lang="ko-KR" altLang="en-US" sz="900" b="1">
              <a:solidFill>
                <a:srgbClr val="A8E89E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E1CDFA1-3B17-084E-BBB9-FF041F1770B9}"/>
              </a:ext>
            </a:extLst>
          </p:cNvPr>
          <p:cNvSpPr txBox="1"/>
          <p:nvPr/>
        </p:nvSpPr>
        <p:spPr>
          <a:xfrm>
            <a:off x="9169400" y="5410200"/>
            <a:ext cx="22352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000">
                <a:solidFill>
                  <a:srgbClr val="EDF4FF"/>
                </a:solidFill>
              </a:rPr>
              <a:t>User-owned identity moves across platforms, insurers, and marketplaces — never trapped inside one vendor.</a:t>
            </a:r>
            <a:endParaRPr lang="ko-KR" altLang="en-US" sz="1000">
              <a:solidFill>
                <a:srgbClr val="EDF4FF"/>
              </a:solidFill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B1DFF165-98EF-D346-95E4-F2B34D8EDE50}"/>
              </a:ext>
            </a:extLst>
          </p:cNvPr>
          <p:cNvSpPr/>
          <p:nvPr/>
        </p:nvSpPr>
        <p:spPr>
          <a:xfrm>
            <a:off x="635000" y="6477000"/>
            <a:ext cx="50800" cy="2794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013158A-DBEF-E44A-B731-900A27E13205}"/>
              </a:ext>
            </a:extLst>
          </p:cNvPr>
          <p:cNvSpPr txBox="1"/>
          <p:nvPr/>
        </p:nvSpPr>
        <p:spPr>
          <a:xfrm>
            <a:off x="812800" y="65024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300" b="1">
                <a:solidFill>
                  <a:srgbClr val="EDF4FF"/>
                </a:solidFill>
              </a:rPr>
              <a:t>Blockchain isn't the novelty — it's the only structure that delivers all four simultaneously.</a:t>
            </a:r>
            <a:endParaRPr lang="ko-KR" altLang="en-US" sz="1300" b="1">
              <a:solidFill>
                <a:srgbClr val="EDF4FF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E76C950-811C-1CB0-A3A1-1E26BA97A11F}"/>
              </a:ext>
            </a:extLst>
          </p:cNvPr>
          <p:cNvSpPr txBox="1"/>
          <p:nvPr/>
        </p:nvSpPr>
        <p:spPr>
          <a:xfrm>
            <a:off x="9601200" y="6656832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1" i="0">
                <a:solidFill>
                  <a:srgbClr val="9CC6FF"/>
                </a:solidFill>
                <a:latin typeface="Calibri"/>
              </a:rPr>
              <a:t>MotoChain &amp; RideTrue</a:t>
            </a:r>
          </a:p>
        </p:txBody>
      </p:sp>
    </p:spTree>
    <p:extLst>
      <p:ext uri="{BB962C8B-B14F-4D97-AF65-F5344CB8AC3E}">
        <p14:creationId xmlns:p14="http://schemas.microsoft.com/office/powerpoint/2010/main" val="1435068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6F93E2-5012-E643-9D6A-5CD0FD6FB4D3}"/>
              </a:ext>
            </a:extLst>
          </p:cNvPr>
          <p:cNvSpPr txBox="1"/>
          <p:nvPr/>
        </p:nvSpPr>
        <p:spPr>
          <a:xfrm>
            <a:off x="635000" y="635000"/>
            <a:ext cx="635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200" b="1" dirty="0">
                <a:solidFill>
                  <a:srgbClr val="9CC6FF"/>
                </a:solidFill>
              </a:rPr>
              <a:t>II.2  ·  TECHNICAL ARCHITECTURE &amp; SYSTEM LOGIC</a:t>
            </a:r>
            <a:endParaRPr lang="ko-KR" altLang="en-US" sz="1200" b="1" dirty="0">
              <a:solidFill>
                <a:srgbClr val="9CC6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FF5FC0-76A6-1049-8B96-E6535E57A8B2}"/>
              </a:ext>
            </a:extLst>
          </p:cNvPr>
          <p:cNvSpPr txBox="1"/>
          <p:nvPr/>
        </p:nvSpPr>
        <p:spPr>
          <a:xfrm>
            <a:off x="635000" y="990600"/>
            <a:ext cx="1092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3200" b="1">
                <a:solidFill>
                  <a:srgbClr val="EDF4FF"/>
                </a:solidFill>
              </a:rPr>
              <a:t>Two protocols on Base, one shared substrate</a:t>
            </a:r>
            <a:endParaRPr lang="ko-KR" altLang="en-US" sz="3200" b="1">
              <a:solidFill>
                <a:srgbClr val="EDF4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AE054-BA71-1D43-89B0-57DD1FB1FD36}"/>
              </a:ext>
            </a:extLst>
          </p:cNvPr>
          <p:cNvSpPr txBox="1"/>
          <p:nvPr/>
        </p:nvSpPr>
        <p:spPr>
          <a:xfrm>
            <a:off x="635000" y="1676400"/>
            <a:ext cx="10922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400" i="1">
                <a:solidFill>
                  <a:srgbClr val="B8C8E0"/>
                </a:solidFill>
              </a:rPr>
              <a:t>Modular and interoperable — Ethereum L2 economics with mainnet security.</a:t>
            </a:r>
            <a:endParaRPr lang="ko-KR" altLang="en-US" sz="1400" i="1">
              <a:solidFill>
                <a:srgbClr val="B8C8E0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77F08C1-DAF9-6E40-8476-A4C66B40D4C6}"/>
              </a:ext>
            </a:extLst>
          </p:cNvPr>
          <p:cNvSpPr/>
          <p:nvPr/>
        </p:nvSpPr>
        <p:spPr>
          <a:xfrm>
            <a:off x="635000" y="2082800"/>
            <a:ext cx="1092200" cy="508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BD559C34-9041-F44A-8AF9-CD2A15BDDAAD}"/>
              </a:ext>
            </a:extLst>
          </p:cNvPr>
          <p:cNvSpPr/>
          <p:nvPr/>
        </p:nvSpPr>
        <p:spPr>
          <a:xfrm>
            <a:off x="635000" y="2413000"/>
            <a:ext cx="5207000" cy="2794000"/>
          </a:xfrm>
          <a:prstGeom prst="roundRect">
            <a:avLst/>
          </a:prstGeom>
          <a:solidFill>
            <a:srgbClr val="0D1625"/>
          </a:solidFill>
          <a:ln w="12700" cap="flat" cmpd="sng" algn="ctr">
            <a:solidFill>
              <a:srgbClr val="1F406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4D11FA9-6E77-C04E-87AB-95E28D4910AD}"/>
              </a:ext>
            </a:extLst>
          </p:cNvPr>
          <p:cNvSpPr/>
          <p:nvPr/>
        </p:nvSpPr>
        <p:spPr>
          <a:xfrm>
            <a:off x="1041400" y="2416964"/>
            <a:ext cx="4239518" cy="45719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141F48-6AE7-6C47-B26B-A93420AD28A9}"/>
              </a:ext>
            </a:extLst>
          </p:cNvPr>
          <p:cNvSpPr txBox="1"/>
          <p:nvPr/>
        </p:nvSpPr>
        <p:spPr>
          <a:xfrm>
            <a:off x="889000" y="2590800"/>
            <a:ext cx="2540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000" b="1">
                <a:solidFill>
                  <a:srgbClr val="9CC6FF"/>
                </a:solidFill>
              </a:rPr>
              <a:t>PROTOCOL A</a:t>
            </a:r>
            <a:endParaRPr lang="ko-KR" altLang="en-US" sz="1000" b="1">
              <a:solidFill>
                <a:srgbClr val="9CC6FF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131218-4DC8-C342-93C6-8F26690DEF8D}"/>
              </a:ext>
            </a:extLst>
          </p:cNvPr>
          <p:cNvSpPr txBox="1"/>
          <p:nvPr/>
        </p:nvSpPr>
        <p:spPr>
          <a:xfrm>
            <a:off x="889000" y="2794000"/>
            <a:ext cx="469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2200" b="1">
                <a:solidFill>
                  <a:srgbClr val="EDF4FF"/>
                </a:solidFill>
              </a:rPr>
              <a:t>MotoChain</a:t>
            </a:r>
            <a:endParaRPr lang="ko-KR" altLang="en-US" sz="2200" b="1">
              <a:solidFill>
                <a:srgbClr val="EDF4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18E125-3DE6-4A45-B02A-0D76C8301DB7}"/>
              </a:ext>
            </a:extLst>
          </p:cNvPr>
          <p:cNvSpPr txBox="1"/>
          <p:nvPr/>
        </p:nvSpPr>
        <p:spPr>
          <a:xfrm>
            <a:off x="889000" y="3200400"/>
            <a:ext cx="469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200" i="1">
                <a:solidFill>
                  <a:srgbClr val="B8C8E0"/>
                </a:solidFill>
              </a:rPr>
              <a:t>Motorcycle identity &amp; history registry</a:t>
            </a:r>
            <a:endParaRPr lang="ko-KR" altLang="en-US" sz="1200" i="1">
              <a:solidFill>
                <a:srgbClr val="B8C8E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99654E-90AE-2142-8139-35E60D3122D4}"/>
              </a:ext>
            </a:extLst>
          </p:cNvPr>
          <p:cNvSpPr txBox="1"/>
          <p:nvPr/>
        </p:nvSpPr>
        <p:spPr>
          <a:xfrm>
            <a:off x="889000" y="3556000"/>
            <a:ext cx="4699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7E94B0"/>
                </a:solidFill>
              </a:rPr>
              <a:t>WHAT IT MANAGES</a:t>
            </a:r>
            <a:endParaRPr lang="ko-KR" altLang="en-US" sz="900" b="1">
              <a:solidFill>
                <a:srgbClr val="7E94B0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05E3D5C-97E3-3A4C-A965-E0D3B64C6FEA}"/>
              </a:ext>
            </a:extLst>
          </p:cNvPr>
          <p:cNvSpPr/>
          <p:nvPr/>
        </p:nvSpPr>
        <p:spPr>
          <a:xfrm>
            <a:off x="889000" y="3810000"/>
            <a:ext cx="50800" cy="2032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6B9FC1-34E0-2E46-AB45-0261BA7C79AF}"/>
              </a:ext>
            </a:extLst>
          </p:cNvPr>
          <p:cNvSpPr txBox="1"/>
          <p:nvPr/>
        </p:nvSpPr>
        <p:spPr>
          <a:xfrm>
            <a:off x="1041399" y="3721100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 b="1">
                <a:solidFill>
                  <a:srgbClr val="EDF4FF"/>
                </a:solidFill>
              </a:rPr>
              <a:t>VIN-linked identity token</a:t>
            </a:r>
            <a:endParaRPr lang="ko-KR" altLang="en-US" sz="1100" b="1">
              <a:solidFill>
                <a:srgbClr val="EDF4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6FC679-2DFA-514A-A7BE-AEB5A053AA55}"/>
              </a:ext>
            </a:extLst>
          </p:cNvPr>
          <p:cNvSpPr txBox="1"/>
          <p:nvPr/>
        </p:nvSpPr>
        <p:spPr>
          <a:xfrm>
            <a:off x="1041399" y="3898900"/>
            <a:ext cx="4572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000">
                <a:solidFill>
                  <a:srgbClr val="9CADC4"/>
                </a:solidFill>
              </a:rPr>
              <a:t>Permanent digital anchor per bike, minted on entry</a:t>
            </a:r>
            <a:endParaRPr lang="ko-KR" altLang="en-US" sz="1000">
              <a:solidFill>
                <a:srgbClr val="9CADC4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74F7C49-7398-D14F-9B44-465599DBDED7}"/>
              </a:ext>
            </a:extLst>
          </p:cNvPr>
          <p:cNvSpPr/>
          <p:nvPr/>
        </p:nvSpPr>
        <p:spPr>
          <a:xfrm>
            <a:off x="889000" y="4140200"/>
            <a:ext cx="50800" cy="2032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9ADCA7-5152-6349-A56E-4A545A819E79}"/>
              </a:ext>
            </a:extLst>
          </p:cNvPr>
          <p:cNvSpPr txBox="1"/>
          <p:nvPr/>
        </p:nvSpPr>
        <p:spPr>
          <a:xfrm>
            <a:off x="1041399" y="4051300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 b="1">
                <a:solidFill>
                  <a:srgbClr val="EDF4FF"/>
                </a:solidFill>
              </a:rPr>
              <a:t>Controlled ownership transitions</a:t>
            </a:r>
            <a:endParaRPr lang="ko-KR" altLang="en-US" sz="1100" b="1">
              <a:solidFill>
                <a:srgbClr val="EDF4FF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814622-8E91-344F-BC89-21C46C31F247}"/>
              </a:ext>
            </a:extLst>
          </p:cNvPr>
          <p:cNvSpPr txBox="1"/>
          <p:nvPr/>
        </p:nvSpPr>
        <p:spPr>
          <a:xfrm>
            <a:off x="1041399" y="4229100"/>
            <a:ext cx="4572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000">
                <a:solidFill>
                  <a:srgbClr val="9CADC4"/>
                </a:solidFill>
              </a:rPr>
              <a:t>Transfers as structured state changes — not raw token moves</a:t>
            </a:r>
            <a:endParaRPr lang="ko-KR" altLang="en-US" sz="1000">
              <a:solidFill>
                <a:srgbClr val="9CADC4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0BA60D1-7448-F94F-B193-E06CC3AFF710}"/>
              </a:ext>
            </a:extLst>
          </p:cNvPr>
          <p:cNvSpPr/>
          <p:nvPr/>
        </p:nvSpPr>
        <p:spPr>
          <a:xfrm>
            <a:off x="889000" y="4470400"/>
            <a:ext cx="50800" cy="2032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DDD7FD0-6503-D74E-8D11-77A6DA28F42A}"/>
              </a:ext>
            </a:extLst>
          </p:cNvPr>
          <p:cNvSpPr txBox="1"/>
          <p:nvPr/>
        </p:nvSpPr>
        <p:spPr>
          <a:xfrm>
            <a:off x="1041399" y="4381500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 b="1">
                <a:solidFill>
                  <a:srgbClr val="EDF4FF"/>
                </a:solidFill>
              </a:rPr>
              <a:t>Staked service entries</a:t>
            </a:r>
            <a:endParaRPr lang="ko-KR" altLang="en-US" sz="1100" b="1">
              <a:solidFill>
                <a:srgbClr val="EDF4FF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A4174B-DF13-C347-870A-19B77362974B}"/>
              </a:ext>
            </a:extLst>
          </p:cNvPr>
          <p:cNvSpPr txBox="1"/>
          <p:nvPr/>
        </p:nvSpPr>
        <p:spPr>
          <a:xfrm>
            <a:off x="1041399" y="4559300"/>
            <a:ext cx="4572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000">
                <a:solidFill>
                  <a:srgbClr val="9CADC4"/>
                </a:solidFill>
              </a:rPr>
              <a:t>Authorized mechanics sign records; collateral at risk</a:t>
            </a:r>
            <a:endParaRPr lang="ko-KR" altLang="en-US" sz="1000">
              <a:solidFill>
                <a:srgbClr val="9CADC4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9AEBCD0-F4BB-A544-A073-07A69C25FD27}"/>
              </a:ext>
            </a:extLst>
          </p:cNvPr>
          <p:cNvSpPr/>
          <p:nvPr/>
        </p:nvSpPr>
        <p:spPr>
          <a:xfrm>
            <a:off x="889000" y="4800600"/>
            <a:ext cx="50800" cy="2032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FF0443B-2E4E-EF44-B5D4-E0736282FC9D}"/>
              </a:ext>
            </a:extLst>
          </p:cNvPr>
          <p:cNvSpPr txBox="1"/>
          <p:nvPr/>
        </p:nvSpPr>
        <p:spPr>
          <a:xfrm>
            <a:off x="1041399" y="4711700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 b="1">
                <a:solidFill>
                  <a:srgbClr val="EDF4FF"/>
                </a:solidFill>
              </a:rPr>
              <a:t>Protocol-level integrity rules</a:t>
            </a:r>
            <a:endParaRPr lang="ko-KR" altLang="en-US" sz="1100" b="1">
              <a:solidFill>
                <a:srgbClr val="EDF4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A7464F-C547-1C49-A4BD-17411C6E211F}"/>
              </a:ext>
            </a:extLst>
          </p:cNvPr>
          <p:cNvSpPr txBox="1"/>
          <p:nvPr/>
        </p:nvSpPr>
        <p:spPr>
          <a:xfrm>
            <a:off x="1041399" y="4889500"/>
            <a:ext cx="4572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000" dirty="0">
                <a:solidFill>
                  <a:srgbClr val="9CADC4"/>
                </a:solidFill>
              </a:rPr>
              <a:t>Non-sequential mileage and conflicts flagged automatically</a:t>
            </a:r>
            <a:endParaRPr lang="ko-KR" altLang="en-US" sz="1000" dirty="0">
              <a:solidFill>
                <a:srgbClr val="9CADC4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002D419A-0274-594F-BC04-B31A961A91C8}"/>
              </a:ext>
            </a:extLst>
          </p:cNvPr>
          <p:cNvSpPr/>
          <p:nvPr/>
        </p:nvSpPr>
        <p:spPr>
          <a:xfrm>
            <a:off x="6350000" y="2413000"/>
            <a:ext cx="5207000" cy="2794000"/>
          </a:xfrm>
          <a:prstGeom prst="roundRect">
            <a:avLst/>
          </a:prstGeom>
          <a:solidFill>
            <a:srgbClr val="0D1625"/>
          </a:solidFill>
          <a:ln w="12700" cap="flat" cmpd="sng" algn="ctr">
            <a:solidFill>
              <a:srgbClr val="2A5440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25FC844-EA6A-F14A-8256-5FA2D39AE2EA}"/>
              </a:ext>
            </a:extLst>
          </p:cNvPr>
          <p:cNvSpPr/>
          <p:nvPr/>
        </p:nvSpPr>
        <p:spPr>
          <a:xfrm>
            <a:off x="6756399" y="2413000"/>
            <a:ext cx="4329815" cy="50800"/>
          </a:xfrm>
          <a:prstGeom prst="rect">
            <a:avLst/>
          </a:prstGeom>
          <a:solidFill>
            <a:srgbClr val="A8E89E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557737F-84A9-D745-ADEF-A93F3B8B648A}"/>
              </a:ext>
            </a:extLst>
          </p:cNvPr>
          <p:cNvSpPr txBox="1"/>
          <p:nvPr/>
        </p:nvSpPr>
        <p:spPr>
          <a:xfrm>
            <a:off x="6604000" y="2590800"/>
            <a:ext cx="2540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000" b="1">
                <a:solidFill>
                  <a:srgbClr val="A8E89E"/>
                </a:solidFill>
              </a:rPr>
              <a:t>PROTOCOL B</a:t>
            </a:r>
            <a:endParaRPr lang="ko-KR" altLang="en-US" sz="1000" b="1">
              <a:solidFill>
                <a:srgbClr val="A8E89E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11F648-E16B-E647-9C77-B1FE5C697F1F}"/>
              </a:ext>
            </a:extLst>
          </p:cNvPr>
          <p:cNvSpPr txBox="1"/>
          <p:nvPr/>
        </p:nvSpPr>
        <p:spPr>
          <a:xfrm>
            <a:off x="6604000" y="2794000"/>
            <a:ext cx="469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2200" b="1" dirty="0" err="1">
                <a:solidFill>
                  <a:srgbClr val="EDF4FF"/>
                </a:solidFill>
              </a:rPr>
              <a:t>RideTrue</a:t>
            </a:r>
            <a:endParaRPr lang="ko-KR" altLang="en-US" sz="2200" b="1" dirty="0">
              <a:solidFill>
                <a:srgbClr val="EDF4FF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3AB8646-6C77-FA42-A82F-01FA2C9AF3C3}"/>
              </a:ext>
            </a:extLst>
          </p:cNvPr>
          <p:cNvSpPr txBox="1"/>
          <p:nvPr/>
        </p:nvSpPr>
        <p:spPr>
          <a:xfrm>
            <a:off x="6604000" y="3200400"/>
            <a:ext cx="4699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200" i="1">
                <a:solidFill>
                  <a:srgbClr val="B8C8E0"/>
                </a:solidFill>
              </a:rPr>
              <a:t>Behavior-based rider insurance pool</a:t>
            </a:r>
            <a:endParaRPr lang="ko-KR" altLang="en-US" sz="1200" i="1">
              <a:solidFill>
                <a:srgbClr val="B8C8E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DC51E49-A39D-704B-BF81-9D496C5B626F}"/>
              </a:ext>
            </a:extLst>
          </p:cNvPr>
          <p:cNvSpPr txBox="1"/>
          <p:nvPr/>
        </p:nvSpPr>
        <p:spPr>
          <a:xfrm>
            <a:off x="6604000" y="3529584"/>
            <a:ext cx="4699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 dirty="0">
                <a:solidFill>
                  <a:srgbClr val="7E94B0"/>
                </a:solidFill>
              </a:rPr>
              <a:t>WHAT IT MANAGES</a:t>
            </a:r>
            <a:endParaRPr lang="ko-KR" altLang="en-US" sz="900" b="1" dirty="0">
              <a:solidFill>
                <a:srgbClr val="7E94B0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DF843866-33B6-2F4F-A7B3-E1A599288E93}"/>
              </a:ext>
            </a:extLst>
          </p:cNvPr>
          <p:cNvSpPr/>
          <p:nvPr/>
        </p:nvSpPr>
        <p:spPr>
          <a:xfrm>
            <a:off x="6604000" y="3810000"/>
            <a:ext cx="50800" cy="203200"/>
          </a:xfrm>
          <a:prstGeom prst="rect">
            <a:avLst/>
          </a:prstGeom>
          <a:solidFill>
            <a:srgbClr val="A8E89E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DBD981-BAA5-6245-BBEA-FCE56B630C0D}"/>
              </a:ext>
            </a:extLst>
          </p:cNvPr>
          <p:cNvSpPr txBox="1"/>
          <p:nvPr/>
        </p:nvSpPr>
        <p:spPr>
          <a:xfrm>
            <a:off x="6756399" y="3712346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 b="1">
                <a:solidFill>
                  <a:srgbClr val="EDF4FF"/>
                </a:solidFill>
              </a:rPr>
              <a:t>Rider identity &amp; safety score</a:t>
            </a:r>
            <a:endParaRPr lang="ko-KR" altLang="en-US" sz="1100" b="1">
              <a:solidFill>
                <a:srgbClr val="EDF4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FF15B2E-815B-E041-9C46-C2A2D4DCFF3B}"/>
              </a:ext>
            </a:extLst>
          </p:cNvPr>
          <p:cNvSpPr txBox="1"/>
          <p:nvPr/>
        </p:nvSpPr>
        <p:spPr>
          <a:xfrm>
            <a:off x="6756399" y="3890146"/>
            <a:ext cx="4572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000">
                <a:solidFill>
                  <a:srgbClr val="9CADC4"/>
                </a:solidFill>
              </a:rPr>
              <a:t>Updated on-chain from off-chain telematics</a:t>
            </a:r>
            <a:endParaRPr lang="ko-KR" altLang="en-US" sz="1000">
              <a:solidFill>
                <a:srgbClr val="9CADC4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76FD7A20-A278-2741-A776-BA4305A079F8}"/>
              </a:ext>
            </a:extLst>
          </p:cNvPr>
          <p:cNvSpPr/>
          <p:nvPr/>
        </p:nvSpPr>
        <p:spPr>
          <a:xfrm>
            <a:off x="6604000" y="4140200"/>
            <a:ext cx="50800" cy="203200"/>
          </a:xfrm>
          <a:prstGeom prst="rect">
            <a:avLst/>
          </a:prstGeom>
          <a:solidFill>
            <a:srgbClr val="A8E89E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24374E-E6DC-204A-92F7-90E64AAC43B1}"/>
              </a:ext>
            </a:extLst>
          </p:cNvPr>
          <p:cNvSpPr txBox="1"/>
          <p:nvPr/>
        </p:nvSpPr>
        <p:spPr>
          <a:xfrm>
            <a:off x="6756399" y="4042546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 b="1" dirty="0">
                <a:solidFill>
                  <a:srgbClr val="EDF4FF"/>
                </a:solidFill>
              </a:rPr>
              <a:t>ZK-proof attestations</a:t>
            </a:r>
            <a:endParaRPr lang="ko-KR" altLang="en-US" sz="1100" b="1" dirty="0">
              <a:solidFill>
                <a:srgbClr val="EDF4FF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337A64B-AA70-4C43-9176-4B1589D331FA}"/>
              </a:ext>
            </a:extLst>
          </p:cNvPr>
          <p:cNvSpPr txBox="1"/>
          <p:nvPr/>
        </p:nvSpPr>
        <p:spPr>
          <a:xfrm>
            <a:off x="6756399" y="4220346"/>
            <a:ext cx="4572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000">
                <a:solidFill>
                  <a:srgbClr val="9CADC4"/>
                </a:solidFill>
              </a:rPr>
              <a:t>Attests safe behavior without exposing raw data</a:t>
            </a:r>
            <a:endParaRPr lang="ko-KR" altLang="en-US" sz="1000">
              <a:solidFill>
                <a:srgbClr val="9CADC4"/>
              </a:solidFill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DEC074EA-3B40-B64F-B4B4-7D13F20B61B4}"/>
              </a:ext>
            </a:extLst>
          </p:cNvPr>
          <p:cNvSpPr/>
          <p:nvPr/>
        </p:nvSpPr>
        <p:spPr>
          <a:xfrm>
            <a:off x="6604000" y="4470400"/>
            <a:ext cx="50800" cy="203200"/>
          </a:xfrm>
          <a:prstGeom prst="rect">
            <a:avLst/>
          </a:prstGeom>
          <a:solidFill>
            <a:srgbClr val="A8E89E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AA4DEA-EEEA-A847-A74C-937FACC6B80E}"/>
              </a:ext>
            </a:extLst>
          </p:cNvPr>
          <p:cNvSpPr txBox="1"/>
          <p:nvPr/>
        </p:nvSpPr>
        <p:spPr>
          <a:xfrm>
            <a:off x="6756399" y="4372746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 b="1">
                <a:solidFill>
                  <a:srgbClr val="EDF4FF"/>
                </a:solidFill>
              </a:rPr>
              <a:t>USDC insurance pool</a:t>
            </a:r>
            <a:endParaRPr lang="ko-KR" altLang="en-US" sz="1100" b="1">
              <a:solidFill>
                <a:srgbClr val="EDF4FF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D319E6C-A8E3-8F40-AF58-56ADF71E251C}"/>
              </a:ext>
            </a:extLst>
          </p:cNvPr>
          <p:cNvSpPr txBox="1"/>
          <p:nvPr/>
        </p:nvSpPr>
        <p:spPr>
          <a:xfrm>
            <a:off x="6756399" y="4550546"/>
            <a:ext cx="4572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000">
                <a:solidFill>
                  <a:srgbClr val="9CADC4"/>
                </a:solidFill>
              </a:rPr>
              <a:t>Premiums and payouts in stablecoin</a:t>
            </a:r>
            <a:endParaRPr lang="ko-KR" altLang="en-US" sz="1000">
              <a:solidFill>
                <a:srgbClr val="9CADC4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B09F954F-9FE1-4545-9396-8EC8082E5049}"/>
              </a:ext>
            </a:extLst>
          </p:cNvPr>
          <p:cNvSpPr/>
          <p:nvPr/>
        </p:nvSpPr>
        <p:spPr>
          <a:xfrm>
            <a:off x="6604000" y="4800600"/>
            <a:ext cx="50800" cy="203200"/>
          </a:xfrm>
          <a:prstGeom prst="rect">
            <a:avLst/>
          </a:prstGeom>
          <a:solidFill>
            <a:srgbClr val="A8E89E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15B975-9D54-7D4D-B500-05FC4B358BFD}"/>
              </a:ext>
            </a:extLst>
          </p:cNvPr>
          <p:cNvSpPr txBox="1"/>
          <p:nvPr/>
        </p:nvSpPr>
        <p:spPr>
          <a:xfrm>
            <a:off x="6756399" y="4702946"/>
            <a:ext cx="2540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 b="1" dirty="0">
                <a:solidFill>
                  <a:srgbClr val="EDF4FF"/>
                </a:solidFill>
              </a:rPr>
              <a:t>Composable with DeFi</a:t>
            </a:r>
            <a:endParaRPr lang="ko-KR" altLang="en-US" sz="1100" b="1" dirty="0">
              <a:solidFill>
                <a:srgbClr val="EDF4FF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C51EC39-DC27-C148-84C9-2153863829C0}"/>
              </a:ext>
            </a:extLst>
          </p:cNvPr>
          <p:cNvSpPr txBox="1"/>
          <p:nvPr/>
        </p:nvSpPr>
        <p:spPr>
          <a:xfrm>
            <a:off x="6756399" y="4880746"/>
            <a:ext cx="4572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000">
                <a:solidFill>
                  <a:srgbClr val="9CADC4"/>
                </a:solidFill>
              </a:rPr>
              <a:t>Idle capital deployed into Aave for yield</a:t>
            </a:r>
            <a:endParaRPr lang="ko-KR" altLang="en-US" sz="1000">
              <a:solidFill>
                <a:srgbClr val="9CADC4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4450A3-BD0F-2847-B05C-306E1D45A162}"/>
              </a:ext>
            </a:extLst>
          </p:cNvPr>
          <p:cNvSpPr txBox="1"/>
          <p:nvPr/>
        </p:nvSpPr>
        <p:spPr>
          <a:xfrm>
            <a:off x="635000" y="5397500"/>
            <a:ext cx="2540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7E94B0"/>
                </a:solidFill>
              </a:rPr>
              <a:t>DEPLOYED ON</a:t>
            </a:r>
            <a:endParaRPr lang="ko-KR" altLang="en-US" sz="900" b="1">
              <a:solidFill>
                <a:srgbClr val="7E94B0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9019B19-40D7-3443-AB8A-FB5AD43AF469}"/>
              </a:ext>
            </a:extLst>
          </p:cNvPr>
          <p:cNvSpPr/>
          <p:nvPr/>
        </p:nvSpPr>
        <p:spPr>
          <a:xfrm>
            <a:off x="635000" y="5613400"/>
            <a:ext cx="10922000" cy="736600"/>
          </a:xfrm>
          <a:prstGeom prst="rect">
            <a:avLst/>
          </a:prstGeom>
          <a:solidFill>
            <a:srgbClr val="0F1B2E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592E46F-7AA0-1448-9AF3-2B82AF80C2B5}"/>
              </a:ext>
            </a:extLst>
          </p:cNvPr>
          <p:cNvSpPr/>
          <p:nvPr/>
        </p:nvSpPr>
        <p:spPr>
          <a:xfrm>
            <a:off x="635000" y="5613400"/>
            <a:ext cx="50800" cy="7366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87E040-EBF2-0C4F-84D4-34BA87FB1CEF}"/>
              </a:ext>
            </a:extLst>
          </p:cNvPr>
          <p:cNvSpPr txBox="1"/>
          <p:nvPr/>
        </p:nvSpPr>
        <p:spPr>
          <a:xfrm>
            <a:off x="889000" y="5715000"/>
            <a:ext cx="127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b="1">
                <a:solidFill>
                  <a:srgbClr val="4AA3FF"/>
                </a:solidFill>
              </a:rPr>
              <a:t>Base</a:t>
            </a:r>
            <a:endParaRPr lang="ko-KR" altLang="en-US" b="1">
              <a:solidFill>
                <a:srgbClr val="4AA3FF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B1D7306-E7A3-F34B-8D46-1D52F6F5B8B4}"/>
              </a:ext>
            </a:extLst>
          </p:cNvPr>
          <p:cNvSpPr txBox="1"/>
          <p:nvPr/>
        </p:nvSpPr>
        <p:spPr>
          <a:xfrm>
            <a:off x="889000" y="5984834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000" b="1" dirty="0">
                <a:solidFill>
                  <a:srgbClr val="9CC6FF"/>
                </a:solidFill>
              </a:rPr>
              <a:t>Ethereum Layer 2</a:t>
            </a:r>
            <a:endParaRPr lang="ko-KR" altLang="en-US" sz="1000" b="1" dirty="0">
              <a:solidFill>
                <a:srgbClr val="9CC6FF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B7233E6D-78A4-B449-A7FF-9E7CF803442F}"/>
              </a:ext>
            </a:extLst>
          </p:cNvPr>
          <p:cNvSpPr/>
          <p:nvPr/>
        </p:nvSpPr>
        <p:spPr>
          <a:xfrm>
            <a:off x="2794000" y="5765800"/>
            <a:ext cx="12700" cy="457200"/>
          </a:xfrm>
          <a:prstGeom prst="rect">
            <a:avLst/>
          </a:prstGeom>
          <a:solidFill>
            <a:srgbClr val="1F406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7939FE4-6B3C-7C4D-BBE3-BA31E32408AC}"/>
              </a:ext>
            </a:extLst>
          </p:cNvPr>
          <p:cNvSpPr txBox="1"/>
          <p:nvPr/>
        </p:nvSpPr>
        <p:spPr>
          <a:xfrm>
            <a:off x="3048000" y="5740400"/>
            <a:ext cx="2794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9CC6FF"/>
                </a:solidFill>
              </a:rPr>
              <a:t>MAINNET-INHERITED SECURITY</a:t>
            </a:r>
            <a:endParaRPr lang="ko-KR" altLang="en-US" sz="900" b="1">
              <a:solidFill>
                <a:srgbClr val="9CC6FF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0A4A6FF-9F6B-6E49-BB82-3193230A4090}"/>
              </a:ext>
            </a:extLst>
          </p:cNvPr>
          <p:cNvSpPr txBox="1"/>
          <p:nvPr/>
        </p:nvSpPr>
        <p:spPr>
          <a:xfrm>
            <a:off x="3048000" y="5943600"/>
            <a:ext cx="2794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>
                <a:solidFill>
                  <a:srgbClr val="EDF4FF"/>
                </a:solidFill>
              </a:rPr>
              <a:t>Ethereum's settlement guarantees</a:t>
            </a:r>
            <a:endParaRPr lang="ko-KR" altLang="en-US" sz="1100">
              <a:solidFill>
                <a:srgbClr val="EDF4FF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547EB6F-911A-1240-B832-0B8BCB2BCCDC}"/>
              </a:ext>
            </a:extLst>
          </p:cNvPr>
          <p:cNvSpPr txBox="1"/>
          <p:nvPr/>
        </p:nvSpPr>
        <p:spPr>
          <a:xfrm>
            <a:off x="5969000" y="5740400"/>
            <a:ext cx="2286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9CC6FF"/>
                </a:solidFill>
              </a:rPr>
              <a:t>LOW-COST WRITES</a:t>
            </a:r>
            <a:endParaRPr lang="ko-KR" altLang="en-US" sz="900" b="1">
              <a:solidFill>
                <a:srgbClr val="9CC6FF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4B73817-5B52-5B43-8C2E-B9A94CAEC888}"/>
              </a:ext>
            </a:extLst>
          </p:cNvPr>
          <p:cNvSpPr txBox="1"/>
          <p:nvPr/>
        </p:nvSpPr>
        <p:spPr>
          <a:xfrm>
            <a:off x="5969000" y="5943600"/>
            <a:ext cx="3048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>
                <a:solidFill>
                  <a:srgbClr val="EDF4FF"/>
                </a:solidFill>
              </a:rPr>
              <a:t>Frequent service &amp; behavior updates feasible</a:t>
            </a:r>
            <a:endParaRPr lang="ko-KR" altLang="en-US" sz="1100">
              <a:solidFill>
                <a:srgbClr val="EDF4FF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1BF0513-1420-B64A-B580-B41397223C28}"/>
              </a:ext>
            </a:extLst>
          </p:cNvPr>
          <p:cNvSpPr txBox="1"/>
          <p:nvPr/>
        </p:nvSpPr>
        <p:spPr>
          <a:xfrm>
            <a:off x="9144000" y="5740400"/>
            <a:ext cx="2286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9CC6FF"/>
                </a:solidFill>
              </a:rPr>
              <a:t>FAST FINALITY</a:t>
            </a:r>
            <a:endParaRPr lang="ko-KR" altLang="en-US" sz="900" b="1">
              <a:solidFill>
                <a:srgbClr val="9CC6FF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D9EABD2-5066-B344-9F0B-291B9683EC6F}"/>
              </a:ext>
            </a:extLst>
          </p:cNvPr>
          <p:cNvSpPr txBox="1"/>
          <p:nvPr/>
        </p:nvSpPr>
        <p:spPr>
          <a:xfrm>
            <a:off x="9144000" y="5943600"/>
            <a:ext cx="228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>
                <a:solidFill>
                  <a:srgbClr val="EDF4FF"/>
                </a:solidFill>
              </a:rPr>
              <a:t>Real-time UX without L1 confirmation lag</a:t>
            </a:r>
            <a:endParaRPr lang="ko-KR" altLang="en-US" sz="1100">
              <a:solidFill>
                <a:srgbClr val="EDF4FF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005FBF0-E32F-4C4D-8DC8-26B1C2ADDE7A}"/>
              </a:ext>
            </a:extLst>
          </p:cNvPr>
          <p:cNvSpPr/>
          <p:nvPr/>
        </p:nvSpPr>
        <p:spPr>
          <a:xfrm>
            <a:off x="635000" y="6477000"/>
            <a:ext cx="50800" cy="2794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4707A14-981D-1645-9614-5E1F687B1894}"/>
              </a:ext>
            </a:extLst>
          </p:cNvPr>
          <p:cNvSpPr txBox="1"/>
          <p:nvPr/>
        </p:nvSpPr>
        <p:spPr>
          <a:xfrm>
            <a:off x="812800" y="65024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300" b="1">
                <a:solidFill>
                  <a:srgbClr val="EDF4FF"/>
                </a:solidFill>
              </a:rPr>
              <a:t>Two contracts. One chain. Identity for the bike feeds behavior pricing for the rider.</a:t>
            </a:r>
            <a:endParaRPr lang="ko-KR" altLang="en-US" sz="1300" b="1">
              <a:solidFill>
                <a:srgbClr val="EDF4FF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DC8F982-59DD-1B9B-A1C1-48285B44632A}"/>
              </a:ext>
            </a:extLst>
          </p:cNvPr>
          <p:cNvSpPr txBox="1"/>
          <p:nvPr/>
        </p:nvSpPr>
        <p:spPr>
          <a:xfrm>
            <a:off x="9601200" y="6656832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1" i="0">
                <a:solidFill>
                  <a:srgbClr val="9CC6FF"/>
                </a:solidFill>
                <a:latin typeface="Calibri"/>
              </a:rPr>
              <a:t>MotoChain &amp; RideTrue</a:t>
            </a:r>
          </a:p>
        </p:txBody>
      </p:sp>
    </p:spTree>
    <p:extLst>
      <p:ext uri="{BB962C8B-B14F-4D97-AF65-F5344CB8AC3E}">
        <p14:creationId xmlns:p14="http://schemas.microsoft.com/office/powerpoint/2010/main" val="3961349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41F48C-970D-834E-9030-3313304D68CC}"/>
              </a:ext>
            </a:extLst>
          </p:cNvPr>
          <p:cNvSpPr txBox="1"/>
          <p:nvPr/>
        </p:nvSpPr>
        <p:spPr>
          <a:xfrm>
            <a:off x="635000" y="6350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200" b="1">
                <a:solidFill>
                  <a:srgbClr val="4AA3FF"/>
                </a:solidFill>
              </a:rPr>
              <a:t>II.2  ·  MOTOCHAIN</a:t>
            </a:r>
            <a:endParaRPr lang="ko-KR" altLang="en-US" sz="1200" b="1">
              <a:solidFill>
                <a:srgbClr val="4AA3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612944-5534-A945-9188-227471C3F60A}"/>
              </a:ext>
            </a:extLst>
          </p:cNvPr>
          <p:cNvSpPr txBox="1"/>
          <p:nvPr/>
        </p:nvSpPr>
        <p:spPr>
          <a:xfrm>
            <a:off x="635000" y="990600"/>
            <a:ext cx="1092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3000" b="1">
                <a:solidFill>
                  <a:srgbClr val="EDF4FF"/>
                </a:solidFill>
              </a:rPr>
              <a:t>Identity, lifecycle, and integrity rules embedded in code</a:t>
            </a:r>
            <a:endParaRPr lang="ko-KR" altLang="en-US" sz="3000" b="1">
              <a:solidFill>
                <a:srgbClr val="EDF4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6755E8-3B0E-1348-BF0C-695D5FA9C30A}"/>
              </a:ext>
            </a:extLst>
          </p:cNvPr>
          <p:cNvSpPr txBox="1"/>
          <p:nvPr/>
        </p:nvSpPr>
        <p:spPr>
          <a:xfrm>
            <a:off x="635000" y="1676400"/>
            <a:ext cx="10922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300" i="1">
                <a:solidFill>
                  <a:srgbClr val="B8C8E0"/>
                </a:solidFill>
              </a:rPr>
              <a:t>Each bike enters as a VIN-linked token. The contract enforces consistency — no off-chain auditor required.</a:t>
            </a:r>
            <a:endParaRPr lang="ko-KR" altLang="en-US" sz="1300" i="1">
              <a:solidFill>
                <a:srgbClr val="B8C8E0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214C035-C06C-364B-96F6-A4CAC77340B0}"/>
              </a:ext>
            </a:extLst>
          </p:cNvPr>
          <p:cNvSpPr/>
          <p:nvPr/>
        </p:nvSpPr>
        <p:spPr>
          <a:xfrm>
            <a:off x="635000" y="2082800"/>
            <a:ext cx="1092200" cy="508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F7F42D-9393-6A45-9B67-F2AFE75E8730}"/>
              </a:ext>
            </a:extLst>
          </p:cNvPr>
          <p:cNvSpPr txBox="1"/>
          <p:nvPr/>
        </p:nvSpPr>
        <p:spPr>
          <a:xfrm>
            <a:off x="635000" y="2413000"/>
            <a:ext cx="5080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7E94B0"/>
                </a:solidFill>
              </a:rPr>
              <a:t>BIKE LIFECYCLE — ON CHAIN</a:t>
            </a:r>
            <a:endParaRPr lang="ko-KR" altLang="en-US" sz="900" b="1">
              <a:solidFill>
                <a:srgbClr val="7E94B0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F10E09AA-948F-E543-98A3-D38BAC565968}"/>
              </a:ext>
            </a:extLst>
          </p:cNvPr>
          <p:cNvSpPr/>
          <p:nvPr/>
        </p:nvSpPr>
        <p:spPr>
          <a:xfrm>
            <a:off x="635000" y="2667000"/>
            <a:ext cx="2476500" cy="1651000"/>
          </a:xfrm>
          <a:prstGeom prst="roundRect">
            <a:avLst/>
          </a:prstGeom>
          <a:solidFill>
            <a:srgbClr val="0D1625"/>
          </a:solidFill>
          <a:ln w="12700" cap="flat" cmpd="sng" algn="ctr">
            <a:solidFill>
              <a:srgbClr val="1F406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EF81298-555B-D04D-954D-AE04F71740DE}"/>
              </a:ext>
            </a:extLst>
          </p:cNvPr>
          <p:cNvSpPr/>
          <p:nvPr/>
        </p:nvSpPr>
        <p:spPr>
          <a:xfrm>
            <a:off x="952500" y="2667000"/>
            <a:ext cx="1803400" cy="762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C8AA24-D3FF-EA40-8E64-85C39DAD750E}"/>
              </a:ext>
            </a:extLst>
          </p:cNvPr>
          <p:cNvSpPr txBox="1"/>
          <p:nvPr/>
        </p:nvSpPr>
        <p:spPr>
          <a:xfrm>
            <a:off x="812800" y="2819400"/>
            <a:ext cx="635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400" b="1">
                <a:solidFill>
                  <a:srgbClr val="4AA3FF"/>
                </a:solidFill>
              </a:rPr>
              <a:t>01</a:t>
            </a:r>
            <a:endParaRPr lang="ko-KR" altLang="en-US" sz="1400" b="1">
              <a:solidFill>
                <a:srgbClr val="4AA3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C328B2F-5BA8-BC4A-B014-1E3966635716}"/>
              </a:ext>
            </a:extLst>
          </p:cNvPr>
          <p:cNvSpPr txBox="1"/>
          <p:nvPr/>
        </p:nvSpPr>
        <p:spPr>
          <a:xfrm>
            <a:off x="812800" y="3098800"/>
            <a:ext cx="2120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b="1">
                <a:solidFill>
                  <a:srgbClr val="EDF4FF"/>
                </a:solidFill>
              </a:rPr>
              <a:t>Mint</a:t>
            </a:r>
            <a:endParaRPr lang="ko-KR" altLang="en-US" b="1">
              <a:solidFill>
                <a:srgbClr val="EDF4F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536B11-E2D7-0140-B735-6C5D631A44ED}"/>
              </a:ext>
            </a:extLst>
          </p:cNvPr>
          <p:cNvSpPr txBox="1"/>
          <p:nvPr/>
        </p:nvSpPr>
        <p:spPr>
          <a:xfrm>
            <a:off x="812800" y="3454400"/>
            <a:ext cx="21209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 i="1">
                <a:solidFill>
                  <a:srgbClr val="9CC6FF"/>
                </a:solidFill>
              </a:rPr>
              <a:t>VIN identity token</a:t>
            </a:r>
            <a:endParaRPr lang="ko-KR" altLang="en-US" sz="1100" i="1">
              <a:solidFill>
                <a:srgbClr val="9CC6FF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E2D5DD-CDD1-CC45-9F1C-E9D452F92875}"/>
              </a:ext>
            </a:extLst>
          </p:cNvPr>
          <p:cNvSpPr txBox="1"/>
          <p:nvPr/>
        </p:nvSpPr>
        <p:spPr>
          <a:xfrm>
            <a:off x="812800" y="3733800"/>
            <a:ext cx="2120900" cy="533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>
                <a:solidFill>
                  <a:srgbClr val="D6E2F2"/>
                </a:solidFill>
              </a:rPr>
              <a:t>Bike enters the system. Permanent on-chain anchor. One-time fee.</a:t>
            </a:r>
            <a:endParaRPr lang="ko-KR" altLang="en-US" sz="1100">
              <a:solidFill>
                <a:srgbClr val="D6E2F2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44E8D26-239F-974F-BC6C-6F88188C5BF2}"/>
              </a:ext>
            </a:extLst>
          </p:cNvPr>
          <p:cNvSpPr/>
          <p:nvPr/>
        </p:nvSpPr>
        <p:spPr>
          <a:xfrm>
            <a:off x="3365500" y="2667000"/>
            <a:ext cx="2476500" cy="1651000"/>
          </a:xfrm>
          <a:prstGeom prst="roundRect">
            <a:avLst/>
          </a:prstGeom>
          <a:solidFill>
            <a:srgbClr val="0D1625"/>
          </a:solidFill>
          <a:ln w="12700" cap="flat" cmpd="sng" algn="ctr">
            <a:solidFill>
              <a:srgbClr val="1F406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91D9275-8701-AB4E-BFC0-FBA27EC57DDC}"/>
              </a:ext>
            </a:extLst>
          </p:cNvPr>
          <p:cNvSpPr/>
          <p:nvPr/>
        </p:nvSpPr>
        <p:spPr>
          <a:xfrm>
            <a:off x="3683000" y="2667000"/>
            <a:ext cx="1803400" cy="762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22173D-88B1-7047-BFFF-82AECD08DADD}"/>
              </a:ext>
            </a:extLst>
          </p:cNvPr>
          <p:cNvSpPr txBox="1"/>
          <p:nvPr/>
        </p:nvSpPr>
        <p:spPr>
          <a:xfrm>
            <a:off x="3543300" y="2819400"/>
            <a:ext cx="635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400" b="1">
                <a:solidFill>
                  <a:srgbClr val="4AA3FF"/>
                </a:solidFill>
              </a:rPr>
              <a:t>02</a:t>
            </a:r>
            <a:endParaRPr lang="ko-KR" altLang="en-US" sz="1400" b="1">
              <a:solidFill>
                <a:srgbClr val="4AA3FF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1188DC-3A12-FB44-8BEB-A31B154F4FB6}"/>
              </a:ext>
            </a:extLst>
          </p:cNvPr>
          <p:cNvSpPr txBox="1"/>
          <p:nvPr/>
        </p:nvSpPr>
        <p:spPr>
          <a:xfrm>
            <a:off x="3543300" y="3098800"/>
            <a:ext cx="2120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b="1">
                <a:solidFill>
                  <a:srgbClr val="EDF4FF"/>
                </a:solidFill>
              </a:rPr>
              <a:t>Transfer</a:t>
            </a:r>
            <a:endParaRPr lang="ko-KR" altLang="en-US" b="1">
              <a:solidFill>
                <a:srgbClr val="EDF4FF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DED3DC-1AFC-4741-BABA-1FECF4C1CF8D}"/>
              </a:ext>
            </a:extLst>
          </p:cNvPr>
          <p:cNvSpPr txBox="1"/>
          <p:nvPr/>
        </p:nvSpPr>
        <p:spPr>
          <a:xfrm>
            <a:off x="3543300" y="3454400"/>
            <a:ext cx="21209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 i="1">
                <a:solidFill>
                  <a:srgbClr val="9CC6FF"/>
                </a:solidFill>
              </a:rPr>
              <a:t>Controlled state change</a:t>
            </a:r>
            <a:endParaRPr lang="ko-KR" altLang="en-US" sz="1100" i="1">
              <a:solidFill>
                <a:srgbClr val="9CC6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EF21FE4-9773-E949-9654-27C056FCD702}"/>
              </a:ext>
            </a:extLst>
          </p:cNvPr>
          <p:cNvSpPr txBox="1"/>
          <p:nvPr/>
        </p:nvSpPr>
        <p:spPr>
          <a:xfrm>
            <a:off x="3543300" y="3733800"/>
            <a:ext cx="2120900" cy="533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>
                <a:solidFill>
                  <a:srgbClr val="D6E2F2"/>
                </a:solidFill>
              </a:rPr>
              <a:t>Ownership moves wallet-to-wallet — title is the wallet.</a:t>
            </a:r>
            <a:endParaRPr lang="ko-KR" altLang="en-US" sz="1100">
              <a:solidFill>
                <a:srgbClr val="D6E2F2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074E8CDC-1491-484B-AE65-7596DB3CE02D}"/>
              </a:ext>
            </a:extLst>
          </p:cNvPr>
          <p:cNvSpPr/>
          <p:nvPr/>
        </p:nvSpPr>
        <p:spPr>
          <a:xfrm>
            <a:off x="6096000" y="2667000"/>
            <a:ext cx="2476500" cy="1651000"/>
          </a:xfrm>
          <a:prstGeom prst="roundRect">
            <a:avLst/>
          </a:prstGeom>
          <a:solidFill>
            <a:srgbClr val="0D1625"/>
          </a:solidFill>
          <a:ln w="12700" cap="flat" cmpd="sng" algn="ctr">
            <a:solidFill>
              <a:srgbClr val="1F406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914ABEF-E6A6-EE41-A794-B0B0FB344618}"/>
              </a:ext>
            </a:extLst>
          </p:cNvPr>
          <p:cNvSpPr/>
          <p:nvPr/>
        </p:nvSpPr>
        <p:spPr>
          <a:xfrm>
            <a:off x="6413500" y="2667000"/>
            <a:ext cx="1803400" cy="762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DF39B8-1974-144B-A97F-BFCF1E9CD17F}"/>
              </a:ext>
            </a:extLst>
          </p:cNvPr>
          <p:cNvSpPr txBox="1"/>
          <p:nvPr/>
        </p:nvSpPr>
        <p:spPr>
          <a:xfrm>
            <a:off x="6273800" y="2819400"/>
            <a:ext cx="635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400" b="1">
                <a:solidFill>
                  <a:srgbClr val="4AA3FF"/>
                </a:solidFill>
              </a:rPr>
              <a:t>03</a:t>
            </a:r>
            <a:endParaRPr lang="ko-KR" altLang="en-US" sz="1400" b="1">
              <a:solidFill>
                <a:srgbClr val="4AA3FF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606B04-02F1-0046-B806-69FF58EEFE02}"/>
              </a:ext>
            </a:extLst>
          </p:cNvPr>
          <p:cNvSpPr txBox="1"/>
          <p:nvPr/>
        </p:nvSpPr>
        <p:spPr>
          <a:xfrm>
            <a:off x="6273800" y="3098800"/>
            <a:ext cx="2120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b="1">
                <a:solidFill>
                  <a:srgbClr val="EDF4FF"/>
                </a:solidFill>
              </a:rPr>
              <a:t>Service</a:t>
            </a:r>
            <a:endParaRPr lang="ko-KR" altLang="en-US" b="1">
              <a:solidFill>
                <a:srgbClr val="EDF4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8B33C22-8D65-0F47-B987-3B95D7BDD7EA}"/>
              </a:ext>
            </a:extLst>
          </p:cNvPr>
          <p:cNvSpPr txBox="1"/>
          <p:nvPr/>
        </p:nvSpPr>
        <p:spPr>
          <a:xfrm>
            <a:off x="6273800" y="3454400"/>
            <a:ext cx="21209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 i="1">
                <a:solidFill>
                  <a:srgbClr val="9CC6FF"/>
                </a:solidFill>
              </a:rPr>
              <a:t>Staked entry</a:t>
            </a:r>
            <a:endParaRPr lang="ko-KR" altLang="en-US" sz="1100" i="1">
              <a:solidFill>
                <a:srgbClr val="9CC6FF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BC7328-E793-A94A-9D64-CD7A6B330623}"/>
              </a:ext>
            </a:extLst>
          </p:cNvPr>
          <p:cNvSpPr txBox="1"/>
          <p:nvPr/>
        </p:nvSpPr>
        <p:spPr>
          <a:xfrm>
            <a:off x="6273800" y="3733800"/>
            <a:ext cx="2120900" cy="533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>
                <a:solidFill>
                  <a:srgbClr val="D6E2F2"/>
                </a:solidFill>
              </a:rPr>
              <a:t>Authorized mechanic signs. Stake is collateral against fraud.</a:t>
            </a:r>
            <a:endParaRPr lang="ko-KR" altLang="en-US" sz="1100">
              <a:solidFill>
                <a:srgbClr val="D6E2F2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AC167BBC-8347-E841-92F8-1934B580970A}"/>
              </a:ext>
            </a:extLst>
          </p:cNvPr>
          <p:cNvSpPr/>
          <p:nvPr/>
        </p:nvSpPr>
        <p:spPr>
          <a:xfrm>
            <a:off x="8826500" y="2667000"/>
            <a:ext cx="2476500" cy="1651000"/>
          </a:xfrm>
          <a:prstGeom prst="roundRect">
            <a:avLst/>
          </a:prstGeom>
          <a:solidFill>
            <a:srgbClr val="0D1625"/>
          </a:solidFill>
          <a:ln w="12700" cap="flat" cmpd="sng" algn="ctr">
            <a:solidFill>
              <a:srgbClr val="1F406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2081DC94-FA60-494C-90C6-0F5E13C9F5B6}"/>
              </a:ext>
            </a:extLst>
          </p:cNvPr>
          <p:cNvSpPr/>
          <p:nvPr/>
        </p:nvSpPr>
        <p:spPr>
          <a:xfrm>
            <a:off x="9144000" y="2667000"/>
            <a:ext cx="1803400" cy="762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415713-E21C-8C4E-9E87-CF41CA04CC11}"/>
              </a:ext>
            </a:extLst>
          </p:cNvPr>
          <p:cNvSpPr txBox="1"/>
          <p:nvPr/>
        </p:nvSpPr>
        <p:spPr>
          <a:xfrm>
            <a:off x="9004300" y="2819400"/>
            <a:ext cx="635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400" b="1">
                <a:solidFill>
                  <a:srgbClr val="4AA3FF"/>
                </a:solidFill>
              </a:rPr>
              <a:t>04</a:t>
            </a:r>
            <a:endParaRPr lang="ko-KR" altLang="en-US" sz="1400" b="1">
              <a:solidFill>
                <a:srgbClr val="4AA3FF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AEC0E1B-9677-404C-8148-50E3D460BBF2}"/>
              </a:ext>
            </a:extLst>
          </p:cNvPr>
          <p:cNvSpPr txBox="1"/>
          <p:nvPr/>
        </p:nvSpPr>
        <p:spPr>
          <a:xfrm>
            <a:off x="9004300" y="3098800"/>
            <a:ext cx="21209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b="1">
                <a:solidFill>
                  <a:srgbClr val="EDF4FF"/>
                </a:solidFill>
              </a:rPr>
              <a:t>Inspect</a:t>
            </a:r>
            <a:endParaRPr lang="ko-KR" altLang="en-US" b="1">
              <a:solidFill>
                <a:srgbClr val="EDF4FF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1AA7C69-160F-EB42-BDD4-D50E57616C8C}"/>
              </a:ext>
            </a:extLst>
          </p:cNvPr>
          <p:cNvSpPr txBox="1"/>
          <p:nvPr/>
        </p:nvSpPr>
        <p:spPr>
          <a:xfrm>
            <a:off x="9004300" y="3454400"/>
            <a:ext cx="21209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 i="1">
                <a:solidFill>
                  <a:srgbClr val="9CC6FF"/>
                </a:solidFill>
              </a:rPr>
              <a:t>Oracle consensus</a:t>
            </a:r>
            <a:endParaRPr lang="ko-KR" altLang="en-US" sz="1100" i="1">
              <a:solidFill>
                <a:srgbClr val="9CC6FF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9ECE53-2609-F744-BA2F-FAD74ACA5CF5}"/>
              </a:ext>
            </a:extLst>
          </p:cNvPr>
          <p:cNvSpPr txBox="1"/>
          <p:nvPr/>
        </p:nvSpPr>
        <p:spPr>
          <a:xfrm>
            <a:off x="9004300" y="3733800"/>
            <a:ext cx="2120900" cy="533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>
                <a:solidFill>
                  <a:srgbClr val="D6E2F2"/>
                </a:solidFill>
              </a:rPr>
              <a:t>Multi-source confirmation before claims are finalized on-chain.</a:t>
            </a:r>
            <a:endParaRPr lang="ko-KR" altLang="en-US" sz="1100">
              <a:solidFill>
                <a:srgbClr val="D6E2F2"/>
              </a:solidFill>
            </a:endParaRPr>
          </a:p>
        </p:txBody>
      </p:sp>
      <p:sp>
        <p:nvSpPr>
          <p:cNvPr id="31" name="오른쪽 화살표[R] 30">
            <a:extLst>
              <a:ext uri="{FF2B5EF4-FFF2-40B4-BE49-F238E27FC236}">
                <a16:creationId xmlns:a16="http://schemas.microsoft.com/office/drawing/2014/main" id="{9669E596-58D1-FA48-AF21-175C96DAE6D6}"/>
              </a:ext>
            </a:extLst>
          </p:cNvPr>
          <p:cNvSpPr/>
          <p:nvPr/>
        </p:nvSpPr>
        <p:spPr>
          <a:xfrm>
            <a:off x="3175000" y="3403600"/>
            <a:ext cx="127000" cy="203200"/>
          </a:xfrm>
          <a:prstGeom prst="rightArrow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2" name="오른쪽 화살표[R] 31">
            <a:extLst>
              <a:ext uri="{FF2B5EF4-FFF2-40B4-BE49-F238E27FC236}">
                <a16:creationId xmlns:a16="http://schemas.microsoft.com/office/drawing/2014/main" id="{8EF8FFCD-A3A2-3945-B103-26C38526E5B7}"/>
              </a:ext>
            </a:extLst>
          </p:cNvPr>
          <p:cNvSpPr/>
          <p:nvPr/>
        </p:nvSpPr>
        <p:spPr>
          <a:xfrm>
            <a:off x="5905500" y="3403600"/>
            <a:ext cx="127000" cy="203200"/>
          </a:xfrm>
          <a:prstGeom prst="rightArrow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3" name="오른쪽 화살표[R] 32">
            <a:extLst>
              <a:ext uri="{FF2B5EF4-FFF2-40B4-BE49-F238E27FC236}">
                <a16:creationId xmlns:a16="http://schemas.microsoft.com/office/drawing/2014/main" id="{58B107CB-B1F5-1842-8EF4-323C685A80A5}"/>
              </a:ext>
            </a:extLst>
          </p:cNvPr>
          <p:cNvSpPr/>
          <p:nvPr/>
        </p:nvSpPr>
        <p:spPr>
          <a:xfrm>
            <a:off x="8636000" y="3403600"/>
            <a:ext cx="127000" cy="203200"/>
          </a:xfrm>
          <a:prstGeom prst="rightArrow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17D9648-60A4-4C43-8358-A8F61D1E63D4}"/>
              </a:ext>
            </a:extLst>
          </p:cNvPr>
          <p:cNvSpPr txBox="1"/>
          <p:nvPr/>
        </p:nvSpPr>
        <p:spPr>
          <a:xfrm>
            <a:off x="635000" y="4546600"/>
            <a:ext cx="6350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7E94B0"/>
                </a:solidFill>
              </a:rPr>
              <a:t>INTEGRITY ENFORCED AT THE PROTOCOL LEVEL</a:t>
            </a:r>
            <a:endParaRPr lang="ko-KR" altLang="en-US" sz="900" b="1">
              <a:solidFill>
                <a:srgbClr val="7E94B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6FBBDB9-7DF9-1344-8FC6-D65A08092FBC}"/>
              </a:ext>
            </a:extLst>
          </p:cNvPr>
          <p:cNvSpPr/>
          <p:nvPr/>
        </p:nvSpPr>
        <p:spPr>
          <a:xfrm>
            <a:off x="635000" y="4800600"/>
            <a:ext cx="10922000" cy="1498600"/>
          </a:xfrm>
          <a:prstGeom prst="rect">
            <a:avLst/>
          </a:prstGeom>
          <a:solidFill>
            <a:srgbClr val="0A122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96A516BE-96B8-114F-8C6E-70BB41EFB789}"/>
              </a:ext>
            </a:extLst>
          </p:cNvPr>
          <p:cNvSpPr/>
          <p:nvPr/>
        </p:nvSpPr>
        <p:spPr>
          <a:xfrm>
            <a:off x="863600" y="5029200"/>
            <a:ext cx="50800" cy="2794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37C0463-DB3D-4C42-A12B-C6D1D462F281}"/>
              </a:ext>
            </a:extLst>
          </p:cNvPr>
          <p:cNvSpPr txBox="1"/>
          <p:nvPr/>
        </p:nvSpPr>
        <p:spPr>
          <a:xfrm>
            <a:off x="1041400" y="4978400"/>
            <a:ext cx="3302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200" b="1">
                <a:solidFill>
                  <a:srgbClr val="EDF4FF"/>
                </a:solidFill>
              </a:rPr>
              <a:t>Non-sequential mileage</a:t>
            </a:r>
            <a:endParaRPr lang="ko-KR" altLang="en-US" sz="1200" b="1">
              <a:solidFill>
                <a:srgbClr val="EDF4FF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3B22EA4-E98F-344D-9F4C-1FFECB384D79}"/>
              </a:ext>
            </a:extLst>
          </p:cNvPr>
          <p:cNvSpPr txBox="1"/>
          <p:nvPr/>
        </p:nvSpPr>
        <p:spPr>
          <a:xfrm>
            <a:off x="4572000" y="4978400"/>
            <a:ext cx="673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>
                <a:solidFill>
                  <a:srgbClr val="D6E2F2"/>
                </a:solidFill>
              </a:rPr>
              <a:t>Mileage readings below a prior entry are flagged automatically. Rollback is structurally impossible.</a:t>
            </a:r>
            <a:endParaRPr lang="ko-KR" altLang="en-US" sz="1100">
              <a:solidFill>
                <a:srgbClr val="D6E2F2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6C5D2209-D40B-F94E-9AEB-5C58C3AB8C0A}"/>
              </a:ext>
            </a:extLst>
          </p:cNvPr>
          <p:cNvSpPr/>
          <p:nvPr/>
        </p:nvSpPr>
        <p:spPr>
          <a:xfrm>
            <a:off x="863600" y="5435600"/>
            <a:ext cx="50800" cy="2794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7E06E66-ED03-194A-BE4F-0C3C386657E4}"/>
              </a:ext>
            </a:extLst>
          </p:cNvPr>
          <p:cNvSpPr txBox="1"/>
          <p:nvPr/>
        </p:nvSpPr>
        <p:spPr>
          <a:xfrm>
            <a:off x="1041400" y="5384800"/>
            <a:ext cx="3302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200" b="1">
                <a:solidFill>
                  <a:srgbClr val="EDF4FF"/>
                </a:solidFill>
              </a:rPr>
              <a:t>Conflicting service records</a:t>
            </a:r>
            <a:endParaRPr lang="ko-KR" altLang="en-US" sz="1200" b="1">
              <a:solidFill>
                <a:srgbClr val="EDF4FF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79B327D-39B8-E544-AA7E-9FEDEE65B4E9}"/>
              </a:ext>
            </a:extLst>
          </p:cNvPr>
          <p:cNvSpPr txBox="1"/>
          <p:nvPr/>
        </p:nvSpPr>
        <p:spPr>
          <a:xfrm>
            <a:off x="4572000" y="5384800"/>
            <a:ext cx="673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>
                <a:solidFill>
                  <a:srgbClr val="D6E2F2"/>
                </a:solidFill>
              </a:rPr>
              <a:t>Two writers logging incompatible work on the same bike triggers a dispute window before either entry finalizes.</a:t>
            </a:r>
            <a:endParaRPr lang="ko-KR" altLang="en-US" sz="1100">
              <a:solidFill>
                <a:srgbClr val="D6E2F2"/>
              </a:solidFill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F2DDB251-4CE3-9043-BE54-127AE1D227CA}"/>
              </a:ext>
            </a:extLst>
          </p:cNvPr>
          <p:cNvSpPr/>
          <p:nvPr/>
        </p:nvSpPr>
        <p:spPr>
          <a:xfrm>
            <a:off x="863600" y="5842000"/>
            <a:ext cx="50800" cy="2794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12528E6-CC9F-EF4C-8139-A261C8DBD870}"/>
              </a:ext>
            </a:extLst>
          </p:cNvPr>
          <p:cNvSpPr txBox="1"/>
          <p:nvPr/>
        </p:nvSpPr>
        <p:spPr>
          <a:xfrm>
            <a:off x="1041400" y="5791200"/>
            <a:ext cx="3302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200" b="1">
                <a:solidFill>
                  <a:srgbClr val="EDF4FF"/>
                </a:solidFill>
              </a:rPr>
              <a:t>Cryptographic write authorization</a:t>
            </a:r>
            <a:endParaRPr lang="ko-KR" altLang="en-US" sz="1200" b="1">
              <a:solidFill>
                <a:srgbClr val="EDF4FF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656EE01-7A5A-304D-B784-3679C77FA5EE}"/>
              </a:ext>
            </a:extLst>
          </p:cNvPr>
          <p:cNvSpPr txBox="1"/>
          <p:nvPr/>
        </p:nvSpPr>
        <p:spPr>
          <a:xfrm>
            <a:off x="4572000" y="5791200"/>
            <a:ext cx="6731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>
                <a:solidFill>
                  <a:srgbClr val="D6E2F2"/>
                </a:solidFill>
              </a:rPr>
              <a:t>Only wallets with active stake can write. Stake auto-slashes on confirmed fraud.</a:t>
            </a:r>
            <a:endParaRPr lang="ko-KR" altLang="en-US" sz="1100">
              <a:solidFill>
                <a:srgbClr val="D6E2F2"/>
              </a:solidFill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7CBBE6B4-8823-4349-A6A1-520D7B963E32}"/>
              </a:ext>
            </a:extLst>
          </p:cNvPr>
          <p:cNvSpPr/>
          <p:nvPr/>
        </p:nvSpPr>
        <p:spPr>
          <a:xfrm>
            <a:off x="635000" y="6477000"/>
            <a:ext cx="50800" cy="2794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E8B0152-332D-C947-A3DE-EB8681FBD85F}"/>
              </a:ext>
            </a:extLst>
          </p:cNvPr>
          <p:cNvSpPr txBox="1"/>
          <p:nvPr/>
        </p:nvSpPr>
        <p:spPr>
          <a:xfrm>
            <a:off x="812800" y="65024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300" b="1">
                <a:solidFill>
                  <a:srgbClr val="EDF4FF"/>
                </a:solidFill>
              </a:rPr>
              <a:t>Data integrity isn't a process — it's a contract clause. Bad data can't be written, not just challenged after the fact.</a:t>
            </a:r>
            <a:endParaRPr lang="ko-KR" altLang="en-US" sz="1300" b="1">
              <a:solidFill>
                <a:srgbClr val="EDF4FF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B919751-3E19-B675-37CA-C865EDBACA73}"/>
              </a:ext>
            </a:extLst>
          </p:cNvPr>
          <p:cNvSpPr txBox="1"/>
          <p:nvPr/>
        </p:nvSpPr>
        <p:spPr>
          <a:xfrm>
            <a:off x="9601200" y="6656832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1" i="0">
                <a:solidFill>
                  <a:srgbClr val="9CC6FF"/>
                </a:solidFill>
                <a:latin typeface="Calibri"/>
              </a:rPr>
              <a:t>MotoChain &amp; RideTrue</a:t>
            </a:r>
          </a:p>
        </p:txBody>
      </p:sp>
    </p:spTree>
    <p:extLst>
      <p:ext uri="{BB962C8B-B14F-4D97-AF65-F5344CB8AC3E}">
        <p14:creationId xmlns:p14="http://schemas.microsoft.com/office/powerpoint/2010/main" val="1250382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EF3B6F-EEA1-6342-8355-39FE9A163958}"/>
              </a:ext>
            </a:extLst>
          </p:cNvPr>
          <p:cNvSpPr txBox="1"/>
          <p:nvPr/>
        </p:nvSpPr>
        <p:spPr>
          <a:xfrm>
            <a:off x="635000" y="635000"/>
            <a:ext cx="762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200" b="1">
                <a:solidFill>
                  <a:srgbClr val="A8E89E"/>
                </a:solidFill>
              </a:rPr>
              <a:t>II.2  ·  RIDETRUE  ·  TELEMETRY INTEGRITY</a:t>
            </a:r>
            <a:endParaRPr lang="ko-KR" altLang="en-US" sz="1200" b="1">
              <a:solidFill>
                <a:srgbClr val="A8E89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5B18DB-FCF2-C541-8F2C-652B1EB61538}"/>
              </a:ext>
            </a:extLst>
          </p:cNvPr>
          <p:cNvSpPr txBox="1"/>
          <p:nvPr/>
        </p:nvSpPr>
        <p:spPr>
          <a:xfrm>
            <a:off x="635000" y="990600"/>
            <a:ext cx="1092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2800" b="1">
                <a:solidFill>
                  <a:srgbClr val="EDF4FF"/>
                </a:solidFill>
              </a:rPr>
              <a:t>ZK proves the math. Four defenses prove the inputs.</a:t>
            </a:r>
            <a:endParaRPr lang="ko-KR" altLang="en-US" sz="2800" b="1">
              <a:solidFill>
                <a:srgbClr val="EDF4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2DA79A-98BD-A842-8ED1-D0F8BB9090A3}"/>
              </a:ext>
            </a:extLst>
          </p:cNvPr>
          <p:cNvSpPr txBox="1"/>
          <p:nvPr/>
        </p:nvSpPr>
        <p:spPr>
          <a:xfrm>
            <a:off x="635000" y="1676400"/>
            <a:ext cx="10922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300" i="1">
                <a:solidFill>
                  <a:srgbClr val="B8C8E0"/>
                </a:solidFill>
              </a:rPr>
              <a:t>A ZK proof confirms inputs lead to a score — it cannot confirm those inputs reflect real riding. Anti-spoofing is the design challenge.</a:t>
            </a:r>
            <a:endParaRPr lang="ko-KR" altLang="en-US" sz="1300" i="1">
              <a:solidFill>
                <a:srgbClr val="B8C8E0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339B8B8-0802-2344-980F-1FA2C2CAFE14}"/>
              </a:ext>
            </a:extLst>
          </p:cNvPr>
          <p:cNvSpPr/>
          <p:nvPr/>
        </p:nvSpPr>
        <p:spPr>
          <a:xfrm>
            <a:off x="635000" y="2082800"/>
            <a:ext cx="1092200" cy="50800"/>
          </a:xfrm>
          <a:prstGeom prst="rect">
            <a:avLst/>
          </a:prstGeom>
          <a:solidFill>
            <a:srgbClr val="A8E89E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C982C06-1C06-0740-A2E0-28025E8D186C}"/>
              </a:ext>
            </a:extLst>
          </p:cNvPr>
          <p:cNvSpPr/>
          <p:nvPr/>
        </p:nvSpPr>
        <p:spPr>
          <a:xfrm>
            <a:off x="635000" y="2387600"/>
            <a:ext cx="10922000" cy="558800"/>
          </a:xfrm>
          <a:prstGeom prst="rect">
            <a:avLst/>
          </a:prstGeom>
          <a:solidFill>
            <a:srgbClr val="1A120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8B52BB3-4A32-6C40-8D0A-C5A7DFFE208C}"/>
              </a:ext>
            </a:extLst>
          </p:cNvPr>
          <p:cNvSpPr/>
          <p:nvPr/>
        </p:nvSpPr>
        <p:spPr>
          <a:xfrm>
            <a:off x="635000" y="2387600"/>
            <a:ext cx="50800" cy="558800"/>
          </a:xfrm>
          <a:prstGeom prst="rect">
            <a:avLst/>
          </a:prstGeom>
          <a:solidFill>
            <a:srgbClr val="F4A261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A21C34-FE5A-3148-B4CB-FFC5ECCE08AE}"/>
              </a:ext>
            </a:extLst>
          </p:cNvPr>
          <p:cNvSpPr txBox="1"/>
          <p:nvPr/>
        </p:nvSpPr>
        <p:spPr>
          <a:xfrm>
            <a:off x="863600" y="2413000"/>
            <a:ext cx="2540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 dirty="0">
                <a:solidFill>
                  <a:srgbClr val="F4A261"/>
                </a:solidFill>
              </a:rPr>
              <a:t>THE ATTACK</a:t>
            </a:r>
            <a:endParaRPr lang="ko-KR" altLang="en-US" sz="900" b="1" dirty="0">
              <a:solidFill>
                <a:srgbClr val="F4A26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F6C4F3-66DB-304E-A50D-D887DB787367}"/>
              </a:ext>
            </a:extLst>
          </p:cNvPr>
          <p:cNvSpPr txBox="1"/>
          <p:nvPr/>
        </p:nvSpPr>
        <p:spPr>
          <a:xfrm>
            <a:off x="863600" y="2616200"/>
            <a:ext cx="104140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200" b="1" dirty="0">
                <a:solidFill>
                  <a:srgbClr val="EDF4FF"/>
                </a:solidFill>
              </a:rPr>
              <a:t>Spoof GPS, replay clean rides on a stationary device, or fabricate accelerometer data to earn undeserved premium discounts.</a:t>
            </a:r>
            <a:endParaRPr lang="ko-KR" altLang="en-US" sz="1200" b="1" dirty="0">
              <a:solidFill>
                <a:srgbClr val="EDF4FF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D125D1A5-D1E3-C64D-8D71-6CFB05CED0CA}"/>
              </a:ext>
            </a:extLst>
          </p:cNvPr>
          <p:cNvSpPr/>
          <p:nvPr/>
        </p:nvSpPr>
        <p:spPr>
          <a:xfrm>
            <a:off x="635000" y="3098800"/>
            <a:ext cx="5207000" cy="1549400"/>
          </a:xfrm>
          <a:prstGeom prst="roundRect">
            <a:avLst/>
          </a:prstGeom>
          <a:solidFill>
            <a:srgbClr val="0D1625"/>
          </a:solidFill>
          <a:ln w="12700" cap="flat" cmpd="sng" algn="ctr">
            <a:solidFill>
              <a:srgbClr val="2A5440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DBB4965-9571-A64D-98EA-0119F4ED9658}"/>
              </a:ext>
            </a:extLst>
          </p:cNvPr>
          <p:cNvSpPr/>
          <p:nvPr/>
        </p:nvSpPr>
        <p:spPr>
          <a:xfrm>
            <a:off x="640080" y="3276600"/>
            <a:ext cx="96520" cy="1193800"/>
          </a:xfrm>
          <a:prstGeom prst="rect">
            <a:avLst/>
          </a:prstGeom>
          <a:solidFill>
            <a:srgbClr val="A8E89E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0AB973-5C45-CA4D-8D1A-CD6AAEA68E1C}"/>
              </a:ext>
            </a:extLst>
          </p:cNvPr>
          <p:cNvSpPr txBox="1"/>
          <p:nvPr/>
        </p:nvSpPr>
        <p:spPr>
          <a:xfrm>
            <a:off x="863600" y="32512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2800" b="1">
                <a:solidFill>
                  <a:srgbClr val="A8E89E"/>
                </a:solidFill>
              </a:rPr>
              <a:t>1</a:t>
            </a:r>
            <a:endParaRPr lang="ko-KR" altLang="en-US" sz="2800" b="1">
              <a:solidFill>
                <a:srgbClr val="A8E89E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291F5E-FB47-674D-AB2E-E14FEEC8AC39}"/>
              </a:ext>
            </a:extLst>
          </p:cNvPr>
          <p:cNvSpPr txBox="1"/>
          <p:nvPr/>
        </p:nvSpPr>
        <p:spPr>
          <a:xfrm>
            <a:off x="1447800" y="3276600"/>
            <a:ext cx="4191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A8E89E"/>
                </a:solidFill>
              </a:rPr>
              <a:t>HARDWARE ATTESTATION</a:t>
            </a:r>
            <a:endParaRPr lang="ko-KR" altLang="en-US" sz="900" b="1">
              <a:solidFill>
                <a:srgbClr val="A8E89E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7183EF-8F70-314D-8EC2-41906953CB50}"/>
              </a:ext>
            </a:extLst>
          </p:cNvPr>
          <p:cNvSpPr txBox="1"/>
          <p:nvPr/>
        </p:nvSpPr>
        <p:spPr>
          <a:xfrm>
            <a:off x="1447800" y="3454400"/>
            <a:ext cx="4191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400" b="1">
                <a:solidFill>
                  <a:srgbClr val="EDF4FF"/>
                </a:solidFill>
              </a:rPr>
              <a:t>Prove the device is real</a:t>
            </a:r>
            <a:endParaRPr lang="ko-KR" altLang="en-US" sz="1400" b="1">
              <a:solidFill>
                <a:srgbClr val="EDF4F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FDC3653-84B3-D240-B3BF-06227AC46BFF}"/>
              </a:ext>
            </a:extLst>
          </p:cNvPr>
          <p:cNvSpPr txBox="1"/>
          <p:nvPr/>
        </p:nvSpPr>
        <p:spPr>
          <a:xfrm>
            <a:off x="1447800" y="3784600"/>
            <a:ext cx="41910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>
                <a:solidFill>
                  <a:srgbClr val="D6E2F2"/>
                </a:solidFill>
              </a:rPr>
              <a:t>Android Play Integrity, iOS DeviceCheck and App Attest confirm telemetry came from a genuine, uncompromised device running the official app.</a:t>
            </a:r>
            <a:endParaRPr lang="ko-KR" altLang="en-US" sz="1100">
              <a:solidFill>
                <a:srgbClr val="D6E2F2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6AD0E46A-65D8-0341-AAF1-D10709549154}"/>
              </a:ext>
            </a:extLst>
          </p:cNvPr>
          <p:cNvSpPr/>
          <p:nvPr/>
        </p:nvSpPr>
        <p:spPr>
          <a:xfrm>
            <a:off x="6350000" y="3098800"/>
            <a:ext cx="5207000" cy="1549400"/>
          </a:xfrm>
          <a:prstGeom prst="roundRect">
            <a:avLst/>
          </a:prstGeom>
          <a:solidFill>
            <a:srgbClr val="0D1625"/>
          </a:solidFill>
          <a:ln w="12700" cap="flat" cmpd="sng" algn="ctr">
            <a:solidFill>
              <a:srgbClr val="2A5440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22DD11D-47C1-C145-938B-BD9D8530418E}"/>
              </a:ext>
            </a:extLst>
          </p:cNvPr>
          <p:cNvSpPr/>
          <p:nvPr/>
        </p:nvSpPr>
        <p:spPr>
          <a:xfrm>
            <a:off x="6355080" y="3276600"/>
            <a:ext cx="96520" cy="1193800"/>
          </a:xfrm>
          <a:prstGeom prst="rect">
            <a:avLst/>
          </a:prstGeom>
          <a:solidFill>
            <a:srgbClr val="A8E89E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437FAD0-BA82-6F4F-B760-B85A9A61DA6F}"/>
              </a:ext>
            </a:extLst>
          </p:cNvPr>
          <p:cNvSpPr txBox="1"/>
          <p:nvPr/>
        </p:nvSpPr>
        <p:spPr>
          <a:xfrm>
            <a:off x="6578600" y="32512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2800" b="1">
                <a:solidFill>
                  <a:srgbClr val="A8E89E"/>
                </a:solidFill>
              </a:rPr>
              <a:t>2</a:t>
            </a:r>
            <a:endParaRPr lang="ko-KR" altLang="en-US" sz="2800" b="1">
              <a:solidFill>
                <a:srgbClr val="A8E89E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49C0E9-B039-704B-9E4F-1B3D9C78CEFC}"/>
              </a:ext>
            </a:extLst>
          </p:cNvPr>
          <p:cNvSpPr txBox="1"/>
          <p:nvPr/>
        </p:nvSpPr>
        <p:spPr>
          <a:xfrm>
            <a:off x="7162800" y="3276600"/>
            <a:ext cx="4191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A8E89E"/>
                </a:solidFill>
              </a:rPr>
              <a:t>SENSOR FUSION</a:t>
            </a:r>
            <a:endParaRPr lang="ko-KR" altLang="en-US" sz="900" b="1">
              <a:solidFill>
                <a:srgbClr val="A8E89E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5599A1-D704-2B4F-8748-CC2ED37D50FB}"/>
              </a:ext>
            </a:extLst>
          </p:cNvPr>
          <p:cNvSpPr txBox="1"/>
          <p:nvPr/>
        </p:nvSpPr>
        <p:spPr>
          <a:xfrm>
            <a:off x="7162800" y="3454400"/>
            <a:ext cx="4191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400" b="1">
                <a:solidFill>
                  <a:srgbClr val="EDF4FF"/>
                </a:solidFill>
              </a:rPr>
              <a:t>Make spoofing combinatorially hard</a:t>
            </a:r>
            <a:endParaRPr lang="ko-KR" altLang="en-US" sz="1400" b="1">
              <a:solidFill>
                <a:srgbClr val="EDF4FF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E29D13C-245C-A440-8B77-2A6EFFEE5064}"/>
              </a:ext>
            </a:extLst>
          </p:cNvPr>
          <p:cNvSpPr txBox="1"/>
          <p:nvPr/>
        </p:nvSpPr>
        <p:spPr>
          <a:xfrm>
            <a:off x="7162800" y="3784600"/>
            <a:ext cx="41910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>
                <a:solidFill>
                  <a:srgbClr val="D6E2F2"/>
                </a:solidFill>
              </a:rPr>
              <a:t>Reconstruct behavior from GPS, accelerometer, gyroscope, magnetometer, and where available, OBD/ECU. A spoofer must forge all of them consistently.</a:t>
            </a:r>
            <a:endParaRPr lang="ko-KR" altLang="en-US" sz="1100">
              <a:solidFill>
                <a:srgbClr val="D6E2F2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83F40BEC-D4AC-0549-8840-200E6FA2C61F}"/>
              </a:ext>
            </a:extLst>
          </p:cNvPr>
          <p:cNvSpPr/>
          <p:nvPr/>
        </p:nvSpPr>
        <p:spPr>
          <a:xfrm>
            <a:off x="635000" y="4851400"/>
            <a:ext cx="5207000" cy="1549400"/>
          </a:xfrm>
          <a:prstGeom prst="roundRect">
            <a:avLst/>
          </a:prstGeom>
          <a:solidFill>
            <a:srgbClr val="0D1625"/>
          </a:solidFill>
          <a:ln w="12700" cap="flat" cmpd="sng" algn="ctr">
            <a:solidFill>
              <a:srgbClr val="2A5440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D8748F44-9D3F-B045-940C-F9D606BC1E74}"/>
              </a:ext>
            </a:extLst>
          </p:cNvPr>
          <p:cNvSpPr/>
          <p:nvPr/>
        </p:nvSpPr>
        <p:spPr>
          <a:xfrm>
            <a:off x="640080" y="5029200"/>
            <a:ext cx="96520" cy="1193800"/>
          </a:xfrm>
          <a:prstGeom prst="rect">
            <a:avLst/>
          </a:prstGeom>
          <a:solidFill>
            <a:srgbClr val="A8E89E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AAA5483-24A0-504E-ADF9-D9DF1BED7A58}"/>
              </a:ext>
            </a:extLst>
          </p:cNvPr>
          <p:cNvSpPr txBox="1"/>
          <p:nvPr/>
        </p:nvSpPr>
        <p:spPr>
          <a:xfrm>
            <a:off x="863600" y="50038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2800" b="1">
                <a:solidFill>
                  <a:srgbClr val="A8E89E"/>
                </a:solidFill>
              </a:rPr>
              <a:t>3</a:t>
            </a:r>
            <a:endParaRPr lang="ko-KR" altLang="en-US" sz="2800" b="1">
              <a:solidFill>
                <a:srgbClr val="A8E89E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4EDCF77-466A-4B42-B9E8-CC849419C766}"/>
              </a:ext>
            </a:extLst>
          </p:cNvPr>
          <p:cNvSpPr txBox="1"/>
          <p:nvPr/>
        </p:nvSpPr>
        <p:spPr>
          <a:xfrm>
            <a:off x="1447800" y="5029200"/>
            <a:ext cx="4191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A8E89E"/>
                </a:solidFill>
              </a:rPr>
              <a:t>STATISTICAL ANOMALY</a:t>
            </a:r>
            <a:endParaRPr lang="ko-KR" altLang="en-US" sz="900" b="1">
              <a:solidFill>
                <a:srgbClr val="A8E89E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A8C22CD-E9F6-1C45-80B9-8F5DD6F0C09A}"/>
              </a:ext>
            </a:extLst>
          </p:cNvPr>
          <p:cNvSpPr txBox="1"/>
          <p:nvPr/>
        </p:nvSpPr>
        <p:spPr>
          <a:xfrm>
            <a:off x="1447800" y="5207000"/>
            <a:ext cx="4191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400" b="1">
                <a:solidFill>
                  <a:srgbClr val="EDF4FF"/>
                </a:solidFill>
              </a:rPr>
              <a:t>Catch what doesn't add up</a:t>
            </a:r>
            <a:endParaRPr lang="ko-KR" altLang="en-US" sz="1400" b="1">
              <a:solidFill>
                <a:srgbClr val="EDF4FF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B8DB834-8E38-CA44-9896-328EDA79DA65}"/>
              </a:ext>
            </a:extLst>
          </p:cNvPr>
          <p:cNvSpPr txBox="1"/>
          <p:nvPr/>
        </p:nvSpPr>
        <p:spPr>
          <a:xfrm>
            <a:off x="1447800" y="5537200"/>
            <a:ext cx="41910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>
                <a:solidFill>
                  <a:srgbClr val="D6E2F2"/>
                </a:solidFill>
              </a:rPr>
              <a:t>Per-rider baseline flags physically implausible trajectories or accelerometer signatures inconsistent with reported speed. Flagged rides exit scoring.</a:t>
            </a:r>
            <a:endParaRPr lang="ko-KR" altLang="en-US" sz="1100">
              <a:solidFill>
                <a:srgbClr val="D6E2F2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45C1ACF0-ABEA-004F-8BC6-61D0481F3F22}"/>
              </a:ext>
            </a:extLst>
          </p:cNvPr>
          <p:cNvSpPr/>
          <p:nvPr/>
        </p:nvSpPr>
        <p:spPr>
          <a:xfrm>
            <a:off x="6350000" y="4851400"/>
            <a:ext cx="5207000" cy="1549400"/>
          </a:xfrm>
          <a:prstGeom prst="roundRect">
            <a:avLst/>
          </a:prstGeom>
          <a:solidFill>
            <a:srgbClr val="0D1625"/>
          </a:solidFill>
          <a:ln w="12700" cap="flat" cmpd="sng" algn="ctr">
            <a:solidFill>
              <a:srgbClr val="2A5440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5445B494-4539-0B43-A681-DFA3780661A7}"/>
              </a:ext>
            </a:extLst>
          </p:cNvPr>
          <p:cNvSpPr/>
          <p:nvPr/>
        </p:nvSpPr>
        <p:spPr>
          <a:xfrm>
            <a:off x="6355080" y="5029200"/>
            <a:ext cx="96520" cy="1193800"/>
          </a:xfrm>
          <a:prstGeom prst="rect">
            <a:avLst/>
          </a:prstGeom>
          <a:solidFill>
            <a:srgbClr val="A8E89E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1D2FC18-31BC-3F42-92BA-C72965114A3B}"/>
              </a:ext>
            </a:extLst>
          </p:cNvPr>
          <p:cNvSpPr txBox="1"/>
          <p:nvPr/>
        </p:nvSpPr>
        <p:spPr>
          <a:xfrm>
            <a:off x="6578600" y="50038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2800" b="1">
                <a:solidFill>
                  <a:srgbClr val="A8E89E"/>
                </a:solidFill>
              </a:rPr>
              <a:t>4</a:t>
            </a:r>
            <a:endParaRPr lang="ko-KR" altLang="en-US" sz="2800" b="1">
              <a:solidFill>
                <a:srgbClr val="A8E89E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B6D02D4-73CE-5446-9D43-9274C60FECCC}"/>
              </a:ext>
            </a:extLst>
          </p:cNvPr>
          <p:cNvSpPr txBox="1"/>
          <p:nvPr/>
        </p:nvSpPr>
        <p:spPr>
          <a:xfrm>
            <a:off x="7162800" y="5029200"/>
            <a:ext cx="4191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A8E89E"/>
                </a:solidFill>
              </a:rPr>
              <a:t>SAMPLING &amp; CHALLENGE</a:t>
            </a:r>
            <a:endParaRPr lang="ko-KR" altLang="en-US" sz="900" b="1">
              <a:solidFill>
                <a:srgbClr val="A8E89E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380DD4A-D17C-7A4A-A267-D367B8CF8D51}"/>
              </a:ext>
            </a:extLst>
          </p:cNvPr>
          <p:cNvSpPr txBox="1"/>
          <p:nvPr/>
        </p:nvSpPr>
        <p:spPr>
          <a:xfrm>
            <a:off x="7162800" y="5207000"/>
            <a:ext cx="4191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400" b="1">
                <a:solidFill>
                  <a:srgbClr val="EDF4FF"/>
                </a:solidFill>
              </a:rPr>
              <a:t>Verify a random subset</a:t>
            </a:r>
            <a:endParaRPr lang="ko-KR" altLang="en-US" sz="1400" b="1">
              <a:solidFill>
                <a:srgbClr val="EDF4FF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F032458-AA54-A64B-BE90-06386AF19DDF}"/>
              </a:ext>
            </a:extLst>
          </p:cNvPr>
          <p:cNvSpPr txBox="1"/>
          <p:nvPr/>
        </p:nvSpPr>
        <p:spPr>
          <a:xfrm>
            <a:off x="7162800" y="5537200"/>
            <a:ext cx="41910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>
                <a:solidFill>
                  <a:srgbClr val="D6E2F2"/>
                </a:solidFill>
              </a:rPr>
              <a:t>Random rides cross-checked against cell-tower triangulation, third-party traffic data, and paired hardware tokens on the bike for a Verified Rider tier.</a:t>
            </a:r>
            <a:endParaRPr lang="ko-KR" altLang="en-US" sz="1100">
              <a:solidFill>
                <a:srgbClr val="D6E2F2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0CC7EE58-3F4C-3F48-BDBF-498293DECBF7}"/>
              </a:ext>
            </a:extLst>
          </p:cNvPr>
          <p:cNvSpPr/>
          <p:nvPr/>
        </p:nvSpPr>
        <p:spPr>
          <a:xfrm>
            <a:off x="635000" y="6477000"/>
            <a:ext cx="50800" cy="279400"/>
          </a:xfrm>
          <a:prstGeom prst="rect">
            <a:avLst/>
          </a:prstGeom>
          <a:solidFill>
            <a:srgbClr val="A8E89E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03A6BE-6890-0342-9B4B-6D6C5A946C23}"/>
              </a:ext>
            </a:extLst>
          </p:cNvPr>
          <p:cNvSpPr txBox="1"/>
          <p:nvPr/>
        </p:nvSpPr>
        <p:spPr>
          <a:xfrm>
            <a:off x="812800" y="65024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300" b="1">
                <a:solidFill>
                  <a:srgbClr val="EDF4FF"/>
                </a:solidFill>
              </a:rPr>
              <a:t>Not absolute. The goal is to make spoofing economically irrational: detection × penalty &gt; expected payoff.</a:t>
            </a:r>
            <a:endParaRPr lang="ko-KR" altLang="en-US" sz="1300" b="1">
              <a:solidFill>
                <a:srgbClr val="EDF4FF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E36D5DA-E434-E263-87FD-3323955924CC}"/>
              </a:ext>
            </a:extLst>
          </p:cNvPr>
          <p:cNvSpPr txBox="1"/>
          <p:nvPr/>
        </p:nvSpPr>
        <p:spPr>
          <a:xfrm>
            <a:off x="9601200" y="6656832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1" i="0">
                <a:solidFill>
                  <a:srgbClr val="9CC6FF"/>
                </a:solidFill>
                <a:latin typeface="Calibri"/>
              </a:rPr>
              <a:t>MotoChain &amp; RideTrue</a:t>
            </a:r>
          </a:p>
        </p:txBody>
      </p:sp>
    </p:spTree>
    <p:extLst>
      <p:ext uri="{BB962C8B-B14F-4D97-AF65-F5344CB8AC3E}">
        <p14:creationId xmlns:p14="http://schemas.microsoft.com/office/powerpoint/2010/main" val="29057267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347BFD-E489-B44F-A17E-8410B3C5167E}"/>
              </a:ext>
            </a:extLst>
          </p:cNvPr>
          <p:cNvSpPr txBox="1"/>
          <p:nvPr/>
        </p:nvSpPr>
        <p:spPr>
          <a:xfrm>
            <a:off x="635000" y="635000"/>
            <a:ext cx="762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200" b="1">
                <a:solidFill>
                  <a:srgbClr val="9CC6FF"/>
                </a:solidFill>
              </a:rPr>
              <a:t>II.2  ·  ORACLES, CLAIMS &amp; COMPOSABILITY</a:t>
            </a:r>
            <a:endParaRPr lang="ko-KR" altLang="en-US" sz="1200" b="1">
              <a:solidFill>
                <a:srgbClr val="9CC6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BE1200-133F-DA40-9C18-D75BA29D6D6C}"/>
              </a:ext>
            </a:extLst>
          </p:cNvPr>
          <p:cNvSpPr txBox="1"/>
          <p:nvPr/>
        </p:nvSpPr>
        <p:spPr>
          <a:xfrm>
            <a:off x="635000" y="990600"/>
            <a:ext cx="1092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3000" b="1">
                <a:solidFill>
                  <a:srgbClr val="EDF4FF"/>
                </a:solidFill>
              </a:rPr>
              <a:t>Where off-chain reality meets on-chain execution</a:t>
            </a:r>
            <a:endParaRPr lang="ko-KR" altLang="en-US" sz="3000" b="1">
              <a:solidFill>
                <a:srgbClr val="EDF4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2BB9A8-D62E-3B4A-B26F-C01C2700E668}"/>
              </a:ext>
            </a:extLst>
          </p:cNvPr>
          <p:cNvSpPr txBox="1"/>
          <p:nvPr/>
        </p:nvSpPr>
        <p:spPr>
          <a:xfrm>
            <a:off x="635000" y="1676400"/>
            <a:ext cx="10922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300" i="1">
                <a:solidFill>
                  <a:srgbClr val="B8C8E0"/>
                </a:solidFill>
              </a:rPr>
              <a:t>Claims, repair confirmations, and idle capital all require trust-minimized bridges to the outside world.</a:t>
            </a:r>
            <a:endParaRPr lang="ko-KR" altLang="en-US" sz="1300" i="1">
              <a:solidFill>
                <a:srgbClr val="B8C8E0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2FADBB9-BAF6-EF45-A39D-DC3CF8070B5D}"/>
              </a:ext>
            </a:extLst>
          </p:cNvPr>
          <p:cNvSpPr/>
          <p:nvPr/>
        </p:nvSpPr>
        <p:spPr>
          <a:xfrm>
            <a:off x="635000" y="2082800"/>
            <a:ext cx="1092200" cy="508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BB2628-58EA-3A4B-921B-8284180A3559}"/>
              </a:ext>
            </a:extLst>
          </p:cNvPr>
          <p:cNvSpPr txBox="1"/>
          <p:nvPr/>
        </p:nvSpPr>
        <p:spPr>
          <a:xfrm>
            <a:off x="635000" y="2387600"/>
            <a:ext cx="6350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7E94B0"/>
                </a:solidFill>
              </a:rPr>
              <a:t>CLAIMS LIFECYCLE — RIDER FILES TO PAYOUT</a:t>
            </a:r>
            <a:endParaRPr lang="ko-KR" altLang="en-US" sz="900" b="1">
              <a:solidFill>
                <a:srgbClr val="7E94B0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5B630E0-FB64-C446-ADA6-E67C7BCFE8BD}"/>
              </a:ext>
            </a:extLst>
          </p:cNvPr>
          <p:cNvSpPr/>
          <p:nvPr/>
        </p:nvSpPr>
        <p:spPr>
          <a:xfrm>
            <a:off x="635000" y="2641600"/>
            <a:ext cx="2540000" cy="1117600"/>
          </a:xfrm>
          <a:prstGeom prst="roundRect">
            <a:avLst/>
          </a:prstGeom>
          <a:solidFill>
            <a:srgbClr val="0D1625"/>
          </a:solidFill>
          <a:ln w="12700" cap="flat" cmpd="sng" algn="ctr">
            <a:solidFill>
              <a:srgbClr val="1F406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B50009E-7705-6445-9414-DF7D4E4FE2BB}"/>
              </a:ext>
            </a:extLst>
          </p:cNvPr>
          <p:cNvSpPr/>
          <p:nvPr/>
        </p:nvSpPr>
        <p:spPr>
          <a:xfrm>
            <a:off x="627381" y="2768600"/>
            <a:ext cx="45719" cy="8128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4C38B0-75BA-E143-834E-11F274916C08}"/>
              </a:ext>
            </a:extLst>
          </p:cNvPr>
          <p:cNvSpPr txBox="1"/>
          <p:nvPr/>
        </p:nvSpPr>
        <p:spPr>
          <a:xfrm>
            <a:off x="812800" y="2743200"/>
            <a:ext cx="3556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400" b="1">
                <a:solidFill>
                  <a:srgbClr val="4AA3FF"/>
                </a:solidFill>
              </a:rPr>
              <a:t>1</a:t>
            </a:r>
            <a:endParaRPr lang="ko-KR" altLang="en-US" sz="1400" b="1">
              <a:solidFill>
                <a:srgbClr val="4AA3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DFCF32-0FB9-8141-8C06-888D8A322FEF}"/>
              </a:ext>
            </a:extLst>
          </p:cNvPr>
          <p:cNvSpPr txBox="1"/>
          <p:nvPr/>
        </p:nvSpPr>
        <p:spPr>
          <a:xfrm>
            <a:off x="1168400" y="2768600"/>
            <a:ext cx="18288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600" b="1">
                <a:solidFill>
                  <a:srgbClr val="EDF4FF"/>
                </a:solidFill>
              </a:rPr>
              <a:t>File</a:t>
            </a:r>
            <a:endParaRPr lang="ko-KR" altLang="en-US" sz="1600" b="1">
              <a:solidFill>
                <a:srgbClr val="EDF4F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9B56A1-2E26-2941-9118-B4C092FC16BB}"/>
              </a:ext>
            </a:extLst>
          </p:cNvPr>
          <p:cNvSpPr txBox="1"/>
          <p:nvPr/>
        </p:nvSpPr>
        <p:spPr>
          <a:xfrm>
            <a:off x="812800" y="3098800"/>
            <a:ext cx="2184400" cy="609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000">
                <a:solidFill>
                  <a:srgbClr val="D6E2F2"/>
                </a:solidFill>
              </a:rPr>
              <a:t>Rider submits via app (abstracted wallet, no gas concerns).</a:t>
            </a:r>
            <a:endParaRPr lang="ko-KR" altLang="en-US" sz="1000">
              <a:solidFill>
                <a:srgbClr val="D6E2F2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21BFF2A4-B025-604B-94E5-02063D532919}"/>
              </a:ext>
            </a:extLst>
          </p:cNvPr>
          <p:cNvSpPr/>
          <p:nvPr/>
        </p:nvSpPr>
        <p:spPr>
          <a:xfrm>
            <a:off x="3454400" y="2641600"/>
            <a:ext cx="2540000" cy="1117600"/>
          </a:xfrm>
          <a:prstGeom prst="roundRect">
            <a:avLst/>
          </a:prstGeom>
          <a:solidFill>
            <a:srgbClr val="0D1625"/>
          </a:solidFill>
          <a:ln w="12700" cap="flat" cmpd="sng" algn="ctr">
            <a:solidFill>
              <a:srgbClr val="1F406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5FB8967-D82D-5B40-B5EF-85FC61FE3553}"/>
              </a:ext>
            </a:extLst>
          </p:cNvPr>
          <p:cNvSpPr/>
          <p:nvPr/>
        </p:nvSpPr>
        <p:spPr>
          <a:xfrm>
            <a:off x="3446781" y="2768600"/>
            <a:ext cx="45719" cy="8128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4166EA-A7C2-DC47-9C58-8D64CB389222}"/>
              </a:ext>
            </a:extLst>
          </p:cNvPr>
          <p:cNvSpPr txBox="1"/>
          <p:nvPr/>
        </p:nvSpPr>
        <p:spPr>
          <a:xfrm>
            <a:off x="3632200" y="2743200"/>
            <a:ext cx="3556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400" b="1">
                <a:solidFill>
                  <a:srgbClr val="4AA3FF"/>
                </a:solidFill>
              </a:rPr>
              <a:t>2</a:t>
            </a:r>
            <a:endParaRPr lang="ko-KR" altLang="en-US" sz="1400" b="1">
              <a:solidFill>
                <a:srgbClr val="4AA3F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119B23-3B2F-0D4D-A728-E2176931E847}"/>
              </a:ext>
            </a:extLst>
          </p:cNvPr>
          <p:cNvSpPr txBox="1"/>
          <p:nvPr/>
        </p:nvSpPr>
        <p:spPr>
          <a:xfrm>
            <a:off x="3987800" y="2768600"/>
            <a:ext cx="18288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600" b="1">
                <a:solidFill>
                  <a:srgbClr val="EDF4FF"/>
                </a:solidFill>
              </a:rPr>
              <a:t>Aggregate</a:t>
            </a:r>
            <a:endParaRPr lang="ko-KR" altLang="en-US" sz="1600" b="1">
              <a:solidFill>
                <a:srgbClr val="EDF4FF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0CBE99-908F-844C-9A47-5A21A7CE3100}"/>
              </a:ext>
            </a:extLst>
          </p:cNvPr>
          <p:cNvSpPr txBox="1"/>
          <p:nvPr/>
        </p:nvSpPr>
        <p:spPr>
          <a:xfrm>
            <a:off x="3632200" y="3098800"/>
            <a:ext cx="2184400" cy="609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000">
                <a:solidFill>
                  <a:srgbClr val="D6E2F2"/>
                </a:solidFill>
              </a:rPr>
              <a:t>Decentralized oracles pull from repair shops, insurers, public records.</a:t>
            </a:r>
            <a:endParaRPr lang="ko-KR" altLang="en-US" sz="1000">
              <a:solidFill>
                <a:srgbClr val="D6E2F2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2070FE43-946F-1443-852E-3153D518D995}"/>
              </a:ext>
            </a:extLst>
          </p:cNvPr>
          <p:cNvSpPr/>
          <p:nvPr/>
        </p:nvSpPr>
        <p:spPr>
          <a:xfrm>
            <a:off x="6273800" y="2641600"/>
            <a:ext cx="2540000" cy="1117600"/>
          </a:xfrm>
          <a:prstGeom prst="roundRect">
            <a:avLst/>
          </a:prstGeom>
          <a:solidFill>
            <a:srgbClr val="0D1625"/>
          </a:solidFill>
          <a:ln w="12700" cap="flat" cmpd="sng" algn="ctr">
            <a:solidFill>
              <a:srgbClr val="1F406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9F0E0ED-F516-BD4B-9066-3FA6B16FCAE2}"/>
              </a:ext>
            </a:extLst>
          </p:cNvPr>
          <p:cNvSpPr/>
          <p:nvPr/>
        </p:nvSpPr>
        <p:spPr>
          <a:xfrm>
            <a:off x="6266181" y="2768600"/>
            <a:ext cx="45719" cy="8128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657950-B6BD-4E41-9BB9-7180556056DF}"/>
              </a:ext>
            </a:extLst>
          </p:cNvPr>
          <p:cNvSpPr txBox="1"/>
          <p:nvPr/>
        </p:nvSpPr>
        <p:spPr>
          <a:xfrm>
            <a:off x="6451600" y="2743200"/>
            <a:ext cx="3556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400" b="1">
                <a:solidFill>
                  <a:srgbClr val="4AA3FF"/>
                </a:solidFill>
              </a:rPr>
              <a:t>3</a:t>
            </a:r>
            <a:endParaRPr lang="ko-KR" altLang="en-US" sz="1400" b="1">
              <a:solidFill>
                <a:srgbClr val="4AA3FF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E4DAAC-AA16-054F-B3C8-7F4D07064EC3}"/>
              </a:ext>
            </a:extLst>
          </p:cNvPr>
          <p:cNvSpPr txBox="1"/>
          <p:nvPr/>
        </p:nvSpPr>
        <p:spPr>
          <a:xfrm>
            <a:off x="6807200" y="2768600"/>
            <a:ext cx="18288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600" b="1">
                <a:solidFill>
                  <a:srgbClr val="EDF4FF"/>
                </a:solidFill>
              </a:rPr>
              <a:t>Consensus</a:t>
            </a:r>
            <a:endParaRPr lang="ko-KR" altLang="en-US" sz="1600" b="1">
              <a:solidFill>
                <a:srgbClr val="EDF4FF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19AEF6-EBAF-8F40-B3EE-28E9C6113756}"/>
              </a:ext>
            </a:extLst>
          </p:cNvPr>
          <p:cNvSpPr txBox="1"/>
          <p:nvPr/>
        </p:nvSpPr>
        <p:spPr>
          <a:xfrm>
            <a:off x="6451600" y="3098800"/>
            <a:ext cx="2184400" cy="609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000">
                <a:solidFill>
                  <a:srgbClr val="D6E2F2"/>
                </a:solidFill>
              </a:rPr>
              <a:t>Multiple independent sources must agree before validity is established.</a:t>
            </a:r>
            <a:endParaRPr lang="ko-KR" altLang="en-US" sz="1000">
              <a:solidFill>
                <a:srgbClr val="D6E2F2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5E6C1EBC-62D0-2346-A616-3DA8D3F51308}"/>
              </a:ext>
            </a:extLst>
          </p:cNvPr>
          <p:cNvSpPr/>
          <p:nvPr/>
        </p:nvSpPr>
        <p:spPr>
          <a:xfrm>
            <a:off x="9093200" y="2641600"/>
            <a:ext cx="2540000" cy="1117600"/>
          </a:xfrm>
          <a:prstGeom prst="roundRect">
            <a:avLst/>
          </a:prstGeom>
          <a:solidFill>
            <a:srgbClr val="0D1625"/>
          </a:solidFill>
          <a:ln w="12700" cap="flat" cmpd="sng" algn="ctr">
            <a:solidFill>
              <a:srgbClr val="1F406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493C87D-41F9-9649-98D2-F5E1835D23C2}"/>
              </a:ext>
            </a:extLst>
          </p:cNvPr>
          <p:cNvSpPr/>
          <p:nvPr/>
        </p:nvSpPr>
        <p:spPr>
          <a:xfrm>
            <a:off x="9085581" y="2768600"/>
            <a:ext cx="45719" cy="8128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4A6E587-80EF-4F4B-AFF6-B6AE33942356}"/>
              </a:ext>
            </a:extLst>
          </p:cNvPr>
          <p:cNvSpPr txBox="1"/>
          <p:nvPr/>
        </p:nvSpPr>
        <p:spPr>
          <a:xfrm>
            <a:off x="9271000" y="2743200"/>
            <a:ext cx="3556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400" b="1">
                <a:solidFill>
                  <a:srgbClr val="4AA3FF"/>
                </a:solidFill>
              </a:rPr>
              <a:t>4</a:t>
            </a:r>
            <a:endParaRPr lang="ko-KR" altLang="en-US" sz="1400" b="1">
              <a:solidFill>
                <a:srgbClr val="4AA3FF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4BD7D2-D615-C649-8810-D867089F31B1}"/>
              </a:ext>
            </a:extLst>
          </p:cNvPr>
          <p:cNvSpPr txBox="1"/>
          <p:nvPr/>
        </p:nvSpPr>
        <p:spPr>
          <a:xfrm>
            <a:off x="9626600" y="2768600"/>
            <a:ext cx="18288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600" b="1">
                <a:solidFill>
                  <a:srgbClr val="EDF4FF"/>
                </a:solidFill>
              </a:rPr>
              <a:t>Execute or Escalate</a:t>
            </a:r>
            <a:endParaRPr lang="ko-KR" altLang="en-US" sz="1600" b="1">
              <a:solidFill>
                <a:srgbClr val="EDF4FF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9AA5CB9-64EA-174B-9DEC-DA2BE33101B0}"/>
              </a:ext>
            </a:extLst>
          </p:cNvPr>
          <p:cNvSpPr txBox="1"/>
          <p:nvPr/>
        </p:nvSpPr>
        <p:spPr>
          <a:xfrm>
            <a:off x="9271000" y="3098800"/>
            <a:ext cx="2184400" cy="609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000">
                <a:solidFill>
                  <a:srgbClr val="D6E2F2"/>
                </a:solidFill>
              </a:rPr>
              <a:t>Smart contract pays out — or routes disputed claims to arbitration.</a:t>
            </a:r>
            <a:endParaRPr lang="ko-KR" altLang="en-US" sz="1000">
              <a:solidFill>
                <a:srgbClr val="D6E2F2"/>
              </a:solidFill>
            </a:endParaRPr>
          </a:p>
        </p:txBody>
      </p:sp>
      <p:sp>
        <p:nvSpPr>
          <p:cNvPr id="27" name="오른쪽 화살표[R] 26">
            <a:extLst>
              <a:ext uri="{FF2B5EF4-FFF2-40B4-BE49-F238E27FC236}">
                <a16:creationId xmlns:a16="http://schemas.microsoft.com/office/drawing/2014/main" id="{836937FD-DBA0-5345-81ED-1517EF9678F9}"/>
              </a:ext>
            </a:extLst>
          </p:cNvPr>
          <p:cNvSpPr/>
          <p:nvPr/>
        </p:nvSpPr>
        <p:spPr>
          <a:xfrm>
            <a:off x="3200400" y="3098800"/>
            <a:ext cx="152400" cy="203200"/>
          </a:xfrm>
          <a:prstGeom prst="rightArrow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8" name="오른쪽 화살표[R] 27">
            <a:extLst>
              <a:ext uri="{FF2B5EF4-FFF2-40B4-BE49-F238E27FC236}">
                <a16:creationId xmlns:a16="http://schemas.microsoft.com/office/drawing/2014/main" id="{96889DA4-664C-1B46-B78A-FB0C1460535F}"/>
              </a:ext>
            </a:extLst>
          </p:cNvPr>
          <p:cNvSpPr/>
          <p:nvPr/>
        </p:nvSpPr>
        <p:spPr>
          <a:xfrm>
            <a:off x="6019800" y="3098800"/>
            <a:ext cx="152400" cy="203200"/>
          </a:xfrm>
          <a:prstGeom prst="rightArrow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오른쪽 화살표[R] 28">
            <a:extLst>
              <a:ext uri="{FF2B5EF4-FFF2-40B4-BE49-F238E27FC236}">
                <a16:creationId xmlns:a16="http://schemas.microsoft.com/office/drawing/2014/main" id="{3228D4A7-7FFB-FD45-BAE6-A0CA2ADB8985}"/>
              </a:ext>
            </a:extLst>
          </p:cNvPr>
          <p:cNvSpPr/>
          <p:nvPr/>
        </p:nvSpPr>
        <p:spPr>
          <a:xfrm>
            <a:off x="8839200" y="3098800"/>
            <a:ext cx="152400" cy="203200"/>
          </a:xfrm>
          <a:prstGeom prst="rightArrow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9061AAC6-14E5-0641-9D98-980921E76BEB}"/>
              </a:ext>
            </a:extLst>
          </p:cNvPr>
          <p:cNvSpPr/>
          <p:nvPr/>
        </p:nvSpPr>
        <p:spPr>
          <a:xfrm>
            <a:off x="635000" y="3987800"/>
            <a:ext cx="5270500" cy="2286000"/>
          </a:xfrm>
          <a:prstGeom prst="rect">
            <a:avLst/>
          </a:prstGeom>
          <a:solidFill>
            <a:srgbClr val="0A122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23AE8D9F-3A39-864B-BB4B-A4474C5A8DFE}"/>
              </a:ext>
            </a:extLst>
          </p:cNvPr>
          <p:cNvSpPr/>
          <p:nvPr/>
        </p:nvSpPr>
        <p:spPr>
          <a:xfrm>
            <a:off x="635000" y="3987800"/>
            <a:ext cx="50800" cy="22860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FD6F152-1F26-8A45-9F0D-FF1AD94DC92A}"/>
              </a:ext>
            </a:extLst>
          </p:cNvPr>
          <p:cNvSpPr txBox="1"/>
          <p:nvPr/>
        </p:nvSpPr>
        <p:spPr>
          <a:xfrm>
            <a:off x="889000" y="4165600"/>
            <a:ext cx="3810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000" b="1">
                <a:solidFill>
                  <a:srgbClr val="9CC6FF"/>
                </a:solidFill>
              </a:rPr>
              <a:t>ORACLE INTEGRITY</a:t>
            </a:r>
            <a:endParaRPr lang="ko-KR" altLang="en-US" sz="1000" b="1">
              <a:solidFill>
                <a:srgbClr val="9CC6FF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422473A-F023-0647-B098-0D7A723DE468}"/>
              </a:ext>
            </a:extLst>
          </p:cNvPr>
          <p:cNvSpPr txBox="1"/>
          <p:nvPr/>
        </p:nvSpPr>
        <p:spPr>
          <a:xfrm>
            <a:off x="889000" y="4394200"/>
            <a:ext cx="482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600" b="1">
                <a:solidFill>
                  <a:srgbClr val="EDF4FF"/>
                </a:solidFill>
              </a:rPr>
              <a:t>No single source trusted</a:t>
            </a:r>
            <a:endParaRPr lang="ko-KR" altLang="en-US" sz="1600" b="1">
              <a:solidFill>
                <a:srgbClr val="EDF4FF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62372CFE-206B-CA4B-B9EB-CCA23CDDD545}"/>
              </a:ext>
            </a:extLst>
          </p:cNvPr>
          <p:cNvSpPr/>
          <p:nvPr/>
        </p:nvSpPr>
        <p:spPr>
          <a:xfrm>
            <a:off x="889000" y="4826000"/>
            <a:ext cx="50800" cy="1778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86C90C0-2A64-374F-9EC9-B34BE6AEA56E}"/>
              </a:ext>
            </a:extLst>
          </p:cNvPr>
          <p:cNvSpPr txBox="1"/>
          <p:nvPr/>
        </p:nvSpPr>
        <p:spPr>
          <a:xfrm>
            <a:off x="1041400" y="4775200"/>
            <a:ext cx="4572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 b="1">
                <a:solidFill>
                  <a:srgbClr val="EDF4FF"/>
                </a:solidFill>
              </a:rPr>
              <a:t>Multi-source aggregation</a:t>
            </a:r>
            <a:endParaRPr lang="ko-KR" altLang="en-US" sz="1100" b="1">
              <a:solidFill>
                <a:srgbClr val="EDF4FF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2E2E5F-FD98-8A45-A313-E25B005A6C33}"/>
              </a:ext>
            </a:extLst>
          </p:cNvPr>
          <p:cNvSpPr txBox="1"/>
          <p:nvPr/>
        </p:nvSpPr>
        <p:spPr>
          <a:xfrm>
            <a:off x="1041400" y="4978400"/>
            <a:ext cx="469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000">
                <a:solidFill>
                  <a:srgbClr val="D6E2F2"/>
                </a:solidFill>
              </a:rPr>
              <a:t>Independent providers must reach consensus before a data point is accepted.</a:t>
            </a:r>
            <a:endParaRPr lang="ko-KR" altLang="en-US" sz="1000">
              <a:solidFill>
                <a:srgbClr val="D6E2F2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22B015CF-8EA5-074F-8712-FA5DC93A4E45}"/>
              </a:ext>
            </a:extLst>
          </p:cNvPr>
          <p:cNvSpPr/>
          <p:nvPr/>
        </p:nvSpPr>
        <p:spPr>
          <a:xfrm>
            <a:off x="889000" y="5308600"/>
            <a:ext cx="50800" cy="1778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A56E212-A0A4-2A40-B9DA-30DAF510C248}"/>
              </a:ext>
            </a:extLst>
          </p:cNvPr>
          <p:cNvSpPr txBox="1"/>
          <p:nvPr/>
        </p:nvSpPr>
        <p:spPr>
          <a:xfrm>
            <a:off x="1041400" y="5257800"/>
            <a:ext cx="4572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 b="1">
                <a:solidFill>
                  <a:srgbClr val="EDF4FF"/>
                </a:solidFill>
              </a:rPr>
              <a:t>Economic staking</a:t>
            </a:r>
            <a:endParaRPr lang="ko-KR" altLang="en-US" sz="1100" b="1">
              <a:solidFill>
                <a:srgbClr val="EDF4FF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E952C82-52F4-A94A-995A-963D099BF699}"/>
              </a:ext>
            </a:extLst>
          </p:cNvPr>
          <p:cNvSpPr txBox="1"/>
          <p:nvPr/>
        </p:nvSpPr>
        <p:spPr>
          <a:xfrm>
            <a:off x="1041400" y="5461000"/>
            <a:ext cx="469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000">
                <a:solidFill>
                  <a:srgbClr val="D6E2F2"/>
                </a:solidFill>
              </a:rPr>
              <a:t>Oracle operators stake collateral. Bad feeds are slashed.</a:t>
            </a:r>
            <a:endParaRPr lang="ko-KR" altLang="en-US" sz="1000">
              <a:solidFill>
                <a:srgbClr val="D6E2F2"/>
              </a:solidFill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1CDD96D8-2913-6A40-9F49-37ED1C27B506}"/>
              </a:ext>
            </a:extLst>
          </p:cNvPr>
          <p:cNvSpPr/>
          <p:nvPr/>
        </p:nvSpPr>
        <p:spPr>
          <a:xfrm>
            <a:off x="889000" y="5791200"/>
            <a:ext cx="50800" cy="1778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39D85C4-6F54-494B-8029-5614DF1439AA}"/>
              </a:ext>
            </a:extLst>
          </p:cNvPr>
          <p:cNvSpPr txBox="1"/>
          <p:nvPr/>
        </p:nvSpPr>
        <p:spPr>
          <a:xfrm>
            <a:off x="1041400" y="5740400"/>
            <a:ext cx="4572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 b="1">
                <a:solidFill>
                  <a:srgbClr val="EDF4FF"/>
                </a:solidFill>
              </a:rPr>
              <a:t>Fallback mechanism</a:t>
            </a:r>
            <a:endParaRPr lang="ko-KR" altLang="en-US" sz="1100" b="1">
              <a:solidFill>
                <a:srgbClr val="EDF4FF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ADA9F51-21AA-F948-B794-3628CE97ACC6}"/>
              </a:ext>
            </a:extLst>
          </p:cNvPr>
          <p:cNvSpPr txBox="1"/>
          <p:nvPr/>
        </p:nvSpPr>
        <p:spPr>
          <a:xfrm>
            <a:off x="1041400" y="5943600"/>
            <a:ext cx="469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000">
                <a:solidFill>
                  <a:srgbClr val="D6E2F2"/>
                </a:solidFill>
              </a:rPr>
              <a:t>Stale or conflicting feeds pause execution; decisions escalate to arbitration.</a:t>
            </a:r>
            <a:endParaRPr lang="ko-KR" altLang="en-US" sz="1000">
              <a:solidFill>
                <a:srgbClr val="D6E2F2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469E2844-CC4C-C045-AC10-C0322A62CF90}"/>
              </a:ext>
            </a:extLst>
          </p:cNvPr>
          <p:cNvSpPr/>
          <p:nvPr/>
        </p:nvSpPr>
        <p:spPr>
          <a:xfrm>
            <a:off x="6286500" y="3987800"/>
            <a:ext cx="5270500" cy="2286000"/>
          </a:xfrm>
          <a:prstGeom prst="rect">
            <a:avLst/>
          </a:prstGeom>
          <a:solidFill>
            <a:srgbClr val="0A122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C837981E-9B09-8C4A-9590-C48020DEEED9}"/>
              </a:ext>
            </a:extLst>
          </p:cNvPr>
          <p:cNvSpPr/>
          <p:nvPr/>
        </p:nvSpPr>
        <p:spPr>
          <a:xfrm>
            <a:off x="6286500" y="3987800"/>
            <a:ext cx="50800" cy="2286000"/>
          </a:xfrm>
          <a:prstGeom prst="rect">
            <a:avLst/>
          </a:prstGeom>
          <a:solidFill>
            <a:srgbClr val="A8E89E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D293C1E-9C90-6640-B212-B6C0816120ED}"/>
              </a:ext>
            </a:extLst>
          </p:cNvPr>
          <p:cNvSpPr txBox="1"/>
          <p:nvPr/>
        </p:nvSpPr>
        <p:spPr>
          <a:xfrm>
            <a:off x="6540500" y="4165600"/>
            <a:ext cx="3810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000" b="1">
                <a:solidFill>
                  <a:srgbClr val="A8E89E"/>
                </a:solidFill>
              </a:rPr>
              <a:t>DEFI COMPOSABILITY</a:t>
            </a:r>
            <a:endParaRPr lang="ko-KR" altLang="en-US" sz="1000" b="1">
              <a:solidFill>
                <a:srgbClr val="A8E89E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7E07FF-9BC8-BB47-A61C-4C8F6C41225B}"/>
              </a:ext>
            </a:extLst>
          </p:cNvPr>
          <p:cNvSpPr txBox="1"/>
          <p:nvPr/>
        </p:nvSpPr>
        <p:spPr>
          <a:xfrm>
            <a:off x="6540500" y="4394200"/>
            <a:ext cx="482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600" b="1">
                <a:solidFill>
                  <a:srgbClr val="EDF4FF"/>
                </a:solidFill>
              </a:rPr>
              <a:t>Idle pool capital is productive</a:t>
            </a:r>
            <a:endParaRPr lang="ko-KR" altLang="en-US" sz="1600" b="1">
              <a:solidFill>
                <a:srgbClr val="EDF4FF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C7CD24F7-341E-4C40-B390-42E795C19E47}"/>
              </a:ext>
            </a:extLst>
          </p:cNvPr>
          <p:cNvSpPr/>
          <p:nvPr/>
        </p:nvSpPr>
        <p:spPr>
          <a:xfrm>
            <a:off x="6540500" y="4826000"/>
            <a:ext cx="50800" cy="177800"/>
          </a:xfrm>
          <a:prstGeom prst="rect">
            <a:avLst/>
          </a:prstGeom>
          <a:solidFill>
            <a:srgbClr val="A8E89E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4B6D8D4-32C9-964C-8ACB-51CE06964EE3}"/>
              </a:ext>
            </a:extLst>
          </p:cNvPr>
          <p:cNvSpPr txBox="1"/>
          <p:nvPr/>
        </p:nvSpPr>
        <p:spPr>
          <a:xfrm>
            <a:off x="6692900" y="4775200"/>
            <a:ext cx="4572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 b="1">
                <a:solidFill>
                  <a:srgbClr val="EDF4FF"/>
                </a:solidFill>
              </a:rPr>
              <a:t>Yield via Aave</a:t>
            </a:r>
            <a:endParaRPr lang="ko-KR" altLang="en-US" sz="1100" b="1">
              <a:solidFill>
                <a:srgbClr val="EDF4FF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7FE426E-19E6-204D-8279-AFBA51D37B17}"/>
              </a:ext>
            </a:extLst>
          </p:cNvPr>
          <p:cNvSpPr txBox="1"/>
          <p:nvPr/>
        </p:nvSpPr>
        <p:spPr>
          <a:xfrm>
            <a:off x="6692900" y="4978400"/>
            <a:ext cx="469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000">
                <a:solidFill>
                  <a:srgbClr val="D6E2F2"/>
                </a:solidFill>
              </a:rPr>
              <a:t>Excess reserves deployed into blue-chip lending markets for stablecoin yield.</a:t>
            </a:r>
            <a:endParaRPr lang="ko-KR" altLang="en-US" sz="1000">
              <a:solidFill>
                <a:srgbClr val="D6E2F2"/>
              </a:solidFill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9BC631F4-0B32-4742-9185-BE3D656CF095}"/>
              </a:ext>
            </a:extLst>
          </p:cNvPr>
          <p:cNvSpPr/>
          <p:nvPr/>
        </p:nvSpPr>
        <p:spPr>
          <a:xfrm>
            <a:off x="6540500" y="5308600"/>
            <a:ext cx="50800" cy="177800"/>
          </a:xfrm>
          <a:prstGeom prst="rect">
            <a:avLst/>
          </a:prstGeom>
          <a:solidFill>
            <a:srgbClr val="A8E89E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42D0605-67CF-F745-88DA-A0A3F9A11D14}"/>
              </a:ext>
            </a:extLst>
          </p:cNvPr>
          <p:cNvSpPr txBox="1"/>
          <p:nvPr/>
        </p:nvSpPr>
        <p:spPr>
          <a:xfrm>
            <a:off x="6692900" y="5257800"/>
            <a:ext cx="4572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 b="1">
                <a:solidFill>
                  <a:srgbClr val="EDF4FF"/>
                </a:solidFill>
              </a:rPr>
              <a:t>DEX liquidity</a:t>
            </a:r>
            <a:endParaRPr lang="ko-KR" altLang="en-US" sz="1100" b="1">
              <a:solidFill>
                <a:srgbClr val="EDF4FF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341ED0-E297-2C4D-ACF2-9FE0B9D25828}"/>
              </a:ext>
            </a:extLst>
          </p:cNvPr>
          <p:cNvSpPr txBox="1"/>
          <p:nvPr/>
        </p:nvSpPr>
        <p:spPr>
          <a:xfrm>
            <a:off x="6692900" y="5461000"/>
            <a:ext cx="469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000">
                <a:solidFill>
                  <a:srgbClr val="D6E2F2"/>
                </a:solidFill>
              </a:rPr>
              <a:t>Rapid rebalancing during stress accesses on-chain liquidity in real time.</a:t>
            </a:r>
            <a:endParaRPr lang="ko-KR" altLang="en-US" sz="1000">
              <a:solidFill>
                <a:srgbClr val="D6E2F2"/>
              </a:solidFill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F05F0C8F-ED4C-DC4E-992F-097C7B0F54AD}"/>
              </a:ext>
            </a:extLst>
          </p:cNvPr>
          <p:cNvSpPr/>
          <p:nvPr/>
        </p:nvSpPr>
        <p:spPr>
          <a:xfrm>
            <a:off x="6540500" y="5791200"/>
            <a:ext cx="50800" cy="177800"/>
          </a:xfrm>
          <a:prstGeom prst="rect">
            <a:avLst/>
          </a:prstGeom>
          <a:solidFill>
            <a:srgbClr val="A8E89E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AE180B9-1110-524E-8F83-42E65122A697}"/>
              </a:ext>
            </a:extLst>
          </p:cNvPr>
          <p:cNvSpPr txBox="1"/>
          <p:nvPr/>
        </p:nvSpPr>
        <p:spPr>
          <a:xfrm>
            <a:off x="6692900" y="5740400"/>
            <a:ext cx="4572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 b="1">
                <a:solidFill>
                  <a:srgbClr val="EDF4FF"/>
                </a:solidFill>
              </a:rPr>
              <a:t>Capital efficiency</a:t>
            </a:r>
            <a:endParaRPr lang="ko-KR" altLang="en-US" sz="1100" b="1">
              <a:solidFill>
                <a:srgbClr val="EDF4FF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0D7AEDD-4493-534C-A835-6AE08B89A2BA}"/>
              </a:ext>
            </a:extLst>
          </p:cNvPr>
          <p:cNvSpPr txBox="1"/>
          <p:nvPr/>
        </p:nvSpPr>
        <p:spPr>
          <a:xfrm>
            <a:off x="6692900" y="5943600"/>
            <a:ext cx="4699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000">
                <a:solidFill>
                  <a:srgbClr val="D6E2F2"/>
                </a:solidFill>
              </a:rPr>
              <a:t>Improves returns without compromising claim-payout liquidity requirements.</a:t>
            </a:r>
            <a:endParaRPr lang="ko-KR" altLang="en-US" sz="1000">
              <a:solidFill>
                <a:srgbClr val="D6E2F2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BF8EEE11-6E58-7541-88B4-FDDDD42687D0}"/>
              </a:ext>
            </a:extLst>
          </p:cNvPr>
          <p:cNvSpPr/>
          <p:nvPr/>
        </p:nvSpPr>
        <p:spPr>
          <a:xfrm>
            <a:off x="635000" y="6477000"/>
            <a:ext cx="50800" cy="2794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8BB3F3D-2E55-9D4E-B634-D8040E745562}"/>
              </a:ext>
            </a:extLst>
          </p:cNvPr>
          <p:cNvSpPr txBox="1"/>
          <p:nvPr/>
        </p:nvSpPr>
        <p:spPr>
          <a:xfrm>
            <a:off x="812800" y="65024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300" b="1">
                <a:solidFill>
                  <a:srgbClr val="EDF4FF"/>
                </a:solidFill>
              </a:rPr>
              <a:t>Claims pay automatically when oracles agree. Idle capital earns yield until they don't.</a:t>
            </a:r>
            <a:endParaRPr lang="ko-KR" altLang="en-US" sz="1300" b="1">
              <a:solidFill>
                <a:srgbClr val="EDF4FF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CD6D8A-6403-2288-CCA5-5C953F2E1D04}"/>
              </a:ext>
            </a:extLst>
          </p:cNvPr>
          <p:cNvSpPr txBox="1"/>
          <p:nvPr/>
        </p:nvSpPr>
        <p:spPr>
          <a:xfrm>
            <a:off x="9601200" y="6656832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1" i="0">
                <a:solidFill>
                  <a:srgbClr val="9CC6FF"/>
                </a:solidFill>
                <a:latin typeface="Calibri"/>
              </a:rPr>
              <a:t>MotoChain &amp; RideTrue</a:t>
            </a:r>
          </a:p>
        </p:txBody>
      </p:sp>
    </p:spTree>
    <p:extLst>
      <p:ext uri="{BB962C8B-B14F-4D97-AF65-F5344CB8AC3E}">
        <p14:creationId xmlns:p14="http://schemas.microsoft.com/office/powerpoint/2010/main" val="11731056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FD524F7-0788-7E47-BF3F-480CCDC2B918}"/>
              </a:ext>
            </a:extLst>
          </p:cNvPr>
          <p:cNvSpPr txBox="1"/>
          <p:nvPr/>
        </p:nvSpPr>
        <p:spPr>
          <a:xfrm>
            <a:off x="635000" y="635000"/>
            <a:ext cx="762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200" b="1">
                <a:solidFill>
                  <a:srgbClr val="9CC6FF"/>
                </a:solidFill>
              </a:rPr>
              <a:t>II.3  ·  USER EXPERIENCE &amp; ONBOARDING</a:t>
            </a:r>
            <a:endParaRPr lang="ko-KR" altLang="en-US" sz="1200" b="1">
              <a:solidFill>
                <a:srgbClr val="9CC6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39B0EE-FE40-1D4E-8C4D-817C16D01605}"/>
              </a:ext>
            </a:extLst>
          </p:cNvPr>
          <p:cNvSpPr txBox="1"/>
          <p:nvPr/>
        </p:nvSpPr>
        <p:spPr>
          <a:xfrm>
            <a:off x="635000" y="990600"/>
            <a:ext cx="1092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3000" b="1">
                <a:solidFill>
                  <a:srgbClr val="EDF4FF"/>
                </a:solidFill>
              </a:rPr>
              <a:t>Adoption depends on hiding the blockchain</a:t>
            </a:r>
            <a:endParaRPr lang="ko-KR" altLang="en-US" sz="3000" b="1">
              <a:solidFill>
                <a:srgbClr val="EDF4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A05081-7E52-C946-B314-174512E866E9}"/>
              </a:ext>
            </a:extLst>
          </p:cNvPr>
          <p:cNvSpPr txBox="1"/>
          <p:nvPr/>
        </p:nvSpPr>
        <p:spPr>
          <a:xfrm>
            <a:off x="635000" y="1676400"/>
            <a:ext cx="10922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300" i="1">
                <a:solidFill>
                  <a:srgbClr val="B8C8E0"/>
                </a:solidFill>
              </a:rPr>
              <a:t>The barrier isn't technical feasibility — it's user friction. Modern mobile UX, decentralized substrate underneath.</a:t>
            </a:r>
            <a:endParaRPr lang="ko-KR" altLang="en-US" sz="1300" i="1">
              <a:solidFill>
                <a:srgbClr val="B8C8E0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145A1FF-53D1-EE41-98E7-1D5EBEEC8A2E}"/>
              </a:ext>
            </a:extLst>
          </p:cNvPr>
          <p:cNvSpPr/>
          <p:nvPr/>
        </p:nvSpPr>
        <p:spPr>
          <a:xfrm>
            <a:off x="635000" y="2082800"/>
            <a:ext cx="1092200" cy="508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6A91F5-A5E1-274E-922C-1E6E6886FD4B}"/>
              </a:ext>
            </a:extLst>
          </p:cNvPr>
          <p:cNvSpPr txBox="1"/>
          <p:nvPr/>
        </p:nvSpPr>
        <p:spPr>
          <a:xfrm>
            <a:off x="635000" y="2387600"/>
            <a:ext cx="5080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7E94B0"/>
                </a:solidFill>
              </a:rPr>
              <a:t>ABSTRACTING THE FRICTION</a:t>
            </a:r>
            <a:endParaRPr lang="ko-KR" altLang="en-US" sz="900" b="1">
              <a:solidFill>
                <a:srgbClr val="7E94B0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9C803967-2388-8D4C-AB71-7A01AFC65B67}"/>
              </a:ext>
            </a:extLst>
          </p:cNvPr>
          <p:cNvSpPr/>
          <p:nvPr/>
        </p:nvSpPr>
        <p:spPr>
          <a:xfrm>
            <a:off x="635000" y="2641600"/>
            <a:ext cx="5270500" cy="1117600"/>
          </a:xfrm>
          <a:prstGeom prst="roundRect">
            <a:avLst/>
          </a:prstGeom>
          <a:solidFill>
            <a:srgbClr val="0D1625"/>
          </a:solidFill>
          <a:ln w="12700" cap="flat" cmpd="sng" algn="ctr">
            <a:solidFill>
              <a:srgbClr val="1F406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A357542-F2FB-9F49-972C-552199952392}"/>
              </a:ext>
            </a:extLst>
          </p:cNvPr>
          <p:cNvSpPr/>
          <p:nvPr/>
        </p:nvSpPr>
        <p:spPr>
          <a:xfrm>
            <a:off x="635000" y="2794000"/>
            <a:ext cx="45719" cy="787400"/>
          </a:xfrm>
          <a:prstGeom prst="rect">
            <a:avLst/>
          </a:prstGeom>
          <a:solidFill>
            <a:srgbClr val="F4A261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8B5619-D7F7-C746-B140-B9857024CE78}"/>
              </a:ext>
            </a:extLst>
          </p:cNvPr>
          <p:cNvSpPr txBox="1"/>
          <p:nvPr/>
        </p:nvSpPr>
        <p:spPr>
          <a:xfrm>
            <a:off x="889000" y="2794000"/>
            <a:ext cx="3810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000" b="1">
                <a:solidFill>
                  <a:srgbClr val="F4A261"/>
                </a:solidFill>
              </a:rPr>
              <a:t>ACCOUNT ABSTRACTION</a:t>
            </a:r>
            <a:endParaRPr lang="ko-KR" altLang="en-US" sz="1000" b="1">
              <a:solidFill>
                <a:srgbClr val="F4A26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2AB70D-C050-4340-A1A5-89EC209BA73A}"/>
              </a:ext>
            </a:extLst>
          </p:cNvPr>
          <p:cNvSpPr txBox="1"/>
          <p:nvPr/>
        </p:nvSpPr>
        <p:spPr>
          <a:xfrm>
            <a:off x="889000" y="2997200"/>
            <a:ext cx="482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400" b="1">
                <a:solidFill>
                  <a:srgbClr val="EDF4FF"/>
                </a:solidFill>
              </a:rPr>
              <a:t>Email and social login</a:t>
            </a:r>
            <a:endParaRPr lang="ko-KR" altLang="en-US" sz="1400" b="1">
              <a:solidFill>
                <a:srgbClr val="EDF4F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05DB24-E65F-F94C-A5AE-41C2B0CEC62C}"/>
              </a:ext>
            </a:extLst>
          </p:cNvPr>
          <p:cNvSpPr txBox="1"/>
          <p:nvPr/>
        </p:nvSpPr>
        <p:spPr>
          <a:xfrm>
            <a:off x="889000" y="3327400"/>
            <a:ext cx="4826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>
                <a:solidFill>
                  <a:srgbClr val="D6E2F2"/>
                </a:solidFill>
              </a:rPr>
              <a:t>Wallets generated and managed in the background. No seed phrases. No manual key handling.</a:t>
            </a:r>
            <a:endParaRPr lang="ko-KR" altLang="en-US" sz="1100">
              <a:solidFill>
                <a:srgbClr val="D6E2F2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3CAB192A-E329-E342-998D-0C9DDFECEB10}"/>
              </a:ext>
            </a:extLst>
          </p:cNvPr>
          <p:cNvSpPr/>
          <p:nvPr/>
        </p:nvSpPr>
        <p:spPr>
          <a:xfrm>
            <a:off x="6286500" y="2641600"/>
            <a:ext cx="5270500" cy="1117600"/>
          </a:xfrm>
          <a:prstGeom prst="roundRect">
            <a:avLst/>
          </a:prstGeom>
          <a:solidFill>
            <a:srgbClr val="0D1625"/>
          </a:solidFill>
          <a:ln w="12700" cap="flat" cmpd="sng" algn="ctr">
            <a:solidFill>
              <a:srgbClr val="1F406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9FB0E81-1812-0D45-91AB-7882194918AA}"/>
              </a:ext>
            </a:extLst>
          </p:cNvPr>
          <p:cNvSpPr/>
          <p:nvPr/>
        </p:nvSpPr>
        <p:spPr>
          <a:xfrm>
            <a:off x="6286500" y="2794000"/>
            <a:ext cx="45719" cy="787400"/>
          </a:xfrm>
          <a:prstGeom prst="rect">
            <a:avLst/>
          </a:prstGeom>
          <a:solidFill>
            <a:srgbClr val="F4A261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81D0871-60C6-C540-AF29-2069049A7E03}"/>
              </a:ext>
            </a:extLst>
          </p:cNvPr>
          <p:cNvSpPr txBox="1"/>
          <p:nvPr/>
        </p:nvSpPr>
        <p:spPr>
          <a:xfrm>
            <a:off x="6540500" y="2794000"/>
            <a:ext cx="3810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000" b="1">
                <a:solidFill>
                  <a:srgbClr val="F4A261"/>
                </a:solidFill>
              </a:rPr>
              <a:t>GAS ABSTRACTION</a:t>
            </a:r>
            <a:endParaRPr lang="ko-KR" altLang="en-US" sz="1000" b="1">
              <a:solidFill>
                <a:srgbClr val="F4A26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056DA6-E578-284D-812F-86E83D79BFD9}"/>
              </a:ext>
            </a:extLst>
          </p:cNvPr>
          <p:cNvSpPr txBox="1"/>
          <p:nvPr/>
        </p:nvSpPr>
        <p:spPr>
          <a:xfrm>
            <a:off x="6540500" y="2997200"/>
            <a:ext cx="482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400" b="1">
                <a:solidFill>
                  <a:srgbClr val="EDF4FF"/>
                </a:solidFill>
              </a:rPr>
              <a:t>Fees bundled or subsidized</a:t>
            </a:r>
            <a:endParaRPr lang="ko-KR" altLang="en-US" sz="1400" b="1">
              <a:solidFill>
                <a:srgbClr val="EDF4FF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0E788F-EC35-1E45-A930-C69BF088D518}"/>
              </a:ext>
            </a:extLst>
          </p:cNvPr>
          <p:cNvSpPr txBox="1"/>
          <p:nvPr/>
        </p:nvSpPr>
        <p:spPr>
          <a:xfrm>
            <a:off x="6540500" y="3327400"/>
            <a:ext cx="4826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>
                <a:solidFill>
                  <a:srgbClr val="D6E2F2"/>
                </a:solidFill>
              </a:rPr>
              <a:t>Users never need to acquire or hold native tokens to use the protocol.</a:t>
            </a:r>
            <a:endParaRPr lang="ko-KR" altLang="en-US" sz="1100">
              <a:solidFill>
                <a:srgbClr val="D6E2F2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2BC66CF-EF8B-2744-992C-CEB0E0A5FEE9}"/>
              </a:ext>
            </a:extLst>
          </p:cNvPr>
          <p:cNvSpPr txBox="1"/>
          <p:nvPr/>
        </p:nvSpPr>
        <p:spPr>
          <a:xfrm>
            <a:off x="635000" y="3987800"/>
            <a:ext cx="5080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7E94B0"/>
                </a:solidFill>
              </a:rPr>
              <a:t>MOBILE-FIRST INTERFACE — PER AUDIENCE</a:t>
            </a:r>
            <a:endParaRPr lang="ko-KR" altLang="en-US" sz="900" b="1">
              <a:solidFill>
                <a:srgbClr val="7E94B0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1EBEBCB-B4ED-DA4A-B913-7D5EE9312CAC}"/>
              </a:ext>
            </a:extLst>
          </p:cNvPr>
          <p:cNvSpPr/>
          <p:nvPr/>
        </p:nvSpPr>
        <p:spPr>
          <a:xfrm>
            <a:off x="635000" y="4241800"/>
            <a:ext cx="3467100" cy="1676400"/>
          </a:xfrm>
          <a:prstGeom prst="roundRect">
            <a:avLst/>
          </a:prstGeom>
          <a:solidFill>
            <a:srgbClr val="0D1625"/>
          </a:solidFill>
          <a:ln w="12700" cap="flat" cmpd="sng" algn="ctr">
            <a:solidFill>
              <a:srgbClr val="1F406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416CCA7-791B-8D4B-89DE-BB111CF929D2}"/>
              </a:ext>
            </a:extLst>
          </p:cNvPr>
          <p:cNvSpPr/>
          <p:nvPr/>
        </p:nvSpPr>
        <p:spPr>
          <a:xfrm>
            <a:off x="838200" y="4239768"/>
            <a:ext cx="3060700" cy="52832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87249B-ED58-AA4C-A23A-44559CB34962}"/>
              </a:ext>
            </a:extLst>
          </p:cNvPr>
          <p:cNvSpPr txBox="1"/>
          <p:nvPr/>
        </p:nvSpPr>
        <p:spPr>
          <a:xfrm>
            <a:off x="838200" y="4394200"/>
            <a:ext cx="30607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4AA3FF"/>
                </a:solidFill>
              </a:rPr>
              <a:t>FOR RIDERS</a:t>
            </a:r>
            <a:endParaRPr lang="ko-KR" altLang="en-US" sz="900" b="1">
              <a:solidFill>
                <a:srgbClr val="4AA3FF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D0BE182-F0DE-AB44-B923-E1A6AB282981}"/>
              </a:ext>
            </a:extLst>
          </p:cNvPr>
          <p:cNvSpPr txBox="1"/>
          <p:nvPr/>
        </p:nvSpPr>
        <p:spPr>
          <a:xfrm>
            <a:off x="838200" y="4597400"/>
            <a:ext cx="30607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600" b="1">
                <a:solidFill>
                  <a:srgbClr val="EDF4FF"/>
                </a:solidFill>
              </a:rPr>
              <a:t>Passive dashboard</a:t>
            </a:r>
            <a:endParaRPr lang="ko-KR" altLang="en-US" sz="1600" b="1">
              <a:solidFill>
                <a:srgbClr val="EDF4FF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9C66899-7954-F143-B4CE-E2E26503C9E1}"/>
              </a:ext>
            </a:extLst>
          </p:cNvPr>
          <p:cNvSpPr txBox="1"/>
          <p:nvPr/>
        </p:nvSpPr>
        <p:spPr>
          <a:xfrm>
            <a:off x="838200" y="4978400"/>
            <a:ext cx="30607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>
                <a:solidFill>
                  <a:srgbClr val="D6E2F2"/>
                </a:solidFill>
              </a:rPr>
              <a:t>Safety score, premium level, potential savings. Behavioral tracking runs in background — minimal active input.</a:t>
            </a:r>
            <a:endParaRPr lang="ko-KR" altLang="en-US" sz="1100">
              <a:solidFill>
                <a:srgbClr val="D6E2F2"/>
              </a:solidFill>
            </a:endParaRP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CB2F9295-699E-4F46-9E46-45CF6A61A92B}"/>
              </a:ext>
            </a:extLst>
          </p:cNvPr>
          <p:cNvSpPr/>
          <p:nvPr/>
        </p:nvSpPr>
        <p:spPr>
          <a:xfrm>
            <a:off x="4368800" y="4241800"/>
            <a:ext cx="3467100" cy="1676400"/>
          </a:xfrm>
          <a:prstGeom prst="roundRect">
            <a:avLst/>
          </a:prstGeom>
          <a:solidFill>
            <a:srgbClr val="0D1625"/>
          </a:solidFill>
          <a:ln w="12700" cap="flat" cmpd="sng" algn="ctr">
            <a:solidFill>
              <a:srgbClr val="1F406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5FEA04E-9F95-384D-91E7-83C1F0D695A5}"/>
              </a:ext>
            </a:extLst>
          </p:cNvPr>
          <p:cNvSpPr/>
          <p:nvPr/>
        </p:nvSpPr>
        <p:spPr>
          <a:xfrm>
            <a:off x="4572000" y="4239768"/>
            <a:ext cx="3060700" cy="52832"/>
          </a:xfrm>
          <a:prstGeom prst="rect">
            <a:avLst/>
          </a:prstGeom>
          <a:solidFill>
            <a:srgbClr val="A8E89E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5597A9-4FC0-E348-8285-49FCAF72FF06}"/>
              </a:ext>
            </a:extLst>
          </p:cNvPr>
          <p:cNvSpPr txBox="1"/>
          <p:nvPr/>
        </p:nvSpPr>
        <p:spPr>
          <a:xfrm>
            <a:off x="4572000" y="4394200"/>
            <a:ext cx="30607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A8E89E"/>
                </a:solidFill>
              </a:rPr>
              <a:t>FOR MECHANICS</a:t>
            </a:r>
            <a:endParaRPr lang="ko-KR" altLang="en-US" sz="900" b="1">
              <a:solidFill>
                <a:srgbClr val="A8E89E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AFC8499-DE13-7F46-9D4F-18A3D22B3455}"/>
              </a:ext>
            </a:extLst>
          </p:cNvPr>
          <p:cNvSpPr txBox="1"/>
          <p:nvPr/>
        </p:nvSpPr>
        <p:spPr>
          <a:xfrm>
            <a:off x="4572000" y="4597400"/>
            <a:ext cx="30607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600" b="1">
                <a:solidFill>
                  <a:srgbClr val="EDF4FF"/>
                </a:solidFill>
              </a:rPr>
              <a:t>Sub-30-second entries</a:t>
            </a:r>
            <a:endParaRPr lang="ko-KR" altLang="en-US" sz="1600" b="1">
              <a:solidFill>
                <a:srgbClr val="EDF4FF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DF95DE5-BC4A-C54C-90FE-2D78920C3FAF}"/>
              </a:ext>
            </a:extLst>
          </p:cNvPr>
          <p:cNvSpPr txBox="1"/>
          <p:nvPr/>
        </p:nvSpPr>
        <p:spPr>
          <a:xfrm>
            <a:off x="4572000" y="4978400"/>
            <a:ext cx="30607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>
                <a:solidFill>
                  <a:srgbClr val="D6E2F2"/>
                </a:solidFill>
              </a:rPr>
              <a:t>Structured forms or QR-based vehicle ID. Optimized for speed at the shop counter.</a:t>
            </a:r>
            <a:endParaRPr lang="ko-KR" altLang="en-US" sz="1100">
              <a:solidFill>
                <a:srgbClr val="D6E2F2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FC5F7E4F-BBF5-2B44-934B-8AD7E3B0A644}"/>
              </a:ext>
            </a:extLst>
          </p:cNvPr>
          <p:cNvSpPr/>
          <p:nvPr/>
        </p:nvSpPr>
        <p:spPr>
          <a:xfrm>
            <a:off x="8102600" y="4241800"/>
            <a:ext cx="3467100" cy="1676400"/>
          </a:xfrm>
          <a:prstGeom prst="roundRect">
            <a:avLst/>
          </a:prstGeom>
          <a:solidFill>
            <a:srgbClr val="0D1625"/>
          </a:solidFill>
          <a:ln w="12700" cap="flat" cmpd="sng" algn="ctr">
            <a:solidFill>
              <a:srgbClr val="1F406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3ECDB0A-6770-D940-9947-E1C7C77F3B4B}"/>
              </a:ext>
            </a:extLst>
          </p:cNvPr>
          <p:cNvSpPr/>
          <p:nvPr/>
        </p:nvSpPr>
        <p:spPr>
          <a:xfrm>
            <a:off x="8305800" y="4239768"/>
            <a:ext cx="3060700" cy="52832"/>
          </a:xfrm>
          <a:prstGeom prst="rect">
            <a:avLst/>
          </a:prstGeom>
          <a:solidFill>
            <a:srgbClr val="F4A261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782E7C3-A3D4-1A48-9443-C3CB75EE8554}"/>
              </a:ext>
            </a:extLst>
          </p:cNvPr>
          <p:cNvSpPr txBox="1"/>
          <p:nvPr/>
        </p:nvSpPr>
        <p:spPr>
          <a:xfrm>
            <a:off x="8305800" y="4394200"/>
            <a:ext cx="30607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F4A261"/>
                </a:solidFill>
              </a:rPr>
              <a:t>FOR BUYERS</a:t>
            </a:r>
            <a:endParaRPr lang="ko-KR" altLang="en-US" sz="900" b="1">
              <a:solidFill>
                <a:srgbClr val="F4A261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CDA77C0-A2D3-A540-B002-CF73B345FA97}"/>
              </a:ext>
            </a:extLst>
          </p:cNvPr>
          <p:cNvSpPr txBox="1"/>
          <p:nvPr/>
        </p:nvSpPr>
        <p:spPr>
          <a:xfrm>
            <a:off x="8305800" y="4597400"/>
            <a:ext cx="30607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600" b="1">
                <a:solidFill>
                  <a:srgbClr val="EDF4FF"/>
                </a:solidFill>
              </a:rPr>
              <a:t>One-scan verification</a:t>
            </a:r>
            <a:endParaRPr lang="ko-KR" altLang="en-US" sz="1600" b="1">
              <a:solidFill>
                <a:srgbClr val="EDF4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5B05698-06A4-0E49-8CF2-D5ED7785B3C3}"/>
              </a:ext>
            </a:extLst>
          </p:cNvPr>
          <p:cNvSpPr txBox="1"/>
          <p:nvPr/>
        </p:nvSpPr>
        <p:spPr>
          <a:xfrm>
            <a:off x="8305800" y="4978400"/>
            <a:ext cx="3060700" cy="889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>
                <a:solidFill>
                  <a:srgbClr val="D6E2F2"/>
                </a:solidFill>
              </a:rPr>
              <a:t>Scan a code or enter a VIN. Complete verifiable history surfaces immediately. No account required to read.</a:t>
            </a:r>
            <a:endParaRPr lang="ko-KR" altLang="en-US" sz="1100">
              <a:solidFill>
                <a:srgbClr val="D6E2F2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0310C2BA-489D-0045-9BFC-B07E6228FF09}"/>
              </a:ext>
            </a:extLst>
          </p:cNvPr>
          <p:cNvSpPr/>
          <p:nvPr/>
        </p:nvSpPr>
        <p:spPr>
          <a:xfrm>
            <a:off x="635000" y="6096000"/>
            <a:ext cx="10922000" cy="279400"/>
          </a:xfrm>
          <a:prstGeom prst="rect">
            <a:avLst/>
          </a:prstGeom>
          <a:solidFill>
            <a:srgbClr val="0A122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71FC190-95E3-2743-AA55-A75B9F98E506}"/>
              </a:ext>
            </a:extLst>
          </p:cNvPr>
          <p:cNvSpPr/>
          <p:nvPr/>
        </p:nvSpPr>
        <p:spPr>
          <a:xfrm>
            <a:off x="635000" y="6096000"/>
            <a:ext cx="50800" cy="279400"/>
          </a:xfrm>
          <a:prstGeom prst="rect">
            <a:avLst/>
          </a:prstGeom>
          <a:solidFill>
            <a:srgbClr val="9CC6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D3E9BC0-485A-8743-AD00-94B145C0AA82}"/>
              </a:ext>
            </a:extLst>
          </p:cNvPr>
          <p:cNvSpPr txBox="1"/>
          <p:nvPr/>
        </p:nvSpPr>
        <p:spPr>
          <a:xfrm>
            <a:off x="889000" y="6146800"/>
            <a:ext cx="1143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9CC6FF"/>
                </a:solidFill>
              </a:rPr>
              <a:t>RETENTION</a:t>
            </a:r>
            <a:endParaRPr lang="ko-KR" altLang="en-US" sz="900" b="1">
              <a:solidFill>
                <a:srgbClr val="9CC6FF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9392D71-20A2-5945-9EA7-B9484CD9F374}"/>
              </a:ext>
            </a:extLst>
          </p:cNvPr>
          <p:cNvSpPr txBox="1"/>
          <p:nvPr/>
        </p:nvSpPr>
        <p:spPr>
          <a:xfrm>
            <a:off x="2159000" y="6146800"/>
            <a:ext cx="9398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>
                <a:solidFill>
                  <a:srgbClr val="EDF4FF"/>
                </a:solidFill>
              </a:rPr>
              <a:t>Dynamic premiums + safety rebates for riders. Persistent reputation capital for mechanics and dealers.</a:t>
            </a:r>
            <a:endParaRPr lang="ko-KR" altLang="en-US" sz="1100">
              <a:solidFill>
                <a:srgbClr val="EDF4FF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60753A26-B4C5-444D-BBA4-8FCA37D1D523}"/>
              </a:ext>
            </a:extLst>
          </p:cNvPr>
          <p:cNvSpPr/>
          <p:nvPr/>
        </p:nvSpPr>
        <p:spPr>
          <a:xfrm>
            <a:off x="635000" y="6477000"/>
            <a:ext cx="50800" cy="2794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D8E93C5-0453-394A-B077-5D437C105E89}"/>
              </a:ext>
            </a:extLst>
          </p:cNvPr>
          <p:cNvSpPr txBox="1"/>
          <p:nvPr/>
        </p:nvSpPr>
        <p:spPr>
          <a:xfrm>
            <a:off x="812800" y="65024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300" b="1">
                <a:solidFill>
                  <a:srgbClr val="EDF4FF"/>
                </a:solidFill>
              </a:rPr>
              <a:t>If the user has to know it's blockchain, the design has failed.</a:t>
            </a:r>
            <a:endParaRPr lang="ko-KR" altLang="en-US" sz="1300" b="1">
              <a:solidFill>
                <a:srgbClr val="EDF4FF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93FF853-9150-A3B7-48D3-A2937205E2EB}"/>
              </a:ext>
            </a:extLst>
          </p:cNvPr>
          <p:cNvSpPr txBox="1"/>
          <p:nvPr/>
        </p:nvSpPr>
        <p:spPr>
          <a:xfrm>
            <a:off x="9601200" y="6656832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1" i="0">
                <a:solidFill>
                  <a:srgbClr val="9CC6FF"/>
                </a:solidFill>
                <a:latin typeface="Calibri"/>
              </a:rPr>
              <a:t>MotoChain &amp; RideTrue</a:t>
            </a:r>
          </a:p>
        </p:txBody>
      </p:sp>
    </p:spTree>
    <p:extLst>
      <p:ext uri="{BB962C8B-B14F-4D97-AF65-F5344CB8AC3E}">
        <p14:creationId xmlns:p14="http://schemas.microsoft.com/office/powerpoint/2010/main" val="33982262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6A3A2DC-B667-2F46-912B-4A41D03685D7}"/>
              </a:ext>
            </a:extLst>
          </p:cNvPr>
          <p:cNvSpPr txBox="1"/>
          <p:nvPr/>
        </p:nvSpPr>
        <p:spPr>
          <a:xfrm>
            <a:off x="635000" y="635000"/>
            <a:ext cx="7620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200" b="1">
                <a:solidFill>
                  <a:srgbClr val="9CC6FF"/>
                </a:solidFill>
              </a:rPr>
              <a:t>II.4  ·  TARGET AUDIENCE &amp; GO-TO-MARKET</a:t>
            </a:r>
            <a:endParaRPr lang="ko-KR" altLang="en-US" sz="1200" b="1">
              <a:solidFill>
                <a:srgbClr val="9CC6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B87CFD-60FE-A84B-B09E-74EBCC10D2A2}"/>
              </a:ext>
            </a:extLst>
          </p:cNvPr>
          <p:cNvSpPr txBox="1"/>
          <p:nvPr/>
        </p:nvSpPr>
        <p:spPr>
          <a:xfrm>
            <a:off x="635000" y="990600"/>
            <a:ext cx="1092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2600" b="1">
                <a:solidFill>
                  <a:srgbClr val="EDF4FF"/>
                </a:solidFill>
              </a:rPr>
              <a:t>A multi-sided marketplace — start narrow, expand from the wedge</a:t>
            </a:r>
            <a:endParaRPr lang="ko-KR" altLang="en-US" sz="2600" b="1">
              <a:solidFill>
                <a:srgbClr val="EDF4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399D39-7465-B94F-934E-CD5066876D1C}"/>
              </a:ext>
            </a:extLst>
          </p:cNvPr>
          <p:cNvSpPr txBox="1"/>
          <p:nvPr/>
        </p:nvSpPr>
        <p:spPr>
          <a:xfrm>
            <a:off x="635000" y="1676400"/>
            <a:ext cx="10922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300" i="1">
                <a:solidFill>
                  <a:srgbClr val="B8C8E0"/>
                </a:solidFill>
              </a:rPr>
              <a:t>Four participant classes must show up at once. The launch strategy is engineered around the supply-side anchor.</a:t>
            </a:r>
            <a:endParaRPr lang="ko-KR" altLang="en-US" sz="1300" i="1">
              <a:solidFill>
                <a:srgbClr val="B8C8E0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655ECE2-F032-EC47-95D1-B3794CB402DE}"/>
              </a:ext>
            </a:extLst>
          </p:cNvPr>
          <p:cNvSpPr/>
          <p:nvPr/>
        </p:nvSpPr>
        <p:spPr>
          <a:xfrm>
            <a:off x="635000" y="2082800"/>
            <a:ext cx="1092200" cy="508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D04F42-4E4F-3442-B697-2844BBF17D1A}"/>
              </a:ext>
            </a:extLst>
          </p:cNvPr>
          <p:cNvSpPr txBox="1"/>
          <p:nvPr/>
        </p:nvSpPr>
        <p:spPr>
          <a:xfrm>
            <a:off x="635000" y="2387600"/>
            <a:ext cx="5080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7E94B0"/>
                </a:solidFill>
              </a:rPr>
              <a:t>FOUR SIDES, ONE PROTOCOL</a:t>
            </a:r>
            <a:endParaRPr lang="ko-KR" altLang="en-US" sz="900" b="1">
              <a:solidFill>
                <a:srgbClr val="7E94B0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E1BBC837-B134-EB46-A7AD-78ECF913E444}"/>
              </a:ext>
            </a:extLst>
          </p:cNvPr>
          <p:cNvSpPr/>
          <p:nvPr/>
        </p:nvSpPr>
        <p:spPr>
          <a:xfrm>
            <a:off x="635000" y="2641600"/>
            <a:ext cx="2540000" cy="1219200"/>
          </a:xfrm>
          <a:prstGeom prst="roundRect">
            <a:avLst/>
          </a:prstGeom>
          <a:solidFill>
            <a:srgbClr val="0D1625"/>
          </a:solidFill>
          <a:ln w="12700" cap="flat" cmpd="sng" algn="ctr">
            <a:solidFill>
              <a:srgbClr val="1F406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E8B881D-831E-714D-B97A-E6064364189B}"/>
              </a:ext>
            </a:extLst>
          </p:cNvPr>
          <p:cNvSpPr/>
          <p:nvPr/>
        </p:nvSpPr>
        <p:spPr>
          <a:xfrm>
            <a:off x="635000" y="2794000"/>
            <a:ext cx="45719" cy="9398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9E7BB1-0971-214E-8D3D-0CE95BF729F6}"/>
              </a:ext>
            </a:extLst>
          </p:cNvPr>
          <p:cNvSpPr txBox="1"/>
          <p:nvPr/>
        </p:nvSpPr>
        <p:spPr>
          <a:xfrm>
            <a:off x="812800" y="2794000"/>
            <a:ext cx="21844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4AA3FF"/>
                </a:solidFill>
              </a:rPr>
              <a:t>DEMAND</a:t>
            </a:r>
            <a:endParaRPr lang="ko-KR" altLang="en-US" sz="900" b="1">
              <a:solidFill>
                <a:srgbClr val="4AA3FF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88EB16-CAAC-3143-9E56-D83527D6A7A8}"/>
              </a:ext>
            </a:extLst>
          </p:cNvPr>
          <p:cNvSpPr txBox="1"/>
          <p:nvPr/>
        </p:nvSpPr>
        <p:spPr>
          <a:xfrm>
            <a:off x="812800" y="2997200"/>
            <a:ext cx="21844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500" b="1">
                <a:solidFill>
                  <a:srgbClr val="EDF4FF"/>
                </a:solidFill>
              </a:rPr>
              <a:t>Riders &amp; Buyers</a:t>
            </a:r>
            <a:endParaRPr lang="ko-KR" altLang="en-US" sz="1500" b="1">
              <a:solidFill>
                <a:srgbClr val="EDF4F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131775-2149-7C47-BFD5-673CDDE74F27}"/>
              </a:ext>
            </a:extLst>
          </p:cNvPr>
          <p:cNvSpPr txBox="1"/>
          <p:nvPr/>
        </p:nvSpPr>
        <p:spPr>
          <a:xfrm>
            <a:off x="812800" y="3327400"/>
            <a:ext cx="21844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>
                <a:solidFill>
                  <a:srgbClr val="D6E2F2"/>
                </a:solidFill>
              </a:rPr>
              <a:t>Want fair pricing and trustworthy histories</a:t>
            </a:r>
            <a:endParaRPr lang="ko-KR" altLang="en-US" sz="1100">
              <a:solidFill>
                <a:srgbClr val="D6E2F2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827A7C75-158B-D94B-84E2-277D1229A7D4}"/>
              </a:ext>
            </a:extLst>
          </p:cNvPr>
          <p:cNvSpPr/>
          <p:nvPr/>
        </p:nvSpPr>
        <p:spPr>
          <a:xfrm>
            <a:off x="3454400" y="2641600"/>
            <a:ext cx="2540000" cy="1219200"/>
          </a:xfrm>
          <a:prstGeom prst="roundRect">
            <a:avLst/>
          </a:prstGeom>
          <a:solidFill>
            <a:srgbClr val="0D1625"/>
          </a:solidFill>
          <a:ln w="12700" cap="flat" cmpd="sng" algn="ctr">
            <a:solidFill>
              <a:srgbClr val="1F406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5CFD026-16DB-ED4B-8E02-E3F345CA3B53}"/>
              </a:ext>
            </a:extLst>
          </p:cNvPr>
          <p:cNvSpPr/>
          <p:nvPr/>
        </p:nvSpPr>
        <p:spPr>
          <a:xfrm>
            <a:off x="3454400" y="2794000"/>
            <a:ext cx="45719" cy="939800"/>
          </a:xfrm>
          <a:prstGeom prst="rect">
            <a:avLst/>
          </a:prstGeom>
          <a:solidFill>
            <a:srgbClr val="A8E89E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595689-94F8-4C45-B41B-76C082D23458}"/>
              </a:ext>
            </a:extLst>
          </p:cNvPr>
          <p:cNvSpPr txBox="1"/>
          <p:nvPr/>
        </p:nvSpPr>
        <p:spPr>
          <a:xfrm>
            <a:off x="3632200" y="2794000"/>
            <a:ext cx="21844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A8E89E"/>
                </a:solidFill>
              </a:rPr>
              <a:t>SUPPLY</a:t>
            </a:r>
            <a:endParaRPr lang="ko-KR" altLang="en-US" sz="900" b="1">
              <a:solidFill>
                <a:srgbClr val="A8E89E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D94C12-3CD3-8E42-A1EA-386489644CA3}"/>
              </a:ext>
            </a:extLst>
          </p:cNvPr>
          <p:cNvSpPr txBox="1"/>
          <p:nvPr/>
        </p:nvSpPr>
        <p:spPr>
          <a:xfrm>
            <a:off x="3632200" y="2997200"/>
            <a:ext cx="21844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500" b="1">
                <a:solidFill>
                  <a:srgbClr val="EDF4FF"/>
                </a:solidFill>
              </a:rPr>
              <a:t>Mechanics &amp; Dealers</a:t>
            </a:r>
            <a:endParaRPr lang="ko-KR" altLang="en-US" sz="1500" b="1">
              <a:solidFill>
                <a:srgbClr val="EDF4FF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D05EE1-1301-6D49-A2FF-7A84DEC5DD99}"/>
              </a:ext>
            </a:extLst>
          </p:cNvPr>
          <p:cNvSpPr txBox="1"/>
          <p:nvPr/>
        </p:nvSpPr>
        <p:spPr>
          <a:xfrm>
            <a:off x="3632200" y="3327400"/>
            <a:ext cx="21844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>
                <a:solidFill>
                  <a:srgbClr val="D6E2F2"/>
                </a:solidFill>
              </a:rPr>
              <a:t>Build verified reputation; gain customer trust</a:t>
            </a:r>
            <a:endParaRPr lang="ko-KR" altLang="en-US" sz="1100">
              <a:solidFill>
                <a:srgbClr val="D6E2F2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4A7A65C-5C0F-CC44-8250-E6B2A22D4DEE}"/>
              </a:ext>
            </a:extLst>
          </p:cNvPr>
          <p:cNvSpPr/>
          <p:nvPr/>
        </p:nvSpPr>
        <p:spPr>
          <a:xfrm>
            <a:off x="6273800" y="2641600"/>
            <a:ext cx="2540000" cy="1219200"/>
          </a:xfrm>
          <a:prstGeom prst="roundRect">
            <a:avLst/>
          </a:prstGeom>
          <a:solidFill>
            <a:srgbClr val="0D1625"/>
          </a:solidFill>
          <a:ln w="12700" cap="flat" cmpd="sng" algn="ctr">
            <a:solidFill>
              <a:srgbClr val="1F406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D3E79DD-7460-AB4E-95C0-CC62551E8CA0}"/>
              </a:ext>
            </a:extLst>
          </p:cNvPr>
          <p:cNvSpPr/>
          <p:nvPr/>
        </p:nvSpPr>
        <p:spPr>
          <a:xfrm>
            <a:off x="6273800" y="2794000"/>
            <a:ext cx="45719" cy="939800"/>
          </a:xfrm>
          <a:prstGeom prst="rect">
            <a:avLst/>
          </a:prstGeom>
          <a:solidFill>
            <a:srgbClr val="F4A261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345F47-447D-904A-8671-86A4D0812598}"/>
              </a:ext>
            </a:extLst>
          </p:cNvPr>
          <p:cNvSpPr txBox="1"/>
          <p:nvPr/>
        </p:nvSpPr>
        <p:spPr>
          <a:xfrm>
            <a:off x="6451600" y="2794000"/>
            <a:ext cx="21844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F4A261"/>
                </a:solidFill>
              </a:rPr>
              <a:t>CAPITAL</a:t>
            </a:r>
            <a:endParaRPr lang="ko-KR" altLang="en-US" sz="900" b="1">
              <a:solidFill>
                <a:srgbClr val="F4A26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D82773-ECCF-1248-9765-8E2FE36C145F}"/>
              </a:ext>
            </a:extLst>
          </p:cNvPr>
          <p:cNvSpPr txBox="1"/>
          <p:nvPr/>
        </p:nvSpPr>
        <p:spPr>
          <a:xfrm>
            <a:off x="6451600" y="2997200"/>
            <a:ext cx="21844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500" b="1">
                <a:solidFill>
                  <a:srgbClr val="EDF4FF"/>
                </a:solidFill>
              </a:rPr>
              <a:t>Liquidity Providers</a:t>
            </a:r>
            <a:endParaRPr lang="ko-KR" altLang="en-US" sz="1500" b="1">
              <a:solidFill>
                <a:srgbClr val="EDF4FF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76DE769-7C2C-CD45-9631-341C76B962C5}"/>
              </a:ext>
            </a:extLst>
          </p:cNvPr>
          <p:cNvSpPr txBox="1"/>
          <p:nvPr/>
        </p:nvSpPr>
        <p:spPr>
          <a:xfrm>
            <a:off x="6451600" y="3327400"/>
            <a:ext cx="21844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>
                <a:solidFill>
                  <a:srgbClr val="D6E2F2"/>
                </a:solidFill>
              </a:rPr>
              <a:t>Real insurance demand — not token emissions</a:t>
            </a:r>
            <a:endParaRPr lang="ko-KR" altLang="en-US" sz="1100">
              <a:solidFill>
                <a:srgbClr val="D6E2F2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045F1CBA-3F19-DB46-845F-F9A99925F40E}"/>
              </a:ext>
            </a:extLst>
          </p:cNvPr>
          <p:cNvSpPr/>
          <p:nvPr/>
        </p:nvSpPr>
        <p:spPr>
          <a:xfrm>
            <a:off x="9093200" y="2641600"/>
            <a:ext cx="2540000" cy="1219200"/>
          </a:xfrm>
          <a:prstGeom prst="roundRect">
            <a:avLst/>
          </a:prstGeom>
          <a:solidFill>
            <a:srgbClr val="0D1625"/>
          </a:solidFill>
          <a:ln w="12700" cap="flat" cmpd="sng" algn="ctr">
            <a:solidFill>
              <a:srgbClr val="1F406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ED92D718-CF40-7A4A-ABFF-E89E3B6EB8CF}"/>
              </a:ext>
            </a:extLst>
          </p:cNvPr>
          <p:cNvSpPr/>
          <p:nvPr/>
        </p:nvSpPr>
        <p:spPr>
          <a:xfrm>
            <a:off x="9093200" y="2794000"/>
            <a:ext cx="45719" cy="939800"/>
          </a:xfrm>
          <a:prstGeom prst="rect">
            <a:avLst/>
          </a:prstGeom>
          <a:solidFill>
            <a:srgbClr val="C9A0DC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CC24B6-CC89-E84B-AF96-5CB939A8203B}"/>
              </a:ext>
            </a:extLst>
          </p:cNvPr>
          <p:cNvSpPr txBox="1"/>
          <p:nvPr/>
        </p:nvSpPr>
        <p:spPr>
          <a:xfrm>
            <a:off x="9271000" y="2794000"/>
            <a:ext cx="21844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C9A0DC"/>
                </a:solidFill>
              </a:rPr>
              <a:t>B2B</a:t>
            </a:r>
            <a:endParaRPr lang="ko-KR" altLang="en-US" sz="900" b="1">
              <a:solidFill>
                <a:srgbClr val="C9A0DC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914D940-8EED-A844-8AE5-AC2D3A92D0A9}"/>
              </a:ext>
            </a:extLst>
          </p:cNvPr>
          <p:cNvSpPr txBox="1"/>
          <p:nvPr/>
        </p:nvSpPr>
        <p:spPr>
          <a:xfrm>
            <a:off x="9271000" y="2997200"/>
            <a:ext cx="21844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500" b="1">
                <a:solidFill>
                  <a:srgbClr val="EDF4FF"/>
                </a:solidFill>
              </a:rPr>
              <a:t>Insurers &amp; Lenders</a:t>
            </a:r>
            <a:endParaRPr lang="ko-KR" altLang="en-US" sz="1500" b="1">
              <a:solidFill>
                <a:srgbClr val="EDF4FF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7D93BD-BB9C-7B42-8D22-D53277AA28A2}"/>
              </a:ext>
            </a:extLst>
          </p:cNvPr>
          <p:cNvSpPr txBox="1"/>
          <p:nvPr/>
        </p:nvSpPr>
        <p:spPr>
          <a:xfrm>
            <a:off x="9271000" y="3327400"/>
            <a:ext cx="21844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>
                <a:solidFill>
                  <a:srgbClr val="D6E2F2"/>
                </a:solidFill>
              </a:rPr>
              <a:t>Consume verified data for underwriting</a:t>
            </a:r>
            <a:endParaRPr lang="ko-KR" altLang="en-US" sz="1100">
              <a:solidFill>
                <a:srgbClr val="D6E2F2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7AE3EF5D-B85D-B241-95DE-E366A2E77FED}"/>
              </a:ext>
            </a:extLst>
          </p:cNvPr>
          <p:cNvSpPr/>
          <p:nvPr/>
        </p:nvSpPr>
        <p:spPr>
          <a:xfrm>
            <a:off x="635000" y="4089400"/>
            <a:ext cx="5270500" cy="2159000"/>
          </a:xfrm>
          <a:prstGeom prst="roundRect">
            <a:avLst/>
          </a:prstGeom>
          <a:solidFill>
            <a:srgbClr val="102542"/>
          </a:solidFill>
          <a:ln w="12700" cap="flat" cmpd="sng" algn="ctr">
            <a:solidFill>
              <a:srgbClr val="4AA3F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B280A47-F272-BA4B-A697-49D4D7254E9C}"/>
              </a:ext>
            </a:extLst>
          </p:cNvPr>
          <p:cNvSpPr/>
          <p:nvPr/>
        </p:nvSpPr>
        <p:spPr>
          <a:xfrm>
            <a:off x="914400" y="4080443"/>
            <a:ext cx="4724400" cy="87376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8B5F4FE-9599-394D-B2D7-5C52AC1F2D5E}"/>
              </a:ext>
            </a:extLst>
          </p:cNvPr>
          <p:cNvSpPr txBox="1"/>
          <p:nvPr/>
        </p:nvSpPr>
        <p:spPr>
          <a:xfrm>
            <a:off x="863600" y="4216400"/>
            <a:ext cx="2540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9CC6FF"/>
                </a:solidFill>
              </a:rPr>
              <a:t>LAUNCH STRATEGY</a:t>
            </a:r>
            <a:endParaRPr lang="ko-KR" altLang="en-US" sz="900" b="1">
              <a:solidFill>
                <a:srgbClr val="9CC6FF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23C82C3-62A5-3249-AFE3-798E55E3F824}"/>
              </a:ext>
            </a:extLst>
          </p:cNvPr>
          <p:cNvSpPr txBox="1"/>
          <p:nvPr/>
        </p:nvSpPr>
        <p:spPr>
          <a:xfrm>
            <a:off x="863600" y="4419600"/>
            <a:ext cx="4826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600" b="1">
                <a:solidFill>
                  <a:srgbClr val="EDF4FF"/>
                </a:solidFill>
              </a:rPr>
              <a:t>Seoul wedge — dealer-led adoption</a:t>
            </a:r>
            <a:endParaRPr lang="ko-KR" altLang="en-US" sz="1600" b="1">
              <a:solidFill>
                <a:srgbClr val="EDF4FF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7D3CB1A-281A-2040-883E-4F317BBEDC17}"/>
              </a:ext>
            </a:extLst>
          </p:cNvPr>
          <p:cNvSpPr txBox="1"/>
          <p:nvPr/>
        </p:nvSpPr>
        <p:spPr>
          <a:xfrm>
            <a:off x="863600" y="4775200"/>
            <a:ext cx="4826000" cy="660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>
                <a:solidFill>
                  <a:srgbClr val="D6E2F2"/>
                </a:solidFill>
              </a:rPr>
              <a:t>Partner with a small number of high-volume used-bike dealers and trusted repair shops in one dense urban market. Dealers control supply — they push adoption downstream.</a:t>
            </a:r>
            <a:endParaRPr lang="ko-KR" altLang="en-US" sz="1100">
              <a:solidFill>
                <a:srgbClr val="D6E2F2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C126755-D46A-D849-A8C4-C22519E95A4F}"/>
              </a:ext>
            </a:extLst>
          </p:cNvPr>
          <p:cNvSpPr/>
          <p:nvPr/>
        </p:nvSpPr>
        <p:spPr>
          <a:xfrm>
            <a:off x="863600" y="5588000"/>
            <a:ext cx="50800" cy="558800"/>
          </a:xfrm>
          <a:prstGeom prst="rect">
            <a:avLst/>
          </a:prstGeom>
          <a:solidFill>
            <a:srgbClr val="A8E89E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5DF3A72-8ECF-1E45-AB02-1F826F7B0AA8}"/>
              </a:ext>
            </a:extLst>
          </p:cNvPr>
          <p:cNvSpPr txBox="1"/>
          <p:nvPr/>
        </p:nvSpPr>
        <p:spPr>
          <a:xfrm>
            <a:off x="1016000" y="5562600"/>
            <a:ext cx="2540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A8E89E"/>
                </a:solidFill>
              </a:rPr>
              <a:t>WHY IT WORKS</a:t>
            </a:r>
            <a:endParaRPr lang="ko-KR" altLang="en-US" sz="900" b="1">
              <a:solidFill>
                <a:srgbClr val="A8E89E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56AD71-A3A9-9F4B-B074-343F414A86EB}"/>
              </a:ext>
            </a:extLst>
          </p:cNvPr>
          <p:cNvSpPr txBox="1"/>
          <p:nvPr/>
        </p:nvSpPr>
        <p:spPr>
          <a:xfrm>
            <a:off x="1016000" y="5765800"/>
            <a:ext cx="4699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>
                <a:solidFill>
                  <a:srgbClr val="EDF4FF"/>
                </a:solidFill>
              </a:rPr>
              <a:t>Verified histories let dealers sell faster, at higher prices, with fewer disputes — direct financial reason to onboard mechanics.</a:t>
            </a:r>
            <a:endParaRPr lang="ko-KR" altLang="en-US" sz="1100">
              <a:solidFill>
                <a:srgbClr val="EDF4FF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2DCAD889-2B16-5C4C-ADDB-D46C7275C9BA}"/>
              </a:ext>
            </a:extLst>
          </p:cNvPr>
          <p:cNvSpPr/>
          <p:nvPr/>
        </p:nvSpPr>
        <p:spPr>
          <a:xfrm>
            <a:off x="6286500" y="4089400"/>
            <a:ext cx="5270500" cy="1041400"/>
          </a:xfrm>
          <a:prstGeom prst="roundRect">
            <a:avLst/>
          </a:prstGeom>
          <a:solidFill>
            <a:srgbClr val="1A1208"/>
          </a:solidFill>
          <a:ln w="12700" cap="flat" cmpd="sng" algn="ctr">
            <a:solidFill>
              <a:srgbClr val="F4A261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6854C21-D0A8-C744-A003-6ED1E27D8126}"/>
              </a:ext>
            </a:extLst>
          </p:cNvPr>
          <p:cNvSpPr txBox="1"/>
          <p:nvPr/>
        </p:nvSpPr>
        <p:spPr>
          <a:xfrm>
            <a:off x="6515100" y="4216400"/>
            <a:ext cx="2540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F4A261"/>
                </a:solidFill>
              </a:rPr>
              <a:t>SYBIL RESISTANCE</a:t>
            </a:r>
            <a:endParaRPr lang="ko-KR" altLang="en-US" sz="900" b="1">
              <a:solidFill>
                <a:srgbClr val="F4A261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3CFC73A-320C-C246-9194-51F3C9F972DD}"/>
              </a:ext>
            </a:extLst>
          </p:cNvPr>
          <p:cNvSpPr txBox="1"/>
          <p:nvPr/>
        </p:nvSpPr>
        <p:spPr>
          <a:xfrm>
            <a:off x="6515100" y="4419600"/>
            <a:ext cx="482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400" b="1">
                <a:solidFill>
                  <a:srgbClr val="EDF4FF"/>
                </a:solidFill>
              </a:rPr>
              <a:t>Rewards for proof of real participation</a:t>
            </a:r>
            <a:endParaRPr lang="ko-KR" altLang="en-US" sz="1400" b="1">
              <a:solidFill>
                <a:srgbClr val="EDF4FF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FBA49FC-8532-C04E-B013-0C966173F362}"/>
              </a:ext>
            </a:extLst>
          </p:cNvPr>
          <p:cNvSpPr txBox="1"/>
          <p:nvPr/>
        </p:nvSpPr>
        <p:spPr>
          <a:xfrm>
            <a:off x="6515100" y="4640969"/>
            <a:ext cx="4826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 dirty="0">
                <a:solidFill>
                  <a:srgbClr val="D6E2F2"/>
                </a:solidFill>
              </a:rPr>
              <a:t>Registering a real vehicle, maintaining a verified record, contributing to the pool. Not wallet creation.</a:t>
            </a:r>
            <a:endParaRPr lang="ko-KR" altLang="en-US" sz="1100" dirty="0">
              <a:solidFill>
                <a:srgbClr val="D6E2F2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253B71E1-7289-5340-A6F0-AAE5333FC7FC}"/>
              </a:ext>
            </a:extLst>
          </p:cNvPr>
          <p:cNvSpPr/>
          <p:nvPr/>
        </p:nvSpPr>
        <p:spPr>
          <a:xfrm>
            <a:off x="6286500" y="5207000"/>
            <a:ext cx="5270500" cy="1041400"/>
          </a:xfrm>
          <a:prstGeom prst="roundRect">
            <a:avLst/>
          </a:prstGeom>
          <a:solidFill>
            <a:srgbClr val="1A0E2A"/>
          </a:solidFill>
          <a:ln w="12700" cap="flat" cmpd="sng" algn="ctr">
            <a:solidFill>
              <a:srgbClr val="C9A0DC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05D8345-83D2-FD47-A3D3-A19B576904C8}"/>
              </a:ext>
            </a:extLst>
          </p:cNvPr>
          <p:cNvSpPr txBox="1"/>
          <p:nvPr/>
        </p:nvSpPr>
        <p:spPr>
          <a:xfrm>
            <a:off x="6515100" y="5334000"/>
            <a:ext cx="2540000" cy="152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900" b="1">
                <a:solidFill>
                  <a:srgbClr val="C9A0DC"/>
                </a:solidFill>
              </a:rPr>
              <a:t>B2B PARTNERSHIPS</a:t>
            </a:r>
            <a:endParaRPr lang="ko-KR" altLang="en-US" sz="900" b="1">
              <a:solidFill>
                <a:srgbClr val="C9A0DC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5C271B0-A6B0-B847-A9EA-471A1F64880B}"/>
              </a:ext>
            </a:extLst>
          </p:cNvPr>
          <p:cNvSpPr txBox="1"/>
          <p:nvPr/>
        </p:nvSpPr>
        <p:spPr>
          <a:xfrm>
            <a:off x="6515100" y="5537200"/>
            <a:ext cx="4826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400" b="1" dirty="0">
                <a:solidFill>
                  <a:srgbClr val="EDF4FF"/>
                </a:solidFill>
              </a:rPr>
              <a:t>Visible at the moment of decision</a:t>
            </a:r>
            <a:endParaRPr lang="ko-KR" altLang="en-US" sz="1400" b="1" dirty="0">
              <a:solidFill>
                <a:srgbClr val="EDF4FF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A4C5283-C467-E749-BE1D-564CA081C5C5}"/>
              </a:ext>
            </a:extLst>
          </p:cNvPr>
          <p:cNvSpPr txBox="1"/>
          <p:nvPr/>
        </p:nvSpPr>
        <p:spPr>
          <a:xfrm>
            <a:off x="6515100" y="5765800"/>
            <a:ext cx="4826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100" dirty="0">
                <a:solidFill>
                  <a:srgbClr val="D6E2F2"/>
                </a:solidFill>
              </a:rPr>
              <a:t>Marketplace integrations show a Verified History badge. Insurance APIs convert behavioral score into immediate pricing input.</a:t>
            </a:r>
            <a:endParaRPr lang="ko-KR" altLang="en-US" sz="1100" dirty="0">
              <a:solidFill>
                <a:srgbClr val="D6E2F2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DB29B4E-21A2-C646-9084-CBED9D30B897}"/>
              </a:ext>
            </a:extLst>
          </p:cNvPr>
          <p:cNvSpPr/>
          <p:nvPr/>
        </p:nvSpPr>
        <p:spPr>
          <a:xfrm>
            <a:off x="635000" y="6477000"/>
            <a:ext cx="50800" cy="279400"/>
          </a:xfrm>
          <a:prstGeom prst="rect">
            <a:avLst/>
          </a:prstGeom>
          <a:solidFill>
            <a:srgbClr val="4AA3F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F33B4B9-429A-8B43-A247-8AA26BAC7683}"/>
              </a:ext>
            </a:extLst>
          </p:cNvPr>
          <p:cNvSpPr txBox="1"/>
          <p:nvPr/>
        </p:nvSpPr>
        <p:spPr>
          <a:xfrm>
            <a:off x="812800" y="65024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300" b="1">
                <a:solidFill>
                  <a:srgbClr val="EDF4FF"/>
                </a:solidFill>
              </a:rPr>
              <a:t>Win the dealers in Seoul. The riders, mechanics, and B2B partners follow them.</a:t>
            </a:r>
            <a:endParaRPr lang="ko-KR" altLang="en-US" sz="1300" b="1">
              <a:solidFill>
                <a:srgbClr val="EDF4FF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A55BAAA-8CDB-AF53-2F98-FBD501A22D01}"/>
              </a:ext>
            </a:extLst>
          </p:cNvPr>
          <p:cNvSpPr txBox="1"/>
          <p:nvPr/>
        </p:nvSpPr>
        <p:spPr>
          <a:xfrm>
            <a:off x="9601200" y="6656832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1" i="0">
                <a:solidFill>
                  <a:srgbClr val="9CC6FF"/>
                </a:solidFill>
                <a:latin typeface="Calibri"/>
              </a:rPr>
              <a:t>MotoChain &amp; RideTrue</a:t>
            </a:r>
          </a:p>
        </p:txBody>
      </p:sp>
    </p:spTree>
    <p:extLst>
      <p:ext uri="{BB962C8B-B14F-4D97-AF65-F5344CB8AC3E}">
        <p14:creationId xmlns:p14="http://schemas.microsoft.com/office/powerpoint/2010/main" val="11050052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315200" y="-1371600"/>
            <a:ext cx="2743200" cy="2743200"/>
          </a:xfrm>
          <a:prstGeom prst="ellipse">
            <a:avLst/>
          </a:prstGeom>
          <a:solidFill>
            <a:srgbClr val="0D1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9CC6FF"/>
                </a:solidFill>
                <a:latin typeface="Calibri"/>
              </a:rPr>
              <a:t>RIDETRUE  ·  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B8C8E0"/>
                </a:solidFill>
                <a:latin typeface="Calibri"/>
              </a:rPr>
              <a:t>Six simple steps — from the moment something happens to the moment you get paid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1097280" cy="54864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531620" y="2446020"/>
            <a:ext cx="3429000" cy="3429000"/>
          </a:xfrm>
          <a:prstGeom prst="ellipse">
            <a:avLst/>
          </a:prstGeom>
          <a:noFill/>
          <a:ln w="19050">
            <a:solidFill>
              <a:srgbClr val="9CC6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Isosceles Triangle 10"/>
          <p:cNvSpPr/>
          <p:nvPr/>
        </p:nvSpPr>
        <p:spPr>
          <a:xfrm rot="7200000">
            <a:off x="3909060" y="2512636"/>
            <a:ext cx="365760" cy="365760"/>
          </a:xfrm>
          <a:prstGeom prst="triangle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Isosceles Triangle 11"/>
          <p:cNvSpPr/>
          <p:nvPr/>
        </p:nvSpPr>
        <p:spPr>
          <a:xfrm rot="10800000">
            <a:off x="4754880" y="3977640"/>
            <a:ext cx="365760" cy="365760"/>
          </a:xfrm>
          <a:prstGeom prst="triangle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Isosceles Triangle 12"/>
          <p:cNvSpPr/>
          <p:nvPr/>
        </p:nvSpPr>
        <p:spPr>
          <a:xfrm rot="14400000">
            <a:off x="3909060" y="5442643"/>
            <a:ext cx="365760" cy="365760"/>
          </a:xfrm>
          <a:prstGeom prst="triangle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Isosceles Triangle 13"/>
          <p:cNvSpPr/>
          <p:nvPr/>
        </p:nvSpPr>
        <p:spPr>
          <a:xfrm rot="18000000">
            <a:off x="2217420" y="5442643"/>
            <a:ext cx="365760" cy="365760"/>
          </a:xfrm>
          <a:prstGeom prst="triangle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Isosceles Triangle 14"/>
          <p:cNvSpPr/>
          <p:nvPr/>
        </p:nvSpPr>
        <p:spPr>
          <a:xfrm>
            <a:off x="1371600" y="3977640"/>
            <a:ext cx="365760" cy="365760"/>
          </a:xfrm>
          <a:prstGeom prst="triangle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Isosceles Triangle 15"/>
          <p:cNvSpPr/>
          <p:nvPr/>
        </p:nvSpPr>
        <p:spPr>
          <a:xfrm rot="3600000">
            <a:off x="2217419" y="2512636"/>
            <a:ext cx="365760" cy="365760"/>
          </a:xfrm>
          <a:prstGeom prst="triangle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2706624" y="1929384"/>
            <a:ext cx="1078992" cy="1078992"/>
          </a:xfrm>
          <a:prstGeom prst="ellipse">
            <a:avLst/>
          </a:prstGeom>
          <a:solidFill>
            <a:srgbClr val="1A3F70"/>
          </a:solidFill>
          <a:ln w="2857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8" name="Oval 17"/>
          <p:cNvSpPr/>
          <p:nvPr/>
        </p:nvSpPr>
        <p:spPr>
          <a:xfrm>
            <a:off x="4171627" y="2775204"/>
            <a:ext cx="1078992" cy="1078992"/>
          </a:xfrm>
          <a:prstGeom prst="ellipse">
            <a:avLst/>
          </a:prstGeom>
          <a:solidFill>
            <a:srgbClr val="1A3F70"/>
          </a:solidFill>
          <a:ln w="2857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9" name="Oval 18"/>
          <p:cNvSpPr/>
          <p:nvPr/>
        </p:nvSpPr>
        <p:spPr>
          <a:xfrm>
            <a:off x="4171627" y="4466844"/>
            <a:ext cx="1078992" cy="1078992"/>
          </a:xfrm>
          <a:prstGeom prst="ellipse">
            <a:avLst/>
          </a:prstGeom>
          <a:solidFill>
            <a:srgbClr val="1A3F70"/>
          </a:solidFill>
          <a:ln w="2857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0" name="Oval 19"/>
          <p:cNvSpPr/>
          <p:nvPr/>
        </p:nvSpPr>
        <p:spPr>
          <a:xfrm>
            <a:off x="2706624" y="5312664"/>
            <a:ext cx="1078992" cy="1078992"/>
          </a:xfrm>
          <a:prstGeom prst="ellipse">
            <a:avLst/>
          </a:prstGeom>
          <a:solidFill>
            <a:srgbClr val="1A3F70"/>
          </a:solidFill>
          <a:ln w="2857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1" name="Oval 20"/>
          <p:cNvSpPr/>
          <p:nvPr/>
        </p:nvSpPr>
        <p:spPr>
          <a:xfrm>
            <a:off x="1241620" y="4466844"/>
            <a:ext cx="1078992" cy="1078992"/>
          </a:xfrm>
          <a:prstGeom prst="ellipse">
            <a:avLst/>
          </a:prstGeom>
          <a:solidFill>
            <a:srgbClr val="1A3F70"/>
          </a:solidFill>
          <a:ln w="2857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2" name="Oval 21"/>
          <p:cNvSpPr/>
          <p:nvPr/>
        </p:nvSpPr>
        <p:spPr>
          <a:xfrm>
            <a:off x="1241620" y="2775204"/>
            <a:ext cx="1078992" cy="1078992"/>
          </a:xfrm>
          <a:prstGeom prst="ellipse">
            <a:avLst/>
          </a:prstGeom>
          <a:solidFill>
            <a:srgbClr val="1A3F70"/>
          </a:solidFill>
          <a:ln w="2857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3" name="Oval 22"/>
          <p:cNvSpPr/>
          <p:nvPr/>
        </p:nvSpPr>
        <p:spPr>
          <a:xfrm>
            <a:off x="2446020" y="3360420"/>
            <a:ext cx="1600200" cy="1600200"/>
          </a:xfrm>
          <a:prstGeom prst="ellipse">
            <a:avLst/>
          </a:prstGeom>
          <a:solidFill>
            <a:srgbClr val="27D8D8"/>
          </a:solidFill>
          <a:ln w="31750">
            <a:solidFill>
              <a:srgbClr val="C8D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300" b="1">
                <a:solidFill>
                  <a:srgbClr val="050A12"/>
                </a:solidFill>
                <a:latin typeface="Calibri"/>
              </a:rPr>
              <a:t>RIDETRUE</a:t>
            </a:r>
          </a:p>
          <a:p>
            <a:pPr algn="ctr"/>
            <a:r>
              <a:rPr sz="900" b="1">
                <a:solidFill>
                  <a:srgbClr val="050A12"/>
                </a:solidFill>
                <a:latin typeface="Calibri"/>
              </a:rPr>
              <a:t>claim cycle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46520" y="2148840"/>
            <a:ext cx="5394960" cy="4343400"/>
          </a:xfrm>
          <a:prstGeom prst="roundRect">
            <a:avLst/>
          </a:prstGeom>
          <a:solidFill>
            <a:srgbClr val="0D1625"/>
          </a:solidFill>
          <a:ln w="12700">
            <a:solidFill>
              <a:srgbClr val="142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12280" y="237744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9CC6FF"/>
                </a:solidFill>
                <a:latin typeface="Calibri"/>
              </a:rPr>
              <a:t>THE SIX STEPS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12280" y="2697480"/>
            <a:ext cx="457200" cy="36576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6812280" y="2953512"/>
            <a:ext cx="411480" cy="411480"/>
          </a:xfrm>
          <a:prstGeom prst="ellipse">
            <a:avLst/>
          </a:prstGeom>
          <a:solidFill>
            <a:srgbClr val="1A3F70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2916936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EDF4FF"/>
                </a:solidFill>
                <a:latin typeface="Calibri"/>
              </a:rPr>
              <a:t>SOMETHING HAPPENS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172968"/>
            <a:ext cx="4343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C8E0"/>
                </a:solidFill>
                <a:latin typeface="Calibri"/>
              </a:rPr>
              <a:t>Crash, theft, or damage</a:t>
            </a:r>
          </a:p>
        </p:txBody>
      </p:sp>
      <p:sp>
        <p:nvSpPr>
          <p:cNvPr id="30" name="Oval 29"/>
          <p:cNvSpPr/>
          <p:nvPr/>
        </p:nvSpPr>
        <p:spPr>
          <a:xfrm>
            <a:off x="6812280" y="3538728"/>
            <a:ext cx="411480" cy="411480"/>
          </a:xfrm>
          <a:prstGeom prst="ellipse">
            <a:avLst/>
          </a:prstGeom>
          <a:solidFill>
            <a:srgbClr val="1A3F70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06640" y="3502152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EDF4FF"/>
                </a:solidFill>
                <a:latin typeface="Calibri"/>
              </a:rPr>
              <a:t>RIDER FILES CLAIM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3758184"/>
            <a:ext cx="4343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C8E0"/>
                </a:solidFill>
                <a:latin typeface="Calibri"/>
              </a:rPr>
              <a:t>Opens the app, adds photos &amp; details</a:t>
            </a:r>
          </a:p>
        </p:txBody>
      </p:sp>
      <p:sp>
        <p:nvSpPr>
          <p:cNvPr id="33" name="Oval 32"/>
          <p:cNvSpPr/>
          <p:nvPr/>
        </p:nvSpPr>
        <p:spPr>
          <a:xfrm>
            <a:off x="6812280" y="4123944"/>
            <a:ext cx="411480" cy="411480"/>
          </a:xfrm>
          <a:prstGeom prst="ellipse">
            <a:avLst/>
          </a:prstGeom>
          <a:solidFill>
            <a:srgbClr val="1A3F70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4087368"/>
            <a:ext cx="4343400" cy="192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dirty="0">
                <a:solidFill>
                  <a:srgbClr val="EDF4FF"/>
                </a:solidFill>
                <a:latin typeface="Calibri"/>
              </a:rPr>
              <a:t>EVIDENCE GATHERED</a:t>
            </a:r>
            <a:r>
              <a:rPr lang="en-US" sz="1250" b="1" i="0" dirty="0">
                <a:solidFill>
                  <a:srgbClr val="EDF4FF"/>
                </a:solidFill>
                <a:latin typeface="Calibri"/>
              </a:rPr>
              <a:t> ( Oracle Verification)</a:t>
            </a:r>
            <a:endParaRPr sz="1250" b="1" i="0" dirty="0">
              <a:solidFill>
                <a:srgbClr val="EDF4FF"/>
              </a:solidFill>
              <a:latin typeface="Calibr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406640" y="4343400"/>
            <a:ext cx="4343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C8E0"/>
                </a:solidFill>
                <a:latin typeface="Calibri"/>
              </a:rPr>
              <a:t>System checks shops, police, insurers</a:t>
            </a:r>
          </a:p>
        </p:txBody>
      </p:sp>
      <p:sp>
        <p:nvSpPr>
          <p:cNvPr id="36" name="Oval 35"/>
          <p:cNvSpPr/>
          <p:nvPr/>
        </p:nvSpPr>
        <p:spPr>
          <a:xfrm>
            <a:off x="6812280" y="4709160"/>
            <a:ext cx="411480" cy="411480"/>
          </a:xfrm>
          <a:prstGeom prst="ellipse">
            <a:avLst/>
          </a:prstGeom>
          <a:solidFill>
            <a:srgbClr val="1A3F70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4672584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EDF4FF"/>
                </a:solidFill>
                <a:latin typeface="Calibri"/>
              </a:rPr>
              <a:t>CLAIM APPROVED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928616"/>
            <a:ext cx="4343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C8E0"/>
                </a:solidFill>
                <a:latin typeface="Calibri"/>
              </a:rPr>
              <a:t>Validators agree the claim is real</a:t>
            </a:r>
          </a:p>
        </p:txBody>
      </p:sp>
      <p:sp>
        <p:nvSpPr>
          <p:cNvPr id="39" name="Oval 38"/>
          <p:cNvSpPr/>
          <p:nvPr/>
        </p:nvSpPr>
        <p:spPr>
          <a:xfrm>
            <a:off x="6812280" y="5294376"/>
            <a:ext cx="411480" cy="411480"/>
          </a:xfrm>
          <a:prstGeom prst="ellipse">
            <a:avLst/>
          </a:prstGeom>
          <a:solidFill>
            <a:srgbClr val="1A3F70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5257800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EDF4FF"/>
                </a:solidFill>
                <a:latin typeface="Calibri"/>
              </a:rPr>
              <a:t>RIDER GETS PAID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06640" y="5513832"/>
            <a:ext cx="4343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C8E0"/>
                </a:solidFill>
                <a:latin typeface="Calibri"/>
              </a:rPr>
              <a:t>USDC sent to the rider's wallet</a:t>
            </a:r>
          </a:p>
        </p:txBody>
      </p:sp>
      <p:sp>
        <p:nvSpPr>
          <p:cNvPr id="42" name="Oval 41"/>
          <p:cNvSpPr/>
          <p:nvPr/>
        </p:nvSpPr>
        <p:spPr>
          <a:xfrm>
            <a:off x="6812280" y="5879592"/>
            <a:ext cx="411480" cy="411480"/>
          </a:xfrm>
          <a:prstGeom prst="ellipse">
            <a:avLst/>
          </a:prstGeom>
          <a:solidFill>
            <a:srgbClr val="1A3F70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06640" y="5843016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EDF4FF"/>
                </a:solidFill>
                <a:latin typeface="Calibri"/>
              </a:rPr>
              <a:t>POOL ADJUSTS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6099048"/>
            <a:ext cx="4343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C8E0"/>
                </a:solidFill>
                <a:latin typeface="Calibri"/>
              </a:rPr>
              <a:t>Reserves &amp; prices update for next time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" y="6565392"/>
            <a:ext cx="457200" cy="27432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40080" y="662025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1">
                <a:solidFill>
                  <a:srgbClr val="9CC6FF"/>
                </a:solidFill>
                <a:latin typeface="Calibri"/>
              </a:rPr>
              <a:t>Automated  ·  Transparent  ·  Paid in USDC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0" y="6620256"/>
            <a:ext cx="2286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CC6FF"/>
                </a:solidFill>
                <a:latin typeface="Calibri"/>
              </a:rPr>
              <a:t>MotoChain &amp; RideTrue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9CC6FF"/>
                </a:solidFill>
                <a:latin typeface="Calibri"/>
              </a:rPr>
              <a:t>II.5  ·  CORE FINANCIAL ASSUMPTIONS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DF4FF"/>
                </a:solidFill>
                <a:latin typeface="Calibri"/>
              </a:rPr>
              <a:t>Year 1–3 Assumptions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984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B8C8E0"/>
                </a:solidFill>
                <a:latin typeface="Calibri"/>
              </a:rPr>
              <a:t>Seoul launch · realistic numbers grounded in Korean industry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64208"/>
            <a:ext cx="1097280" cy="54864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874519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9CC6FF"/>
                </a:solidFill>
                <a:latin typeface="Calibri"/>
              </a:rPr>
              <a:t>01  ·  3-YEAR PROJECTION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121407"/>
            <a:ext cx="457200" cy="27432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02920" y="2240280"/>
            <a:ext cx="6858000" cy="4069080"/>
          </a:xfrm>
          <a:prstGeom prst="roundRect">
            <a:avLst/>
          </a:prstGeom>
          <a:noFill/>
          <a:ln w="12700">
            <a:solidFill>
              <a:srgbClr val="142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02920" y="2240280"/>
            <a:ext cx="3048000" cy="569671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410815"/>
            <a:ext cx="2773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9CC6FF"/>
                </a:solidFill>
                <a:latin typeface="Calibri"/>
              </a:rPr>
              <a:t>Metric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50920" y="2240280"/>
            <a:ext cx="1270000" cy="569671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88080" y="2410815"/>
            <a:ext cx="995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9CC6FF"/>
                </a:solidFill>
                <a:latin typeface="Calibri"/>
              </a:rPr>
              <a:t>Year 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20920" y="2240280"/>
            <a:ext cx="1270000" cy="569671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958080" y="2410815"/>
            <a:ext cx="995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9CC6FF"/>
                </a:solidFill>
                <a:latin typeface="Calibri"/>
              </a:rPr>
              <a:t>Year 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0920" y="2240280"/>
            <a:ext cx="1270000" cy="569671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28080" y="2410815"/>
            <a:ext cx="995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9CC6FF"/>
                </a:solidFill>
                <a:latin typeface="Calibri"/>
              </a:rPr>
              <a:t>Year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796235"/>
            <a:ext cx="6858000" cy="22860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02920" y="2809951"/>
            <a:ext cx="6858000" cy="388823"/>
          </a:xfrm>
          <a:prstGeom prst="rect">
            <a:avLst/>
          </a:prstGeom>
          <a:solidFill>
            <a:srgbClr val="101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2890062"/>
            <a:ext cx="2773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DF4FF"/>
                </a:solidFill>
                <a:latin typeface="Calibri"/>
              </a:rPr>
              <a:t>Registered motorcycles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88080" y="2890062"/>
            <a:ext cx="995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5,000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8080" y="2890062"/>
            <a:ext cx="995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25,000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8080" y="2890062"/>
            <a:ext cx="995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100,000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194202"/>
            <a:ext cx="6858000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080" y="3278886"/>
            <a:ext cx="2773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DF4FF"/>
                </a:solidFill>
                <a:latin typeface="Calibri"/>
              </a:rPr>
              <a:t>Active RideTrue riders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8080" y="3278886"/>
            <a:ext cx="995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2,000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58080" y="3278886"/>
            <a:ext cx="995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12,000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28080" y="3278886"/>
            <a:ext cx="995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50,000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583025"/>
            <a:ext cx="6858000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02920" y="3587597"/>
            <a:ext cx="6858000" cy="388823"/>
          </a:xfrm>
          <a:prstGeom prst="rect">
            <a:avLst/>
          </a:prstGeom>
          <a:solidFill>
            <a:srgbClr val="101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0080" y="3667709"/>
            <a:ext cx="2773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DF4FF"/>
                </a:solidFill>
                <a:latin typeface="Calibri"/>
              </a:rPr>
              <a:t>Verified mechanics / dealers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88080" y="3667709"/>
            <a:ext cx="995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100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58080" y="3667709"/>
            <a:ext cx="995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28080" y="3667709"/>
            <a:ext cx="995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2,000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971848"/>
            <a:ext cx="6858000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0080" y="4056532"/>
            <a:ext cx="2773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DF4FF"/>
                </a:solidFill>
                <a:latin typeface="Calibri"/>
              </a:rPr>
              <a:t>Average monthly premium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88080" y="4056532"/>
            <a:ext cx="995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₩90,000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58080" y="4056532"/>
            <a:ext cx="995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₩90,000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28080" y="4056532"/>
            <a:ext cx="995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₩90,000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360672"/>
            <a:ext cx="6858000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502920" y="4365244"/>
            <a:ext cx="6858000" cy="388823"/>
          </a:xfrm>
          <a:prstGeom prst="rect">
            <a:avLst/>
          </a:prstGeom>
          <a:solidFill>
            <a:srgbClr val="101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40080" y="4445355"/>
            <a:ext cx="2773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DF4FF"/>
                </a:solidFill>
                <a:latin typeface="Calibri"/>
              </a:rPr>
              <a:t>Annual pool contributions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88080" y="4445355"/>
            <a:ext cx="995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₩2.16B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58080" y="4445355"/>
            <a:ext cx="995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₩12.96B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28080" y="4445355"/>
            <a:ext cx="995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₩54B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749495"/>
            <a:ext cx="6858000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0080" y="4834178"/>
            <a:ext cx="2773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DF4FF"/>
                </a:solidFill>
                <a:latin typeface="Calibri"/>
              </a:rPr>
              <a:t>Modeled claim frequency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88080" y="4834178"/>
            <a:ext cx="995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8%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58080" y="4834178"/>
            <a:ext cx="995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28080" y="4834178"/>
            <a:ext cx="995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8%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138318"/>
            <a:ext cx="6858000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502920" y="5142890"/>
            <a:ext cx="6858000" cy="388823"/>
          </a:xfrm>
          <a:prstGeom prst="rect">
            <a:avLst/>
          </a:prstGeom>
          <a:solidFill>
            <a:srgbClr val="101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40080" y="5223002"/>
            <a:ext cx="2773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DF4FF"/>
                </a:solidFill>
                <a:latin typeface="Calibri"/>
              </a:rPr>
              <a:t>Average claim severity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88080" y="5223002"/>
            <a:ext cx="995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₩1.2M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58080" y="5223002"/>
            <a:ext cx="995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₩1.2M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28080" y="5223002"/>
            <a:ext cx="995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₩1.2M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527141"/>
            <a:ext cx="6858000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40080" y="5611825"/>
            <a:ext cx="2773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DF4FF"/>
                </a:solidFill>
                <a:latin typeface="Calibri"/>
              </a:rPr>
              <a:t>Modeled loss ratio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88080" y="5611825"/>
            <a:ext cx="995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~8.9%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58080" y="5611825"/>
            <a:ext cx="995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~8.9%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28080" y="5611825"/>
            <a:ext cx="995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~8.9%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2920" y="5915964"/>
            <a:ext cx="6858000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502920" y="5920536"/>
            <a:ext cx="6858000" cy="388823"/>
          </a:xfrm>
          <a:prstGeom prst="rect">
            <a:avLst/>
          </a:prstGeom>
          <a:solidFill>
            <a:srgbClr val="101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40080" y="6000648"/>
            <a:ext cx="2773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DF4FF"/>
                </a:solidFill>
                <a:latin typeface="Calibri"/>
              </a:rPr>
              <a:t>Protocol insurance fee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88080" y="6000648"/>
            <a:ext cx="995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5%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58080" y="6000648"/>
            <a:ext cx="995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28080" y="6000648"/>
            <a:ext cx="995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5%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589520" y="1874519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9CC6FF"/>
                </a:solidFill>
                <a:latin typeface="Calibri"/>
              </a:rPr>
              <a:t>02  ·  WHY THESE NUMBERS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589520" y="2121407"/>
            <a:ext cx="457200" cy="27432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ounded Rectangle 72"/>
          <p:cNvSpPr/>
          <p:nvPr/>
        </p:nvSpPr>
        <p:spPr>
          <a:xfrm>
            <a:off x="7589520" y="2240280"/>
            <a:ext cx="4114800" cy="914400"/>
          </a:xfrm>
          <a:prstGeom prst="roundRect">
            <a:avLst/>
          </a:prstGeom>
          <a:solidFill>
            <a:srgbClr val="122038"/>
          </a:solidFill>
          <a:ln w="952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7607808" y="2331720"/>
            <a:ext cx="54864" cy="731520"/>
          </a:xfrm>
          <a:prstGeom prst="rect">
            <a:avLst/>
          </a:prstGeom>
          <a:solidFill>
            <a:srgbClr val="27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7754112" y="2313432"/>
            <a:ext cx="3840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EDF4FF"/>
                </a:solidFill>
                <a:latin typeface="Calibri"/>
              </a:rPr>
              <a:t>Bike count Y1 ≈ 0.2% of Korea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754112" y="2532888"/>
            <a:ext cx="3840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5,000 of Korea's ~2.3M registered motorcycles. Bottom-up via 5 dealer partnerships in Seoul.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754112" y="2916936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1">
                <a:solidFill>
                  <a:srgbClr val="9CC6FF"/>
                </a:solidFill>
                <a:latin typeface="Calibri"/>
              </a:rPr>
              <a:t>↳ KMIA · KOSTAT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589520" y="3246120"/>
            <a:ext cx="4114800" cy="914400"/>
          </a:xfrm>
          <a:prstGeom prst="roundRect">
            <a:avLst/>
          </a:prstGeom>
          <a:solidFill>
            <a:srgbClr val="122038"/>
          </a:solidFill>
          <a:ln w="952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7607808" y="3337560"/>
            <a:ext cx="54864" cy="731520"/>
          </a:xfrm>
          <a:prstGeom prst="rect">
            <a:avLst/>
          </a:prstGeom>
          <a:solidFill>
            <a:srgbClr val="27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7754112" y="3319272"/>
            <a:ext cx="3840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EDF4FF"/>
                </a:solidFill>
                <a:latin typeface="Calibri"/>
              </a:rPr>
              <a:t>₩90K premium is midpoint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754112" y="3538728"/>
            <a:ext cx="3840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Korean motorcycle insurance ranges ₩50K–150K/month. Delivery riders skew higher.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754112" y="3922776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1">
                <a:solidFill>
                  <a:srgbClr val="9CC6FF"/>
                </a:solidFill>
                <a:latin typeface="Calibri"/>
              </a:rPr>
              <a:t>↳ KIDI · FSS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589520" y="4251960"/>
            <a:ext cx="4114800" cy="914400"/>
          </a:xfrm>
          <a:prstGeom prst="roundRect">
            <a:avLst/>
          </a:prstGeom>
          <a:solidFill>
            <a:srgbClr val="122038"/>
          </a:solidFill>
          <a:ln w="952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7607808" y="4343400"/>
            <a:ext cx="54864" cy="731520"/>
          </a:xfrm>
          <a:prstGeom prst="rect">
            <a:avLst/>
          </a:prstGeom>
          <a:solidFill>
            <a:srgbClr val="27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7754112" y="4325112"/>
            <a:ext cx="3840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EDF4FF"/>
                </a:solidFill>
                <a:latin typeface="Calibri"/>
              </a:rPr>
              <a:t>Loss ratio set conservatively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54112" y="4544568"/>
            <a:ext cx="3840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8% frequency × ₩1.2M severity is intentional bottom case. Stress-test runs 15% × ₩2.5M (see 5.9).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54112" y="4928616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1">
                <a:solidFill>
                  <a:srgbClr val="9CC6FF"/>
                </a:solidFill>
                <a:latin typeface="Calibri"/>
              </a:rPr>
              <a:t>↳ KIDI motor reports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589520" y="5257800"/>
            <a:ext cx="4114800" cy="914400"/>
          </a:xfrm>
          <a:prstGeom prst="roundRect">
            <a:avLst/>
          </a:prstGeom>
          <a:solidFill>
            <a:srgbClr val="122038"/>
          </a:solidFill>
          <a:ln w="952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7607808" y="5349240"/>
            <a:ext cx="54864" cy="731520"/>
          </a:xfrm>
          <a:prstGeom prst="rect">
            <a:avLst/>
          </a:prstGeom>
          <a:solidFill>
            <a:srgbClr val="27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754112" y="5330952"/>
            <a:ext cx="3840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EDF4FF"/>
                </a:solidFill>
                <a:latin typeface="Calibri"/>
              </a:rPr>
              <a:t>Mechanic ramp tracks bike count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754112" y="5550408"/>
            <a:ext cx="3840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~1 mechanic per 50 bikes — feasible if dealer partners require MotoChain logging.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754112" y="5934456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1">
                <a:solidFill>
                  <a:srgbClr val="9CC6FF"/>
                </a:solidFill>
                <a:latin typeface="Calibri"/>
              </a:rPr>
              <a:t>↳ Industry interviews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40080" y="6601968"/>
            <a:ext cx="457200" cy="27432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640080" y="6656832"/>
            <a:ext cx="9144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1">
                <a:solidFill>
                  <a:srgbClr val="9CC6FF"/>
                </a:solidFill>
                <a:latin typeface="Calibri"/>
              </a:rPr>
              <a:t>Sources: Korea Motorcycle Industry Association · Korea Insurance Development Institute · Statistics Korea · Financial Supervisory Service · Statista 2024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601200" y="6656832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1" i="0">
                <a:solidFill>
                  <a:srgbClr val="9CC6FF"/>
                </a:solidFill>
                <a:latin typeface="Calibri"/>
              </a:rPr>
              <a:t>MotoChain &amp; RideTrue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9CC6FF"/>
                </a:solidFill>
                <a:latin typeface="Calibri"/>
              </a:rPr>
              <a:t>II.5  ·  REVENUE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DF4FF"/>
                </a:solidFill>
                <a:latin typeface="Calibri"/>
              </a:rPr>
              <a:t>Six Revenue Streams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984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B8C8E0"/>
                </a:solidFill>
                <a:latin typeface="Calibri"/>
              </a:rPr>
              <a:t>How the protocol earns — Year 1 view, with the math behind each number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64208"/>
            <a:ext cx="1097280" cy="54864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2920" y="1874519"/>
            <a:ext cx="3703320" cy="2212848"/>
          </a:xfrm>
          <a:prstGeom prst="roundRect">
            <a:avLst/>
          </a:prstGeom>
          <a:solidFill>
            <a:srgbClr val="122038"/>
          </a:solidFill>
          <a:ln w="1587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67512" y="2011679"/>
            <a:ext cx="329184" cy="329184"/>
          </a:xfrm>
          <a:prstGeom prst="ellipse">
            <a:avLst/>
          </a:prstGeom>
          <a:solidFill>
            <a:srgbClr val="1A3F70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>
                <a:solidFill>
                  <a:srgbClr val="EDF4FF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" y="2039111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DF4FF"/>
                </a:solidFill>
                <a:latin typeface="Calibri"/>
              </a:rPr>
              <a:t>VIN REGISTRATION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23159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4AA3FF"/>
                </a:solidFill>
                <a:latin typeface="Calibri"/>
              </a:rPr>
              <a:t>₩50M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880359"/>
            <a:ext cx="3337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C8DCFF"/>
                </a:solidFill>
                <a:latin typeface="Calibri"/>
              </a:rPr>
              <a:t>5,000 bikes × ₩10,000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172967"/>
            <a:ext cx="3337560" cy="18288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246119"/>
            <a:ext cx="3337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One-time fee when a motorcycle is first registered on MotoChain.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703319"/>
            <a:ext cx="3337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1">
                <a:solidFill>
                  <a:srgbClr val="9CC6FF"/>
                </a:solidFill>
                <a:latin typeface="Calibri"/>
              </a:rPr>
              <a:t>↳ Fee benchmark: existing Korean motorcycle paperwork costs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1874519"/>
            <a:ext cx="3703320" cy="2212848"/>
          </a:xfrm>
          <a:prstGeom prst="roundRect">
            <a:avLst/>
          </a:prstGeom>
          <a:solidFill>
            <a:srgbClr val="122038"/>
          </a:solidFill>
          <a:ln w="1587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507992" y="2011679"/>
            <a:ext cx="329184" cy="329184"/>
          </a:xfrm>
          <a:prstGeom prst="ellipse">
            <a:avLst/>
          </a:prstGeom>
          <a:solidFill>
            <a:srgbClr val="1A3F70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>
                <a:solidFill>
                  <a:srgbClr val="EDF4FF"/>
                </a:solidFill>
                <a:latin typeface="Calibr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65192" y="2039111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DF4FF"/>
                </a:solidFill>
                <a:latin typeface="Calibri"/>
              </a:rPr>
              <a:t>OWNERSHIP TRANSFER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423159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4AA3FF"/>
                </a:solidFill>
                <a:latin typeface="Calibri"/>
              </a:rPr>
              <a:t>₩15M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880359"/>
            <a:ext cx="3337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C8DCFF"/>
                </a:solidFill>
                <a:latin typeface="Calibri"/>
              </a:rPr>
              <a:t>1,000 transfers × ₩15,000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26280" y="3172967"/>
            <a:ext cx="3337560" cy="18288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26280" y="3246119"/>
            <a:ext cx="3337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Charged on every resale. 20% annual transfer rate matches Korean used-bike market.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3703319"/>
            <a:ext cx="3337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1">
                <a:solidFill>
                  <a:srgbClr val="9CC6FF"/>
                </a:solidFill>
                <a:latin typeface="Calibri"/>
              </a:rPr>
              <a:t>↳ Transfer rate: KMIA used motorcycle resale data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80" y="1874519"/>
            <a:ext cx="3703320" cy="2212848"/>
          </a:xfrm>
          <a:prstGeom prst="roundRect">
            <a:avLst/>
          </a:prstGeom>
          <a:solidFill>
            <a:srgbClr val="122038"/>
          </a:solidFill>
          <a:ln w="15875">
            <a:solidFill>
              <a:srgbClr val="27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348472" y="2011679"/>
            <a:ext cx="329184" cy="329184"/>
          </a:xfrm>
          <a:prstGeom prst="ellipse">
            <a:avLst/>
          </a:prstGeom>
          <a:solidFill>
            <a:srgbClr val="1A3F70"/>
          </a:solidFill>
          <a:ln w="19050">
            <a:solidFill>
              <a:srgbClr val="27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>
                <a:solidFill>
                  <a:srgbClr val="EDF4FF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05672" y="2039111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DF4FF"/>
                </a:solidFill>
                <a:latin typeface="Calibri"/>
              </a:rPr>
              <a:t>SERVICE ENTRIES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423159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27D8D8"/>
                </a:solidFill>
                <a:latin typeface="Calibri"/>
              </a:rPr>
              <a:t>₩10M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2880359"/>
            <a:ext cx="3337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C8DCFF"/>
                </a:solidFill>
                <a:latin typeface="Calibri"/>
              </a:rPr>
              <a:t>10,000 entries × ₩5,000  ·  20% to protocol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66760" y="3172967"/>
            <a:ext cx="3337560" cy="18288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66760" y="3246119"/>
            <a:ext cx="3337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Fee per verified service record. 60% mechanic / 20% validator / 20% protocol.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3703319"/>
            <a:ext cx="3337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1">
                <a:solidFill>
                  <a:srgbClr val="9CC6FF"/>
                </a:solidFill>
                <a:latin typeface="Calibri"/>
              </a:rPr>
              <a:t>↳ Service volume: 2 records/bike/year (industry: 3–5)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224527"/>
            <a:ext cx="3703320" cy="2212848"/>
          </a:xfrm>
          <a:prstGeom prst="roundRect">
            <a:avLst/>
          </a:prstGeom>
          <a:solidFill>
            <a:srgbClr val="122038"/>
          </a:solidFill>
          <a:ln w="15875">
            <a:solidFill>
              <a:srgbClr val="4EE5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667512" y="4361687"/>
            <a:ext cx="329184" cy="329184"/>
          </a:xfrm>
          <a:prstGeom prst="ellipse">
            <a:avLst/>
          </a:prstGeom>
          <a:solidFill>
            <a:srgbClr val="1A3F70"/>
          </a:solidFill>
          <a:ln w="19050">
            <a:solidFill>
              <a:srgbClr val="4EE5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>
                <a:solidFill>
                  <a:srgbClr val="EDF4FF"/>
                </a:solidFill>
                <a:latin typeface="Calibri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4712" y="4389119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DF4FF"/>
                </a:solidFill>
                <a:latin typeface="Calibri"/>
              </a:rPr>
              <a:t>INSURANCE POOL FEE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4773167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4EE59A"/>
                </a:solidFill>
                <a:latin typeface="Calibri"/>
              </a:rPr>
              <a:t>₩108M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230367"/>
            <a:ext cx="3337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C8DCFF"/>
                </a:solidFill>
                <a:latin typeface="Calibri"/>
              </a:rPr>
              <a:t>5% of ₩2.16B premium pool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5522975"/>
            <a:ext cx="3337560" cy="18288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5800" y="5596127"/>
            <a:ext cx="3337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Protocol fee on premium contributions. Industry-norm DeFi mutual fee.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053327"/>
            <a:ext cx="3337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1">
                <a:solidFill>
                  <a:srgbClr val="9CC6FF"/>
                </a:solidFill>
                <a:latin typeface="Calibri"/>
              </a:rPr>
              <a:t>↳ Benchmark: Nexus Mutual (2–7%) and similar DeFi pools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43400" y="4224527"/>
            <a:ext cx="3703320" cy="2212848"/>
          </a:xfrm>
          <a:prstGeom prst="roundRect">
            <a:avLst/>
          </a:prstGeom>
          <a:solidFill>
            <a:srgbClr val="122038"/>
          </a:solidFill>
          <a:ln w="15875">
            <a:solidFill>
              <a:srgbClr val="4EE5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4507992" y="4361687"/>
            <a:ext cx="329184" cy="329184"/>
          </a:xfrm>
          <a:prstGeom prst="ellipse">
            <a:avLst/>
          </a:prstGeom>
          <a:solidFill>
            <a:srgbClr val="1A3F70"/>
          </a:solidFill>
          <a:ln w="19050">
            <a:solidFill>
              <a:srgbClr val="4EE5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>
                <a:solidFill>
                  <a:srgbClr val="EDF4FF"/>
                </a:solidFill>
                <a:latin typeface="Calibri"/>
              </a:rPr>
              <a:t>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65192" y="4389119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DF4FF"/>
                </a:solidFill>
                <a:latin typeface="Calibri"/>
              </a:rPr>
              <a:t>CLAIM PROCESSING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26280" y="4773167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4EE59A"/>
                </a:solidFill>
                <a:latin typeface="Calibri"/>
              </a:rPr>
              <a:t>₩1.92M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26280" y="5230367"/>
            <a:ext cx="3337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C8DCFF"/>
                </a:solidFill>
                <a:latin typeface="Calibri"/>
              </a:rPr>
              <a:t>1% net × ₩192M claims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26280" y="5522975"/>
            <a:ext cx="3337560" cy="18288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26280" y="5596127"/>
            <a:ext cx="3337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Admin fee on each approved claim. Small but covers oracle costs.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26280" y="6053327"/>
            <a:ext cx="3337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1">
                <a:solidFill>
                  <a:srgbClr val="9CC6FF"/>
                </a:solidFill>
                <a:latin typeface="Calibri"/>
              </a:rPr>
              <a:t>↳ Benchmark: traditional motor claim admin charges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83880" y="4224527"/>
            <a:ext cx="3703320" cy="2212848"/>
          </a:xfrm>
          <a:prstGeom prst="roundRect">
            <a:avLst/>
          </a:prstGeom>
          <a:solidFill>
            <a:srgbClr val="122038"/>
          </a:solidFill>
          <a:ln w="15875">
            <a:solidFill>
              <a:srgbClr val="FFB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8348472" y="4361687"/>
            <a:ext cx="329184" cy="329184"/>
          </a:xfrm>
          <a:prstGeom prst="ellipse">
            <a:avLst/>
          </a:prstGeom>
          <a:solidFill>
            <a:srgbClr val="1A3F70"/>
          </a:solidFill>
          <a:ln w="19050">
            <a:solidFill>
              <a:srgbClr val="FFB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>
                <a:solidFill>
                  <a:srgbClr val="EDF4FF"/>
                </a:solidFill>
                <a:latin typeface="Calibri"/>
              </a:rPr>
              <a:t>06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05672" y="4389119"/>
            <a:ext cx="30083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DF4FF"/>
                </a:solidFill>
                <a:latin typeface="Calibri"/>
              </a:rPr>
              <a:t>API / DATA ACCESS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66760" y="4773167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FFBF56"/>
                </a:solidFill>
                <a:latin typeface="Calibri"/>
              </a:rPr>
              <a:t>₩180M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66760" y="5230367"/>
            <a:ext cx="3337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C8DCFF"/>
                </a:solidFill>
                <a:latin typeface="Calibri"/>
              </a:rPr>
              <a:t>3 partners × ₩5M/mo × 12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66760" y="5522975"/>
            <a:ext cx="3337560" cy="18288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366760" y="5596127"/>
            <a:ext cx="3337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B2B subscription for insurers, lenders, and marketplaces accessing risk scores.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6053327"/>
            <a:ext cx="3337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1">
                <a:solidFill>
                  <a:srgbClr val="9CC6FF"/>
                </a:solidFill>
                <a:latin typeface="Calibri"/>
              </a:rPr>
              <a:t>↳ Benchmark: Korean fintech B2B data API pricing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080" y="6601968"/>
            <a:ext cx="457200" cy="27432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40080" y="6656832"/>
            <a:ext cx="9144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1">
                <a:solidFill>
                  <a:srgbClr val="9CC6FF"/>
                </a:solidFill>
                <a:latin typeface="Calibri"/>
              </a:rPr>
              <a:t>Year 1 total protocol revenue: ₩365M  ·  see Section 5.9 for the stress case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01200" y="6656832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1" i="0">
                <a:solidFill>
                  <a:srgbClr val="9CC6FF"/>
                </a:solidFill>
                <a:latin typeface="Calibri"/>
              </a:rPr>
              <a:t>MotoChain &amp; RideTrue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9CC6FF"/>
                </a:solidFill>
                <a:latin typeface="Calibri"/>
              </a:rPr>
              <a:t>II.5  ·  REVENUE GROWTH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DF4FF"/>
                </a:solidFill>
                <a:latin typeface="Calibri"/>
              </a:rPr>
              <a:t>Three-Year Revenue 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984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B8C8E0"/>
                </a:solidFill>
                <a:latin typeface="Calibri"/>
              </a:rPr>
              <a:t>Each stream scales with bike count, rider count, and partner growth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64208"/>
            <a:ext cx="1097280" cy="54864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2920" y="1874519"/>
            <a:ext cx="7680960" cy="3611880"/>
          </a:xfrm>
          <a:prstGeom prst="roundRect">
            <a:avLst/>
          </a:prstGeom>
          <a:noFill/>
          <a:ln w="12700">
            <a:solidFill>
              <a:srgbClr val="142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1874519"/>
            <a:ext cx="3708049" cy="505663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013050"/>
            <a:ext cx="343372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9CC6FF"/>
                </a:solidFill>
                <a:latin typeface="Calibri"/>
              </a:rPr>
              <a:t>Revenue Stream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10969" y="1874519"/>
            <a:ext cx="1324303" cy="505663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48129" y="2013050"/>
            <a:ext cx="104998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9CC6FF"/>
                </a:solidFill>
                <a:latin typeface="Calibri"/>
              </a:rPr>
              <a:t>Year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35273" y="1874519"/>
            <a:ext cx="1324303" cy="505663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72433" y="2013050"/>
            <a:ext cx="104998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9CC6FF"/>
                </a:solidFill>
                <a:latin typeface="Calibri"/>
              </a:rPr>
              <a:t>Year 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9576" y="1874519"/>
            <a:ext cx="1324303" cy="505663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96736" y="2013050"/>
            <a:ext cx="104998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9CC6FF"/>
                </a:solidFill>
                <a:latin typeface="Calibri"/>
              </a:rPr>
              <a:t>Year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366466"/>
            <a:ext cx="7680960" cy="22860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2920" y="2380182"/>
            <a:ext cx="7680960" cy="443745"/>
          </a:xfrm>
          <a:prstGeom prst="rect">
            <a:avLst/>
          </a:prstGeom>
          <a:solidFill>
            <a:srgbClr val="101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2487754"/>
            <a:ext cx="343372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DF4FF"/>
                </a:solidFill>
                <a:latin typeface="Calibri"/>
              </a:rPr>
              <a:t>VIN registration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8129" y="2487754"/>
            <a:ext cx="104998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₩50M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72433" y="2487754"/>
            <a:ext cx="104998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₩250M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736" y="2487754"/>
            <a:ext cx="104998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₩1.00B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819355"/>
            <a:ext cx="7680960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2931500"/>
            <a:ext cx="343372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DF4FF"/>
                </a:solidFill>
                <a:latin typeface="Calibri"/>
              </a:rPr>
              <a:t>Ownership transfer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8129" y="2931500"/>
            <a:ext cx="104998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₩15M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2433" y="2931500"/>
            <a:ext cx="104998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₩75M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6736" y="2931500"/>
            <a:ext cx="104998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₩300M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263100"/>
            <a:ext cx="7680960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02920" y="3267672"/>
            <a:ext cx="7680960" cy="443745"/>
          </a:xfrm>
          <a:prstGeom prst="rect">
            <a:avLst/>
          </a:prstGeom>
          <a:solidFill>
            <a:srgbClr val="101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0080" y="3375245"/>
            <a:ext cx="343372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DF4FF"/>
                </a:solidFill>
                <a:latin typeface="Calibri"/>
              </a:rPr>
              <a:t>Service entries (protocol share)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8129" y="3375245"/>
            <a:ext cx="104998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₩10M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72433" y="3375245"/>
            <a:ext cx="104998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₩50M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6736" y="3375245"/>
            <a:ext cx="104998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₩200M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706845"/>
            <a:ext cx="7680960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" y="3818990"/>
            <a:ext cx="343372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DF4FF"/>
                </a:solidFill>
                <a:latin typeface="Calibri"/>
              </a:rPr>
              <a:t>RideTrue insurance pool fee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8129" y="3818990"/>
            <a:ext cx="104998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₩108M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72433" y="3818990"/>
            <a:ext cx="104998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₩648M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96736" y="3818990"/>
            <a:ext cx="104998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₩2.70B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150591"/>
            <a:ext cx="7680960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02920" y="4155163"/>
            <a:ext cx="7680960" cy="443745"/>
          </a:xfrm>
          <a:prstGeom prst="rect">
            <a:avLst/>
          </a:prstGeom>
          <a:solidFill>
            <a:srgbClr val="101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0080" y="4262735"/>
            <a:ext cx="343372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DF4FF"/>
                </a:solidFill>
                <a:latin typeface="Calibri"/>
              </a:rPr>
              <a:t>Claim processing margin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48129" y="4262735"/>
            <a:ext cx="104998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₩1.9M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72433" y="4262735"/>
            <a:ext cx="104998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₩11.5M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96736" y="4262735"/>
            <a:ext cx="104998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₩48M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594336"/>
            <a:ext cx="7680960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0080" y="4706481"/>
            <a:ext cx="343372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DF4FF"/>
                </a:solidFill>
                <a:latin typeface="Calibri"/>
              </a:rPr>
              <a:t>API / data access subscriptions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48129" y="4706481"/>
            <a:ext cx="104998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₩180M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72433" y="4706481"/>
            <a:ext cx="104998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₩840M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96736" y="4706481"/>
            <a:ext cx="104998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EDF4FF"/>
                </a:solidFill>
                <a:latin typeface="Calibri"/>
              </a:rPr>
              <a:t>₩3.60B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038081"/>
            <a:ext cx="7680960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502920" y="5042653"/>
            <a:ext cx="7680960" cy="443745"/>
          </a:xfrm>
          <a:prstGeom prst="rect">
            <a:avLst/>
          </a:prstGeom>
          <a:solidFill>
            <a:srgbClr val="101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40080" y="5150226"/>
            <a:ext cx="343372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9CC6FF"/>
                </a:solidFill>
                <a:latin typeface="Calibri"/>
              </a:rPr>
              <a:t>TOTAL PROTOCOL REVENUE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48129" y="5150226"/>
            <a:ext cx="104998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50" b="1" i="0">
                <a:solidFill>
                  <a:srgbClr val="27D8D8"/>
                </a:solidFill>
                <a:latin typeface="Calibri"/>
              </a:rPr>
              <a:t>₩365M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72433" y="5150226"/>
            <a:ext cx="104998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50" b="1" i="0">
                <a:solidFill>
                  <a:srgbClr val="27D8D8"/>
                </a:solidFill>
                <a:latin typeface="Calibri"/>
              </a:rPr>
              <a:t>₩1.87B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96736" y="5150226"/>
            <a:ext cx="104998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50" b="1" i="0">
                <a:solidFill>
                  <a:srgbClr val="27D8D8"/>
                </a:solidFill>
                <a:latin typeface="Calibri"/>
              </a:rPr>
              <a:t>₩7.85B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12480" y="1874519"/>
            <a:ext cx="33375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9CC6FF"/>
                </a:solidFill>
                <a:latin typeface="Calibri"/>
              </a:rPr>
              <a:t>GROWTH HIGHLIGHTS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412480" y="2121407"/>
            <a:ext cx="457200" cy="27432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8412480" y="2240280"/>
            <a:ext cx="3337560" cy="1078992"/>
          </a:xfrm>
          <a:prstGeom prst="roundRect">
            <a:avLst/>
          </a:prstGeom>
          <a:solidFill>
            <a:srgbClr val="122038"/>
          </a:solidFill>
          <a:ln w="952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577072" y="2331720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27D8D8"/>
                </a:solidFill>
                <a:latin typeface="Calibri"/>
              </a:rPr>
              <a:t>21×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77072" y="2862072"/>
            <a:ext cx="30632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C6FF"/>
                </a:solidFill>
                <a:latin typeface="Calibri"/>
              </a:rPr>
              <a:t>REVENUE Y1 → Y3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77072" y="3044952"/>
            <a:ext cx="3063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₩365M scales to ₩7.85B as bikes grow 20×.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412480" y="3410712"/>
            <a:ext cx="3337560" cy="1078992"/>
          </a:xfrm>
          <a:prstGeom prst="roundRect">
            <a:avLst/>
          </a:prstGeom>
          <a:solidFill>
            <a:srgbClr val="122038"/>
          </a:solidFill>
          <a:ln w="952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8577072" y="3502152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27D8D8"/>
                </a:solidFill>
                <a:latin typeface="Calibri"/>
              </a:rPr>
              <a:t>46%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77072" y="4032504"/>
            <a:ext cx="30632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C6FF"/>
                </a:solidFill>
                <a:latin typeface="Calibri"/>
              </a:rPr>
              <a:t>Y3 FROM B2B DATA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77072" y="4215384"/>
            <a:ext cx="3063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API / partner subscriptions become the largest stream.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412480" y="4581144"/>
            <a:ext cx="3337560" cy="1078992"/>
          </a:xfrm>
          <a:prstGeom prst="roundRect">
            <a:avLst/>
          </a:prstGeom>
          <a:solidFill>
            <a:srgbClr val="122038"/>
          </a:solidFill>
          <a:ln w="952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577072" y="4672584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27D8D8"/>
                </a:solidFill>
                <a:latin typeface="Calibri"/>
              </a:rPr>
              <a:t>0.2%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77072" y="5202936"/>
            <a:ext cx="30632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C6FF"/>
                </a:solidFill>
                <a:latin typeface="Calibri"/>
              </a:rPr>
              <a:t>OF KOREAN FLEET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577072" y="5385816"/>
            <a:ext cx="3063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Y3 still only 100K of ~2.3M registered motorcycles.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02920" y="5669280"/>
            <a:ext cx="11183112" cy="777240"/>
          </a:xfrm>
          <a:prstGeom prst="roundRect">
            <a:avLst/>
          </a:prstGeom>
          <a:solidFill>
            <a:srgbClr val="121E32"/>
          </a:solidFill>
          <a:ln w="12700">
            <a:solidFill>
              <a:srgbClr val="FFB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502920" y="5779008"/>
            <a:ext cx="54864" cy="557784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85800" y="5760720"/>
            <a:ext cx="10515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FBF56"/>
                </a:solidFill>
                <a:latin typeface="Calibri"/>
              </a:rPr>
              <a:t>KEY ASSUMPTIONS BEHIND THE GROWTH PATH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5961888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Bike count grows from 5K → 100K (20× via dealer-led acquisition).  Riders track at 40–50% of registered bikes.  B2B partners scale 3 → 10 → 30 as data network coverage compounds.  Fees and rates held constant — growth comes from volume, not price.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40080" y="6601968"/>
            <a:ext cx="457200" cy="27432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40080" y="6656832"/>
            <a:ext cx="9144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1">
                <a:solidFill>
                  <a:srgbClr val="9CC6FF"/>
                </a:solidFill>
                <a:latin typeface="Calibri"/>
              </a:rPr>
              <a:t>Sources: KMIA · KIDI · KOSTAT · FSS · Statista 2024 · Industry interviews and dealer benchmarks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01200" y="6656832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1" i="0">
                <a:solidFill>
                  <a:srgbClr val="9CC6FF"/>
                </a:solidFill>
                <a:latin typeface="Calibri"/>
              </a:rPr>
              <a:t>MotoChain &amp; RideTrue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9CC6FF"/>
                </a:solidFill>
                <a:latin typeface="Calibri"/>
              </a:rPr>
              <a:t>RIDETRUE  ·  MONEY FLOWS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DF4FF"/>
                </a:solidFill>
                <a:latin typeface="Calibri"/>
              </a:rPr>
              <a:t>Where the Money Goes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984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B8C8E0"/>
                </a:solidFill>
                <a:latin typeface="Calibri"/>
              </a:rPr>
              <a:t>What comes in · What goes out · Year 1 (realistic model from Section 5.9)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64208"/>
            <a:ext cx="1097280" cy="54864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53162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9CC6FF"/>
                </a:solidFill>
                <a:latin typeface="Calibri"/>
              </a:rPr>
              <a:t>MONEY 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805940"/>
            <a:ext cx="457200" cy="36576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42832" y="153162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9CC6FF"/>
                </a:solidFill>
                <a:latin typeface="Calibri"/>
              </a:rPr>
              <a:t>MONEY 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42832" y="1805940"/>
            <a:ext cx="457200" cy="36576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663440" y="1760220"/>
            <a:ext cx="2834640" cy="2788920"/>
          </a:xfrm>
          <a:prstGeom prst="roundRect">
            <a:avLst/>
          </a:prstGeom>
          <a:noFill/>
          <a:ln w="12700">
            <a:solidFill>
              <a:srgbClr val="9CC6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800600" y="1897380"/>
            <a:ext cx="2560320" cy="2514600"/>
          </a:xfrm>
          <a:prstGeom prst="roundRect">
            <a:avLst/>
          </a:prstGeom>
          <a:solidFill>
            <a:srgbClr val="1A3F70"/>
          </a:solidFill>
          <a:ln w="31750">
            <a:solidFill>
              <a:srgbClr val="9C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228600" rIns="137160" bIns="182880" rtlCol="0" anchor="ctr"/>
          <a:lstStyle/>
          <a:p>
            <a:pPr algn="ctr"/>
            <a:r>
              <a:rPr sz="1600" b="1" i="0">
                <a:solidFill>
                  <a:srgbClr val="EDF4FF"/>
                </a:solidFill>
                <a:latin typeface="Calibri"/>
              </a:rPr>
              <a:t>RIDETRUE</a:t>
            </a:r>
          </a:p>
          <a:p>
            <a:pPr algn="ctr"/>
            <a:r>
              <a:rPr sz="1100" b="1" i="0">
                <a:solidFill>
                  <a:srgbClr val="9CC6FF"/>
                </a:solidFill>
                <a:latin typeface="Calibri"/>
              </a:rPr>
              <a:t>INSURANCE POOL</a:t>
            </a:r>
          </a:p>
          <a:p>
            <a:pPr algn="ctr"/>
            <a:r>
              <a:rPr sz="600" b="0" i="0">
                <a:solidFill>
                  <a:srgbClr val="EDF4FF"/>
                </a:solidFill>
                <a:latin typeface="Calibri"/>
              </a:rPr>
              <a:t> </a:t>
            </a:r>
          </a:p>
          <a:p>
            <a:pPr algn="ctr"/>
            <a:r>
              <a:rPr sz="900" b="0" i="1">
                <a:solidFill>
                  <a:srgbClr val="B8C8E0"/>
                </a:solidFill>
                <a:latin typeface="Calibri"/>
              </a:rPr>
              <a:t>Year 1 total flow</a:t>
            </a:r>
          </a:p>
          <a:p>
            <a:pPr algn="ctr"/>
            <a:r>
              <a:rPr sz="2200" b="1" i="0">
                <a:solidFill>
                  <a:srgbClr val="27D8D8"/>
                </a:solidFill>
                <a:latin typeface="Calibri"/>
              </a:rPr>
              <a:t>₩5.25B</a:t>
            </a:r>
          </a:p>
          <a:p>
            <a:pPr algn="ctr"/>
            <a:r>
              <a:rPr sz="900" b="0" i="1">
                <a:solidFill>
                  <a:srgbClr val="B8C8E0"/>
                </a:solidFill>
                <a:latin typeface="Calibri"/>
              </a:rPr>
              <a:t>processed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1943100"/>
            <a:ext cx="2606040" cy="502920"/>
          </a:xfrm>
          <a:prstGeom prst="roundRect">
            <a:avLst/>
          </a:prstGeom>
          <a:solidFill>
            <a:srgbClr val="14223C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rIns="164592" rtlCol="0" anchor="ctr"/>
          <a:lstStyle/>
          <a:p>
            <a:pPr algn="l"/>
            <a:r>
              <a:rPr sz="1100" b="1">
                <a:solidFill>
                  <a:srgbClr val="EDF4FF"/>
                </a:solidFill>
                <a:latin typeface="Calibri"/>
              </a:rPr>
              <a:t>RIDER PREMIUMS</a:t>
            </a:r>
          </a:p>
          <a:p>
            <a:pPr algn="l"/>
            <a:r>
              <a:rPr sz="900">
                <a:solidFill>
                  <a:srgbClr val="C8DCFF"/>
                </a:solidFill>
                <a:latin typeface="Calibri"/>
              </a:rPr>
              <a:t>2,000 riders × ₩90K/mo  →  ₩2.16B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583180"/>
            <a:ext cx="2606040" cy="502920"/>
          </a:xfrm>
          <a:prstGeom prst="roundRect">
            <a:avLst/>
          </a:prstGeom>
          <a:solidFill>
            <a:srgbClr val="14223C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rIns="164592" rtlCol="0" anchor="ctr"/>
          <a:lstStyle/>
          <a:p>
            <a:pPr algn="l"/>
            <a:r>
              <a:rPr sz="1100" b="1">
                <a:solidFill>
                  <a:srgbClr val="EDF4FF"/>
                </a:solidFill>
                <a:latin typeface="Calibri"/>
              </a:rPr>
              <a:t>LP POOL CAPITAL</a:t>
            </a:r>
          </a:p>
          <a:p>
            <a:pPr algn="l"/>
            <a:r>
              <a:rPr sz="900">
                <a:solidFill>
                  <a:srgbClr val="C8DCFF"/>
                </a:solidFill>
                <a:latin typeface="Calibri"/>
              </a:rPr>
              <a:t>Foundation + DeFi + institutional  →  ₩3.00B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223260"/>
            <a:ext cx="2606040" cy="502920"/>
          </a:xfrm>
          <a:prstGeom prst="roundRect">
            <a:avLst/>
          </a:prstGeom>
          <a:solidFill>
            <a:srgbClr val="14223C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rIns="164592" rtlCol="0" anchor="ctr"/>
          <a:lstStyle/>
          <a:p>
            <a:pPr algn="l"/>
            <a:r>
              <a:rPr sz="1100" b="1">
                <a:solidFill>
                  <a:srgbClr val="EDF4FF"/>
                </a:solidFill>
                <a:latin typeface="Calibri"/>
              </a:rPr>
              <a:t>B2B DATA FEES</a:t>
            </a:r>
          </a:p>
          <a:p>
            <a:pPr algn="l"/>
            <a:r>
              <a:rPr sz="900">
                <a:solidFill>
                  <a:srgbClr val="C8DCFF"/>
                </a:solidFill>
                <a:latin typeface="Calibri"/>
              </a:rPr>
              <a:t>Insurers, lenders, marketplaces  →  ₩60M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863340"/>
            <a:ext cx="2606040" cy="502920"/>
          </a:xfrm>
          <a:prstGeom prst="roundRect">
            <a:avLst/>
          </a:prstGeom>
          <a:solidFill>
            <a:srgbClr val="14223C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rIns="164592" rtlCol="0" anchor="ctr"/>
          <a:lstStyle/>
          <a:p>
            <a:pPr algn="l"/>
            <a:r>
              <a:rPr sz="1100" b="1">
                <a:solidFill>
                  <a:srgbClr val="EDF4FF"/>
                </a:solidFill>
                <a:latin typeface="Calibri"/>
              </a:rPr>
              <a:t>DEFI YIELD</a:t>
            </a:r>
          </a:p>
          <a:p>
            <a:pPr algn="l"/>
            <a:r>
              <a:rPr sz="900">
                <a:solidFill>
                  <a:srgbClr val="C8DCFF"/>
                </a:solidFill>
                <a:latin typeface="Calibri"/>
              </a:rPr>
              <a:t>Conservative returns on reserves  →  ₩30M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91840" y="0"/>
            <a:ext cx="0" cy="0"/>
          </a:xfrm>
          <a:prstGeom prst="line">
            <a:avLst/>
          </a:prstGeom>
          <a:ln w="22860">
            <a:solidFill>
              <a:srgbClr val="4AA3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91840" y="0"/>
            <a:ext cx="0" cy="0"/>
          </a:xfrm>
          <a:prstGeom prst="line">
            <a:avLst/>
          </a:prstGeom>
          <a:ln w="22860">
            <a:solidFill>
              <a:srgbClr val="4AA3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3291840" y="3154680"/>
            <a:ext cx="0" cy="0"/>
          </a:xfrm>
          <a:prstGeom prst="line">
            <a:avLst/>
          </a:prstGeom>
          <a:ln w="22860">
            <a:solidFill>
              <a:srgbClr val="4AA3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291840" y="3154680"/>
            <a:ext cx="0" cy="0"/>
          </a:xfrm>
          <a:prstGeom prst="line">
            <a:avLst/>
          </a:prstGeom>
          <a:ln w="22860">
            <a:solidFill>
              <a:srgbClr val="4AA3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942832" y="1943100"/>
            <a:ext cx="2606040" cy="502920"/>
          </a:xfrm>
          <a:prstGeom prst="roundRect">
            <a:avLst/>
          </a:prstGeom>
          <a:solidFill>
            <a:srgbClr val="14223C"/>
          </a:solidFill>
          <a:ln w="19050">
            <a:solidFill>
              <a:srgbClr val="9C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rIns="164592" rtlCol="0" anchor="ctr"/>
          <a:lstStyle/>
          <a:p>
            <a:pPr algn="l"/>
            <a:r>
              <a:rPr sz="1100" b="1">
                <a:solidFill>
                  <a:srgbClr val="EDF4FF"/>
                </a:solidFill>
                <a:latin typeface="Calibri"/>
              </a:rPr>
              <a:t>CLAIMS PAID TO RIDERS</a:t>
            </a:r>
          </a:p>
          <a:p>
            <a:pPr algn="l"/>
            <a:r>
              <a:rPr sz="900">
                <a:solidFill>
                  <a:srgbClr val="C8DCFF"/>
                </a:solidFill>
                <a:latin typeface="Calibri"/>
              </a:rPr>
              <a:t>Verified claims, paid in USDC  →  ₩750M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42832" y="2583180"/>
            <a:ext cx="2606040" cy="502920"/>
          </a:xfrm>
          <a:prstGeom prst="roundRect">
            <a:avLst/>
          </a:prstGeom>
          <a:solidFill>
            <a:srgbClr val="14223C"/>
          </a:solidFill>
          <a:ln w="19050">
            <a:solidFill>
              <a:srgbClr val="9C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rIns="164592" rtlCol="0" anchor="ctr"/>
          <a:lstStyle/>
          <a:p>
            <a:pPr algn="l"/>
            <a:r>
              <a:rPr sz="1100" b="1">
                <a:solidFill>
                  <a:srgbClr val="EDF4FF"/>
                </a:solidFill>
                <a:latin typeface="Calibri"/>
              </a:rPr>
              <a:t>SAFE-RIDER REBATES</a:t>
            </a:r>
          </a:p>
          <a:p>
            <a:pPr algn="l"/>
            <a:r>
              <a:rPr sz="900">
                <a:solidFill>
                  <a:srgbClr val="C8DCFF"/>
                </a:solidFill>
                <a:latin typeface="Calibri"/>
              </a:rPr>
              <a:t>Returned to claim-free riders  →  ₩216M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42832" y="3223260"/>
            <a:ext cx="2606040" cy="502920"/>
          </a:xfrm>
          <a:prstGeom prst="roundRect">
            <a:avLst/>
          </a:prstGeom>
          <a:solidFill>
            <a:srgbClr val="14223C"/>
          </a:solidFill>
          <a:ln w="19050">
            <a:solidFill>
              <a:srgbClr val="9C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rIns="164592" rtlCol="0" anchor="ctr"/>
          <a:lstStyle/>
          <a:p>
            <a:pPr algn="l"/>
            <a:r>
              <a:rPr sz="1100" b="1">
                <a:solidFill>
                  <a:srgbClr val="EDF4FF"/>
                </a:solidFill>
                <a:latin typeface="Calibri"/>
              </a:rPr>
              <a:t>RESERVES &amp; REINSURANCE</a:t>
            </a:r>
          </a:p>
          <a:p>
            <a:pPr algn="l"/>
            <a:r>
              <a:rPr sz="900">
                <a:solidFill>
                  <a:srgbClr val="C8DCFF"/>
                </a:solidFill>
                <a:latin typeface="Calibri"/>
              </a:rPr>
              <a:t>Catastrophe + liquidity buffer  →  ₩1.19B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42832" y="3863340"/>
            <a:ext cx="2606040" cy="502920"/>
          </a:xfrm>
          <a:prstGeom prst="roundRect">
            <a:avLst/>
          </a:prstGeom>
          <a:solidFill>
            <a:srgbClr val="14223C"/>
          </a:solidFill>
          <a:ln w="19050">
            <a:solidFill>
              <a:srgbClr val="9C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rIns="164592" rtlCol="0" anchor="ctr"/>
          <a:lstStyle/>
          <a:p>
            <a:pPr algn="l"/>
            <a:r>
              <a:rPr sz="1100" b="1">
                <a:solidFill>
                  <a:srgbClr val="EDF4FF"/>
                </a:solidFill>
                <a:latin typeface="Calibri"/>
              </a:rPr>
              <a:t>TEAM &amp; OPERATIONS</a:t>
            </a:r>
          </a:p>
          <a:p>
            <a:pPr algn="l"/>
            <a:r>
              <a:rPr sz="900">
                <a:solidFill>
                  <a:srgbClr val="C8DCFF"/>
                </a:solidFill>
                <a:latin typeface="Calibri"/>
              </a:rPr>
              <a:t>Engineering, audits, BD, security  →  ₩1.80B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0" y="0"/>
            <a:ext cx="0" cy="0"/>
          </a:xfrm>
          <a:prstGeom prst="line">
            <a:avLst/>
          </a:prstGeom>
          <a:ln w="22860">
            <a:solidFill>
              <a:srgbClr val="9CC6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0" y="0"/>
            <a:ext cx="0" cy="0"/>
          </a:xfrm>
          <a:prstGeom prst="line">
            <a:avLst/>
          </a:prstGeom>
          <a:ln w="22860">
            <a:solidFill>
              <a:srgbClr val="9CC6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3154680"/>
            <a:ext cx="0" cy="0"/>
          </a:xfrm>
          <a:prstGeom prst="line">
            <a:avLst/>
          </a:prstGeom>
          <a:ln w="22860">
            <a:solidFill>
              <a:srgbClr val="9CC6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154680"/>
            <a:ext cx="0" cy="0"/>
          </a:xfrm>
          <a:prstGeom prst="line">
            <a:avLst/>
          </a:prstGeom>
          <a:ln w="22860">
            <a:solidFill>
              <a:srgbClr val="9CC6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40080" y="4937760"/>
            <a:ext cx="10908792" cy="1691640"/>
          </a:xfrm>
          <a:prstGeom prst="roundRect">
            <a:avLst/>
          </a:prstGeom>
          <a:solidFill>
            <a:srgbClr val="0D1625"/>
          </a:solidFill>
          <a:ln w="12700">
            <a:solidFill>
              <a:srgbClr val="142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40080" y="5120640"/>
            <a:ext cx="54864" cy="1371600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14400" y="5102352"/>
            <a:ext cx="4572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9CC6FF"/>
                </a:solidFill>
                <a:latin typeface="Calibri"/>
              </a:rPr>
              <a:t>EXAMPLE  ·  ONE RIDER  ·  ONE YEAR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349240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EDF4FF"/>
                </a:solidFill>
                <a:latin typeface="Calibri"/>
              </a:rPr>
              <a:t>Ji-min · 28 · delivery rider · Seoul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65099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B8C8E0"/>
                </a:solidFill>
                <a:latin typeface="Calibri"/>
              </a:rPr>
              <a:t>Safety score 92/100 · top quartile · zero claims Y1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6108192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9CC6FF"/>
                </a:solidFill>
                <a:latin typeface="Calibri"/>
              </a:rPr>
              <a:t>vs. comparable Korean motorcycle policy  ₩1.0M–₩1.4M  →  fairer pricing, portable behavior score, and claims paid on-chain in days.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096512" y="5138928"/>
            <a:ext cx="2286000" cy="932688"/>
          </a:xfrm>
          <a:prstGeom prst="roundRect">
            <a:avLst/>
          </a:prstGeom>
          <a:solidFill>
            <a:srgbClr val="142440"/>
          </a:solidFill>
          <a:ln w="952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233672" y="521208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9CC6FF"/>
                </a:solidFill>
                <a:latin typeface="Calibri"/>
              </a:rPr>
              <a:t>PAID 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33672" y="5449824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EDF4FF"/>
                </a:solidFill>
                <a:latin typeface="Calibri"/>
              </a:rPr>
              <a:t>₩1,080,000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33672" y="585216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B8C8E0"/>
                </a:solidFill>
                <a:latin typeface="Calibri"/>
              </a:rPr>
              <a:t>₩90,000 × 12 months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19672" y="5138928"/>
            <a:ext cx="2286000" cy="932688"/>
          </a:xfrm>
          <a:prstGeom prst="roundRect">
            <a:avLst/>
          </a:prstGeom>
          <a:solidFill>
            <a:srgbClr val="142440"/>
          </a:solidFill>
          <a:ln w="952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656832" y="521208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9CC6FF"/>
                </a:solidFill>
                <a:latin typeface="Calibri"/>
              </a:rPr>
              <a:t>RECEIVED BACK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56832" y="5449824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EDF4FF"/>
                </a:solidFill>
                <a:latin typeface="Calibri"/>
              </a:rPr>
              <a:t>₩180,000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56832" y="585216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B8C8E0"/>
                </a:solidFill>
                <a:latin typeface="Calibri"/>
              </a:rPr>
              <a:t>Safe-rider rebate (top quartile)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942832" y="5138928"/>
            <a:ext cx="2286000" cy="932688"/>
          </a:xfrm>
          <a:prstGeom prst="roundRect">
            <a:avLst/>
          </a:prstGeom>
          <a:solidFill>
            <a:srgbClr val="142440"/>
          </a:solidFill>
          <a:ln w="952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079992" y="521208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9CC6FF"/>
                </a:solidFill>
                <a:latin typeface="Calibri"/>
              </a:rPr>
              <a:t>NET PREMIUM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79992" y="5449824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BF56"/>
                </a:solidFill>
                <a:latin typeface="Calibri"/>
              </a:rPr>
              <a:t>₩900,000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79992" y="585216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B8C8E0"/>
                </a:solidFill>
                <a:latin typeface="Calibri"/>
              </a:rPr>
              <a:t>for full-year coverage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" y="6675120"/>
            <a:ext cx="457200" cy="27432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40080" y="6729984"/>
            <a:ext cx="7315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1">
                <a:solidFill>
                  <a:srgbClr val="9CC6FF"/>
                </a:solidFill>
                <a:latin typeface="Calibri"/>
              </a:rPr>
              <a:t>Stress-tested model · 15% claim frequency · ₩2.5M average severity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0" y="6729984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1" i="0">
                <a:solidFill>
                  <a:srgbClr val="9CC6FF"/>
                </a:solidFill>
                <a:latin typeface="Calibri"/>
              </a:rPr>
              <a:t>MotoChain &amp; RideTrue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9CC6FF"/>
                </a:solidFill>
                <a:latin typeface="Calibri"/>
              </a:rPr>
              <a:t>RIDETRUE  ·  STRESS TESTING &amp; BLACK SWAN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DF4FF"/>
                </a:solidFill>
                <a:latin typeface="Calibri"/>
              </a:rPr>
              <a:t>Built to Survive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984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B8C8E0"/>
                </a:solidFill>
                <a:latin typeface="Calibri"/>
              </a:rPr>
              <a:t>Nine safeguards across three layers — what keeps the pool standing when many claims hit at once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64208"/>
            <a:ext cx="1097280" cy="54864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11183112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9CC6FF"/>
                </a:solidFill>
                <a:latin typeface="Calibri"/>
              </a:rPr>
              <a:t>1.  RESERVE LAYERS</a:t>
            </a:r>
            <a:r>
              <a:rPr sz="1000" i="1">
                <a:solidFill>
                  <a:srgbClr val="9CC6FF"/>
                </a:solidFill>
                <a:latin typeface="Calibri"/>
              </a:rPr>
              <a:t>    capital buffers built before anything goes wrong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121408"/>
            <a:ext cx="457200" cy="27432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02920" y="2203704"/>
            <a:ext cx="3617976" cy="1097280"/>
          </a:xfrm>
          <a:prstGeom prst="roundRect">
            <a:avLst/>
          </a:prstGeom>
          <a:solidFill>
            <a:srgbClr val="142440"/>
          </a:solidFill>
          <a:ln w="1587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67512" y="2322576"/>
            <a:ext cx="347472" cy="347472"/>
          </a:xfrm>
          <a:prstGeom prst="ellipse">
            <a:avLst/>
          </a:prstGeom>
          <a:solidFill>
            <a:srgbClr val="1A3F70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350008"/>
            <a:ext cx="281330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DF4FF"/>
                </a:solidFill>
                <a:latin typeface="Calibri"/>
              </a:rPr>
              <a:t>LIQUID RESERVE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752344"/>
            <a:ext cx="3252216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≥25% of pool always liquid. Never deployed to DeFi yield.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49880" y="3026664"/>
            <a:ext cx="1143000" cy="201168"/>
          </a:xfrm>
          <a:prstGeom prst="roundRect">
            <a:avLst/>
          </a:prstGeom>
          <a:solidFill>
            <a:srgbClr val="0D1625"/>
          </a:solidFill>
          <a:ln w="952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>
                <a:solidFill>
                  <a:srgbClr val="FFBF56"/>
                </a:solidFill>
                <a:latin typeface="Calibri"/>
              </a:rPr>
              <a:t>25%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85488" y="2203704"/>
            <a:ext cx="3617976" cy="1097280"/>
          </a:xfrm>
          <a:prstGeom prst="roundRect">
            <a:avLst/>
          </a:prstGeom>
          <a:solidFill>
            <a:srgbClr val="142440"/>
          </a:solidFill>
          <a:ln w="1587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450080" y="2322576"/>
            <a:ext cx="347472" cy="347472"/>
          </a:xfrm>
          <a:prstGeom prst="ellipse">
            <a:avLst/>
          </a:prstGeom>
          <a:solidFill>
            <a:srgbClr val="1A3F70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25568" y="2350008"/>
            <a:ext cx="281330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DF4FF"/>
                </a:solidFill>
                <a:latin typeface="Calibri"/>
              </a:rPr>
              <a:t>CATASTROPHE RESERVE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8368" y="2752344"/>
            <a:ext cx="3252216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20% of every premium routed aside. Used only in extreme events.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32448" y="3026664"/>
            <a:ext cx="1143000" cy="201168"/>
          </a:xfrm>
          <a:prstGeom prst="roundRect">
            <a:avLst/>
          </a:prstGeom>
          <a:solidFill>
            <a:srgbClr val="0D1625"/>
          </a:solidFill>
          <a:ln w="952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>
                <a:solidFill>
                  <a:srgbClr val="FFBF56"/>
                </a:solidFill>
                <a:latin typeface="Calibri"/>
              </a:rPr>
              <a:t>20%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8056" y="2203704"/>
            <a:ext cx="3617976" cy="1097280"/>
          </a:xfrm>
          <a:prstGeom prst="roundRect">
            <a:avLst/>
          </a:prstGeom>
          <a:solidFill>
            <a:srgbClr val="142440"/>
          </a:solidFill>
          <a:ln w="1587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8232648" y="2322576"/>
            <a:ext cx="347472" cy="347472"/>
          </a:xfrm>
          <a:prstGeom prst="ellipse">
            <a:avLst/>
          </a:prstGeom>
          <a:solidFill>
            <a:srgbClr val="1A3F70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08136" y="2350008"/>
            <a:ext cx="281330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DF4FF"/>
                </a:solidFill>
                <a:latin typeface="Calibri"/>
              </a:rPr>
              <a:t>REINSURANCE BACKSTOP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0936" y="2752344"/>
            <a:ext cx="3252216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External partner covers tail risk above pool capacity. Required before launch.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415016" y="3026664"/>
            <a:ext cx="1143000" cy="201168"/>
          </a:xfrm>
          <a:prstGeom prst="roundRect">
            <a:avLst/>
          </a:prstGeom>
          <a:solidFill>
            <a:srgbClr val="0D1625"/>
          </a:solidFill>
          <a:ln w="952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>
                <a:solidFill>
                  <a:srgbClr val="FFBF56"/>
                </a:solidFill>
                <a:latin typeface="Calibri"/>
              </a:rPr>
              <a:t>Tail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419856"/>
            <a:ext cx="11183112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9CC6FF"/>
                </a:solidFill>
                <a:latin typeface="Calibri"/>
              </a:rPr>
              <a:t>2.  AUTOMATIC SAFEGUARDS</a:t>
            </a:r>
            <a:r>
              <a:rPr sz="1000" i="1">
                <a:solidFill>
                  <a:srgbClr val="9CC6FF"/>
                </a:solidFill>
                <a:latin typeface="Calibri"/>
              </a:rPr>
              <a:t>    always-on rules baked into the smart contracts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621024"/>
            <a:ext cx="457200" cy="27432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502920" y="3703320"/>
            <a:ext cx="3617976" cy="1097280"/>
          </a:xfrm>
          <a:prstGeom prst="roundRect">
            <a:avLst/>
          </a:prstGeom>
          <a:solidFill>
            <a:srgbClr val="122038"/>
          </a:solidFill>
          <a:ln w="1587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67512" y="3822192"/>
            <a:ext cx="347472" cy="347472"/>
          </a:xfrm>
          <a:prstGeom prst="ellipse">
            <a:avLst/>
          </a:prstGeom>
          <a:solidFill>
            <a:srgbClr val="1A3F70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3849624"/>
            <a:ext cx="281330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DF4FF"/>
                </a:solidFill>
                <a:latin typeface="Calibri"/>
              </a:rPr>
              <a:t>CIRCUIT BREAKER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4251960"/>
            <a:ext cx="3252216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Auto-triggers emergency mode on claim spikes, low reserves, disaster zones, or 3× volume.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849880" y="4526280"/>
            <a:ext cx="1143000" cy="201168"/>
          </a:xfrm>
          <a:prstGeom prst="roundRect">
            <a:avLst/>
          </a:prstGeom>
          <a:solidFill>
            <a:srgbClr val="0D1625"/>
          </a:solidFill>
          <a:ln w="952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>
                <a:solidFill>
                  <a:srgbClr val="FFBF56"/>
                </a:solidFill>
                <a:latin typeface="Calibri"/>
              </a:rPr>
              <a:t>4 triggers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85488" y="3703320"/>
            <a:ext cx="3617976" cy="1097280"/>
          </a:xfrm>
          <a:prstGeom prst="roundRect">
            <a:avLst/>
          </a:prstGeom>
          <a:solidFill>
            <a:srgbClr val="122038"/>
          </a:solidFill>
          <a:ln w="1587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4450080" y="3822192"/>
            <a:ext cx="347472" cy="347472"/>
          </a:xfrm>
          <a:prstGeom prst="ellipse">
            <a:avLst/>
          </a:prstGeom>
          <a:solidFill>
            <a:srgbClr val="1A3F70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25568" y="3849624"/>
            <a:ext cx="281330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DF4FF"/>
                </a:solidFill>
                <a:latin typeface="Calibri"/>
              </a:rPr>
              <a:t>COVERAGE CAPS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68368" y="4251960"/>
            <a:ext cx="3252216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Max ₩5M for normal claims, ₩3M for catastrophes. Clear exclusions on force majeure.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32448" y="4526280"/>
            <a:ext cx="1143000" cy="201168"/>
          </a:xfrm>
          <a:prstGeom prst="roundRect">
            <a:avLst/>
          </a:prstGeom>
          <a:solidFill>
            <a:srgbClr val="0D1625"/>
          </a:solidFill>
          <a:ln w="952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>
                <a:solidFill>
                  <a:srgbClr val="FFBF56"/>
                </a:solidFill>
                <a:latin typeface="Calibri"/>
              </a:rPr>
              <a:t>₩5M / ₩3M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68056" y="3703320"/>
            <a:ext cx="3617976" cy="1097280"/>
          </a:xfrm>
          <a:prstGeom prst="roundRect">
            <a:avLst/>
          </a:prstGeom>
          <a:solidFill>
            <a:srgbClr val="122038"/>
          </a:solidFill>
          <a:ln w="1587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232648" y="3822192"/>
            <a:ext cx="347472" cy="347472"/>
          </a:xfrm>
          <a:prstGeom prst="ellipse">
            <a:avLst/>
          </a:prstGeom>
          <a:solidFill>
            <a:srgbClr val="1A3F70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08136" y="3849624"/>
            <a:ext cx="281330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DF4FF"/>
                </a:solidFill>
                <a:latin typeface="Calibri"/>
              </a:rPr>
              <a:t>CONSERVATIVE YIELD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50936" y="4251960"/>
            <a:ext cx="3252216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Max 10–15% of pool deployed to DeFi. Blue-chip protocols only. Always withdrawable.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415016" y="4526280"/>
            <a:ext cx="1143000" cy="201168"/>
          </a:xfrm>
          <a:prstGeom prst="roundRect">
            <a:avLst/>
          </a:prstGeom>
          <a:solidFill>
            <a:srgbClr val="0D1625"/>
          </a:solidFill>
          <a:ln w="952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>
                <a:solidFill>
                  <a:srgbClr val="FFBF56"/>
                </a:solidFill>
                <a:latin typeface="Calibri"/>
              </a:rPr>
              <a:t>10–15%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919472"/>
            <a:ext cx="11183112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9CC6FF"/>
                </a:solidFill>
                <a:latin typeface="Calibri"/>
              </a:rPr>
              <a:t>3.  CRISIS PLAYBOOK</a:t>
            </a:r>
            <a:r>
              <a:rPr sz="1000" i="1">
                <a:solidFill>
                  <a:srgbClr val="9CC6FF"/>
                </a:solidFill>
                <a:latin typeface="Calibri"/>
              </a:rPr>
              <a:t>    what happens when a black swan actually hits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5120640"/>
            <a:ext cx="457200" cy="27432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502920" y="5202936"/>
            <a:ext cx="3617976" cy="1097280"/>
          </a:xfrm>
          <a:prstGeom prst="roundRect">
            <a:avLst/>
          </a:prstGeom>
          <a:solidFill>
            <a:srgbClr val="101C33"/>
          </a:solidFill>
          <a:ln w="1587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667512" y="5321808"/>
            <a:ext cx="347472" cy="347472"/>
          </a:xfrm>
          <a:prstGeom prst="ellipse">
            <a:avLst/>
          </a:prstGeom>
          <a:solidFill>
            <a:srgbClr val="1A3F70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5349240"/>
            <a:ext cx="281330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DF4FF"/>
                </a:solidFill>
                <a:latin typeface="Calibri"/>
              </a:rPr>
              <a:t>STAGED PAYOUTS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5751576"/>
            <a:ext cx="3252216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Emergency mode: 50% paid immediately, 50% over 3–6 months as liquidity returns.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849880" y="6025896"/>
            <a:ext cx="1143000" cy="201168"/>
          </a:xfrm>
          <a:prstGeom prst="roundRect">
            <a:avLst/>
          </a:prstGeom>
          <a:solidFill>
            <a:srgbClr val="0D1625"/>
          </a:solidFill>
          <a:ln w="952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>
                <a:solidFill>
                  <a:srgbClr val="FFBF56"/>
                </a:solidFill>
                <a:latin typeface="Calibri"/>
              </a:rPr>
              <a:t>50% / 50%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85488" y="5202936"/>
            <a:ext cx="3617976" cy="1097280"/>
          </a:xfrm>
          <a:prstGeom prst="roundRect">
            <a:avLst/>
          </a:prstGeom>
          <a:solidFill>
            <a:srgbClr val="101C33"/>
          </a:solidFill>
          <a:ln w="1587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4450080" y="5321808"/>
            <a:ext cx="347472" cy="347472"/>
          </a:xfrm>
          <a:prstGeom prst="ellipse">
            <a:avLst/>
          </a:prstGeom>
          <a:solidFill>
            <a:srgbClr val="1A3F70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25568" y="5349240"/>
            <a:ext cx="281330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DF4FF"/>
                </a:solidFill>
                <a:latin typeface="Calibri"/>
              </a:rPr>
              <a:t>PRO-RATA SHARING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68368" y="5751576"/>
            <a:ext cx="3252216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If pool is short, everyone receives a proportional share. Fair and transparent.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32448" y="6025896"/>
            <a:ext cx="1143000" cy="201168"/>
          </a:xfrm>
          <a:prstGeom prst="roundRect">
            <a:avLst/>
          </a:prstGeom>
          <a:solidFill>
            <a:srgbClr val="0D1625"/>
          </a:solidFill>
          <a:ln w="952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>
                <a:solidFill>
                  <a:srgbClr val="FFBF56"/>
                </a:solidFill>
                <a:latin typeface="Calibri"/>
              </a:rPr>
              <a:t>Fair share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68056" y="5202936"/>
            <a:ext cx="3617976" cy="1097280"/>
          </a:xfrm>
          <a:prstGeom prst="roundRect">
            <a:avLst/>
          </a:prstGeom>
          <a:solidFill>
            <a:srgbClr val="101C33"/>
          </a:solidFill>
          <a:ln w="1587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8232648" y="5321808"/>
            <a:ext cx="347472" cy="347472"/>
          </a:xfrm>
          <a:prstGeom prst="ellipse">
            <a:avLst/>
          </a:prstGeom>
          <a:solidFill>
            <a:srgbClr val="1A3F70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08136" y="5349240"/>
            <a:ext cx="281330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DF4FF"/>
                </a:solidFill>
                <a:latin typeface="Calibri"/>
              </a:rPr>
              <a:t>PREMIUM ADJUSTMENT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50936" y="5751576"/>
            <a:ext cx="3252216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Post-shock: 10–20% temporary increase to rebuild reserves. Capped to protect riders.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415016" y="6025896"/>
            <a:ext cx="1143000" cy="201168"/>
          </a:xfrm>
          <a:prstGeom prst="roundRect">
            <a:avLst/>
          </a:prstGeom>
          <a:solidFill>
            <a:srgbClr val="0D1625"/>
          </a:solidFill>
          <a:ln w="952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>
                <a:solidFill>
                  <a:srgbClr val="FFBF56"/>
                </a:solidFill>
                <a:latin typeface="Calibri"/>
              </a:rPr>
              <a:t>+10–20%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" y="6601968"/>
            <a:ext cx="457200" cy="27432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40080" y="6656832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9CC6FF"/>
                </a:solidFill>
                <a:latin typeface="Calibri"/>
              </a:rPr>
              <a:t>Korean typhoons are base-case events, not tail events — calibrated accordingly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01200" y="6656832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9CC6FF"/>
                </a:solidFill>
                <a:latin typeface="Calibri"/>
              </a:rPr>
              <a:t>MotoChain &amp; RideTrue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9CC6FF"/>
                </a:solidFill>
                <a:latin typeface="Calibri"/>
              </a:rPr>
              <a:t>II.5  ·  TOKEN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8368"/>
            <a:ext cx="103327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DF4FF"/>
                </a:solidFill>
                <a:latin typeface="Calibri"/>
              </a:rPr>
              <a:t>$MOTO Token Specs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984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B8C8E0"/>
                </a:solidFill>
                <a:latin typeface="Calibri"/>
              </a:rPr>
              <a:t>Four core parameters — and why each one was chosen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64208"/>
            <a:ext cx="1097280" cy="54864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o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960120" cy="960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1874519"/>
            <a:ext cx="5577840" cy="2103120"/>
          </a:xfrm>
          <a:prstGeom prst="roundRect">
            <a:avLst/>
          </a:prstGeom>
          <a:solidFill>
            <a:srgbClr val="122038"/>
          </a:solidFill>
          <a:ln w="1587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21208" y="2039111"/>
            <a:ext cx="54864" cy="1773936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2039111"/>
            <a:ext cx="5212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9CC6FF"/>
                </a:solidFill>
                <a:latin typeface="Calibri"/>
              </a:rPr>
              <a:t>WORKING 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58567"/>
            <a:ext cx="52120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EDF4FF"/>
                </a:solidFill>
                <a:latin typeface="Calibri"/>
              </a:rPr>
              <a:t>$MOTO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807207"/>
            <a:ext cx="5212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C8DCFF"/>
                </a:solidFill>
                <a:latin typeface="Calibri"/>
              </a:rPr>
              <a:t>Placeholder · final brand TBD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081527"/>
            <a:ext cx="5212080" cy="18288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172967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4AA3FF"/>
                </a:solidFill>
                <a:latin typeface="Calibri"/>
              </a:rPr>
              <a:t>WHY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83279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Names matter. Final brand will go through trademark clearance, domain availability, and audience testing before token generation event.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874519"/>
            <a:ext cx="5577840" cy="2103120"/>
          </a:xfrm>
          <a:prstGeom prst="roundRect">
            <a:avLst/>
          </a:prstGeom>
          <a:solidFill>
            <a:srgbClr val="122038"/>
          </a:solidFill>
          <a:ln w="15875">
            <a:solidFill>
              <a:srgbClr val="27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36208" y="2039111"/>
            <a:ext cx="54864" cy="1773936"/>
          </a:xfrm>
          <a:prstGeom prst="rect">
            <a:avLst/>
          </a:prstGeom>
          <a:solidFill>
            <a:srgbClr val="27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2039111"/>
            <a:ext cx="5212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9CC6FF"/>
                </a:solidFill>
                <a:latin typeface="Calibri"/>
              </a:rPr>
              <a:t>NETWORK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258567"/>
            <a:ext cx="52120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EDF4FF"/>
                </a:solidFill>
                <a:latin typeface="Calibri"/>
              </a:rPr>
              <a:t>Base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807207"/>
            <a:ext cx="5212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C8DCFF"/>
                </a:solidFill>
                <a:latin typeface="Calibri"/>
              </a:rPr>
              <a:t>Ethereum Layer 2 · EVM-compatible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081527"/>
            <a:ext cx="5212080" cy="18288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0" y="3172967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27D8D8"/>
                </a:solidFill>
                <a:latin typeface="Calibri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83279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Avg transaction cost under $0.05 vs $5+ on Ethereum mainnet. Inherits Ethereum security via the Optimism stack. Best fit for high-frequency writes like service logs.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114799"/>
            <a:ext cx="5577840" cy="2103120"/>
          </a:xfrm>
          <a:prstGeom prst="roundRect">
            <a:avLst/>
          </a:prstGeom>
          <a:solidFill>
            <a:srgbClr val="122038"/>
          </a:solidFill>
          <a:ln w="15875">
            <a:solidFill>
              <a:srgbClr val="4EE5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21208" y="4279391"/>
            <a:ext cx="54864" cy="1773936"/>
          </a:xfrm>
          <a:prstGeom prst="rect">
            <a:avLst/>
          </a:prstGeom>
          <a:solidFill>
            <a:srgbClr val="4EE5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5800" y="4279391"/>
            <a:ext cx="5212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9CC6FF"/>
                </a:solidFill>
                <a:latin typeface="Calibri"/>
              </a:rPr>
              <a:t>TOTAL SUPPLY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498847"/>
            <a:ext cx="52120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EDF4FF"/>
                </a:solidFill>
                <a:latin typeface="Calibri"/>
              </a:rPr>
              <a:t>1,000,000,000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047487"/>
            <a:ext cx="5212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C8DCFF"/>
                </a:solidFill>
                <a:latin typeface="Calibri"/>
              </a:rPr>
              <a:t>Fixed cap · no protocol inflation post-TGE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5321807"/>
            <a:ext cx="5212080" cy="18288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85800" y="5413247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4EE59A"/>
                </a:solidFill>
                <a:latin typeface="Calibri"/>
              </a:rPr>
              <a:t>WHY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5623559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A fixed cap prevents dilution and makes long-term value predictable. 1B is the standard scale for utility tokens — large enough for granular incentives, small enough that each token feels meaningful.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4114799"/>
            <a:ext cx="5577840" cy="2103120"/>
          </a:xfrm>
          <a:prstGeom prst="roundRect">
            <a:avLst/>
          </a:prstGeom>
          <a:solidFill>
            <a:srgbClr val="122038"/>
          </a:solidFill>
          <a:ln w="15875">
            <a:solidFill>
              <a:srgbClr val="FFB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36208" y="4279391"/>
            <a:ext cx="54864" cy="1773936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0" y="4279391"/>
            <a:ext cx="5212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9CC6FF"/>
                </a:solidFill>
                <a:latin typeface="Calibri"/>
              </a:rPr>
              <a:t>STANDARD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498847"/>
            <a:ext cx="52120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EDF4FF"/>
                </a:solidFill>
                <a:latin typeface="Calibri"/>
              </a:rPr>
              <a:t>ERC-20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047487"/>
            <a:ext cx="5212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C8DCFF"/>
                </a:solidFill>
                <a:latin typeface="Calibri"/>
              </a:rPr>
              <a:t>+ governance and staking modules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5321807"/>
            <a:ext cx="5212080" cy="18288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00800" y="5413247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FFBF56"/>
                </a:solidFill>
                <a:latin typeface="Calibri"/>
              </a:rPr>
              <a:t>WHY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623559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Maximum compatibility — every wallet, DEX, and custodian on Ethereum or any EVM chain supports ERC-20. Governance and staking modules layer on top without breaking the base standard.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6601968"/>
            <a:ext cx="457200" cy="27432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40080" y="6656832"/>
            <a:ext cx="9144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1">
                <a:solidFill>
                  <a:srgbClr val="9CC6FF"/>
                </a:solidFill>
                <a:latin typeface="Calibri"/>
              </a:rPr>
              <a:t>Draft assumptions · final parameters subject to legal and token-design advisor review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0" y="6656832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1" i="0">
                <a:solidFill>
                  <a:srgbClr val="9CC6FF"/>
                </a:solidFill>
                <a:latin typeface="Calibri"/>
              </a:rPr>
              <a:t>MotoChain &amp; RideTrue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9CC6FF"/>
                </a:solidFill>
                <a:latin typeface="Calibri"/>
              </a:rPr>
              <a:t>II.5  ·  TOKEN ALLOCATION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8368"/>
            <a:ext cx="103327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DF4FF"/>
                </a:solidFill>
                <a:latin typeface="Calibri"/>
              </a:rPr>
              <a:t>Where the 1B Goes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984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B8C8E0"/>
                </a:solidFill>
                <a:latin typeface="Calibri"/>
              </a:rPr>
              <a:t>Seven buckets · seven reasons · every percentage chosen on purpose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64208"/>
            <a:ext cx="1097280" cy="54864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o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411480"/>
            <a:ext cx="731520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1874519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9CC6FF"/>
                </a:solidFill>
                <a:latin typeface="Calibri"/>
              </a:rPr>
              <a:t>01  ·  ALLOCATION AT A GLANCE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121408"/>
            <a:ext cx="457200" cy="27432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allocation_don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39" y="2179015"/>
            <a:ext cx="3170225" cy="3170225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548640" y="5468112"/>
            <a:ext cx="91440" cy="91440"/>
          </a:xfrm>
          <a:prstGeom prst="ellipse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4088" y="5440680"/>
            <a:ext cx="137159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B8C8E0"/>
                </a:solidFill>
                <a:latin typeface="Calibri"/>
              </a:rPr>
              <a:t>Community &amp; Ecosystem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79" y="5440680"/>
            <a:ext cx="3200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1" i="0">
                <a:solidFill>
                  <a:srgbClr val="9CC6FF"/>
                </a:solidFill>
                <a:latin typeface="Calibri"/>
              </a:rPr>
              <a:t>30%</a:t>
            </a:r>
          </a:p>
        </p:txBody>
      </p:sp>
      <p:sp>
        <p:nvSpPr>
          <p:cNvPr id="17" name="Oval 16"/>
          <p:cNvSpPr/>
          <p:nvPr/>
        </p:nvSpPr>
        <p:spPr>
          <a:xfrm>
            <a:off x="2423159" y="5468112"/>
            <a:ext cx="91440" cy="91440"/>
          </a:xfrm>
          <a:prstGeom prst="ellipse">
            <a:avLst/>
          </a:prstGeom>
          <a:solidFill>
            <a:srgbClr val="27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578607" y="5440680"/>
            <a:ext cx="137159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B8C8E0"/>
                </a:solidFill>
                <a:latin typeface="Calibri"/>
              </a:rPr>
              <a:t>Team &amp; Founders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198" y="5440680"/>
            <a:ext cx="3200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1" i="0">
                <a:solidFill>
                  <a:srgbClr val="9CC6FF"/>
                </a:solidFill>
                <a:latin typeface="Calibri"/>
              </a:rPr>
              <a:t>18%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5632704"/>
            <a:ext cx="91440" cy="91440"/>
          </a:xfrm>
          <a:prstGeom prst="ellipse">
            <a:avLst/>
          </a:prstGeom>
          <a:solidFill>
            <a:srgbClr val="4EE5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4088" y="5605272"/>
            <a:ext cx="137159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B8C8E0"/>
                </a:solidFill>
                <a:latin typeface="Calibri"/>
              </a:rPr>
              <a:t>Treasury / DAO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79" y="5605272"/>
            <a:ext cx="3200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1" i="0">
                <a:solidFill>
                  <a:srgbClr val="9CC6FF"/>
                </a:solidFill>
                <a:latin typeface="Calibri"/>
              </a:rPr>
              <a:t>15%</a:t>
            </a:r>
          </a:p>
        </p:txBody>
      </p:sp>
      <p:sp>
        <p:nvSpPr>
          <p:cNvPr id="23" name="Oval 22"/>
          <p:cNvSpPr/>
          <p:nvPr/>
        </p:nvSpPr>
        <p:spPr>
          <a:xfrm>
            <a:off x="2423159" y="5632704"/>
            <a:ext cx="91440" cy="91440"/>
          </a:xfrm>
          <a:prstGeom prst="ellipse">
            <a:avLst/>
          </a:prstGeom>
          <a:solidFill>
            <a:srgbClr val="C8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578607" y="5605272"/>
            <a:ext cx="137159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B8C8E0"/>
                </a:solidFill>
                <a:latin typeface="Calibri"/>
              </a:rPr>
              <a:t>Pool Subsidy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86198" y="5605272"/>
            <a:ext cx="3200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1" i="0">
                <a:solidFill>
                  <a:srgbClr val="9CC6FF"/>
                </a:solidFill>
                <a:latin typeface="Calibri"/>
              </a:rPr>
              <a:t>15%</a:t>
            </a:r>
          </a:p>
        </p:txBody>
      </p:sp>
      <p:sp>
        <p:nvSpPr>
          <p:cNvPr id="26" name="Oval 25"/>
          <p:cNvSpPr/>
          <p:nvPr/>
        </p:nvSpPr>
        <p:spPr>
          <a:xfrm>
            <a:off x="548640" y="5797296"/>
            <a:ext cx="91440" cy="91440"/>
          </a:xfrm>
          <a:prstGeom prst="ellipse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04088" y="5769864"/>
            <a:ext cx="137159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B8C8E0"/>
                </a:solidFill>
                <a:latin typeface="Calibri"/>
              </a:rPr>
              <a:t>Investors — Private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79" y="5769864"/>
            <a:ext cx="3200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1" i="0">
                <a:solidFill>
                  <a:srgbClr val="9CC6FF"/>
                </a:solidFill>
                <a:latin typeface="Calibri"/>
              </a:rPr>
              <a:t>9%</a:t>
            </a:r>
          </a:p>
        </p:txBody>
      </p:sp>
      <p:sp>
        <p:nvSpPr>
          <p:cNvPr id="29" name="Oval 28"/>
          <p:cNvSpPr/>
          <p:nvPr/>
        </p:nvSpPr>
        <p:spPr>
          <a:xfrm>
            <a:off x="2423159" y="5797296"/>
            <a:ext cx="91440" cy="91440"/>
          </a:xfrm>
          <a:prstGeom prst="ellipse">
            <a:avLst/>
          </a:prstGeom>
          <a:solidFill>
            <a:srgbClr val="E09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578607" y="5769864"/>
            <a:ext cx="137159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B8C8E0"/>
                </a:solidFill>
                <a:latin typeface="Calibri"/>
              </a:rPr>
              <a:t>Investors — Seed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198" y="5769864"/>
            <a:ext cx="3200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1" i="0">
                <a:solidFill>
                  <a:srgbClr val="9CC6FF"/>
                </a:solidFill>
                <a:latin typeface="Calibri"/>
              </a:rPr>
              <a:t>8%</a:t>
            </a:r>
          </a:p>
        </p:txBody>
      </p:sp>
      <p:sp>
        <p:nvSpPr>
          <p:cNvPr id="32" name="Oval 31"/>
          <p:cNvSpPr/>
          <p:nvPr/>
        </p:nvSpPr>
        <p:spPr>
          <a:xfrm>
            <a:off x="548640" y="5961888"/>
            <a:ext cx="91440" cy="91440"/>
          </a:xfrm>
          <a:prstGeom prst="ellipse">
            <a:avLst/>
          </a:prstGeom>
          <a:solidFill>
            <a:srgbClr val="4EE5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04088" y="5934456"/>
            <a:ext cx="137159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B8C8E0"/>
                </a:solidFill>
                <a:latin typeface="Calibri"/>
              </a:rPr>
              <a:t>Liquidity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11679" y="5934456"/>
            <a:ext cx="3200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1" i="0">
                <a:solidFill>
                  <a:srgbClr val="9CC6FF"/>
                </a:solidFill>
                <a:latin typeface="Calibri"/>
              </a:rPr>
              <a:t>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1874519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9CC6FF"/>
                </a:solidFill>
                <a:latin typeface="Calibri"/>
              </a:rPr>
              <a:t>02  ·  WHY THESE PERCENTAGES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34840" y="2121408"/>
            <a:ext cx="457200" cy="27432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4434840" y="2286000"/>
            <a:ext cx="7269480" cy="3813048"/>
          </a:xfrm>
          <a:prstGeom prst="roundRect">
            <a:avLst/>
          </a:prstGeom>
          <a:noFill/>
          <a:ln w="12700">
            <a:solidFill>
              <a:srgbClr val="142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434840" y="2286000"/>
            <a:ext cx="7269480" cy="292608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62856" y="2340864"/>
            <a:ext cx="184708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C6FF"/>
                </a:solidFill>
                <a:latin typeface="Calibri"/>
              </a:rPr>
              <a:t>BUCKET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5976" y="2340864"/>
            <a:ext cx="24688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C6FF"/>
                </a:solidFill>
                <a:latin typeface="Calibri"/>
              </a:rPr>
              <a:t>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68896" y="2340864"/>
            <a:ext cx="116128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C6FF"/>
                </a:solidFill>
                <a:latin typeface="Calibri"/>
              </a:rPr>
              <a:t>VESTING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86216" y="2340864"/>
            <a:ext cx="299008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C6FF"/>
                </a:solidFill>
                <a:latin typeface="Calibri"/>
              </a:rPr>
              <a:t>WHY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34840" y="2564892"/>
            <a:ext cx="7269480" cy="22860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434840" y="2578608"/>
            <a:ext cx="7269480" cy="502920"/>
          </a:xfrm>
          <a:prstGeom prst="rect">
            <a:avLst/>
          </a:prstGeom>
          <a:solidFill>
            <a:srgbClr val="101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4526280" y="2743200"/>
            <a:ext cx="54864" cy="173736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636008" y="2729484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DF4FF"/>
                </a:solidFill>
                <a:latin typeface="Calibri"/>
              </a:rPr>
              <a:t>Community &amp; Ecosystem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2715768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4AA3FF"/>
                </a:solidFill>
                <a:latin typeface="Calibri"/>
              </a:rPr>
              <a:t>30%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50608" y="272948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8DCFF"/>
                </a:solidFill>
                <a:latin typeface="Calibri"/>
              </a:rPr>
              <a:t>4-yr progressive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67928" y="2651760"/>
            <a:ext cx="3063240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Largest bucket — funds dealer, mechanic, and rider acquisition. Heavy real-world cost.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34840" y="3076956"/>
            <a:ext cx="7269480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4526280" y="3246120"/>
            <a:ext cx="54864" cy="173736"/>
          </a:xfrm>
          <a:prstGeom prst="rect">
            <a:avLst/>
          </a:prstGeom>
          <a:solidFill>
            <a:srgbClr val="C8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636008" y="3232404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DF4FF"/>
                </a:solidFill>
                <a:latin typeface="Calibri"/>
              </a:rPr>
              <a:t>Insurance Pool Subsidy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29400" y="3218688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C8DCFF"/>
                </a:solidFill>
                <a:latin typeface="Calibri"/>
              </a:rPr>
              <a:t>15%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50608" y="323240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8DCFF"/>
                </a:solidFill>
                <a:latin typeface="Calibri"/>
              </a:rPr>
              <a:t>Tapered Y1–3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67928" y="3154680"/>
            <a:ext cx="3063240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Bootstraps safe-rider rebates until premium revenue scales. Then tapers out.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434840" y="3579876"/>
            <a:ext cx="7269480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4434840" y="3584448"/>
            <a:ext cx="7269480" cy="502920"/>
          </a:xfrm>
          <a:prstGeom prst="rect">
            <a:avLst/>
          </a:prstGeom>
          <a:solidFill>
            <a:srgbClr val="101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4526280" y="3749040"/>
            <a:ext cx="54864" cy="173736"/>
          </a:xfrm>
          <a:prstGeom prst="rect">
            <a:avLst/>
          </a:prstGeom>
          <a:solidFill>
            <a:srgbClr val="27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636008" y="3735324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DF4FF"/>
                </a:solidFill>
                <a:latin typeface="Calibri"/>
              </a:rPr>
              <a:t>Team &amp; Founders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29400" y="3721608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27D8D8"/>
                </a:solidFill>
                <a:latin typeface="Calibri"/>
              </a:rPr>
              <a:t>18%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150608" y="373532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8DCFF"/>
                </a:solidFill>
                <a:latin typeface="Calibri"/>
              </a:rPr>
              <a:t>4-yr · 1-yr cliff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3657600"/>
            <a:ext cx="3063240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Below the 20–25% industry norm. Signals alignment with users over founder enrichment.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434840" y="4082796"/>
            <a:ext cx="7269480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4526280" y="4251960"/>
            <a:ext cx="54864" cy="173736"/>
          </a:xfrm>
          <a:prstGeom prst="rect">
            <a:avLst/>
          </a:prstGeom>
          <a:solidFill>
            <a:srgbClr val="E09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636008" y="4238244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DF4FF"/>
                </a:solidFill>
                <a:latin typeface="Calibri"/>
              </a:rPr>
              <a:t>Investors — Seed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629400" y="4224528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E0993D"/>
                </a:solidFill>
                <a:latin typeface="Calibri"/>
              </a:rPr>
              <a:t>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50608" y="423824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8DCFF"/>
                </a:solidFill>
                <a:latin typeface="Calibri"/>
              </a:rPr>
              <a:t>2-yr · 6-mo cliff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67928" y="4160520"/>
            <a:ext cx="3063240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Compensates highest-risk early backers. Shorter vest reflects earlier conviction.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434840" y="4585716"/>
            <a:ext cx="7269480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4434840" y="4590288"/>
            <a:ext cx="7269480" cy="502920"/>
          </a:xfrm>
          <a:prstGeom prst="rect">
            <a:avLst/>
          </a:prstGeom>
          <a:solidFill>
            <a:srgbClr val="101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4526280" y="4754880"/>
            <a:ext cx="54864" cy="173736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636008" y="4741164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DF4FF"/>
                </a:solidFill>
                <a:latin typeface="Calibri"/>
              </a:rPr>
              <a:t>Investors — Private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629400" y="4727448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FFBF56"/>
                </a:solidFill>
                <a:latin typeface="Calibri"/>
              </a:rPr>
              <a:t>9%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150608" y="47411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8DCFF"/>
                </a:solidFill>
                <a:latin typeface="Calibri"/>
              </a:rPr>
              <a:t>18-mo · 3-mo cliff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67928" y="4663440"/>
            <a:ext cx="3063240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Larger checks, later entry. Slightly bigger allocation, shorter lockup.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34840" y="5088636"/>
            <a:ext cx="7269480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4526280" y="5257800"/>
            <a:ext cx="54864" cy="173736"/>
          </a:xfrm>
          <a:prstGeom prst="rect">
            <a:avLst/>
          </a:prstGeom>
          <a:solidFill>
            <a:srgbClr val="4EE5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636008" y="5244084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DF4FF"/>
                </a:solidFill>
                <a:latin typeface="Calibri"/>
              </a:rPr>
              <a:t>Treasury / DAO Reserve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29400" y="5230368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4EE59A"/>
                </a:solidFill>
                <a:latin typeface="Calibri"/>
              </a:rPr>
              <a:t>15%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50608" y="524408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8DCFF"/>
                </a:solidFill>
                <a:latin typeface="Calibri"/>
              </a:rPr>
              <a:t>Governance-gated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67928" y="5166360"/>
            <a:ext cx="3063240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Future runway, audits, opportunistic moves. Community decides how it's spent.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434840" y="5591556"/>
            <a:ext cx="7269480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4434840" y="5596128"/>
            <a:ext cx="7269480" cy="502920"/>
          </a:xfrm>
          <a:prstGeom prst="rect">
            <a:avLst/>
          </a:prstGeom>
          <a:solidFill>
            <a:srgbClr val="101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4526280" y="5760720"/>
            <a:ext cx="54864" cy="173736"/>
          </a:xfrm>
          <a:prstGeom prst="rect">
            <a:avLst/>
          </a:prstGeom>
          <a:solidFill>
            <a:srgbClr val="4EE5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4636008" y="5747004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DF4FF"/>
                </a:solidFill>
                <a:latin typeface="Calibri"/>
              </a:rPr>
              <a:t>Liquidity Provision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629400" y="5733288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4EE59A"/>
                </a:solidFill>
                <a:latin typeface="Calibri"/>
              </a:rPr>
              <a:t>5%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150608" y="574700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8DCFF"/>
                </a:solidFill>
                <a:latin typeface="Calibri"/>
              </a:rPr>
              <a:t>Unlocked at TGE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567928" y="5669280"/>
            <a:ext cx="3063240" cy="356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Market-making capital must be liquid from day one to function on DEXes and CEXes.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02920" y="6080760"/>
            <a:ext cx="11183112" cy="457200"/>
          </a:xfrm>
          <a:prstGeom prst="roundRect">
            <a:avLst/>
          </a:prstGeom>
          <a:solidFill>
            <a:srgbClr val="121E32"/>
          </a:solidFill>
          <a:ln w="12700">
            <a:solidFill>
              <a:srgbClr val="FFB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/>
          <p:cNvSpPr/>
          <p:nvPr/>
        </p:nvSpPr>
        <p:spPr>
          <a:xfrm>
            <a:off x="502920" y="6172200"/>
            <a:ext cx="54864" cy="274320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85800" y="6153912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BF56"/>
                </a:solidFill>
                <a:latin typeface="Calibri"/>
              </a:rPr>
              <a:t>KEY ASSUMPTIONS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286000" y="615391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B8C8E0"/>
                </a:solidFill>
                <a:latin typeface="Calibri"/>
              </a:rPr>
              <a:t>Insider supply (team + investors) capped at 35% · industry norm 40–50%.  All vesting starts at TGE.  Rebates and revenue paid in stablecoins, never in $MOTO — token has utility only.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40080" y="6601968"/>
            <a:ext cx="457200" cy="27432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640080" y="6656832"/>
            <a:ext cx="9144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1">
                <a:solidFill>
                  <a:srgbClr val="9CC6FF"/>
                </a:solidFill>
                <a:latin typeface="Calibri"/>
              </a:rPr>
              <a:t>Sources: token-design benchmarks from comparable DeFi RWA protocols · subject to advisor review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601200" y="6656832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1" i="0">
                <a:solidFill>
                  <a:srgbClr val="9CC6FF"/>
                </a:solidFill>
                <a:latin typeface="Calibri"/>
              </a:rPr>
              <a:t>MotoChain &amp; RideTrue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9CC6FF"/>
                </a:solidFill>
                <a:latin typeface="Calibri"/>
              </a:rPr>
              <a:t>II.5  ·  PREMIUM POOL ALLOCATION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8368"/>
            <a:ext cx="103327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DF4FF"/>
                </a:solidFill>
                <a:latin typeface="Calibri"/>
              </a:rPr>
              <a:t>Where Every Premium Goes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984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B8C8E0"/>
                </a:solidFill>
                <a:latin typeface="Calibri"/>
              </a:rPr>
              <a:t>Of every ₩100 a rider pays, here's how it's split — and why each percentage is what it is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64208"/>
            <a:ext cx="1097280" cy="54864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66344" y="1837943"/>
            <a:ext cx="11256264" cy="512064"/>
          </a:xfrm>
          <a:prstGeom prst="roundRect">
            <a:avLst/>
          </a:prstGeom>
          <a:noFill/>
          <a:ln w="12700">
            <a:solidFill>
              <a:srgbClr val="142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1874519"/>
            <a:ext cx="1341973" cy="438912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1984247"/>
            <a:ext cx="134197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050A12"/>
                </a:solidFill>
                <a:latin typeface="Calibri"/>
              </a:rPr>
              <a:t>12%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44893" y="1874519"/>
            <a:ext cx="2795778" cy="438912"/>
          </a:xfrm>
          <a:prstGeom prst="rect">
            <a:avLst/>
          </a:prstGeom>
          <a:solidFill>
            <a:srgbClr val="9C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844893" y="1984247"/>
            <a:ext cx="279577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050A12"/>
                </a:solidFill>
                <a:latin typeface="Calibri"/>
              </a:rPr>
              <a:t>25%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40671" y="1874519"/>
            <a:ext cx="2236622" cy="438912"/>
          </a:xfrm>
          <a:prstGeom prst="rect">
            <a:avLst/>
          </a:prstGeom>
          <a:solidFill>
            <a:srgbClr val="27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40671" y="1984247"/>
            <a:ext cx="223662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050A12"/>
                </a:solidFill>
                <a:latin typeface="Calibri"/>
              </a:rPr>
              <a:t>20%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77293" y="1874519"/>
            <a:ext cx="1118311" cy="438912"/>
          </a:xfrm>
          <a:prstGeom prst="rect">
            <a:avLst/>
          </a:prstGeom>
          <a:solidFill>
            <a:srgbClr val="5B7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77293" y="1984247"/>
            <a:ext cx="111831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050A12"/>
                </a:solidFill>
                <a:latin typeface="Calibri"/>
              </a:rPr>
              <a:t>10%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5605" y="1874519"/>
            <a:ext cx="2012960" cy="438912"/>
          </a:xfrm>
          <a:prstGeom prst="rect">
            <a:avLst/>
          </a:prstGeom>
          <a:solidFill>
            <a:srgbClr val="4EE5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95605" y="1984247"/>
            <a:ext cx="20129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050A12"/>
                </a:solidFill>
                <a:latin typeface="Calibri"/>
              </a:rPr>
              <a:t>18%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08565" y="1874519"/>
            <a:ext cx="559155" cy="438912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08565" y="1984247"/>
            <a:ext cx="55915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i="0">
                <a:solidFill>
                  <a:srgbClr val="050A12"/>
                </a:solidFill>
                <a:latin typeface="Calibri"/>
              </a:rPr>
              <a:t>5%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567720" y="1874519"/>
            <a:ext cx="1118311" cy="438912"/>
          </a:xfrm>
          <a:prstGeom prst="rect">
            <a:avLst/>
          </a:prstGeom>
          <a:solidFill>
            <a:srgbClr val="4F6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67720" y="1984247"/>
            <a:ext cx="111831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050A12"/>
                </a:solidFill>
                <a:latin typeface="Calibri"/>
              </a:rPr>
              <a:t>10%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368295"/>
            <a:ext cx="6400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B8C8E0"/>
                </a:solidFill>
                <a:latin typeface="Calibri"/>
              </a:rPr>
              <a:t>100% of every premium ₩  →  split across 7 buckets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2368295"/>
            <a:ext cx="38679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1">
                <a:solidFill>
                  <a:srgbClr val="FFBF56"/>
                </a:solidFill>
                <a:latin typeface="Calibri"/>
              </a:rPr>
              <a:t>DeFi yield cap (see below) is separate, not in the 100%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2670048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9CC6FF"/>
                </a:solidFill>
                <a:latin typeface="Calibri"/>
              </a:rPr>
              <a:t>WHY EACH PERCENTAGE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889504"/>
            <a:ext cx="457200" cy="27432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502920" y="2971800"/>
            <a:ext cx="11183112" cy="2852928"/>
          </a:xfrm>
          <a:prstGeom prst="roundRect">
            <a:avLst/>
          </a:prstGeom>
          <a:noFill/>
          <a:ln w="12700">
            <a:solidFill>
              <a:srgbClr val="142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02920" y="2971800"/>
            <a:ext cx="11183112" cy="292608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85800" y="3026664"/>
            <a:ext cx="25054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C6FF"/>
                </a:solidFill>
                <a:latin typeface="Calibri"/>
              </a:rPr>
              <a:t>ALLOCATION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0440" y="3026664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CC6FF"/>
                </a:solidFill>
                <a:latin typeface="Calibri"/>
              </a:rPr>
              <a:t>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60520" y="3026664"/>
            <a:ext cx="200253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C6FF"/>
                </a:solidFill>
                <a:latin typeface="Calibri"/>
              </a:rPr>
              <a:t>PURPOSE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3026664"/>
            <a:ext cx="504748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C6FF"/>
                </a:solidFill>
                <a:latin typeface="Calibri"/>
              </a:rPr>
              <a:t>WHY THIS PERCENTAGE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250692"/>
            <a:ext cx="11183112" cy="22860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502920" y="3264408"/>
            <a:ext cx="11183112" cy="365760"/>
          </a:xfrm>
          <a:prstGeom prst="rect">
            <a:avLst/>
          </a:prstGeom>
          <a:solidFill>
            <a:srgbClr val="101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594360" y="3355848"/>
            <a:ext cx="54864" cy="182880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04088" y="3346704"/>
            <a:ext cx="25237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EDF4FF"/>
                </a:solidFill>
                <a:latin typeface="Calibri"/>
              </a:rPr>
              <a:t>Expected claims (loss + buffer)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29000" y="331012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500" b="1" i="0">
                <a:solidFill>
                  <a:srgbClr val="4AA3FF"/>
                </a:solidFill>
                <a:latin typeface="Calibri"/>
              </a:rPr>
              <a:t>12%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05656" y="3346704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1">
                <a:solidFill>
                  <a:srgbClr val="C8DCFF"/>
                </a:solidFill>
                <a:latin typeface="Calibri"/>
              </a:rPr>
              <a:t>Pays approved claims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37376" y="3337560"/>
            <a:ext cx="519379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Modeled loss ratio is ~8.9% (8% × ₩1.2M). The extra ~3% is a safety buffer for actuarial drift.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625596"/>
            <a:ext cx="11183112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594360" y="3721608"/>
            <a:ext cx="54864" cy="182880"/>
          </a:xfrm>
          <a:prstGeom prst="rect">
            <a:avLst/>
          </a:prstGeom>
          <a:solidFill>
            <a:srgbClr val="9C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04088" y="3712464"/>
            <a:ext cx="25237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EDF4FF"/>
                </a:solidFill>
                <a:latin typeface="Calibri"/>
              </a:rPr>
              <a:t>Liquidity reserve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29000" y="367588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500" b="1" i="0">
                <a:solidFill>
                  <a:srgbClr val="9CC6FF"/>
                </a:solidFill>
                <a:latin typeface="Calibri"/>
              </a:rPr>
              <a:t>25%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05656" y="3712464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1">
                <a:solidFill>
                  <a:srgbClr val="C8DCFF"/>
                </a:solidFill>
                <a:latin typeface="Calibri"/>
              </a:rPr>
              <a:t>Always-liquid claim coverage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37376" y="3703320"/>
            <a:ext cx="519379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USDC kept immediately accessible. Above the industry 15–20% norm — no track record yet, extra caution.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3991356"/>
            <a:ext cx="11183112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502920" y="3995928"/>
            <a:ext cx="11183112" cy="365760"/>
          </a:xfrm>
          <a:prstGeom prst="rect">
            <a:avLst/>
          </a:prstGeom>
          <a:solidFill>
            <a:srgbClr val="101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594360" y="4087368"/>
            <a:ext cx="54864" cy="182880"/>
          </a:xfrm>
          <a:prstGeom prst="rect">
            <a:avLst/>
          </a:prstGeom>
          <a:solidFill>
            <a:srgbClr val="27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04088" y="4078224"/>
            <a:ext cx="25237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EDF4FF"/>
                </a:solidFill>
                <a:latin typeface="Calibri"/>
              </a:rPr>
              <a:t>Catastrophe reserve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29000" y="404164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500" b="1" i="0">
                <a:solidFill>
                  <a:srgbClr val="27D8D8"/>
                </a:solidFill>
                <a:latin typeface="Calibri"/>
              </a:rPr>
              <a:t>20%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05656" y="4078224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1">
                <a:solidFill>
                  <a:srgbClr val="C8DCFF"/>
                </a:solidFill>
                <a:latin typeface="Calibri"/>
              </a:rPr>
              <a:t>Typhoon / mass-event buffer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37376" y="4069080"/>
            <a:ext cx="519379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Korean typhoons hit every year. We treat them as base-case events, not tail events — bigger reserve.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357116"/>
            <a:ext cx="11183112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594360" y="4453128"/>
            <a:ext cx="54864" cy="182880"/>
          </a:xfrm>
          <a:prstGeom prst="rect">
            <a:avLst/>
          </a:prstGeom>
          <a:solidFill>
            <a:srgbClr val="5B7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04088" y="4443984"/>
            <a:ext cx="25237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EDF4FF"/>
                </a:solidFill>
                <a:latin typeface="Calibri"/>
              </a:rPr>
              <a:t>Reinsurance premium budget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29000" y="440740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500" b="1" i="0">
                <a:solidFill>
                  <a:srgbClr val="5B7FCC"/>
                </a:solidFill>
                <a:latin typeface="Calibri"/>
              </a:rPr>
              <a:t>10%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05656" y="4443984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1">
                <a:solidFill>
                  <a:srgbClr val="C8DCFF"/>
                </a:solidFill>
                <a:latin typeface="Calibri"/>
              </a:rPr>
              <a:t>External backstop premium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37376" y="4434840"/>
            <a:ext cx="519379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Pays a reinsurance counterparty (TBD) for losses above pool capacity. Industry norm 8–12%.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4722876"/>
            <a:ext cx="11183112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502920" y="4727448"/>
            <a:ext cx="11183112" cy="365760"/>
          </a:xfrm>
          <a:prstGeom prst="rect">
            <a:avLst/>
          </a:prstGeom>
          <a:solidFill>
            <a:srgbClr val="101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594360" y="4818888"/>
            <a:ext cx="54864" cy="182880"/>
          </a:xfrm>
          <a:prstGeom prst="rect">
            <a:avLst/>
          </a:prstGeom>
          <a:solidFill>
            <a:srgbClr val="4EE5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04088" y="4809744"/>
            <a:ext cx="25237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EDF4FF"/>
                </a:solidFill>
                <a:latin typeface="Calibri"/>
              </a:rPr>
              <a:t>Safe-rider rebates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29000" y="477316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500" b="1" i="0">
                <a:solidFill>
                  <a:srgbClr val="4EE59A"/>
                </a:solidFill>
                <a:latin typeface="Calibri"/>
              </a:rPr>
              <a:t>18%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05656" y="4809744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1">
                <a:solidFill>
                  <a:srgbClr val="C8DCFF"/>
                </a:solidFill>
                <a:latin typeface="Calibri"/>
              </a:rPr>
              <a:t>Returned to claim-free riders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37376" y="4800600"/>
            <a:ext cx="519379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Quarterly or annual rebates. Generous because our modeled losses are low — surplus goes back to users.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5088636"/>
            <a:ext cx="11183112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594360" y="5184648"/>
            <a:ext cx="54864" cy="182880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04088" y="5175504"/>
            <a:ext cx="25237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EDF4FF"/>
                </a:solidFill>
                <a:latin typeface="Calibri"/>
              </a:rPr>
              <a:t>Protocol fee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429000" y="513892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500" b="1" i="0">
                <a:solidFill>
                  <a:srgbClr val="FFBF56"/>
                </a:solidFill>
                <a:latin typeface="Calibri"/>
              </a:rPr>
              <a:t>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05656" y="5175504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1">
                <a:solidFill>
                  <a:srgbClr val="C8DCFF"/>
                </a:solidFill>
                <a:latin typeface="Calibri"/>
              </a:rPr>
              <a:t>Operating revenue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37376" y="5166360"/>
            <a:ext cx="519379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Aligned with Nexus Mutual (5%) and similar DeFi mutual fees. Small and predictable.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02920" y="5454396"/>
            <a:ext cx="11183112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502920" y="5458968"/>
            <a:ext cx="11183112" cy="365760"/>
          </a:xfrm>
          <a:prstGeom prst="rect">
            <a:avLst/>
          </a:prstGeom>
          <a:solidFill>
            <a:srgbClr val="101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594360" y="5550408"/>
            <a:ext cx="54864" cy="182880"/>
          </a:xfrm>
          <a:prstGeom prst="rect">
            <a:avLst/>
          </a:prstGeom>
          <a:solidFill>
            <a:srgbClr val="4F6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704088" y="5541264"/>
            <a:ext cx="25237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EDF4FF"/>
                </a:solidFill>
                <a:latin typeface="Calibri"/>
              </a:rPr>
              <a:t>Treasury reserve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429000" y="550468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500" b="1" i="0">
                <a:solidFill>
                  <a:srgbClr val="4F6E9E"/>
                </a:solidFill>
                <a:latin typeface="Calibri"/>
              </a:rPr>
              <a:t>10%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105656" y="5541264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1">
                <a:solidFill>
                  <a:srgbClr val="C8DCFF"/>
                </a:solidFill>
                <a:latin typeface="Calibri"/>
              </a:rPr>
              <a:t>Governance discretion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37376" y="5532120"/>
            <a:ext cx="519379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War chest for audits, integrations, and opportunistic moves. Separate from protocol fee.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02920" y="5897880"/>
            <a:ext cx="11183112" cy="594360"/>
          </a:xfrm>
          <a:prstGeom prst="roundRect">
            <a:avLst/>
          </a:prstGeom>
          <a:solidFill>
            <a:srgbClr val="121E32"/>
          </a:solidFill>
          <a:ln w="12700">
            <a:solidFill>
              <a:srgbClr val="FFB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502920" y="6007608"/>
            <a:ext cx="54864" cy="365760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85800" y="598932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BF56"/>
                </a:solidFill>
                <a:latin typeface="Calibri"/>
              </a:rPr>
              <a:t>DEFI YIELD CAP  ·  ceiling, not allocation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5800" y="6208776"/>
            <a:ext cx="10789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B8C8E0"/>
                </a:solidFill>
                <a:latin typeface="Calibri"/>
              </a:rPr>
              <a:t>Up to 10% of excess reserves (above liquidity + catastrophe floors) may be deployed to Aave / Compound for conservative yield. Insurance capital is not speculative — solvency comes first.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40080" y="6601968"/>
            <a:ext cx="457200" cy="27432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640080" y="6656832"/>
            <a:ext cx="9144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1">
                <a:solidFill>
                  <a:srgbClr val="9CC6FF"/>
                </a:solidFill>
                <a:latin typeface="Calibri"/>
              </a:rPr>
              <a:t>Total of 7 buckets = 100% · governance can re-tune ratios as claim data matures · sources: KIDI motor reports, DeFi mutual benchmarks (Nexus Mutual et al.)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601200" y="6656832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1" i="0">
                <a:solidFill>
                  <a:srgbClr val="9CC6FF"/>
                </a:solidFill>
                <a:latin typeface="Calibri"/>
              </a:rPr>
              <a:t>MotoChain &amp; RideTrue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9CC6FF"/>
                </a:solidFill>
                <a:latin typeface="Calibri"/>
              </a:rPr>
              <a:t>II.5  ·  STRESS SENSITIVITY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8368"/>
            <a:ext cx="103327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DF4FF"/>
                </a:solidFill>
                <a:latin typeface="Calibri"/>
              </a:rPr>
              <a:t>What Could Break the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984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B8C8E0"/>
                </a:solidFill>
                <a:latin typeface="Calibri"/>
              </a:rPr>
              <a:t>Seven known failure modes — the threshold for each, and what happens if we hit it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64208"/>
            <a:ext cx="1097280" cy="54864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874519"/>
            <a:ext cx="111831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8C8E0"/>
                </a:solidFill>
                <a:latin typeface="Calibri"/>
              </a:rPr>
              <a:t>Every model has breaking points. Naming them up front is more credible than pretending they don't exist. Each row below is a stressor we've thought about, the level at which it breaks the plan, and what we'd 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331720"/>
            <a:ext cx="219456" cy="219456"/>
          </a:xfrm>
          <a:prstGeom prst="round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331720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050A12"/>
                </a:solidFill>
                <a:latin typeface="Calibri"/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2359152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CRITICAL — project-existential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59" y="2331720"/>
            <a:ext cx="219456" cy="219456"/>
          </a:xfrm>
          <a:prstGeom prst="round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51959" y="2331720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050A12"/>
                </a:solidFill>
                <a:latin typeface="Calibri"/>
              </a:rPr>
              <a:t>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5" y="2359152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HIGH — forces major adjustment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0998" y="2331720"/>
            <a:ext cx="219456" cy="219456"/>
          </a:xfrm>
          <a:prstGeom prst="round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00998" y="2331720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050A12"/>
                </a:solidFill>
                <a:latin typeface="Calibri"/>
              </a:rPr>
              <a:t>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4" y="2359152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B8C8E0"/>
                </a:solidFill>
                <a:latin typeface="Calibri"/>
              </a:rPr>
              <a:t>MEDIUM — recoverable with plan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743200"/>
            <a:ext cx="11183112" cy="3108960"/>
          </a:xfrm>
          <a:prstGeom prst="roundRect">
            <a:avLst/>
          </a:prstGeom>
          <a:noFill/>
          <a:ln w="12700">
            <a:solidFill>
              <a:srgbClr val="142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" y="2743200"/>
            <a:ext cx="11183112" cy="292608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70432" y="2798064"/>
            <a:ext cx="22768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C6FF"/>
                </a:solidFill>
                <a:latin typeface="Calibri"/>
              </a:rPr>
              <a:t>WHAT COULD GO WRONG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6472" y="279806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C6FF"/>
                </a:solidFill>
                <a:latin typeface="Calibri"/>
              </a:rPr>
              <a:t>BREAKING THRESHOLD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62472" y="2798064"/>
            <a:ext cx="54589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C6FF"/>
                </a:solidFill>
                <a:latin typeface="Calibri"/>
              </a:rPr>
              <a:t>WHAT HAPPENS THEN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022092"/>
            <a:ext cx="11183112" cy="22860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02920" y="3035808"/>
            <a:ext cx="11183112" cy="402336"/>
          </a:xfrm>
          <a:prstGeom prst="rect">
            <a:avLst/>
          </a:prstGeom>
          <a:solidFill>
            <a:srgbClr val="101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94360" y="3127248"/>
            <a:ext cx="411480" cy="219456"/>
          </a:xfrm>
          <a:prstGeom prst="round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94360" y="3127248"/>
            <a:ext cx="41148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A12"/>
                </a:solidFill>
                <a:latin typeface="Calibri"/>
              </a:rPr>
              <a:t>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432" y="3136392"/>
            <a:ext cx="2331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DF4FF"/>
                </a:solidFill>
                <a:latin typeface="Calibri"/>
              </a:rPr>
              <a:t>Too many claims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39896" y="3136392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FBF56"/>
                </a:solidFill>
                <a:latin typeface="Calibri"/>
              </a:rPr>
              <a:t>More than 25% of riders crash per year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25896" y="3108960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Loss ratio jumps above 60%. We'd have to cut safe-rider rebates and raise premiums.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433572"/>
            <a:ext cx="11183112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594360" y="3529584"/>
            <a:ext cx="411480" cy="219456"/>
          </a:xfrm>
          <a:prstGeom prst="round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4360" y="3529584"/>
            <a:ext cx="41148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A12"/>
                </a:solidFill>
                <a:latin typeface="Calibri"/>
              </a:rPr>
              <a:t>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0432" y="3538728"/>
            <a:ext cx="2331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DF4FF"/>
                </a:solidFill>
                <a:latin typeface="Calibri"/>
              </a:rPr>
              <a:t>Crashes get expensive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39896" y="3538728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FBF56"/>
                </a:solidFill>
                <a:latin typeface="Calibri"/>
              </a:rPr>
              <a:t>Average claim above ₩4M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25896" y="3511296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Loss ratio approaches 75%. LP backstop has to absorb the gap; coverage caps tighten.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835908"/>
            <a:ext cx="11183112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02920" y="3840480"/>
            <a:ext cx="11183112" cy="402336"/>
          </a:xfrm>
          <a:prstGeom prst="rect">
            <a:avLst/>
          </a:prstGeom>
          <a:solidFill>
            <a:srgbClr val="101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594360" y="3931920"/>
            <a:ext cx="411480" cy="219456"/>
          </a:xfrm>
          <a:prstGeom prst="round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94360" y="3931920"/>
            <a:ext cx="41148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A12"/>
                </a:solidFill>
                <a:latin typeface="Calibri"/>
              </a:rPr>
              <a:t>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0432" y="3941064"/>
            <a:ext cx="2331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DF4FF"/>
                </a:solidFill>
                <a:latin typeface="Calibri"/>
              </a:rPr>
              <a:t>Not enough riders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39896" y="3941064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FBF56"/>
                </a:solidFill>
                <a:latin typeface="Calibri"/>
              </a:rPr>
              <a:t>Fewer than 1,500 active riders in Year 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25896" y="3913632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Revenue can't cover engineering and operations. Runway shrinks to about 6 months.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238244"/>
            <a:ext cx="11183112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594360" y="4334256"/>
            <a:ext cx="411480" cy="219456"/>
          </a:xfrm>
          <a:prstGeom prst="round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94360" y="4334256"/>
            <a:ext cx="41148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A12"/>
                </a:solidFill>
                <a:latin typeface="Calibri"/>
              </a:rPr>
              <a:t>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70432" y="4343400"/>
            <a:ext cx="2331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DF4FF"/>
                </a:solidFill>
                <a:latin typeface="Calibri"/>
              </a:rPr>
              <a:t>LP capital shortfall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39896" y="4343400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FBF56"/>
                </a:solidFill>
                <a:latin typeface="Calibri"/>
              </a:rPr>
              <a:t>Less than 50% of target raised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25896" y="4315968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Pool runs thin. We'd shrink coverage limits or stop accepting new riders until capital arrives.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4640580"/>
            <a:ext cx="11183112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02920" y="4645152"/>
            <a:ext cx="11183112" cy="402336"/>
          </a:xfrm>
          <a:prstGeom prst="rect">
            <a:avLst/>
          </a:prstGeom>
          <a:solidFill>
            <a:srgbClr val="101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594360" y="4736592"/>
            <a:ext cx="411480" cy="219456"/>
          </a:xfrm>
          <a:prstGeom prst="round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94360" y="4736592"/>
            <a:ext cx="41148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A12"/>
                </a:solidFill>
                <a:latin typeface="Calibri"/>
              </a:rPr>
              <a:t>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0432" y="4745736"/>
            <a:ext cx="2331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DF4FF"/>
                </a:solidFill>
                <a:latin typeface="Calibri"/>
              </a:rPr>
              <a:t>No B2B partners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39896" y="4745736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FBF56"/>
                </a:solidFill>
                <a:latin typeface="Calibri"/>
              </a:rPr>
              <a:t>Fewer than 2 signed by Year 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25896" y="4718304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The biggest projected revenue stream collapses. Profitability slips to Year 4.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042916"/>
            <a:ext cx="11183112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594360" y="5138928"/>
            <a:ext cx="411480" cy="219456"/>
          </a:xfrm>
          <a:prstGeom prst="round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94360" y="5138928"/>
            <a:ext cx="41148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A12"/>
                </a:solidFill>
                <a:latin typeface="Calibri"/>
              </a:rPr>
              <a:t>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70432" y="5148072"/>
            <a:ext cx="2331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DF4FF"/>
                </a:solidFill>
                <a:latin typeface="Calibri"/>
              </a:rPr>
              <a:t>Small seed/Series 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739896" y="5148072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FBF56"/>
                </a:solidFill>
                <a:latin typeface="Calibri"/>
              </a:rPr>
              <a:t>Raise under ₩4B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25896" y="5120640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Year 2 burns through the bank. Requires a bridge round or significant scope reduction.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445252"/>
            <a:ext cx="11183112" cy="9144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502920" y="5449824"/>
            <a:ext cx="11183112" cy="402336"/>
          </a:xfrm>
          <a:prstGeom prst="rect">
            <a:avLst/>
          </a:prstGeom>
          <a:solidFill>
            <a:srgbClr val="101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594360" y="5541264"/>
            <a:ext cx="411480" cy="219456"/>
          </a:xfrm>
          <a:prstGeom prst="round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594360" y="5541264"/>
            <a:ext cx="41148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A12"/>
                </a:solidFill>
                <a:latin typeface="Calibri"/>
              </a:rPr>
              <a:t>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70432" y="5550408"/>
            <a:ext cx="2331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DF4FF"/>
                </a:solidFill>
                <a:latin typeface="Calibri"/>
              </a:rPr>
              <a:t>Single catastrophic event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39896" y="5550408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FBF56"/>
                </a:solidFill>
                <a:latin typeface="Calibri"/>
              </a:rPr>
              <a:t>One event causing &gt;₩1B in claims in a week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25896" y="5522976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Emergency mode triggers — staged payouts, reinsurance call, catastrophe reserve drains.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02920" y="5870448"/>
            <a:ext cx="11183112" cy="594360"/>
          </a:xfrm>
          <a:prstGeom prst="roundRect">
            <a:avLst/>
          </a:prstGeom>
          <a:solidFill>
            <a:srgbClr val="121E32"/>
          </a:solidFill>
          <a:ln w="12700">
            <a:solidFill>
              <a:srgbClr val="4EE5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502920" y="5980176"/>
            <a:ext cx="54864" cy="374904"/>
          </a:xfrm>
          <a:prstGeom prst="rect">
            <a:avLst/>
          </a:prstGeom>
          <a:solidFill>
            <a:srgbClr val="4EE5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85800" y="5961888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4EE59A"/>
                </a:solidFill>
                <a:latin typeface="Calibri"/>
              </a:rPr>
              <a:t>MITIGATIONS EXIST FOR EACH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800" y="6181344"/>
            <a:ext cx="10789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1">
                <a:solidFill>
                  <a:srgbClr val="B8C8E0"/>
                </a:solidFill>
                <a:latin typeface="Calibri"/>
              </a:rPr>
              <a:t>Each failure mode has a specific response — pricing adjustment, LP backstop, scope reduction, emergency mode, bridge funding. See Section 6.3 for the full black-swan playbook.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080" y="6601968"/>
            <a:ext cx="457200" cy="27432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40080" y="6656832"/>
            <a:ext cx="9144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1">
                <a:solidFill>
                  <a:srgbClr val="9CC6FF"/>
                </a:solidFill>
                <a:latin typeface="Calibri"/>
              </a:rPr>
              <a:t>Sensitivity analysis from Section 5.9 · monitored continuously via on-chain metrics and quarterly reviews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601200" y="6656832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1" i="0">
                <a:solidFill>
                  <a:srgbClr val="9CC6FF"/>
                </a:solidFill>
                <a:latin typeface="Calibri"/>
              </a:rPr>
              <a:t>MotoChain &amp; RideTrue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9CC6FF"/>
                </a:solidFill>
                <a:latin typeface="Calibri"/>
              </a:rPr>
              <a:t>RIDETRUE  ·  COMPETITIVE LANDSCAPE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DF4FF"/>
                </a:solidFill>
                <a:latin typeface="Calibri"/>
              </a:rPr>
              <a:t>Who We're Up Against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984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B8C8E0"/>
                </a:solidFill>
                <a:latin typeface="Calibri"/>
              </a:rPr>
              <a:t>Three competitor types — what they're good at, and where they break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64208"/>
            <a:ext cx="1097280" cy="54864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2920" y="1874519"/>
            <a:ext cx="3657600" cy="3246120"/>
          </a:xfrm>
          <a:prstGeom prst="roundRect">
            <a:avLst/>
          </a:prstGeom>
          <a:solidFill>
            <a:srgbClr val="142440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2039111"/>
            <a:ext cx="640080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715767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EDF4FF"/>
                </a:solidFill>
                <a:latin typeface="Calibri"/>
              </a:rPr>
              <a:t>CENTRALIZED HISTORY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026663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1">
                <a:solidFill>
                  <a:srgbClr val="9CC6FF"/>
                </a:solidFill>
                <a:latin typeface="Calibri"/>
              </a:rPr>
              <a:t>CARFAX  ·  Korea Auto Inspection  ·  AutoCheck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3337559"/>
            <a:ext cx="2651760" cy="18288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85800" y="3465575"/>
            <a:ext cx="1508760" cy="201168"/>
          </a:xfrm>
          <a:prstGeom prst="roundRect">
            <a:avLst/>
          </a:prstGeom>
          <a:solidFill>
            <a:srgbClr val="0D1625"/>
          </a:solidFill>
          <a:ln w="12700">
            <a:solidFill>
              <a:srgbClr val="FFB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850" b="1">
                <a:solidFill>
                  <a:srgbClr val="FFBF56"/>
                </a:solidFill>
                <a:latin typeface="Calibri"/>
              </a:rPr>
              <a:t>WHERE THEY BREAK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21607"/>
            <a:ext cx="3291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Data is owned by them, not you. You can't take your history if you switch. There's no real penalty for fake records.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51959"/>
            <a:ext cx="1508760" cy="201168"/>
          </a:xfrm>
          <a:prstGeom prst="roundRect">
            <a:avLst/>
          </a:prstGeom>
          <a:solidFill>
            <a:srgbClr val="0D1625"/>
          </a:solidFill>
          <a:ln w="1270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850" b="1">
                <a:solidFill>
                  <a:srgbClr val="4AA3FF"/>
                </a:solidFill>
                <a:latin typeface="Calibri"/>
              </a:rPr>
              <a:t>OUR EDGE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507991"/>
            <a:ext cx="3291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EDF4FF"/>
                </a:solidFill>
                <a:latin typeface="Calibri"/>
              </a:rPr>
              <a:t>Records are user-owned, signed, and economically staked. Fraud is automatically slashed — accuracy has skin in the game.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1874519"/>
            <a:ext cx="3657600" cy="3246120"/>
          </a:xfrm>
          <a:prstGeom prst="roundRect">
            <a:avLst/>
          </a:prstGeom>
          <a:solidFill>
            <a:srgbClr val="142440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039111"/>
            <a:ext cx="640080" cy="6400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480560" y="2715767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EDF4FF"/>
                </a:solidFill>
                <a:latin typeface="Calibri"/>
              </a:rPr>
              <a:t>TRADITIONAL INSURERS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3026663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1">
                <a:solidFill>
                  <a:srgbClr val="9CC6FF"/>
                </a:solidFill>
                <a:latin typeface="Calibri"/>
              </a:rPr>
              <a:t>Samsung F&amp;M  ·  Hyundai M&amp;F  ·  DB Insurance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00600" y="3337559"/>
            <a:ext cx="2651760" cy="18288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4480560" y="3465575"/>
            <a:ext cx="1508760" cy="201168"/>
          </a:xfrm>
          <a:prstGeom prst="roundRect">
            <a:avLst/>
          </a:prstGeom>
          <a:solidFill>
            <a:srgbClr val="0D1625"/>
          </a:solidFill>
          <a:ln w="12700">
            <a:solidFill>
              <a:srgbClr val="FFB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850" b="1">
                <a:solidFill>
                  <a:srgbClr val="FFBF56"/>
                </a:solidFill>
                <a:latin typeface="Calibri"/>
              </a:rPr>
              <a:t>WHERE THEY BREAK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721607"/>
            <a:ext cx="3291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Behavior data is locked to one insurer. Pricing still relies on age and demographics. Innovation is slow.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80560" y="4251959"/>
            <a:ext cx="1508760" cy="201168"/>
          </a:xfrm>
          <a:prstGeom prst="roundRect">
            <a:avLst/>
          </a:prstGeom>
          <a:solidFill>
            <a:srgbClr val="0D1625"/>
          </a:solidFill>
          <a:ln w="1270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850" b="1">
                <a:solidFill>
                  <a:srgbClr val="4AA3FF"/>
                </a:solidFill>
                <a:latin typeface="Calibri"/>
              </a:rPr>
              <a:t>OUR EDGE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507991"/>
            <a:ext cx="3291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EDF4FF"/>
                </a:solidFill>
                <a:latin typeface="Calibri"/>
              </a:rPr>
              <a:t>Behavior score follows the rider across providers. Pricing reflects actual riding. Claims settle on-chain in days.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874519"/>
            <a:ext cx="3657600" cy="3246120"/>
          </a:xfrm>
          <a:prstGeom prst="roundRect">
            <a:avLst/>
          </a:prstGeom>
          <a:solidFill>
            <a:srgbClr val="142440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0" y="2039111"/>
            <a:ext cx="640080" cy="6400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275320" y="2715767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EDF4FF"/>
                </a:solidFill>
                <a:latin typeface="Calibri"/>
              </a:rPr>
              <a:t>DEFI INSURANCE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3026663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1">
                <a:solidFill>
                  <a:srgbClr val="9CC6FF"/>
                </a:solidFill>
                <a:latin typeface="Calibri"/>
              </a:rPr>
              <a:t>Nexus Mutual  ·  InsurAce  ·  Cover Protocol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95360" y="3337559"/>
            <a:ext cx="2651760" cy="18288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275320" y="3465575"/>
            <a:ext cx="1508760" cy="201168"/>
          </a:xfrm>
          <a:prstGeom prst="roundRect">
            <a:avLst/>
          </a:prstGeom>
          <a:solidFill>
            <a:srgbClr val="0D1625"/>
          </a:solidFill>
          <a:ln w="12700">
            <a:solidFill>
              <a:srgbClr val="FFB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850" b="1">
                <a:solidFill>
                  <a:srgbClr val="FFBF56"/>
                </a:solidFill>
                <a:latin typeface="Calibri"/>
              </a:rPr>
              <a:t>WHERE THEY BREAK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3721607"/>
            <a:ext cx="3291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Built for crypto-native risks like smart-contract bugs. No real-world data moat. Almost zero consumer reach.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75320" y="4251959"/>
            <a:ext cx="1508760" cy="201168"/>
          </a:xfrm>
          <a:prstGeom prst="roundRect">
            <a:avLst/>
          </a:prstGeom>
          <a:solidFill>
            <a:srgbClr val="0D1625"/>
          </a:solidFill>
          <a:ln w="1270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850" b="1">
                <a:solidFill>
                  <a:srgbClr val="4AA3FF"/>
                </a:solidFill>
                <a:latin typeface="Calibri"/>
              </a:rPr>
              <a:t>OUR EDGE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4507991"/>
            <a:ext cx="3291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EDF4FF"/>
                </a:solidFill>
                <a:latin typeface="Calibri"/>
              </a:rPr>
              <a:t>Real-world motorcycle data. Identity + behavior in one stack. Consumer-grade UX via account abstraction.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212080"/>
            <a:ext cx="11183112" cy="1371600"/>
          </a:xfrm>
          <a:prstGeom prst="roundRect">
            <a:avLst/>
          </a:prstGeom>
          <a:solidFill>
            <a:srgbClr val="0D1625"/>
          </a:solidFill>
          <a:ln w="15875">
            <a:solidFill>
              <a:srgbClr val="9C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02920" y="5376672"/>
            <a:ext cx="73152" cy="1042416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463540"/>
            <a:ext cx="868680" cy="86868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783080" y="5394960"/>
            <a:ext cx="5029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9CC6FF"/>
                </a:solidFill>
                <a:latin typeface="Calibri"/>
              </a:rPr>
              <a:t>OUR MOAT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83080" y="5650992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EDF4FF"/>
                </a:solidFill>
                <a:latin typeface="Calibri"/>
              </a:rPr>
              <a:t>Vertical data network effect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83080" y="6053328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B8C8E0"/>
                </a:solidFill>
                <a:latin typeface="Calibri"/>
              </a:rPr>
              <a:t>Every new bike, rider, mechanic, dealer, and partner makes the dataset more valuable — and harder for anyone to copy from scratch.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78040" y="5376672"/>
            <a:ext cx="1417320" cy="1042416"/>
          </a:xfrm>
          <a:prstGeom prst="roundRect">
            <a:avLst/>
          </a:prstGeom>
          <a:solidFill>
            <a:srgbClr val="142440"/>
          </a:solidFill>
          <a:ln w="952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5240" y="5468112"/>
            <a:ext cx="502920" cy="5029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223760" y="6016752"/>
            <a:ext cx="1325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1" i="0">
                <a:solidFill>
                  <a:srgbClr val="EDF4FF"/>
                </a:solidFill>
                <a:latin typeface="Calibri"/>
              </a:rPr>
              <a:t>Two-wheelers only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51192" y="6217920"/>
            <a:ext cx="127101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1">
                <a:solidFill>
                  <a:srgbClr val="B8C8E0"/>
                </a:solidFill>
                <a:latin typeface="Calibri"/>
              </a:rPr>
              <a:t>Specialized data, not generic insurance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86800" y="5376672"/>
            <a:ext cx="1417320" cy="1042416"/>
          </a:xfrm>
          <a:prstGeom prst="roundRect">
            <a:avLst/>
          </a:prstGeom>
          <a:solidFill>
            <a:srgbClr val="142440"/>
          </a:solidFill>
          <a:ln w="952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0" y="5468112"/>
            <a:ext cx="502920" cy="50292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732520" y="6016752"/>
            <a:ext cx="1325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1" i="0">
                <a:solidFill>
                  <a:srgbClr val="EDF4FF"/>
                </a:solidFill>
                <a:latin typeface="Calibri"/>
              </a:rPr>
              <a:t>Identity + Behavior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59952" y="6217920"/>
            <a:ext cx="127101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1">
                <a:solidFill>
                  <a:srgbClr val="B8C8E0"/>
                </a:solidFill>
                <a:latin typeface="Calibri"/>
              </a:rPr>
              <a:t>Two protocols, one stack — each reinforces the other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195560" y="5376672"/>
            <a:ext cx="1417320" cy="1042416"/>
          </a:xfrm>
          <a:prstGeom prst="roundRect">
            <a:avLst/>
          </a:prstGeom>
          <a:solidFill>
            <a:srgbClr val="142440"/>
          </a:solidFill>
          <a:ln w="952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52760" y="5468112"/>
            <a:ext cx="502920" cy="50292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241280" y="6016752"/>
            <a:ext cx="1325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1" i="0">
                <a:solidFill>
                  <a:srgbClr val="EDF4FF"/>
                </a:solidFill>
                <a:latin typeface="Calibri"/>
              </a:rPr>
              <a:t>Korea-first wedge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68712" y="6217920"/>
            <a:ext cx="127101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1">
                <a:solidFill>
                  <a:srgbClr val="B8C8E0"/>
                </a:solidFill>
                <a:latin typeface="Calibri"/>
              </a:rPr>
              <a:t>Dense urban motorcycle market, expandable across Asia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6647688"/>
            <a:ext cx="457200" cy="27432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40080" y="6702552"/>
            <a:ext cx="82296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9CC6FF"/>
                </a:solidFill>
                <a:latin typeface="Calibri"/>
              </a:rPr>
              <a:t>We don't beat any one competitor head-on — we own the intersection none of them can occupy alone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01200" y="6702552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9CC6FF"/>
                </a:solidFill>
                <a:latin typeface="Calibri"/>
              </a:rPr>
              <a:t>MotoChain &amp; RideTrue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9CC6FF"/>
                </a:solidFill>
                <a:latin typeface="Calibri"/>
              </a:rPr>
              <a:t>II.6  ·  SECURITY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8368"/>
            <a:ext cx="103327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DF4FF"/>
                </a:solidFill>
                <a:latin typeface="Calibri"/>
              </a:rPr>
              <a:t>How We Keep It Safe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984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B8C8E0"/>
                </a:solidFill>
                <a:latin typeface="Calibri"/>
              </a:rPr>
              <a:t>Five waypoints — from first commit to year-five operations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64208"/>
            <a:ext cx="1097280" cy="54864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FBF56"/>
                </a:solidFill>
                <a:latin typeface="Calibri"/>
              </a:rPr>
              <a:t>← PRE-LAUNCH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167128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B8C8E0"/>
                </a:solidFill>
                <a:latin typeface="Calibri"/>
              </a:rPr>
              <a:t>Stress-test before anyone risks money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1920240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4EE59A"/>
                </a:solidFill>
                <a:latin typeface="Calibri"/>
              </a:rPr>
              <a:t>POST-LAUNCH  ·  FOREVER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2167128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1">
                <a:solidFill>
                  <a:srgbClr val="B8C8E0"/>
                </a:solidFill>
                <a:latin typeface="Calibri"/>
              </a:rPr>
              <a:t>Continuous defense for the protocol's lifetime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2743200"/>
            <a:ext cx="9994392" cy="411480"/>
          </a:xfrm>
          <a:prstGeom prst="rect">
            <a:avLst/>
          </a:prstGeom>
          <a:solidFill>
            <a:srgbClr val="1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097280" y="2743200"/>
            <a:ext cx="9994392" cy="18288"/>
          </a:xfrm>
          <a:prstGeom prst="rect">
            <a:avLst/>
          </a:prstGeom>
          <a:solidFill>
            <a:srgbClr val="26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097280" y="3136392"/>
            <a:ext cx="9994392" cy="18288"/>
          </a:xfrm>
          <a:prstGeom prst="rect">
            <a:avLst/>
          </a:prstGeom>
          <a:solidFill>
            <a:srgbClr val="26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210852" y="2926080"/>
            <a:ext cx="227145" cy="45720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665143" y="2926080"/>
            <a:ext cx="227145" cy="45720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119433" y="2926080"/>
            <a:ext cx="227145" cy="45720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573724" y="2926080"/>
            <a:ext cx="227145" cy="45720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028014" y="2926080"/>
            <a:ext cx="227145" cy="45720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482305" y="2926080"/>
            <a:ext cx="227145" cy="45720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936595" y="2926080"/>
            <a:ext cx="227145" cy="45720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390886" y="2926080"/>
            <a:ext cx="227145" cy="45720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845177" y="2926080"/>
            <a:ext cx="227145" cy="45720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299467" y="2926080"/>
            <a:ext cx="227145" cy="45720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753758" y="2926080"/>
            <a:ext cx="227145" cy="45720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208048" y="2926080"/>
            <a:ext cx="227145" cy="45720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662339" y="2926080"/>
            <a:ext cx="227145" cy="45720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116629" y="2926080"/>
            <a:ext cx="227145" cy="45720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570920" y="2926080"/>
            <a:ext cx="227145" cy="45720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025210" y="2926080"/>
            <a:ext cx="227145" cy="45720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479501" y="2926080"/>
            <a:ext cx="227145" cy="45720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933791" y="2926080"/>
            <a:ext cx="227145" cy="45720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388082" y="2926080"/>
            <a:ext cx="227145" cy="45720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842373" y="2926080"/>
            <a:ext cx="227145" cy="45720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0296663" y="2926080"/>
            <a:ext cx="227145" cy="45720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10750954" y="2926080"/>
            <a:ext cx="227145" cy="45720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ight Arrow 38"/>
          <p:cNvSpPr/>
          <p:nvPr/>
        </p:nvSpPr>
        <p:spPr>
          <a:xfrm>
            <a:off x="11137392" y="2697480"/>
            <a:ext cx="365760" cy="502920"/>
          </a:xfrm>
          <a:prstGeom prst="rightArrow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85800" y="2537460"/>
            <a:ext cx="822960" cy="822960"/>
          </a:xfrm>
          <a:prstGeom prst="ellipse">
            <a:avLst/>
          </a:prstGeom>
          <a:solidFill>
            <a:srgbClr val="1A3F70"/>
          </a:solidFill>
          <a:ln w="317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85800" y="253746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EDF4FF"/>
                </a:solidFill>
                <a:latin typeface="Calibri"/>
              </a:rPr>
              <a:t>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78992" y="3360420"/>
            <a:ext cx="36576" cy="434340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8580" y="3794760"/>
            <a:ext cx="2057400" cy="2331720"/>
          </a:xfrm>
          <a:prstGeom prst="roundRect">
            <a:avLst/>
          </a:prstGeom>
          <a:solidFill>
            <a:srgbClr val="122038"/>
          </a:solidFill>
          <a:ln w="1587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8580" y="4032504"/>
            <a:ext cx="45719" cy="1783080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33172" y="3922776"/>
            <a:ext cx="1783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4AA3FF"/>
                </a:solidFill>
                <a:latin typeface="Calibri"/>
              </a:rPr>
              <a:t>PRE-LAUNCH · INTERNAL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3172" y="4142232"/>
            <a:ext cx="1783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EDF4FF"/>
                </a:solidFill>
                <a:latin typeface="Calibri"/>
              </a:rPr>
              <a:t>Test Like Hackers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33172" y="4709160"/>
            <a:ext cx="1728216" cy="18288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33172" y="4800600"/>
            <a:ext cx="1783080" cy="12161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Cover every line that touches money. Use fuzzers and invariant tests to break our own contracts before anyone else does.</a:t>
            </a:r>
          </a:p>
        </p:txBody>
      </p:sp>
      <p:sp>
        <p:nvSpPr>
          <p:cNvPr id="49" name="Oval 48"/>
          <p:cNvSpPr/>
          <p:nvPr/>
        </p:nvSpPr>
        <p:spPr>
          <a:xfrm>
            <a:off x="3184398" y="2537460"/>
            <a:ext cx="822960" cy="822960"/>
          </a:xfrm>
          <a:prstGeom prst="ellipse">
            <a:avLst/>
          </a:prstGeom>
          <a:solidFill>
            <a:srgbClr val="1A3F70"/>
          </a:solidFill>
          <a:ln w="31750">
            <a:solidFill>
              <a:srgbClr val="27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184398" y="253746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EDF4FF"/>
                </a:solidFill>
                <a:latin typeface="Calibri"/>
              </a:rPr>
              <a:t>02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77590" y="3360420"/>
            <a:ext cx="36576" cy="434340"/>
          </a:xfrm>
          <a:prstGeom prst="rect">
            <a:avLst/>
          </a:prstGeom>
          <a:solidFill>
            <a:srgbClr val="27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2567178" y="3794760"/>
            <a:ext cx="2057400" cy="2331720"/>
          </a:xfrm>
          <a:prstGeom prst="roundRect">
            <a:avLst/>
          </a:prstGeom>
          <a:solidFill>
            <a:srgbClr val="122038"/>
          </a:solidFill>
          <a:ln w="15875">
            <a:solidFill>
              <a:srgbClr val="27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2567178" y="4032504"/>
            <a:ext cx="45719" cy="1783080"/>
          </a:xfrm>
          <a:prstGeom prst="rect">
            <a:avLst/>
          </a:prstGeom>
          <a:solidFill>
            <a:srgbClr val="27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2731770" y="3922776"/>
            <a:ext cx="1783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27D8D8"/>
                </a:solidFill>
                <a:latin typeface="Calibri"/>
              </a:rPr>
              <a:t>PRE-LAUNCH · EXTERNAL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31770" y="4142232"/>
            <a:ext cx="1783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EDF4FF"/>
                </a:solidFill>
                <a:latin typeface="Calibri"/>
              </a:rPr>
              <a:t>Outside Eyes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31770" y="4709160"/>
            <a:ext cx="1728216" cy="18288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731770" y="4800600"/>
            <a:ext cx="1783080" cy="12161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Two independent expert teams (OpenZeppelin, Trail of Bits) review the code. Every finding published in full.</a:t>
            </a:r>
          </a:p>
        </p:txBody>
      </p:sp>
      <p:sp>
        <p:nvSpPr>
          <p:cNvPr id="58" name="Oval 57"/>
          <p:cNvSpPr/>
          <p:nvPr/>
        </p:nvSpPr>
        <p:spPr>
          <a:xfrm>
            <a:off x="5454396" y="2308860"/>
            <a:ext cx="1280160" cy="1280160"/>
          </a:xfrm>
          <a:prstGeom prst="ellipse">
            <a:avLst/>
          </a:prstGeom>
          <a:noFill/>
          <a:ln w="12700">
            <a:solidFill>
              <a:srgbClr val="4EE59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5591556" y="2446020"/>
            <a:ext cx="1005840" cy="1005840"/>
          </a:xfrm>
          <a:prstGeom prst="ellipse">
            <a:avLst/>
          </a:prstGeom>
          <a:solidFill>
            <a:srgbClr val="1A3F70"/>
          </a:solidFill>
          <a:ln w="31750">
            <a:solidFill>
              <a:srgbClr val="4EE5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591556" y="2446020"/>
            <a:ext cx="100584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EDF4FF"/>
                </a:solidFill>
                <a:latin typeface="Calibri"/>
              </a:rPr>
              <a:t>03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76188" y="3451860"/>
            <a:ext cx="36576" cy="342900"/>
          </a:xfrm>
          <a:prstGeom prst="rect">
            <a:avLst/>
          </a:prstGeom>
          <a:solidFill>
            <a:srgbClr val="4EE5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5065776" y="3794760"/>
            <a:ext cx="2057400" cy="2331720"/>
          </a:xfrm>
          <a:prstGeom prst="roundRect">
            <a:avLst/>
          </a:prstGeom>
          <a:solidFill>
            <a:srgbClr val="122038"/>
          </a:solidFill>
          <a:ln w="15875">
            <a:solidFill>
              <a:srgbClr val="4EE5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5065776" y="4032504"/>
            <a:ext cx="45719" cy="1783080"/>
          </a:xfrm>
          <a:prstGeom prst="rect">
            <a:avLst/>
          </a:prstGeom>
          <a:solidFill>
            <a:srgbClr val="4EE5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5230368" y="3922776"/>
            <a:ext cx="1783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4EE59A"/>
                </a:solidFill>
                <a:latin typeface="Calibri"/>
              </a:rPr>
              <a:t>MAINNET · DAY 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30368" y="4142232"/>
            <a:ext cx="1783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EDF4FF"/>
                </a:solidFill>
                <a:latin typeface="Calibri"/>
              </a:rPr>
              <a:t>Launch · Lock It Down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230368" y="4709160"/>
            <a:ext cx="1728216" cy="18288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5230368" y="4800600"/>
            <a:ext cx="1783080" cy="12161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5-of-9 multisig on treasury. 48-hour timelock on upgrades. Emergency pause narrowly scoped to a security council.</a:t>
            </a:r>
          </a:p>
        </p:txBody>
      </p:sp>
      <p:sp>
        <p:nvSpPr>
          <p:cNvPr id="68" name="Oval 67"/>
          <p:cNvSpPr/>
          <p:nvPr/>
        </p:nvSpPr>
        <p:spPr>
          <a:xfrm>
            <a:off x="8181594" y="2537460"/>
            <a:ext cx="822960" cy="822960"/>
          </a:xfrm>
          <a:prstGeom prst="ellipse">
            <a:avLst/>
          </a:prstGeom>
          <a:solidFill>
            <a:srgbClr val="1A3F70"/>
          </a:solidFill>
          <a:ln w="31750">
            <a:solidFill>
              <a:srgbClr val="FFB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181594" y="253746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EDF4FF"/>
                </a:solidFill>
                <a:latin typeface="Calibri"/>
              </a:rPr>
              <a:t>04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574786" y="3360420"/>
            <a:ext cx="36576" cy="434340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7564374" y="3794760"/>
            <a:ext cx="2057400" cy="2331720"/>
          </a:xfrm>
          <a:prstGeom prst="roundRect">
            <a:avLst/>
          </a:prstGeom>
          <a:solidFill>
            <a:srgbClr val="122038"/>
          </a:solidFill>
          <a:ln w="15875">
            <a:solidFill>
              <a:srgbClr val="FFB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7564374" y="4032504"/>
            <a:ext cx="45719" cy="1783080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7728966" y="3922776"/>
            <a:ext cx="1783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FFBF56"/>
                </a:solidFill>
                <a:latin typeface="Calibri"/>
              </a:rPr>
              <a:t>POST-LAUNCH · FOREVER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728966" y="4142232"/>
            <a:ext cx="1783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EDF4FF"/>
                </a:solidFill>
                <a:latin typeface="Calibri"/>
              </a:rPr>
              <a:t>Pay Hackers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728966" y="4709160"/>
            <a:ext cx="1728216" cy="18288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728966" y="4800600"/>
            <a:ext cx="1783080" cy="12161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Up to $250K for critical bugs · $75K high · $15K medium. Hosted on Immunefi, live for the protocol's lifetime.</a:t>
            </a:r>
          </a:p>
        </p:txBody>
      </p:sp>
      <p:sp>
        <p:nvSpPr>
          <p:cNvPr id="77" name="Oval 76"/>
          <p:cNvSpPr/>
          <p:nvPr/>
        </p:nvSpPr>
        <p:spPr>
          <a:xfrm>
            <a:off x="10680192" y="2537460"/>
            <a:ext cx="822960" cy="822960"/>
          </a:xfrm>
          <a:prstGeom prst="ellipse">
            <a:avLst/>
          </a:prstGeom>
          <a:solidFill>
            <a:srgbClr val="1A3F70"/>
          </a:solidFill>
          <a:ln w="31750">
            <a:solidFill>
              <a:srgbClr val="9C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680192" y="253746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EDF4FF"/>
                </a:solidFill>
                <a:latin typeface="Calibri"/>
              </a:rPr>
              <a:t>05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073384" y="3360420"/>
            <a:ext cx="36576" cy="434340"/>
          </a:xfrm>
          <a:prstGeom prst="rect">
            <a:avLst/>
          </a:prstGeom>
          <a:solidFill>
            <a:srgbClr val="9C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ounded Rectangle 79"/>
          <p:cNvSpPr/>
          <p:nvPr/>
        </p:nvSpPr>
        <p:spPr>
          <a:xfrm>
            <a:off x="10062972" y="3794760"/>
            <a:ext cx="2057400" cy="2331720"/>
          </a:xfrm>
          <a:prstGeom prst="roundRect">
            <a:avLst/>
          </a:prstGeom>
          <a:solidFill>
            <a:srgbClr val="122038"/>
          </a:solidFill>
          <a:ln w="15875">
            <a:solidFill>
              <a:srgbClr val="9C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10062972" y="4032504"/>
            <a:ext cx="45719" cy="1783080"/>
          </a:xfrm>
          <a:prstGeom prst="rect">
            <a:avLst/>
          </a:prstGeom>
          <a:solidFill>
            <a:srgbClr val="9C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10227564" y="3922776"/>
            <a:ext cx="1783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9CC6FF"/>
                </a:solidFill>
                <a:latin typeface="Calibri"/>
              </a:rPr>
              <a:t>CONTINUOUS · ANNUAL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227564" y="4142232"/>
            <a:ext cx="1783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EDF4FF"/>
                </a:solidFill>
                <a:latin typeface="Calibri"/>
              </a:rPr>
              <a:t>Never Stop Watching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227564" y="4709160"/>
            <a:ext cx="1728216" cy="18288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10227564" y="4800600"/>
            <a:ext cx="1783080" cy="12161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Audit every major upgrade. Annual penetration tests. Public incident playbook. Quarterly drills.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40080" y="6601968"/>
            <a:ext cx="457200" cy="27432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640080" y="6656832"/>
            <a:ext cx="9144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1">
                <a:solidFill>
                  <a:srgbClr val="9CC6FF"/>
                </a:solidFill>
                <a:latin typeface="Calibri"/>
              </a:rPr>
              <a:t>Audit reports and bug bounty findings will be published publicly · target audit firms named in Section 6.2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601200" y="6656832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1" i="0">
                <a:solidFill>
                  <a:srgbClr val="9CC6FF"/>
                </a:solidFill>
                <a:latin typeface="Calibri"/>
              </a:rPr>
              <a:t>MotoChain &amp; RideTrue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9CC6FF"/>
                </a:solidFill>
                <a:latin typeface="Calibri"/>
              </a:rPr>
              <a:t>II.6  ·  LIQUIDITY SAFEGUARDS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8368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DF4FF"/>
                </a:solidFill>
                <a:latin typeface="Calibri"/>
              </a:rPr>
              <a:t>Keeping the Pool Solvent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984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B8C8E0"/>
                </a:solidFill>
                <a:latin typeface="Calibri"/>
              </a:rPr>
              <a:t>Seven layers of defense — money is always available when it's needed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64208"/>
            <a:ext cx="1097280" cy="54864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vault_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84048"/>
            <a:ext cx="1280160" cy="128016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1874519"/>
            <a:ext cx="2670048" cy="2011680"/>
          </a:xfrm>
          <a:prstGeom prst="roundRect">
            <a:avLst/>
          </a:prstGeom>
          <a:solidFill>
            <a:srgbClr val="122038"/>
          </a:solidFill>
          <a:ln w="1587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21208" y="2020823"/>
            <a:ext cx="54864" cy="1719072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mini_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6624" y="1984247"/>
            <a:ext cx="329184" cy="32918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85800" y="2002535"/>
            <a:ext cx="310896" cy="310896"/>
          </a:xfrm>
          <a:prstGeom prst="ellipse">
            <a:avLst/>
          </a:prstGeom>
          <a:solidFill>
            <a:srgbClr val="1A3F70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2002535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EDF4FF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039111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DF4FF"/>
                </a:solidFill>
                <a:latin typeface="Calibri"/>
              </a:rPr>
              <a:t>LIQUID RESERVE FLOOR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2441447"/>
            <a:ext cx="2304288" cy="18288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04088" y="2532887"/>
            <a:ext cx="22677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A quarter of the pool always sits in USDC. Untouchable. Available for any claim, any day.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11096" y="3502151"/>
            <a:ext cx="1097280" cy="274320"/>
          </a:xfrm>
          <a:prstGeom prst="roundRect">
            <a:avLst/>
          </a:prstGeom>
          <a:solidFill>
            <a:srgbClr val="0D1625"/>
          </a:solidFill>
          <a:ln w="952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911096" y="3502151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4AA3FF"/>
                </a:solidFill>
                <a:latin typeface="Calibri"/>
              </a:rPr>
              <a:t>≥ 25%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28416" y="1874519"/>
            <a:ext cx="2670048" cy="2011680"/>
          </a:xfrm>
          <a:prstGeom prst="roundRect">
            <a:avLst/>
          </a:prstGeom>
          <a:solidFill>
            <a:srgbClr val="122038"/>
          </a:solidFill>
          <a:ln w="15875">
            <a:solidFill>
              <a:srgbClr val="27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346704" y="2020823"/>
            <a:ext cx="54864" cy="1719072"/>
          </a:xfrm>
          <a:prstGeom prst="rect">
            <a:avLst/>
          </a:prstGeom>
          <a:solidFill>
            <a:srgbClr val="27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mini_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984247"/>
            <a:ext cx="329184" cy="329184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3511296" y="2002535"/>
            <a:ext cx="310896" cy="310896"/>
          </a:xfrm>
          <a:prstGeom prst="ellipse">
            <a:avLst/>
          </a:prstGeom>
          <a:solidFill>
            <a:srgbClr val="1A3F70"/>
          </a:solidFill>
          <a:ln w="19050">
            <a:solidFill>
              <a:srgbClr val="27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511296" y="2002535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EDF4FF"/>
                </a:solidFill>
                <a:latin typeface="Calibri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22776" y="2039111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DF4FF"/>
                </a:solidFill>
                <a:latin typeface="Calibri"/>
              </a:rPr>
              <a:t>DEFI DEPLOYMENT CAP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11296" y="2441447"/>
            <a:ext cx="2304288" cy="18288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529584" y="2532887"/>
            <a:ext cx="22677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Only excess reserves can earn yield. Capped tight, blue-chip protocols only (Aave, Compound).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36592" y="3502151"/>
            <a:ext cx="1097280" cy="274320"/>
          </a:xfrm>
          <a:prstGeom prst="roundRect">
            <a:avLst/>
          </a:prstGeom>
          <a:solidFill>
            <a:srgbClr val="0D1625"/>
          </a:solidFill>
          <a:ln w="9525">
            <a:solidFill>
              <a:srgbClr val="27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736592" y="3502151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7D8D8"/>
                </a:solidFill>
                <a:latin typeface="Calibri"/>
              </a:rPr>
              <a:t>10–15%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53912" y="1874519"/>
            <a:ext cx="2670048" cy="2011680"/>
          </a:xfrm>
          <a:prstGeom prst="roundRect">
            <a:avLst/>
          </a:prstGeom>
          <a:solidFill>
            <a:srgbClr val="122038"/>
          </a:solidFill>
          <a:ln w="15875">
            <a:solidFill>
              <a:srgbClr val="FFB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172200" y="2020823"/>
            <a:ext cx="54864" cy="1719072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mini_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7616" y="1984247"/>
            <a:ext cx="329184" cy="329184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6336792" y="2002535"/>
            <a:ext cx="310896" cy="310896"/>
          </a:xfrm>
          <a:prstGeom prst="ellipse">
            <a:avLst/>
          </a:prstGeom>
          <a:solidFill>
            <a:srgbClr val="1A3F70"/>
          </a:solidFill>
          <a:ln w="19050">
            <a:solidFill>
              <a:srgbClr val="FFB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36792" y="2002535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EDF4FF"/>
                </a:solidFill>
                <a:latin typeface="Calibri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48272" y="2039111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DF4FF"/>
                </a:solidFill>
                <a:latin typeface="Calibri"/>
              </a:rPr>
              <a:t>LP WITHDRAWAL NOTICE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36792" y="2441447"/>
            <a:ext cx="2304288" cy="18288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355080" y="2532887"/>
            <a:ext cx="22677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Large LP redemptions (&gt;5% of LP pool) require 30 days notice. Prevents bank-run dynamics.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562088" y="3502151"/>
            <a:ext cx="1097280" cy="274320"/>
          </a:xfrm>
          <a:prstGeom prst="roundRect">
            <a:avLst/>
          </a:prstGeom>
          <a:solidFill>
            <a:srgbClr val="0D1625"/>
          </a:solidFill>
          <a:ln w="9525">
            <a:solidFill>
              <a:srgbClr val="FFB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562088" y="3502151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BF56"/>
                </a:solidFill>
                <a:latin typeface="Calibri"/>
              </a:rPr>
              <a:t>30 days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79408" y="1874519"/>
            <a:ext cx="2670048" cy="2011680"/>
          </a:xfrm>
          <a:prstGeom prst="roundRect">
            <a:avLst/>
          </a:prstGeom>
          <a:solidFill>
            <a:srgbClr val="122038"/>
          </a:solidFill>
          <a:ln w="15875">
            <a:solidFill>
              <a:srgbClr val="FFB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997696" y="2020823"/>
            <a:ext cx="54864" cy="1719072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2" descr="mini_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83112" y="1984247"/>
            <a:ext cx="329184" cy="329184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9162288" y="2002535"/>
            <a:ext cx="310896" cy="310896"/>
          </a:xfrm>
          <a:prstGeom prst="ellipse">
            <a:avLst/>
          </a:prstGeom>
          <a:solidFill>
            <a:srgbClr val="1A3F70"/>
          </a:solidFill>
          <a:ln w="19050">
            <a:solidFill>
              <a:srgbClr val="FFB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162288" y="2002535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EDF4FF"/>
                </a:solidFill>
                <a:latin typeface="Calibri"/>
              </a:rPr>
              <a:t>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73768" y="2039111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DF4FF"/>
                </a:solidFill>
                <a:latin typeface="Calibri"/>
              </a:rPr>
              <a:t>POOL EXIT QUEUE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62288" y="2441447"/>
            <a:ext cx="2304288" cy="18288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180576" y="2532887"/>
            <a:ext cx="22677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In emergency mode, withdrawals queue up and pay out proportionally. First isn't first-served.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387584" y="3502151"/>
            <a:ext cx="1097280" cy="274320"/>
          </a:xfrm>
          <a:prstGeom prst="roundRect">
            <a:avLst/>
          </a:prstGeom>
          <a:solidFill>
            <a:srgbClr val="0D1625"/>
          </a:solidFill>
          <a:ln w="9525">
            <a:solidFill>
              <a:srgbClr val="FFB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0387584" y="3502151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BF56"/>
                </a:solidFill>
                <a:latin typeface="Calibri"/>
              </a:rPr>
              <a:t>Pro-rata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933956" y="4050791"/>
            <a:ext cx="2670048" cy="2011680"/>
          </a:xfrm>
          <a:prstGeom prst="roundRect">
            <a:avLst/>
          </a:prstGeom>
          <a:solidFill>
            <a:srgbClr val="122038"/>
          </a:solidFill>
          <a:ln w="15875">
            <a:solidFill>
              <a:srgbClr val="4EE5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1952244" y="4197095"/>
            <a:ext cx="54864" cy="1719072"/>
          </a:xfrm>
          <a:prstGeom prst="rect">
            <a:avLst/>
          </a:prstGeom>
          <a:solidFill>
            <a:srgbClr val="4EE5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3" name="Picture 52" descr="mini_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7660" y="4160519"/>
            <a:ext cx="329184" cy="329184"/>
          </a:xfrm>
          <a:prstGeom prst="rect">
            <a:avLst/>
          </a:prstGeom>
        </p:spPr>
      </p:pic>
      <p:sp>
        <p:nvSpPr>
          <p:cNvPr id="54" name="Oval 53"/>
          <p:cNvSpPr/>
          <p:nvPr/>
        </p:nvSpPr>
        <p:spPr>
          <a:xfrm>
            <a:off x="2116836" y="4178807"/>
            <a:ext cx="310896" cy="310896"/>
          </a:xfrm>
          <a:prstGeom prst="ellipse">
            <a:avLst/>
          </a:prstGeom>
          <a:solidFill>
            <a:srgbClr val="1A3F70"/>
          </a:solidFill>
          <a:ln w="19050">
            <a:solidFill>
              <a:srgbClr val="4EE5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116836" y="4178807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EDF4FF"/>
                </a:solidFill>
                <a:latin typeface="Calibri"/>
              </a:rPr>
              <a:t>05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28316" y="4215383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DF4FF"/>
                </a:solidFill>
                <a:latin typeface="Calibri"/>
              </a:rPr>
              <a:t>REINSURANCE BACKSTOP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116836" y="4617719"/>
            <a:ext cx="2304288" cy="18288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135124" y="4709159"/>
            <a:ext cx="22677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External partner covers catastrophic losses above pool capacity. Required before launch.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342132" y="5678423"/>
            <a:ext cx="1097280" cy="274320"/>
          </a:xfrm>
          <a:prstGeom prst="roundRect">
            <a:avLst/>
          </a:prstGeom>
          <a:solidFill>
            <a:srgbClr val="0D1625"/>
          </a:solidFill>
          <a:ln w="9525">
            <a:solidFill>
              <a:srgbClr val="4EE5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342132" y="5678423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4EE59A"/>
                </a:solidFill>
                <a:latin typeface="Calibri"/>
              </a:rPr>
              <a:t>Tail risk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759452" y="4050791"/>
            <a:ext cx="2670048" cy="2011680"/>
          </a:xfrm>
          <a:prstGeom prst="roundRect">
            <a:avLst/>
          </a:prstGeom>
          <a:solidFill>
            <a:srgbClr val="122038"/>
          </a:solidFill>
          <a:ln w="15875">
            <a:solidFill>
              <a:srgbClr val="C8D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4777740" y="4197095"/>
            <a:ext cx="54864" cy="1719072"/>
          </a:xfrm>
          <a:prstGeom prst="rect">
            <a:avLst/>
          </a:prstGeom>
          <a:solidFill>
            <a:srgbClr val="C8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3" name="Picture 62" descr="mini_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3156" y="4160519"/>
            <a:ext cx="329184" cy="329184"/>
          </a:xfrm>
          <a:prstGeom prst="rect">
            <a:avLst/>
          </a:prstGeom>
        </p:spPr>
      </p:pic>
      <p:sp>
        <p:nvSpPr>
          <p:cNvPr id="64" name="Oval 63"/>
          <p:cNvSpPr/>
          <p:nvPr/>
        </p:nvSpPr>
        <p:spPr>
          <a:xfrm>
            <a:off x="4942332" y="4178807"/>
            <a:ext cx="310896" cy="310896"/>
          </a:xfrm>
          <a:prstGeom prst="ellipse">
            <a:avLst/>
          </a:prstGeom>
          <a:solidFill>
            <a:srgbClr val="1A3F70"/>
          </a:solidFill>
          <a:ln w="19050">
            <a:solidFill>
              <a:srgbClr val="C8D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942332" y="4178807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EDF4FF"/>
                </a:solidFill>
                <a:latin typeface="Calibri"/>
              </a:rPr>
              <a:t>06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353812" y="4215383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DF4FF"/>
                </a:solidFill>
                <a:latin typeface="Calibri"/>
              </a:rPr>
              <a:t>STABLECOIN DIVERSIFICATION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942332" y="4617719"/>
            <a:ext cx="2304288" cy="18288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4960620" y="4709159"/>
            <a:ext cx="22677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Capital held across at least two regulated stablecoin issuers. No single point of failure.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167628" y="5678423"/>
            <a:ext cx="1097280" cy="274320"/>
          </a:xfrm>
          <a:prstGeom prst="roundRect">
            <a:avLst/>
          </a:prstGeom>
          <a:solidFill>
            <a:srgbClr val="0D1625"/>
          </a:solidFill>
          <a:ln w="9525">
            <a:solidFill>
              <a:srgbClr val="C8D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167628" y="5678423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C8DCFF"/>
                </a:solidFill>
                <a:latin typeface="Calibri"/>
              </a:rPr>
              <a:t>≥ 2 issuers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584948" y="4050791"/>
            <a:ext cx="2670048" cy="2011680"/>
          </a:xfrm>
          <a:prstGeom prst="roundRect">
            <a:avLst/>
          </a:prstGeom>
          <a:solidFill>
            <a:srgbClr val="122038"/>
          </a:solidFill>
          <a:ln w="15875">
            <a:solidFill>
              <a:srgbClr val="9C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7603236" y="4197095"/>
            <a:ext cx="54864" cy="1719072"/>
          </a:xfrm>
          <a:prstGeom prst="rect">
            <a:avLst/>
          </a:prstGeom>
          <a:solidFill>
            <a:srgbClr val="9C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3" name="Picture 72" descr="mini_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8652" y="4160519"/>
            <a:ext cx="329184" cy="329184"/>
          </a:xfrm>
          <a:prstGeom prst="rect">
            <a:avLst/>
          </a:prstGeom>
        </p:spPr>
      </p:pic>
      <p:sp>
        <p:nvSpPr>
          <p:cNvPr id="74" name="Oval 73"/>
          <p:cNvSpPr/>
          <p:nvPr/>
        </p:nvSpPr>
        <p:spPr>
          <a:xfrm>
            <a:off x="7767828" y="4178807"/>
            <a:ext cx="310896" cy="310896"/>
          </a:xfrm>
          <a:prstGeom prst="ellipse">
            <a:avLst/>
          </a:prstGeom>
          <a:solidFill>
            <a:srgbClr val="1A3F70"/>
          </a:solidFill>
          <a:ln w="19050">
            <a:solidFill>
              <a:srgbClr val="9C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7767828" y="4178807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EDF4FF"/>
                </a:solidFill>
                <a:latin typeface="Calibri"/>
              </a:rPr>
              <a:t>07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79308" y="4215383"/>
            <a:ext cx="15727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DF4FF"/>
                </a:solidFill>
                <a:latin typeface="Calibri"/>
              </a:rPr>
              <a:t>REAL-TIME DASHBOARD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767828" y="4617719"/>
            <a:ext cx="2304288" cy="18288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7786116" y="4709159"/>
            <a:ext cx="22677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Pool reserves, deployment ratios, claim queue, exit queue — all on-chain and public.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993124" y="5678423"/>
            <a:ext cx="1097280" cy="274320"/>
          </a:xfrm>
          <a:prstGeom prst="roundRect">
            <a:avLst/>
          </a:prstGeom>
          <a:solidFill>
            <a:srgbClr val="0D1625"/>
          </a:solidFill>
          <a:ln w="9525">
            <a:solidFill>
              <a:srgbClr val="9C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8993124" y="5678423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9CC6FF"/>
                </a:solidFill>
                <a:latin typeface="Calibri"/>
              </a:rPr>
              <a:t>On-chain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02920" y="6080760"/>
            <a:ext cx="11183112" cy="457200"/>
          </a:xfrm>
          <a:prstGeom prst="roundRect">
            <a:avLst/>
          </a:prstGeom>
          <a:solidFill>
            <a:srgbClr val="121E32"/>
          </a:solidFill>
          <a:ln w="12700">
            <a:solidFill>
              <a:srgbClr val="4EE5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502920" y="6172200"/>
            <a:ext cx="54864" cy="274320"/>
          </a:xfrm>
          <a:prstGeom prst="rect">
            <a:avLst/>
          </a:prstGeom>
          <a:solidFill>
            <a:srgbClr val="4EE5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85800" y="6153912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4EE59A"/>
                </a:solidFill>
                <a:latin typeface="Calibri"/>
              </a:rPr>
              <a:t>THE PROMISE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03120" y="6153912"/>
            <a:ext cx="9601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B8C8E0"/>
                </a:solidFill>
                <a:latin typeface="Calibri"/>
              </a:rPr>
              <a:t>Riders can withdraw approved claims under normal conditions; LPs and riders are protected proportionally during stress. Solvency is non-negotiable.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40080" y="6601968"/>
            <a:ext cx="457200" cy="27432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640080" y="6656832"/>
            <a:ext cx="9144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1">
                <a:solidFill>
                  <a:srgbClr val="9CC6FF"/>
                </a:solidFill>
                <a:latin typeface="Calibri"/>
              </a:rPr>
              <a:t>Reserves, deployment ratios, and queue depth visible on a public dashboard at all times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601200" y="6656832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1" i="0">
                <a:solidFill>
                  <a:srgbClr val="9CC6FF"/>
                </a:solidFill>
                <a:latin typeface="Calibri"/>
              </a:rPr>
              <a:t>MotoChain &amp; RideTrue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9CC6FF"/>
                </a:solidFill>
                <a:latin typeface="Calibri"/>
              </a:rPr>
              <a:t>II.6  ·  ORACLE RISK &amp; DATA INTEGRITY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8368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DF4FF"/>
                </a:solidFill>
                <a:latin typeface="Calibri"/>
              </a:rPr>
              <a:t>How the Oracle Sees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984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B8C8E0"/>
                </a:solidFill>
                <a:latin typeface="Calibri"/>
              </a:rPr>
              <a:t>No single source decides anything — four layers of defense around every data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64208"/>
            <a:ext cx="1097280" cy="54864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oracle_or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3208" y="3154680"/>
            <a:ext cx="2011680" cy="2011680"/>
          </a:xfrm>
          <a:prstGeom prst="rect">
            <a:avLst/>
          </a:prstGeom>
        </p:spPr>
      </p:pic>
      <p:cxnSp>
        <p:nvCxnSpPr>
          <p:cNvPr id="11" name="Connector 10"/>
          <p:cNvCxnSpPr/>
          <p:nvPr/>
        </p:nvCxnSpPr>
        <p:spPr>
          <a:xfrm flipV="1">
            <a:off x="0" y="0"/>
            <a:ext cx="0" cy="0"/>
          </a:xfrm>
          <a:prstGeom prst="line">
            <a:avLst/>
          </a:prstGeom>
          <a:ln w="19050">
            <a:solidFill>
              <a:srgbClr val="4AA3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980944" y="1819656"/>
            <a:ext cx="2743200" cy="1188720"/>
          </a:xfrm>
          <a:prstGeom prst="roundRect">
            <a:avLst/>
          </a:prstGeom>
          <a:solidFill>
            <a:srgbClr val="122038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999232" y="1947672"/>
            <a:ext cx="54864" cy="932688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145536" y="1947672"/>
            <a:ext cx="329184" cy="329184"/>
          </a:xfrm>
          <a:prstGeom prst="ellipse">
            <a:avLst/>
          </a:prstGeom>
          <a:solidFill>
            <a:srgbClr val="1A3F70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45536" y="1947672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EDF4FF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1975104"/>
            <a:ext cx="195681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DF4FF"/>
                </a:solidFill>
                <a:latin typeface="Calibri"/>
              </a:rPr>
              <a:t>MULTI-SOURCE VERIFICATION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63824" y="2350008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Claims require police records, repair-shop confirmation, AND insurer data. Never one source alone.</a:t>
            </a:r>
          </a:p>
        </p:txBody>
      </p:sp>
      <p:cxnSp>
        <p:nvCxnSpPr>
          <p:cNvPr id="18" name="Connector 17"/>
          <p:cNvCxnSpPr/>
          <p:nvPr/>
        </p:nvCxnSpPr>
        <p:spPr>
          <a:xfrm flipH="1" flipV="1">
            <a:off x="0" y="0"/>
            <a:ext cx="0" cy="0"/>
          </a:xfrm>
          <a:prstGeom prst="line">
            <a:avLst/>
          </a:prstGeom>
          <a:ln w="19050">
            <a:solidFill>
              <a:srgbClr val="27D8D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473952" y="1819656"/>
            <a:ext cx="2743200" cy="1188720"/>
          </a:xfrm>
          <a:prstGeom prst="roundRect">
            <a:avLst/>
          </a:prstGeom>
          <a:solidFill>
            <a:srgbClr val="122038"/>
          </a:solidFill>
          <a:ln w="19050">
            <a:solidFill>
              <a:srgbClr val="27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92240" y="1947672"/>
            <a:ext cx="54864" cy="932688"/>
          </a:xfrm>
          <a:prstGeom prst="rect">
            <a:avLst/>
          </a:prstGeom>
          <a:solidFill>
            <a:srgbClr val="27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638544" y="1947672"/>
            <a:ext cx="329184" cy="329184"/>
          </a:xfrm>
          <a:prstGeom prst="ellipse">
            <a:avLst/>
          </a:prstGeom>
          <a:solidFill>
            <a:srgbClr val="1A3F70"/>
          </a:solidFill>
          <a:ln w="19050">
            <a:solidFill>
              <a:srgbClr val="27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38544" y="1947672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EDF4FF"/>
                </a:solidFill>
                <a:latin typeface="Calibr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95744" y="1975104"/>
            <a:ext cx="195681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DF4FF"/>
                </a:solidFill>
                <a:latin typeface="Calibri"/>
              </a:rPr>
              <a:t>STAKING &amp; SLASHING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56832" y="2350008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Oracle providers stake collateral on their data. Bad data gets slashed — accuracy has skin in the game.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0" y="0"/>
            <a:ext cx="0" cy="0"/>
          </a:xfrm>
          <a:prstGeom prst="line">
            <a:avLst/>
          </a:prstGeom>
          <a:ln w="19050">
            <a:solidFill>
              <a:srgbClr val="4EE59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473952" y="5312664"/>
            <a:ext cx="2743200" cy="1188720"/>
          </a:xfrm>
          <a:prstGeom prst="roundRect">
            <a:avLst/>
          </a:prstGeom>
          <a:solidFill>
            <a:srgbClr val="122038"/>
          </a:solidFill>
          <a:ln w="19050">
            <a:solidFill>
              <a:srgbClr val="4EE5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492240" y="5440680"/>
            <a:ext cx="54864" cy="932688"/>
          </a:xfrm>
          <a:prstGeom prst="rect">
            <a:avLst/>
          </a:prstGeom>
          <a:solidFill>
            <a:srgbClr val="4EE5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6638544" y="5440680"/>
            <a:ext cx="329184" cy="329184"/>
          </a:xfrm>
          <a:prstGeom prst="ellipse">
            <a:avLst/>
          </a:prstGeom>
          <a:solidFill>
            <a:srgbClr val="1A3F70"/>
          </a:solidFill>
          <a:ln w="19050">
            <a:solidFill>
              <a:srgbClr val="4EE5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38544" y="5440680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EDF4FF"/>
                </a:solidFill>
                <a:latin typeface="Calibri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95744" y="5468112"/>
            <a:ext cx="195681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DF4FF"/>
                </a:solidFill>
                <a:latin typeface="Calibri"/>
              </a:rPr>
              <a:t>TIERED CONSENSUS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832" y="5843016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Big claims need a higher quorum and a longer review window. Small claims clear fast.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0" y="0"/>
            <a:ext cx="0" cy="0"/>
          </a:xfrm>
          <a:prstGeom prst="line">
            <a:avLst/>
          </a:prstGeom>
          <a:ln w="19050">
            <a:solidFill>
              <a:srgbClr val="FFBF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2980944" y="5312664"/>
            <a:ext cx="2743200" cy="1188720"/>
          </a:xfrm>
          <a:prstGeom prst="roundRect">
            <a:avLst/>
          </a:prstGeom>
          <a:solidFill>
            <a:srgbClr val="122038"/>
          </a:solidFill>
          <a:ln w="19050">
            <a:solidFill>
              <a:srgbClr val="FFB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2999232" y="5440680"/>
            <a:ext cx="54864" cy="932688"/>
          </a:xfrm>
          <a:prstGeom prst="rect">
            <a:avLst/>
          </a:prstGeom>
          <a:solidFill>
            <a:srgbClr val="FFB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3145536" y="5440680"/>
            <a:ext cx="329184" cy="329184"/>
          </a:xfrm>
          <a:prstGeom prst="ellipse">
            <a:avLst/>
          </a:prstGeom>
          <a:solidFill>
            <a:srgbClr val="1A3F70"/>
          </a:solidFill>
          <a:ln w="19050">
            <a:solidFill>
              <a:srgbClr val="FFB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145536" y="5440680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EDF4FF"/>
                </a:solidFill>
                <a:latin typeface="Calibri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02736" y="5468112"/>
            <a:ext cx="195681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DF4FF"/>
                </a:solidFill>
                <a:latin typeface="Calibri"/>
              </a:rPr>
              <a:t>AUTO-PAUSE ON CONFLICT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63824" y="5843016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If feeds go stale or disagree, smart contracts halt automatically. Disputes escalate to arbitration.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6601968"/>
            <a:ext cx="457200" cy="27432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0080" y="6656832"/>
            <a:ext cx="9144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1">
                <a:solidFill>
                  <a:srgbClr val="9CC6FF"/>
                </a:solidFill>
                <a:latin typeface="Calibri"/>
              </a:rPr>
              <a:t>Oracles aggregate from Chainlink-style decentralized feeds plus protocol-specific sources · no single data provider is ever trusted in isolation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6656832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1" i="0">
                <a:solidFill>
                  <a:srgbClr val="9CC6FF"/>
                </a:solidFill>
                <a:latin typeface="Calibri"/>
              </a:rPr>
              <a:t>MotoChain &amp; RideTrue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9CC6FF"/>
                </a:solidFill>
                <a:latin typeface="Calibri"/>
              </a:rPr>
              <a:t>RIDETRUE  ·  MECHANIC TRUST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DF4FF"/>
                </a:solidFill>
                <a:latin typeface="Calibri"/>
              </a:rPr>
              <a:t>How We Stop Fraud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98448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B8C8E0"/>
                </a:solidFill>
                <a:latin typeface="Calibri"/>
              </a:rPr>
              <a:t>Three layers of defense — built into every service record on MotoChain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64208"/>
            <a:ext cx="1097280" cy="54864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01951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5256" y="1874519"/>
            <a:ext cx="10780776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9CC6FF"/>
                </a:solidFill>
                <a:latin typeface="Calibri"/>
              </a:rPr>
              <a:t>PREVENTION</a:t>
            </a:r>
            <a:r>
              <a:rPr sz="1100" i="1">
                <a:solidFill>
                  <a:srgbClr val="9CC6FF"/>
                </a:solidFill>
                <a:latin typeface="Calibri"/>
              </a:rPr>
              <a:t>    Stop fraud before it can happen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185415"/>
            <a:ext cx="457200" cy="27432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02920" y="2267711"/>
            <a:ext cx="5509260" cy="1005840"/>
          </a:xfrm>
          <a:prstGeom prst="roundRect">
            <a:avLst/>
          </a:prstGeom>
          <a:solidFill>
            <a:srgbClr val="142440"/>
          </a:solidFill>
          <a:ln w="1587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67512" y="2395727"/>
            <a:ext cx="329184" cy="329184"/>
          </a:xfrm>
          <a:prstGeom prst="ellipse">
            <a:avLst/>
          </a:prstGeom>
          <a:solidFill>
            <a:srgbClr val="1A3F70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2423159"/>
            <a:ext cx="47228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DF4FF"/>
                </a:solidFill>
                <a:latin typeface="Calibri"/>
              </a:rPr>
              <a:t>BOTH SIGN 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70631"/>
            <a:ext cx="51435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The mechanic AND the bike owner have to confirm every service entry. No one can fake a repair the owner didn't agree to.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6772" y="2267711"/>
            <a:ext cx="5509260" cy="1005840"/>
          </a:xfrm>
          <a:prstGeom prst="roundRect">
            <a:avLst/>
          </a:prstGeom>
          <a:solidFill>
            <a:srgbClr val="142440"/>
          </a:solidFill>
          <a:ln w="1587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341364" y="2395727"/>
            <a:ext cx="329184" cy="329184"/>
          </a:xfrm>
          <a:prstGeom prst="ellipse">
            <a:avLst/>
          </a:prstGeom>
          <a:solidFill>
            <a:srgbClr val="1A3F70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8564" y="2423159"/>
            <a:ext cx="47228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DF4FF"/>
                </a:solidFill>
                <a:latin typeface="Calibri"/>
              </a:rPr>
              <a:t>BUILT-IN SENSORS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9652" y="2770631"/>
            <a:ext cx="51435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Hardware reads mileage and key events directly from the bike. No room to fudge the odometer.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428999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5256" y="3401567"/>
            <a:ext cx="10780776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9CC6FF"/>
                </a:solidFill>
                <a:latin typeface="Calibri"/>
              </a:rPr>
              <a:t>DETECTION</a:t>
            </a:r>
            <a:r>
              <a:rPr sz="1100" i="1">
                <a:solidFill>
                  <a:srgbClr val="9CC6FF"/>
                </a:solidFill>
                <a:latin typeface="Calibri"/>
              </a:rPr>
              <a:t>    Catch fraud when it tries to happen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712463"/>
            <a:ext cx="457200" cy="27432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02920" y="3794759"/>
            <a:ext cx="5509260" cy="1005840"/>
          </a:xfrm>
          <a:prstGeom prst="roundRect">
            <a:avLst/>
          </a:prstGeom>
          <a:solidFill>
            <a:srgbClr val="122038"/>
          </a:solidFill>
          <a:ln w="1587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67512" y="3922775"/>
            <a:ext cx="329184" cy="329184"/>
          </a:xfrm>
          <a:prstGeom prst="ellipse">
            <a:avLst/>
          </a:prstGeom>
          <a:solidFill>
            <a:srgbClr val="1A3F70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" y="3950207"/>
            <a:ext cx="47228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DF4FF"/>
                </a:solidFill>
                <a:latin typeface="Calibri"/>
              </a:rPr>
              <a:t>BOUNTY HUNTERS WELCOME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297679"/>
            <a:ext cx="51435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Spot a fake record and prove it — earn a share of the cheater's stake. The community becomes the watchdog.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6772" y="3794759"/>
            <a:ext cx="5509260" cy="1005840"/>
          </a:xfrm>
          <a:prstGeom prst="roundRect">
            <a:avLst/>
          </a:prstGeom>
          <a:solidFill>
            <a:srgbClr val="122038"/>
          </a:solidFill>
          <a:ln w="1587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6341364" y="3922775"/>
            <a:ext cx="329184" cy="329184"/>
          </a:xfrm>
          <a:prstGeom prst="ellipse">
            <a:avLst/>
          </a:prstGeom>
          <a:solidFill>
            <a:srgbClr val="1A3F70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98564" y="3950207"/>
            <a:ext cx="47228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DF4FF"/>
                </a:solidFill>
                <a:latin typeface="Calibri"/>
              </a:rPr>
              <a:t>RE-CHECK AT PAYDAY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9652" y="4297679"/>
            <a:ext cx="51435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When the bike is sold, financed, or insured, we re-verify the history. Fraud is caught the moment it would pay off.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4956047"/>
            <a:ext cx="292608" cy="29260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05256" y="4928615"/>
            <a:ext cx="10780776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9CC6FF"/>
                </a:solidFill>
                <a:latin typeface="Calibri"/>
              </a:rPr>
              <a:t>ENFORCEMENT</a:t>
            </a:r>
            <a:r>
              <a:rPr sz="1100" i="1">
                <a:solidFill>
                  <a:srgbClr val="9CC6FF"/>
                </a:solidFill>
                <a:latin typeface="Calibri"/>
              </a:rPr>
              <a:t>    Make fraud expensive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239511"/>
            <a:ext cx="457200" cy="27432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02920" y="5321807"/>
            <a:ext cx="3617976" cy="1005840"/>
          </a:xfrm>
          <a:prstGeom prst="roundRect">
            <a:avLst/>
          </a:prstGeom>
          <a:solidFill>
            <a:srgbClr val="101C33"/>
          </a:solidFill>
          <a:ln w="1587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667512" y="5449823"/>
            <a:ext cx="329184" cy="329184"/>
          </a:xfrm>
          <a:prstGeom prst="ellipse">
            <a:avLst/>
          </a:prstGeom>
          <a:solidFill>
            <a:srgbClr val="1A3F70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4712" y="5477255"/>
            <a:ext cx="28315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DF4FF"/>
                </a:solidFill>
                <a:latin typeface="Calibri"/>
              </a:rPr>
              <a:t>EARN TRUST, EARN MORE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824727"/>
            <a:ext cx="325221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Start small. As reputation grows, both your rewards and your stake at risk grow with you.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85488" y="5321807"/>
            <a:ext cx="3617976" cy="1005840"/>
          </a:xfrm>
          <a:prstGeom prst="roundRect">
            <a:avLst/>
          </a:prstGeom>
          <a:solidFill>
            <a:srgbClr val="101C33"/>
          </a:solidFill>
          <a:ln w="1587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4450080" y="5449823"/>
            <a:ext cx="329184" cy="329184"/>
          </a:xfrm>
          <a:prstGeom prst="ellipse">
            <a:avLst/>
          </a:prstGeom>
          <a:solidFill>
            <a:srgbClr val="1A3F70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07280" y="5477255"/>
            <a:ext cx="28315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DF4FF"/>
                </a:solidFill>
                <a:latin typeface="Calibri"/>
              </a:rPr>
              <a:t>WAIT BEFORE YOU GET PAID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68368" y="5824727"/>
            <a:ext cx="325221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Fees sit in escrow for 30–90 days. Any dispute claws the fee back and slashes part of the stake.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68056" y="5321807"/>
            <a:ext cx="3617976" cy="1005840"/>
          </a:xfrm>
          <a:prstGeom prst="roundRect">
            <a:avLst/>
          </a:prstGeom>
          <a:solidFill>
            <a:srgbClr val="101C33"/>
          </a:solidFill>
          <a:ln w="15875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8232648" y="5449823"/>
            <a:ext cx="329184" cy="329184"/>
          </a:xfrm>
          <a:prstGeom prst="ellipse">
            <a:avLst/>
          </a:prstGeom>
          <a:solidFill>
            <a:srgbClr val="1A3F70"/>
          </a:solidFill>
          <a:ln w="19050">
            <a:solidFill>
              <a:srgbClr val="4A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9848" y="5477255"/>
            <a:ext cx="28315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DF4FF"/>
                </a:solidFill>
                <a:latin typeface="Calibri"/>
              </a:rPr>
              <a:t>RISK SCALES WITH ACTIVITY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50936" y="5824727"/>
            <a:ext cx="325221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B8C8E0"/>
                </a:solidFill>
                <a:latin typeface="Calibri"/>
              </a:rPr>
              <a:t>Each entry locks a slice of stake. Log a lot, have a lot to lose. Throwaway accounts can't profit.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6601968"/>
            <a:ext cx="457200" cy="27432"/>
          </a:xfrm>
          <a:prstGeom prst="rect">
            <a:avLst/>
          </a:prstGeom>
          <a:solidFill>
            <a:srgbClr val="4A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0080" y="6656832"/>
            <a:ext cx="9144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9CC6FF"/>
                </a:solidFill>
                <a:latin typeface="Calibri"/>
              </a:rPr>
              <a:t>Each layer covers what the others miss — none of them works alone, all three together make fraud unprofitable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6656832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9CC6FF"/>
                </a:solidFill>
                <a:latin typeface="Calibri"/>
              </a:rPr>
              <a:t>MotoChain &amp; RideTrue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1427A57-3C4A-4543-BF97-47A4E97517E0}">
  <we:reference id="wa200010001" version="1.0.0.1" store="ko-KR" storeType="OMEX"/>
  <we:alternateReferences>
    <we:reference id="WA200010001" version="1.0.0.1" store="WA200010001" storeType="OMEX"/>
  </we:alternateReferences>
  <we:properties>
    <we:property name="claude.fileId" value="&quot;299b053a-fc29-4cf8-9ae3-61940a6f2be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1954</TotalTime>
  <Words>5285</Words>
  <Application>Microsoft Macintosh PowerPoint</Application>
  <PresentationFormat>와이드스크린</PresentationFormat>
  <Paragraphs>824</Paragraphs>
  <Slides>25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29" baseType="lpstr">
      <vt:lpstr>Aptos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김미르</cp:lastModifiedBy>
  <cp:revision>9</cp:revision>
  <dcterms:created xsi:type="dcterms:W3CDTF">2013-01-27T09:14:16Z</dcterms:created>
  <dcterms:modified xsi:type="dcterms:W3CDTF">2026-05-21T12:45:47Z</dcterms:modified>
  <cp:category/>
</cp:coreProperties>
</file>