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3" r:id="rId2"/>
    <p:sldId id="283" r:id="rId3"/>
    <p:sldId id="282" r:id="rId4"/>
    <p:sldId id="284" r:id="rId5"/>
    <p:sldId id="285" r:id="rId6"/>
    <p:sldId id="291" r:id="rId32"/>
    <p:sldId id="286" r:id="rId7"/>
    <p:sldId id="287" r:id="rId8"/>
    <p:sldId id="288" r:id="rId9"/>
    <p:sldId id="289" r:id="rId10"/>
    <p:sldId id="290" r:id="rId11"/>
    <p:sldId id="256" r:id="rId12"/>
    <p:sldId id="292" r:id="rId33"/>
    <p:sldId id="293" r:id="rId34"/>
    <p:sldId id="262" r:id="rId13"/>
    <p:sldId id="263" r:id="rId14"/>
    <p:sldId id="264" r:id="rId15"/>
    <p:sldId id="257" r:id="rId16"/>
    <p:sldId id="259" r:id="rId17"/>
    <p:sldId id="265" r:id="rId18"/>
    <p:sldId id="266" r:id="rId19"/>
    <p:sldId id="294" r:id="rId35"/>
    <p:sldId id="267" r:id="rId20"/>
    <p:sldId id="268" r:id="rId21"/>
    <p:sldId id="261" r:id="rId22"/>
    <p:sldId id="269" r:id="rId23"/>
    <p:sldId id="270" r:id="rId24"/>
    <p:sldId id="271" r:id="rId25"/>
    <p:sldId id="25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0"/>
    <p:restoredTop sz="94765"/>
  </p:normalViewPr>
  <p:slideViewPr>
    <p:cSldViewPr snapToGrid="0" snapToObjects="1">
      <p:cViewPr varScale="1">
        <p:scale>
          <a:sx n="88" d="100"/>
          <a:sy n="88" d="100"/>
        </p:scale>
        <p:origin x="184" y="8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645D6-E495-F748-95BA-391A5EA7FC88}" type="datetimeFigureOut">
              <a:rPr lang="en-US" smtClean="0"/>
              <a:t>5/21/26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ADB9B-ABEC-B641-9735-8613943C4247}" type="slidenum">
              <a:rPr lang="en-US" smtClean="0"/>
              <a:t>‹#›</a:t>
            </a:fld>
            <a:endParaRPr lang="en-US"/>
          </a:p>
        </p:txBody>
      </p:sp>
    </p:spTree>
    <p:extLst>
      <p:ext uri="{BB962C8B-B14F-4D97-AF65-F5344CB8AC3E}">
        <p14:creationId xmlns:p14="http://schemas.microsoft.com/office/powerpoint/2010/main" val="2765157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We're Group 1 — Mireu Kim and Enxhi Topalli — and today we're presenting our interim report on MotoChain and RideTrue.</a:t>
            </a:r>
          </a:p>
          <a:p/>
          <a:p>
            <a:r>
              <a:t>MotoChain is a decentralized identity layer for motorcycles, and RideTrue is a behavior-based insurance protocol for riders. Together they form a dual-protocol DeFi system addressing a structural trust problem in two large markets.</a:t>
            </a:r>
          </a:p>
          <a:p/>
          <a:p>
            <a:r>
              <a:t>This is our interim report, so we'll walk you through our problem framing, system design, financials, and risk plan. Let's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information asymmetry — and it shows up identically in two markets.</a:t>
            </a:r>
          </a:p>
          <a:p/>
          <a:p>
            <a:r>
              <a:t>In the used-bike market: sellers know everything about a bike's history; buyers can verify almost nothing. Accident records can be hidden, mileage can be rolled back, and maintenance records can be fabricated. This is Akerlof's lemons problem in its most literal form — bad actors drive honest sellers out, prices become inefficient, and trust collapses.</a:t>
            </a:r>
          </a:p>
          <a:p/>
          <a:p>
            <a:r>
              <a:t>In motorcycle insurance: insurers don't have behavioral data, so they price risk using demographics — age, how long you've had your license. This means a 22-year-old who rides carefully subsidizes a 40-year-old who rides recklessly.</a:t>
            </a:r>
          </a:p>
          <a:p/>
          <a:p>
            <a:r>
              <a:t>Both problems trace back to the same root cause: there is no shared, tamper-proof, portable record of what actually happened to a bike or how a rider actually behaves. That's what we're building.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our one-paragraph pitch: MotoChain and RideTrue replace trust-based inefficiency with verifiable, user-owned data.</a:t>
            </a:r>
          </a:p>
          <a:p/>
          <a:p>
            <a:r>
              <a:t>MotoChain anchors each motorcycle to a permanent on-chain identity tied to its VIN. Every service record, ownership transfer, and mileage reading is cryptographically signed and immutable.</a:t>
            </a:r>
          </a:p>
          <a:p/>
          <a:p>
            <a:r>
              <a:t>RideTrue takes that foundation and layers a behavior-based insurance pool on top. Instead of pricing riders by demographic proxies, we price them by how they actually ride — captured via telematics and verified using zero-knowledge proofs.</a:t>
            </a:r>
          </a:p>
          <a:p/>
          <a:p>
            <a:r>
              <a:t>Our mission is simple: verifiable identity for the bike, verifiable behavior for the rider. Both on-chain, both owned by the user — not by an insurer or a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ground this in market size. The global motorcycle market is over 120 billion dollars annually. The global motorcycle insurance market is over 70 billion. Combined, that's a 190 billion dollar problem space.</a:t>
            </a:r>
          </a:p>
          <a:p/>
          <a:p>
            <a:r>
              <a:t>And these aren't just big numbers — there's recoverable value here. Industry estimates suggest 5 to 10 percent of transaction value in used-bike markets is lost to fraud and misrepresentation. On the insurance side, even a 1 to 2 percent improvement in pricing accuracy translates to billions of dollars in recoverable value.</a:t>
            </a:r>
          </a:p>
          <a:p/>
          <a:p>
            <a:r>
              <a:t>Now, why blockchain specifically? Not because it's a trend — because it's the only structure that delivers four things simultaneously: immutable records, decentralized validation, economic enforcement, and portable identity. Centralized alternatives fail because any single institution controlling the data has a conflict of interest, and competitors won't share. Blockchain removes that intermediary entirely.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architecture is two contracts on one chain — Base, which is an Ethereum Layer 2.</a:t>
            </a:r>
          </a:p>
          <a:p/>
          <a:p>
            <a:r>
              <a:t>Protocol A is MotoChain: the motorcycle identity and history registry. It manages VIN-linked identity tokens, controlled ownership transfers, staked service entries from authorized mechanics, and protocol-level integrity rules that automatically flag non-sequential mileage.</a:t>
            </a:r>
          </a:p>
          <a:p/>
          <a:p>
            <a:r>
              <a:t>Protocol B is RideTrue: the behavior-based rider insurance pool. It manages rider identity and safety scores updated from off-chain telematics, ZK-proof attestations that verify safe behavior without exposing raw GPS data, a USDC insurance pool, and DeFi composability — idle capital gets deployed into Aave for yield.</a:t>
            </a:r>
          </a:p>
          <a:p/>
          <a:p>
            <a:r>
              <a:t>We chose Base because it gives us sub-5-cent transactions, Ethereum's security guarantees, and fast finality — which we need for frequent service records and real-time behavioral scoring.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how MotoChain actually works in practice.</a:t>
            </a:r>
          </a:p>
          <a:p/>
          <a:p>
            <a:r>
              <a:t>A bike enters the system when its VIN is minted as an identity token — a one-time fee, permanent anchor. When the bike changes hands, ownership transfers wallet-to-wallet; the wallet is the title.</a:t>
            </a:r>
          </a:p>
          <a:p/>
          <a:p>
            <a:r>
              <a:t>Service records are written by authorized mechanics who stake collateral before they can write. That stake is at risk if fraud is detected. And the protocol enforces consistency automatically: if a mechanic tries to log a lower mileage than the previous reading, the entry is rejected before it even writes. You can't roll back an odometer at the smart contract level.</a:t>
            </a:r>
          </a:p>
          <a:p/>
          <a:p>
            <a:r>
              <a:t>Two mechanics logging conflicting work on the same bike triggers a dispute window — neither entry finalizes until it resolves. And only wallets with active stake can write at all. Bad data can't be written; it's not just challenged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ZK proofs are powerful, but they have one important limitation: they verify that inputs lead to a correct score, but they cannot verify that those inputs reflect real riding. That's the spoofing problem — and it's the main attack surface for RideTrue.</a:t>
            </a:r>
          </a:p>
          <a:p/>
          <a:p>
            <a:r>
              <a:t>The attack is straightforward: fake GPS coordinates, replay a clean ride on a stationary phone, or fabricate accelerometer data to earn a premium discount you don't deserve.</a:t>
            </a:r>
          </a:p>
          <a:p/>
          <a:p>
            <a:r>
              <a:t>Our four-layer defense: First, hardware attestation — Android Play Integrity and iOS DeviceCheck confirm the telemetry came from a genuine, uncompromised device. Second, sensor fusion — we reconstruct behavior from GPS, accelerometer, gyroscope, magnetometer, and optionally OBD. A spoofer has to forge all of them simultaneously and consistently. Third, statistical anomaly detection — we flag physically implausible signals or trajectories inconsistent with the reported speed. Fourth, random sampling — a subset of rides gets cross-checked against cell-tower triangulation and third-party traffic data.</a:t>
            </a:r>
          </a:p>
          <a:p/>
          <a:p>
            <a:r>
              <a:t>Our goal isn't perfect security — it's making spoofing economically irrational. If the expected penalty times detection probability exceeds the expected payoff, rational actors won't bother.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two off-chain integration problems: how claims get verified, and what happens to idle capital.</a:t>
            </a:r>
          </a:p>
          <a:p/>
          <a:p>
            <a:r>
              <a:t>Claims follow a four-step lifecycle. The rider files via the app — no wallet management, no gas fees, just a form and photos. Decentralized oracles then pull from repair shops, insurers, and public records. Multiple independent sources must reach consensus before the claim is valid. Then the smart contract either pays out automatically in USDC, or escalates to arbitration if there's a dispute.</a:t>
            </a:r>
          </a:p>
          <a:p/>
          <a:p>
            <a:r>
              <a:t>Oracle integrity: no single source is trusted. Providers stake collateral on their data — bad feeds get slashed. Stale or conflicting feeds automatically pause execution.</a:t>
            </a:r>
          </a:p>
          <a:p/>
          <a:p>
            <a:r>
              <a:t>DeFi composability: the idle portion of the insurance pool earns yield via Aave. We access DEX liquidity for rapid rebalancing during stress. This improves capital efficiency without compromising our ability to pay claims.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barrier to adoption isn't technical feasibility. It's user friction. If someone has to understand what a wallet or a private key is, we've already lost them.</a:t>
            </a:r>
          </a:p>
          <a:p/>
          <a:p>
            <a:r>
              <a:t>So we abstract all of that. Account abstraction means users sign up with email or social login — wallets are generated in the background. Gas abstraction means users never need to hold native tokens.</a:t>
            </a:r>
          </a:p>
          <a:p/>
          <a:p>
            <a:r>
              <a:t>The interface is different for each user type. Riders get a passive dashboard: your safety score, your premium, your projected rebate. The app tracks behavior in the background. For mechanics, we're targeting sub-30-second service entries — structured forms or QR-based vehicle ID, optimized for speed at the shop counter. For buyers checking a used bike, it's one scan or one VIN entry — full verifiable history, no account required to read.</a:t>
            </a:r>
          </a:p>
          <a:p/>
          <a:p>
            <a:r>
              <a:t>The design principle we keep coming back to: if the user has to know it's blockchain, the design has failed.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MotoChain and RideTrue is a multi-sided marketplace. We need four participant classes to show up simultaneously: riders and buyers on the demand side, mechanics and dealers on the supply side, liquidity providers providing capital, and insurers and lenders as B2B data consumers.</a:t>
            </a:r>
          </a:p>
          <a:p/>
          <a:p>
            <a:r>
              <a:t>The cold-start problem in multi-sided markets is real. Our solution is to anchor on one side first: dealers.</a:t>
            </a:r>
          </a:p>
          <a:p/>
          <a:p>
            <a:r>
              <a:t>The Seoul wedge: we start by partnering with a small number of high-volume used-bike dealers and repair shops in one dense urban market. Dealers have a direct financial incentive — verified histories let them sell faster, at higher prices, with fewer disputes. Once dealers are enrolled, the bikes are on-chain. Once bikes are on-chain, riders need MotoChain for their insurance score. Once riders are active, B2B partners have data worth paying for.</a:t>
            </a:r>
          </a:p>
          <a:p/>
          <a:p>
            <a:r>
              <a:t>Win the dealers in Seoul. The rest of the network follows.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anyone who wants to understand how RideTrue works at the user level, without the technical details.</a:t>
            </a:r>
          </a:p>
          <a:p/>
          <a:p>
            <a:r>
              <a:t>Step one: something happens — a crash, theft, or damage. Step two: the rider opens the app and files a claim with photos and details. Step three: the oracle system gathers evidence from repair shops, police records, and insurer databases. Step four: validators reach consensus that the claim is legitimate. Step five: USDC is sent directly to the rider's wallet. Step six: the pool automatically adjusts reserves and pricing for the next period.</a:t>
            </a:r>
          </a:p>
          <a:p/>
          <a:p>
            <a:r>
              <a:t>The key takeaway: this process is automated, transparent, and paid in stablecoin. There's no adjuster to call, no check that takes three weeks. The contract pays when the oracles agree.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model is grounded in Korean industry data, not aspirational assumptions.</a:t>
            </a:r>
          </a:p>
          <a:p/>
          <a:p>
            <a:r>
              <a:t>Year 1: 5,000 registered motorcycles and 2,000 active RideTrue riders. That's 0.2% of Korea's registered motorcycle fleet — achievable via 5 dealer partnerships in Seoul. Average monthly premium of 90,000 won is the midpoint of the Korean motorcycle insurance range cited by KIDI and FSS.</a:t>
            </a:r>
          </a:p>
          <a:p/>
          <a:p>
            <a:r>
              <a:t>We modeled a loss ratio of about 8.9% — 8% claim frequency times 1.2 million won average severity. That's intentionally conservative. The stress test uses 15% frequency and 2.5 million won severity, and we'll show you that model's output on the stress slide.</a:t>
            </a:r>
          </a:p>
          <a:p/>
          <a:p>
            <a:r>
              <a:t>Mechanic ramp tracks bike count at roughly 1 mechanic per 50 bikes — feasible if dealer partners require MotoChain logging as part of their onboarding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has six revenue streams in Year 1.</a:t>
            </a:r>
          </a:p>
          <a:p/>
          <a:p>
            <a:r>
              <a:t>VIN registration: 50 million won from 5,000 bikes at 10,000 won each. One-time fee. Ownership transfer: 15 million won from an estimated 1,000 annual resales. Service entries: 10 million won as the protocol's 20% share of verified service record fees. Insurance pool fee: 108 million won — 5% of the 2.16 billion won annual premium pool. This is the largest single stream in Year 1. Claim processing margin: about 1.9 million won, a small 1% admin fee on approved claims. API and data access: 180 million won from 3 B2B partners at 5 million won per month each.</a:t>
            </a:r>
          </a:p>
          <a:p/>
          <a:p>
            <a:r>
              <a:t>Total Year 1 protocol revenue: 365 million won. The insurance pool fee and B2B data subscriptions together represent more than 80% of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Year 1 is the foundation. The growth story is what happens as bike count scales.</a:t>
            </a:r>
          </a:p>
          <a:p/>
          <a:p>
            <a:r>
              <a:t>From Year 1 to Year 3, total protocol revenue grows 21 times — from 365 million to 7.85 billion won. The biggest driver of that growth is the B2B data subscriptions, which scale from 180 million to 3.6 billion won and become the largest single revenue stream at 46% of Year 3 total.</a:t>
            </a:r>
          </a:p>
          <a:p/>
          <a:p>
            <a:r>
              <a:t>By Year 3 we have 100,000 registered motorcycles — which sounds large, but is still only 0.2% of Korea's registered fleet. The growth assumption is 20x via dealer-led acquisition, which scales proportionally with the dealer partnerships we establish in Year 1.</a:t>
            </a:r>
          </a:p>
          <a:p/>
          <a:p>
            <a:r>
              <a:t>Riders track at 40 to 50% of registered bikes. B2B partners grow from 3 to 20 as the dataset matures.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full money flow for Year 1 — what comes in, what goes out, and what the economics look like for an individual rider.</a:t>
            </a:r>
          </a:p>
          <a:p/>
          <a:p>
            <a:r>
              <a:t>Money in: 2.16 billion won in rider premiums, 3 billion in LP pool capital, and about 90 million more from B2B fees and DeFi yield. Total processed: about 5.25 billion won.</a:t>
            </a:r>
          </a:p>
          <a:p/>
          <a:p>
            <a:r>
              <a:t>Money out: 750 million in claims paid, 216 million in safe-rider rebates, 1.19 billion held in reserves and reinsurance, and 1.8 billion in team and operations costs.</a:t>
            </a:r>
          </a:p>
          <a:p/>
          <a:p>
            <a:r>
              <a:t>To make this concrete: Ji-min, a 28-year-old delivery rider in Seoul with a safety score of 92 out of 100 and zero claims in Year 1. She pays 1,080,000 won over the year — 90,000 a month. As a top-quartile safe rider, she receives a 180,000 won rebate. Net premium: 900,000 won for full-year coverage. Comparable traditional Korean motorcycle insurance for a delivery rider runs 1 to 1.4 million won — with no behavior discount and no on-chain claim settlement.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assume the model runs perfectly. This slide covers the nine safeguards across three layers that keep the pool standing when many claims hit at once.</a:t>
            </a:r>
          </a:p>
          <a:p/>
          <a:p>
            <a:r>
              <a:t>Reserve layers: 25% of the pool always stays liquid in USDC — never deployed. 20% of every premium is routed to a catastrophe reserve. And we require a reinsurance backstop before launch to cover tail risk above pool capacity.</a:t>
            </a:r>
          </a:p>
          <a:p/>
          <a:p>
            <a:r>
              <a:t>Automatic contract safeguards: a circuit breaker that triggers emergency mode on claim spikes, reserve drops, disaster zones, or 3x volume. Coverage caps at 5 million won for normal claims and 3 million for catastrophes. And DeFi deployment is capped at 10 to 15% of excess reserves, blue-chip protocols only.</a:t>
            </a:r>
          </a:p>
          <a:p/>
          <a:p>
            <a:r>
              <a:t>Crisis playbook: in emergency mode, 50% of claims pay immediately and 50% pays over 3 to 6 months as liquidity returns. If the pool is short, everyone gets a proportional share — fair and transparent. And post-shock, premiums can increase 10 to 20% temporarily to rebuild reserves.</a:t>
            </a:r>
          </a:p>
          <a:p/>
          <a:p>
            <a:r>
              <a:t>We calibrate Korean typhoons as base-case events, not tail events. That's built directly into our catastrophe reserve sizing.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governance and utility token is $MOTO — that's a working name, and the final brand will go through trademark and domain clearance before TGE.</a:t>
            </a:r>
          </a:p>
          <a:p/>
          <a:p>
            <a:r>
              <a:t>Four parameters: the token deploys on Base, EVM-compatible, with average transaction costs under 5 cents versus 5 dollars on Ethereum mainnet. Total supply is 1 billion, fixed cap — no protocol inflation post-TGE. A fixed cap prevents dilution and makes long-term value predictable. Standard is ERC-20 with governance and staking modules, giving maximum compatibility with wallets, DEXes, and custodians across any EVM chain.</a:t>
            </a:r>
          </a:p>
          <a:p/>
          <a:p>
            <a:r>
              <a:t>Everything on this slide is a draft assumption. Final parameters go through legal and token-design advisor review before any public announcement.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 billion token supply is split across seven buckets, each with a specific rationale and vesting schedule.</a:t>
            </a:r>
          </a:p>
          <a:p/>
          <a:p>
            <a:r>
              <a:t>Community and ecosystem gets 30% — the largest allocation — to fund dealer, mechanic, and rider acquisition. The real-world go-to-market cost is high. Insurance pool subsidy gets 15%, tapered over Years 1 to 3 to bootstrap safe-rider rebates until premium revenue scales on its own. Team and founders get 18% — below the 20 to 25% industry norm, which we think signals alignment with users. Seed investors get 8% with a 2-year vest and 6-month cliff; private investors get 9% with an 18-month vest and 3-month cliff. Treasury and DAO reserve gets 15%, governance-gated. And liquidity provision gets 5%, unlocked at TGE so market-making capital is functional from day one.</a:t>
            </a:r>
          </a:p>
          <a:p/>
          <a:p>
            <a:r>
              <a:t>Key design principle: total insider supply — team plus investors — is capped at 35%. The industry norm is 40 to 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100 won a rider pays in premium gets allocated across seven buckets.</a:t>
            </a:r>
          </a:p>
          <a:p/>
          <a:p>
            <a:r>
              <a:t>12% to expected claims — that's our modeled 8.9% loss ratio plus a roughly 3% buffer for actuarial drift. 25% to the liquid reserve, kept in USDC and never deployed to yield — above the industry 15 to 20% norm because we have no track record yet. 20% to the catastrophe reserve — sized for Korean typhoon exposure, treated as a base-case event. 10% to the reinsurance premium budget for the external backstop. 18% to safe-rider rebates — generous because our modeled losses are low, and surplus goes back to users. 5% as the protocol fee, aligned with Nexus Mutual's benchmark. 10% to the treasury reserve for audits, integrations, and future opportunities.</a:t>
            </a:r>
          </a:p>
          <a:p/>
          <a:p>
            <a:r>
              <a:t>That's 100%. The DeFi yield — up to 10% of excess reserves deployed to Aave — sits on top of that, not inside it. It improves returns without touching the required allocation buckets.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has breaking points. We think naming them explicitly is more credible than pretending they don't exist.</a:t>
            </a:r>
          </a:p>
          <a:p/>
          <a:p>
            <a:r>
              <a:t>Two critical risks: if we get fewer than 1,500 active riders in Year 1, revenue can't cover engineering and operations — runway drops to about 6 months. And if LP capital comes in below 50% of target, the pool runs thin and we either shrink coverage limits or pause new rider enrollment.</a:t>
            </a:r>
          </a:p>
          <a:p/>
          <a:p>
            <a:r>
              <a:t>Two high-severity risks: if more than 25% of riders file claims per year, the loss ratio jumps above 60% and we have to cut rebates and raise premiums. If average claims exceed 4 million won, the loss ratio approaches 75% and the LP backstop absorbs the gap.</a:t>
            </a:r>
          </a:p>
          <a:p/>
          <a:p>
            <a:r>
              <a:t>Two medium risks: no B2B partners by Year 2 means our largest projected revenue stream collapses and profitability slips to Year 4. A single catastrophic event above 1 billion won in one week triggers emergency mode — staged payouts, reinsurance call, catastrophe reserve drain.</a:t>
            </a:r>
          </a:p>
          <a:p/>
          <a:p>
            <a:r>
              <a:t>Each of these has a specific mitigation. The point of this slide is that we've modeled the failures, not just the successes.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competitor types, and we're not trying to beat any of them head-on.</a:t>
            </a:r>
          </a:p>
          <a:p/>
          <a:p>
            <a:r>
              <a:t>Centralized history providers like CARFAX own the data — you can't take your history with you, and there's no real penalty for fake records. Our edge: records are user-owned, economically staked, and fraud is automatically slashed.</a:t>
            </a:r>
          </a:p>
          <a:p/>
          <a:p>
            <a:r>
              <a:t>Traditional Korean insurers like Samsung Fire and Marine price behavior using demographics because they don't have behavioral data. Our edge: behavior score follows the rider across providers, claims settle on-chain in days, not weeks.</a:t>
            </a:r>
          </a:p>
          <a:p/>
          <a:p>
            <a:r>
              <a:t>DeFi insurance protocols like Nexus Mutual are built for smart contract risk — they have no real-world data moat and almost no consumer reach. Our edge: real motorcycle data, identity plus behavior in one stack, and consumer-grade UX via account abstraction.</a:t>
            </a:r>
          </a:p>
          <a:p/>
          <a:p>
            <a:r>
              <a:t>Our moat is the vertical data network effect. Every new bike, rider, mechanic, dealer, and partner makes the dataset more valuable and harder to replicate. We own the intersection that none of our competitors can occupy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isn't a one-time event — it's a continuous practice. Our roadmap has five waypoints.</a:t>
            </a:r>
          </a:p>
          <a:p/>
          <a:p>
            <a:r>
              <a:t>Pre-launch internal: we test like adversaries. Full coverage on every contract function that touches money. Fuzz testing and invariant testing to break our own code before anyone else does.</a:t>
            </a:r>
          </a:p>
          <a:p/>
          <a:p>
            <a:r>
              <a:t>Pre-launch external: two independent audit firms — we're targeting OpenZeppelin and Trail of Bits. Every finding published in full.</a:t>
            </a:r>
          </a:p>
          <a:p/>
          <a:p>
            <a:r>
              <a:t>Day 0 on mainnet: 5-of-9 multisig on treasury, 48-hour timelock on upgrades, emergency pause narrowly scoped to a security council.</a:t>
            </a:r>
          </a:p>
          <a:p/>
          <a:p>
            <a:r>
              <a:t>Post-launch forever: a live bug bounty on Immunefi — up to 250,000 dollars for critical findings, 75,000 for high, 15,000 for medium.</a:t>
            </a:r>
          </a:p>
          <a:p/>
          <a:p>
            <a:r>
              <a:t>Continuous: audit every major upgrade, annual penetration tests, public incident playbook, quarterly drills.</a:t>
            </a:r>
          </a:p>
          <a:p/>
          <a:p>
            <a:r>
              <a:t>Security is one of our key credibility markers with institutional partners and LP capital. We treat it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layers of liquidity defense — the goal is simple: money is always available when a rider needs it.</a:t>
            </a:r>
          </a:p>
          <a:p/>
          <a:p>
            <a:r>
              <a:t>25% liquid reserve floor, always in USDC, never deployed. Only 10 to 15% of excess reserves can earn yield. Large LP redemptions above 5% of the pool require 30 days notice to prevent bank-run dynamics. In emergency mode, withdrawals queue pro-rata — first in line doesn't mean first served.</a:t>
            </a:r>
          </a:p>
          <a:p/>
          <a:p>
            <a:r>
              <a:t>External reinsurance backstop for tail risk above pool capacity. Capital held across at least two regulated stablecoin issuers — no single-stablecoin dependency. And all of this is visible on a public real-time dashboard: pool reserves, deployment ratios, claim queue, exit queue.</a:t>
            </a:r>
          </a:p>
          <a:p/>
          <a:p>
            <a:r>
              <a:t>The promise: approved claims pay under normal conditions; in stress, LPs and riders are protected proportionally and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layer is how off-chain truth enters the on-chain system. Our four defenses around every data point:</a:t>
            </a:r>
          </a:p>
          <a:p/>
          <a:p>
            <a:r>
              <a:t>Multi-source verification: claims require police records, repair-shop confirmation, AND insurer data. No single source decides anything. Staking and slashing: oracle providers post collateral on their data feeds — bad data costs them. Tiered consensus: large claims require a higher quorum and longer review window; small claims clear fast. Auto-pause on conflict: if feeds go stale or disagree, contracts halt automatically and disputes escalate to arbitration.</a:t>
            </a:r>
          </a:p>
          <a:p/>
          <a:p>
            <a:r>
              <a:t>We aggregate from Chainlink-style decentralized feeds plus protocol-specific sources. No single data provider is ever the deciding vote.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slide addresses mechanic trust — and this is one of the places where the design is most carefully layered.</a:t>
            </a:r>
          </a:p>
          <a:p/>
          <a:p>
            <a:r>
              <a:t>Prevention: every service entry requires sign-off from both the mechanic and the bike owner. Neither party can fake a repair the other didn't agree to. Hardware reads mileage directly from the bike, so odometer fraud is blocked at the source.</a:t>
            </a:r>
          </a:p>
          <a:p/>
          <a:p>
            <a:r>
              <a:t>Detection: we have an open bounty system — anyone who spots and proves a fake record earns a share of the cheater's staked collateral. The community becomes the watchdog. And at every moment of financial consequence — sale, financing, insurance — we re-verify the history. Fraud gets caught exactly when it would pay off.</a:t>
            </a:r>
          </a:p>
          <a:p/>
          <a:p>
            <a:r>
              <a:t>Enforcement: reputation and reward scale together. Mechanics start with small stakes and grow over time. Fees sit in escrow for 30 to 90 days — disputes claw them back. And each entry locks a slice of stake, so high-volume fraudsters have the most to lose.</a:t>
            </a:r>
          </a:p>
          <a:p/>
          <a:p>
            <a:r>
              <a:t>The design principle: none of these layers works alone, but together they make fraud unprofitable.</a:t>
            </a:r>
          </a:p>
          <a:p/>
          <a:p>
            <a:r>
              <a:t>That wraps our interim report. We're happy to take questions on any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pic>
        <p:nvPicPr>
          <p:cNvPr id="25" name="그림 24">
            <a:extLst>
              <a:ext uri="{FF2B5EF4-FFF2-40B4-BE49-F238E27FC236}">
                <a16:creationId xmlns:a16="http://schemas.microsoft.com/office/drawing/2014/main" id="{EC797202-2C45-3E2D-6268-A14907A1336F}"/>
              </a:ext>
            </a:extLst>
          </p:cNvPr>
          <p:cNvPicPr>
            <a:picLocks noChangeAspect="1"/>
          </p:cNvPicPr>
          <p:nvPr/>
        </p:nvPicPr>
        <p:blipFill>
          <a:blip r:embed="rId2">
            <a:alphaModFix amt="35000"/>
          </a:blip>
          <a:stretch>
            <a:fillRect/>
          </a:stretch>
        </p:blipFill>
        <p:spPr>
          <a:xfrm>
            <a:off x="0" y="38100"/>
            <a:ext cx="12171219" cy="6932386"/>
          </a:xfrm>
          <a:prstGeom prst="rect">
            <a:avLst/>
          </a:prstGeom>
        </p:spPr>
      </p:pic>
      <p:sp>
        <p:nvSpPr>
          <p:cNvPr id="2" name="직사각형 1">
            <a:extLst>
              <a:ext uri="{FF2B5EF4-FFF2-40B4-BE49-F238E27FC236}">
                <a16:creationId xmlns:a16="http://schemas.microsoft.com/office/drawing/2014/main" id="{41BCEC71-72C6-134F-B91A-36016F784560}"/>
              </a:ext>
            </a:extLst>
          </p:cNvPr>
          <p:cNvSpPr/>
          <p:nvPr/>
        </p:nvSpPr>
        <p:spPr>
          <a:xfrm>
            <a:off x="9144000" y="0"/>
            <a:ext cx="30480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C338E6EE-FC19-5F44-8F58-1F842A868601}"/>
              </a:ext>
            </a:extLst>
          </p:cNvPr>
          <p:cNvSpPr txBox="1"/>
          <p:nvPr/>
        </p:nvSpPr>
        <p:spPr>
          <a:xfrm>
            <a:off x="635000" y="2286000"/>
            <a:ext cx="10922000" cy="889000"/>
          </a:xfrm>
          <a:prstGeom prst="rect">
            <a:avLst/>
          </a:prstGeom>
          <a:noFill/>
          <a:ln>
            <a:noFill/>
          </a:ln>
        </p:spPr>
        <p:txBody>
          <a:bodyPr vertOverflow="overflow" vert="horz" wrap="square" rtlCol="0" anchor="t">
            <a:spAutoFit/>
          </a:bodyPr>
          <a:lstStyle/>
          <a:p>
            <a:pPr algn="l"/>
            <a:r>
              <a:rPr lang="en-US" altLang="ko-KR" sz="5200" b="1" dirty="0" err="1">
                <a:solidFill>
                  <a:srgbClr val="EDF4FF"/>
                </a:solidFill>
              </a:rPr>
              <a:t>MotoChain</a:t>
            </a:r>
            <a:r>
              <a:rPr lang="en-US" altLang="ko-KR" sz="5200" b="1" dirty="0">
                <a:solidFill>
                  <a:srgbClr val="EDF4FF"/>
                </a:solidFill>
              </a:rPr>
              <a:t>  &amp;  </a:t>
            </a:r>
            <a:r>
              <a:rPr lang="en-US" altLang="ko-KR" sz="5200" b="1" dirty="0" err="1">
                <a:solidFill>
                  <a:srgbClr val="EDF4FF"/>
                </a:solidFill>
              </a:rPr>
              <a:t>RideTrue</a:t>
            </a:r>
            <a:endParaRPr lang="ko-KR" altLang="en-US" sz="5200" b="1" dirty="0">
              <a:solidFill>
                <a:srgbClr val="EDF4FF"/>
              </a:solidFill>
            </a:endParaRPr>
          </a:p>
        </p:txBody>
      </p:sp>
      <p:sp>
        <p:nvSpPr>
          <p:cNvPr id="6" name="TextBox 5">
            <a:extLst>
              <a:ext uri="{FF2B5EF4-FFF2-40B4-BE49-F238E27FC236}">
                <a16:creationId xmlns:a16="http://schemas.microsoft.com/office/drawing/2014/main" id="{32E2C389-EBEE-BC4D-8B03-682BA640CB1D}"/>
              </a:ext>
            </a:extLst>
          </p:cNvPr>
          <p:cNvSpPr txBox="1"/>
          <p:nvPr/>
        </p:nvSpPr>
        <p:spPr>
          <a:xfrm>
            <a:off x="635000" y="3251200"/>
            <a:ext cx="10922000" cy="457200"/>
          </a:xfrm>
          <a:prstGeom prst="rect">
            <a:avLst/>
          </a:prstGeom>
          <a:noFill/>
          <a:ln>
            <a:noFill/>
          </a:ln>
        </p:spPr>
        <p:txBody>
          <a:bodyPr vertOverflow="overflow" vert="horz" wrap="square" rtlCol="0" anchor="t">
            <a:spAutoFit/>
          </a:bodyPr>
          <a:lstStyle/>
          <a:p>
            <a:pPr algn="l"/>
            <a:r>
              <a:rPr lang="en-US" altLang="ko-KR" sz="2200" i="1" dirty="0">
                <a:solidFill>
                  <a:srgbClr val="B8C8E0"/>
                </a:solidFill>
              </a:rPr>
              <a:t>A Decentralized Identity Layer for Motorcycles and Their Riders</a:t>
            </a:r>
            <a:endParaRPr lang="ko-KR" altLang="en-US" sz="2200" i="1" dirty="0">
              <a:solidFill>
                <a:srgbClr val="B8C8E0"/>
              </a:solidFill>
            </a:endParaRPr>
          </a:p>
        </p:txBody>
      </p:sp>
      <p:sp>
        <p:nvSpPr>
          <p:cNvPr id="9" name="직사각형 8">
            <a:extLst>
              <a:ext uri="{FF2B5EF4-FFF2-40B4-BE49-F238E27FC236}">
                <a16:creationId xmlns:a16="http://schemas.microsoft.com/office/drawing/2014/main" id="{E141C57C-56E9-2746-B4FB-060F60F2A18A}"/>
              </a:ext>
            </a:extLst>
          </p:cNvPr>
          <p:cNvSpPr/>
          <p:nvPr/>
        </p:nvSpPr>
        <p:spPr>
          <a:xfrm>
            <a:off x="635000" y="4800600"/>
            <a:ext cx="3440953" cy="1016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dirty="0"/>
          </a:p>
        </p:txBody>
      </p:sp>
      <p:sp>
        <p:nvSpPr>
          <p:cNvPr id="10" name="TextBox 9">
            <a:extLst>
              <a:ext uri="{FF2B5EF4-FFF2-40B4-BE49-F238E27FC236}">
                <a16:creationId xmlns:a16="http://schemas.microsoft.com/office/drawing/2014/main" id="{78CD89FD-1162-D245-960F-4B8DBE80FF44}"/>
              </a:ext>
            </a:extLst>
          </p:cNvPr>
          <p:cNvSpPr txBox="1"/>
          <p:nvPr/>
        </p:nvSpPr>
        <p:spPr>
          <a:xfrm>
            <a:off x="863600" y="4901084"/>
            <a:ext cx="2540000" cy="230832"/>
          </a:xfrm>
          <a:prstGeom prst="rect">
            <a:avLst/>
          </a:prstGeom>
          <a:noFill/>
          <a:ln>
            <a:noFill/>
          </a:ln>
        </p:spPr>
        <p:txBody>
          <a:bodyPr vertOverflow="overflow" vert="horz" wrap="square" rtlCol="0" anchor="t">
            <a:spAutoFit/>
          </a:bodyPr>
          <a:lstStyle/>
          <a:p>
            <a:pPr algn="l"/>
            <a:r>
              <a:rPr lang="en-US" altLang="ko-KR" sz="900" b="1" dirty="0">
                <a:solidFill>
                  <a:srgbClr val="9CC6FF"/>
                </a:solidFill>
              </a:rPr>
              <a:t>Group 1: Interim Report</a:t>
            </a:r>
          </a:p>
        </p:txBody>
      </p:sp>
      <p:sp>
        <p:nvSpPr>
          <p:cNvPr id="11" name="TextBox 10">
            <a:extLst>
              <a:ext uri="{FF2B5EF4-FFF2-40B4-BE49-F238E27FC236}">
                <a16:creationId xmlns:a16="http://schemas.microsoft.com/office/drawing/2014/main" id="{BB5F31AF-7C85-7D48-8EEB-8D03D7421063}"/>
              </a:ext>
            </a:extLst>
          </p:cNvPr>
          <p:cNvSpPr txBox="1"/>
          <p:nvPr/>
        </p:nvSpPr>
        <p:spPr>
          <a:xfrm>
            <a:off x="863600" y="5076256"/>
            <a:ext cx="3440953" cy="646331"/>
          </a:xfrm>
          <a:prstGeom prst="rect">
            <a:avLst/>
          </a:prstGeom>
          <a:noFill/>
          <a:ln>
            <a:noFill/>
          </a:ln>
        </p:spPr>
        <p:txBody>
          <a:bodyPr vertOverflow="overflow" vert="horz" wrap="square" rtlCol="0" anchor="t">
            <a:spAutoFit/>
          </a:bodyPr>
          <a:lstStyle/>
          <a:p>
            <a:r>
              <a:rPr lang="en-US" altLang="ko-KR" b="1" dirty="0">
                <a:solidFill>
                  <a:srgbClr val="EDF4FF"/>
                </a:solidFill>
              </a:rPr>
              <a:t>Mireu Kim </a:t>
            </a:r>
            <a:r>
              <a:rPr lang="en-US" altLang="ko-KR" dirty="0">
                <a:solidFill>
                  <a:srgbClr val="7E94B0"/>
                </a:solidFill>
              </a:rPr>
              <a:t>(2025462112)</a:t>
            </a:r>
          </a:p>
          <a:p>
            <a:r>
              <a:rPr lang="en-US" altLang="ko-KR" b="1" dirty="0">
                <a:solidFill>
                  <a:srgbClr val="EDF4FF"/>
                </a:solidFill>
              </a:rPr>
              <a:t>Enxhi Topalli </a:t>
            </a:r>
            <a:r>
              <a:rPr lang="en-US" altLang="ko-KR" dirty="0">
                <a:solidFill>
                  <a:srgbClr val="7E94B0"/>
                </a:solidFill>
              </a:rPr>
              <a:t>(2026460049)</a:t>
            </a:r>
            <a:endParaRPr lang="ko-KR" altLang="en-US" b="1" dirty="0">
              <a:solidFill>
                <a:srgbClr val="EDF4FF"/>
              </a:solidFill>
            </a:endParaRPr>
          </a:p>
        </p:txBody>
      </p:sp>
      <p:sp>
        <p:nvSpPr>
          <p:cNvPr id="17" name="직사각형 16">
            <a:extLst>
              <a:ext uri="{FF2B5EF4-FFF2-40B4-BE49-F238E27FC236}">
                <a16:creationId xmlns:a16="http://schemas.microsoft.com/office/drawing/2014/main" id="{A34CA8EC-763D-F04A-AFE3-8D7963CAE593}"/>
              </a:ext>
            </a:extLst>
          </p:cNvPr>
          <p:cNvSpPr/>
          <p:nvPr/>
        </p:nvSpPr>
        <p:spPr>
          <a:xfrm>
            <a:off x="635000" y="6477000"/>
            <a:ext cx="457200" cy="25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0C267A87-544A-28F3-87E0-1489EF98A85B}"/>
              </a:ext>
            </a:extLst>
          </p:cNvPr>
          <p:cNvSpPr txBox="1"/>
          <p:nvPr/>
        </p:nvSpPr>
        <p:spPr>
          <a:xfrm>
            <a:off x="3058391" y="3230479"/>
            <a:ext cx="6116782" cy="369332"/>
          </a:xfrm>
          <a:prstGeom prst="rect">
            <a:avLst/>
          </a:prstGeom>
          <a:noFill/>
        </p:spPr>
        <p:txBody>
          <a:bodyPr wrap="square">
            <a:spAutoFit/>
          </a:bodyPr>
          <a:lstStyle/>
          <a:p>
            <a:endParaRPr lang="ko-KR" altLang="en-US" dirty="0"/>
          </a:p>
        </p:txBody>
      </p:sp>
      <p:sp>
        <p:nvSpPr>
          <p:cNvPr id="23" name="TextBox 22">
            <a:extLst>
              <a:ext uri="{FF2B5EF4-FFF2-40B4-BE49-F238E27FC236}">
                <a16:creationId xmlns:a16="http://schemas.microsoft.com/office/drawing/2014/main" id="{0B9AD0F9-11D6-960B-1029-027062BC36FF}"/>
              </a:ext>
            </a:extLst>
          </p:cNvPr>
          <p:cNvSpPr txBox="1"/>
          <p:nvPr/>
        </p:nvSpPr>
        <p:spPr>
          <a:xfrm>
            <a:off x="3058391" y="3230479"/>
            <a:ext cx="6116782" cy="369332"/>
          </a:xfrm>
          <a:prstGeom prst="rect">
            <a:avLst/>
          </a:prstGeom>
          <a:noFill/>
        </p:spPr>
        <p:txBody>
          <a:bodyPr wrap="square">
            <a:spAutoFit/>
          </a:bodyPr>
          <a:lstStyle/>
          <a:p>
            <a:endParaRPr lang="ko-KR" altLang="en-US" dirty="0"/>
          </a:p>
        </p:txBody>
      </p:sp>
      <p:sp>
        <p:nvSpPr>
          <p:cNvPr id="26" name="TextBox 25">
            <a:extLst>
              <a:ext uri="{FF2B5EF4-FFF2-40B4-BE49-F238E27FC236}">
                <a16:creationId xmlns:a16="http://schemas.microsoft.com/office/drawing/2014/main" id="{F238C4F1-80B7-842A-5C70-04A1D685F088}"/>
              </a:ext>
            </a:extLst>
          </p:cNvPr>
          <p:cNvSpPr txBox="1"/>
          <p:nvPr/>
        </p:nvSpPr>
        <p:spPr>
          <a:xfrm>
            <a:off x="8148918" y="7328647"/>
            <a:ext cx="184731" cy="369332"/>
          </a:xfrm>
          <a:prstGeom prst="rect">
            <a:avLst/>
          </a:prstGeom>
          <a:noFill/>
        </p:spPr>
        <p:txBody>
          <a:bodyPr wrap="none" rtlCol="0">
            <a:spAutoFit/>
          </a:bodyPr>
          <a:lstStyle/>
          <a:p>
            <a:endParaRPr kumimoji="1" lang="ko-KR" altLang="en-US" dirty="0"/>
          </a:p>
        </p:txBody>
      </p:sp>
    </p:spTree>
    <p:extLst>
      <p:ext uri="{BB962C8B-B14F-4D97-AF65-F5344CB8AC3E}">
        <p14:creationId xmlns:p14="http://schemas.microsoft.com/office/powerpoint/2010/main" val="424777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5011D-5840-3440-83AD-339A36C066CA}"/>
              </a:ext>
            </a:extLst>
          </p:cNvPr>
          <p:cNvSpPr txBox="1"/>
          <p:nvPr/>
        </p:nvSpPr>
        <p:spPr>
          <a:xfrm>
            <a:off x="635000" y="635000"/>
            <a:ext cx="5080000" cy="279400"/>
          </a:xfrm>
          <a:prstGeom prst="rect">
            <a:avLst/>
          </a:prstGeom>
          <a:noFill/>
          <a:ln>
            <a:noFill/>
          </a:ln>
        </p:spPr>
        <p:txBody>
          <a:bodyPr vertOverflow="overflow" vert="horz" wrap="square" rtlCol="0" anchor="t">
            <a:spAutoFit/>
          </a:bodyPr>
          <a:lstStyle/>
          <a:p>
            <a:r>
              <a:rPr lang="en-US" sz="1200" b="1" dirty="0">
                <a:solidFill>
                  <a:srgbClr val="9CC6FF"/>
                </a:solidFill>
              </a:rPr>
              <a:t>PROBLEM &amp; ROOT CAUSE</a:t>
            </a:r>
          </a:p>
        </p:txBody>
      </p:sp>
      <p:sp>
        <p:nvSpPr>
          <p:cNvPr id="3" name="TextBox 2">
            <a:extLst>
              <a:ext uri="{FF2B5EF4-FFF2-40B4-BE49-F238E27FC236}">
                <a16:creationId xmlns:a16="http://schemas.microsoft.com/office/drawing/2014/main" id="{C44DE4FA-0E98-1C4B-BCB4-91624B03872F}"/>
              </a:ext>
            </a:extLst>
          </p:cNvPr>
          <p:cNvSpPr txBox="1"/>
          <p:nvPr/>
        </p:nvSpPr>
        <p:spPr>
          <a:xfrm>
            <a:off x="635000" y="990600"/>
            <a:ext cx="10922000" cy="584775"/>
          </a:xfrm>
          <a:prstGeom prst="rect">
            <a:avLst/>
          </a:prstGeom>
          <a:noFill/>
          <a:ln>
            <a:noFill/>
          </a:ln>
        </p:spPr>
        <p:txBody>
          <a:bodyPr vertOverflow="overflow" vert="horz" wrap="square" rtlCol="0" anchor="t">
            <a:spAutoFit/>
          </a:bodyPr>
          <a:lstStyle/>
          <a:p>
            <a:r>
              <a:rPr lang="en-US" sz="3200" b="1" dirty="0">
                <a:solidFill>
                  <a:srgbClr val="EDF4FF"/>
                </a:solidFill>
              </a:rPr>
              <a:t>Two markets, one structural failure</a:t>
            </a:r>
          </a:p>
        </p:txBody>
      </p:sp>
      <p:sp>
        <p:nvSpPr>
          <p:cNvPr id="4" name="직사각형 3">
            <a:extLst>
              <a:ext uri="{FF2B5EF4-FFF2-40B4-BE49-F238E27FC236}">
                <a16:creationId xmlns:a16="http://schemas.microsoft.com/office/drawing/2014/main" id="{08331410-585B-9244-A633-1FF786DF1530}"/>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직사각형 4">
            <a:extLst>
              <a:ext uri="{FF2B5EF4-FFF2-40B4-BE49-F238E27FC236}">
                <a16:creationId xmlns:a16="http://schemas.microsoft.com/office/drawing/2014/main" id="{253A7318-47B9-BA49-A69E-96BFA12A9524}"/>
              </a:ext>
            </a:extLst>
          </p:cNvPr>
          <p:cNvSpPr/>
          <p:nvPr/>
        </p:nvSpPr>
        <p:spPr>
          <a:xfrm>
            <a:off x="635000" y="2159000"/>
            <a:ext cx="5207000" cy="3683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780F8E74-9DA5-5946-832F-FFA97A8133EB}"/>
              </a:ext>
            </a:extLst>
          </p:cNvPr>
          <p:cNvSpPr txBox="1"/>
          <p:nvPr/>
        </p:nvSpPr>
        <p:spPr>
          <a:xfrm>
            <a:off x="889000" y="2387600"/>
            <a:ext cx="4699000" cy="246221"/>
          </a:xfrm>
          <a:prstGeom prst="rect">
            <a:avLst/>
          </a:prstGeom>
          <a:noFill/>
          <a:ln>
            <a:noFill/>
          </a:ln>
        </p:spPr>
        <p:txBody>
          <a:bodyPr vertOverflow="overflow" vert="horz" wrap="square" rtlCol="0" anchor="t">
            <a:spAutoFit/>
          </a:bodyPr>
          <a:lstStyle/>
          <a:p>
            <a:r>
              <a:rPr lang="en-US" sz="1000" b="1" dirty="0">
                <a:solidFill>
                  <a:srgbClr val="9CC6FF"/>
                </a:solidFill>
              </a:rPr>
              <a:t>USED-BIKE MARKET</a:t>
            </a:r>
          </a:p>
        </p:txBody>
      </p:sp>
      <p:sp>
        <p:nvSpPr>
          <p:cNvPr id="7" name="TextBox 6">
            <a:extLst>
              <a:ext uri="{FF2B5EF4-FFF2-40B4-BE49-F238E27FC236}">
                <a16:creationId xmlns:a16="http://schemas.microsoft.com/office/drawing/2014/main" id="{68B8A3AD-013B-F54C-9F84-34A24FD62A83}"/>
              </a:ext>
            </a:extLst>
          </p:cNvPr>
          <p:cNvSpPr txBox="1"/>
          <p:nvPr/>
        </p:nvSpPr>
        <p:spPr>
          <a:xfrm>
            <a:off x="889000" y="2667000"/>
            <a:ext cx="4699000" cy="353943"/>
          </a:xfrm>
          <a:prstGeom prst="rect">
            <a:avLst/>
          </a:prstGeom>
          <a:noFill/>
          <a:ln>
            <a:noFill/>
          </a:ln>
        </p:spPr>
        <p:txBody>
          <a:bodyPr vertOverflow="overflow" vert="horz" wrap="square" rtlCol="0" anchor="t">
            <a:spAutoFit/>
          </a:bodyPr>
          <a:lstStyle/>
          <a:p>
            <a:r>
              <a:rPr lang="en-US" sz="1700" b="1" dirty="0">
                <a:solidFill>
                  <a:srgbClr val="EDF4FF"/>
                </a:solidFill>
              </a:rPr>
              <a:t>Information asymmetry, then adverse selection</a:t>
            </a:r>
          </a:p>
        </p:txBody>
      </p:sp>
      <p:sp>
        <p:nvSpPr>
          <p:cNvPr id="8" name="TextBox 7">
            <a:extLst>
              <a:ext uri="{FF2B5EF4-FFF2-40B4-BE49-F238E27FC236}">
                <a16:creationId xmlns:a16="http://schemas.microsoft.com/office/drawing/2014/main" id="{5FCE78EB-08EE-454E-8FF0-A708FD53F2A5}"/>
              </a:ext>
            </a:extLst>
          </p:cNvPr>
          <p:cNvSpPr txBox="1"/>
          <p:nvPr/>
        </p:nvSpPr>
        <p:spPr>
          <a:xfrm>
            <a:off x="889000" y="3175000"/>
            <a:ext cx="4699000" cy="276999"/>
          </a:xfrm>
          <a:prstGeom prst="rect">
            <a:avLst/>
          </a:prstGeom>
          <a:noFill/>
          <a:ln>
            <a:noFill/>
          </a:ln>
        </p:spPr>
        <p:txBody>
          <a:bodyPr vertOverflow="overflow" vert="horz" wrap="square" rtlCol="0" anchor="t">
            <a:spAutoFit/>
          </a:bodyPr>
          <a:lstStyle/>
          <a:p>
            <a:r>
              <a:rPr lang="en-US" sz="1200" dirty="0">
                <a:solidFill>
                  <a:srgbClr val="D6E2F2"/>
                </a:solidFill>
              </a:rPr>
              <a:t>Sellers know the full history. Buyers depend on unverifiable claims.</a:t>
            </a:r>
          </a:p>
        </p:txBody>
      </p:sp>
      <p:sp>
        <p:nvSpPr>
          <p:cNvPr id="9" name="TextBox 8">
            <a:extLst>
              <a:ext uri="{FF2B5EF4-FFF2-40B4-BE49-F238E27FC236}">
                <a16:creationId xmlns:a16="http://schemas.microsoft.com/office/drawing/2014/main" id="{BAAF6D09-227C-A642-B933-AB2C255B37F6}"/>
              </a:ext>
            </a:extLst>
          </p:cNvPr>
          <p:cNvSpPr txBox="1"/>
          <p:nvPr/>
        </p:nvSpPr>
        <p:spPr>
          <a:xfrm>
            <a:off x="889000" y="35306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Accident records, mileage, and maintenance can be selectively disclosed or altered.</a:t>
            </a:r>
          </a:p>
        </p:txBody>
      </p:sp>
      <p:sp>
        <p:nvSpPr>
          <p:cNvPr id="10" name="TextBox 9">
            <a:extLst>
              <a:ext uri="{FF2B5EF4-FFF2-40B4-BE49-F238E27FC236}">
                <a16:creationId xmlns:a16="http://schemas.microsoft.com/office/drawing/2014/main" id="{98B5D9F6-BFD2-9E43-82FD-D235826DDCA9}"/>
              </a:ext>
            </a:extLst>
          </p:cNvPr>
          <p:cNvSpPr txBox="1"/>
          <p:nvPr/>
        </p:nvSpPr>
        <p:spPr>
          <a:xfrm>
            <a:off x="889000" y="3886200"/>
            <a:ext cx="4699000" cy="461665"/>
          </a:xfrm>
          <a:prstGeom prst="rect">
            <a:avLst/>
          </a:prstGeom>
          <a:noFill/>
          <a:ln>
            <a:noFill/>
          </a:ln>
        </p:spPr>
        <p:txBody>
          <a:bodyPr vertOverflow="overflow" vert="horz" wrap="square" rtlCol="0" anchor="t">
            <a:spAutoFit/>
          </a:bodyPr>
          <a:lstStyle/>
          <a:p>
            <a:r>
              <a:rPr lang="en-US" sz="1200" i="1" dirty="0">
                <a:solidFill>
                  <a:srgbClr val="D6E2F2"/>
                </a:solidFill>
              </a:rPr>
              <a:t>Akerlof's classic lemons problem: low-quality assets drive out high-quality ones.</a:t>
            </a:r>
          </a:p>
        </p:txBody>
      </p:sp>
      <p:sp>
        <p:nvSpPr>
          <p:cNvPr id="11" name="직사각형 10">
            <a:extLst>
              <a:ext uri="{FF2B5EF4-FFF2-40B4-BE49-F238E27FC236}">
                <a16:creationId xmlns:a16="http://schemas.microsoft.com/office/drawing/2014/main" id="{983BFE2F-5BE2-DF4E-B5AE-E45F8F21F238}"/>
              </a:ext>
            </a:extLst>
          </p:cNvPr>
          <p:cNvSpPr/>
          <p:nvPr/>
        </p:nvSpPr>
        <p:spPr>
          <a:xfrm>
            <a:off x="889000" y="4419600"/>
            <a:ext cx="4699000" cy="12700"/>
          </a:xfrm>
          <a:prstGeom prst="rect">
            <a:avLst/>
          </a:prstGeom>
          <a:solidFill>
            <a:srgbClr val="1F35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1429FF35-CE73-6743-87BD-C0608C07F6C6}"/>
              </a:ext>
            </a:extLst>
          </p:cNvPr>
          <p:cNvSpPr txBox="1"/>
          <p:nvPr/>
        </p:nvSpPr>
        <p:spPr>
          <a:xfrm>
            <a:off x="889000" y="4546600"/>
            <a:ext cx="4699000" cy="230832"/>
          </a:xfrm>
          <a:prstGeom prst="rect">
            <a:avLst/>
          </a:prstGeom>
          <a:noFill/>
          <a:ln>
            <a:noFill/>
          </a:ln>
        </p:spPr>
        <p:txBody>
          <a:bodyPr vertOverflow="overflow" vert="horz" wrap="square" rtlCol="0" anchor="t">
            <a:spAutoFit/>
          </a:bodyPr>
          <a:lstStyle/>
          <a:p>
            <a:r>
              <a:rPr lang="en-US" sz="900" b="1" dirty="0">
                <a:solidFill>
                  <a:srgbClr val="F4A261"/>
                </a:solidFill>
              </a:rPr>
              <a:t>CONSEQUENCE</a:t>
            </a:r>
          </a:p>
        </p:txBody>
      </p:sp>
      <p:sp>
        <p:nvSpPr>
          <p:cNvPr id="13" name="TextBox 12">
            <a:extLst>
              <a:ext uri="{FF2B5EF4-FFF2-40B4-BE49-F238E27FC236}">
                <a16:creationId xmlns:a16="http://schemas.microsoft.com/office/drawing/2014/main" id="{0A011CD3-D6F4-0C43-9395-67F1FC42C7B3}"/>
              </a:ext>
            </a:extLst>
          </p:cNvPr>
          <p:cNvSpPr txBox="1"/>
          <p:nvPr/>
        </p:nvSpPr>
        <p:spPr>
          <a:xfrm>
            <a:off x="889000" y="4800600"/>
            <a:ext cx="4699000" cy="446276"/>
          </a:xfrm>
          <a:prstGeom prst="rect">
            <a:avLst/>
          </a:prstGeom>
          <a:noFill/>
          <a:ln>
            <a:noFill/>
          </a:ln>
        </p:spPr>
        <p:txBody>
          <a:bodyPr vertOverflow="overflow" vert="horz" wrap="square" rtlCol="0" anchor="t">
            <a:spAutoFit/>
          </a:bodyPr>
          <a:lstStyle/>
          <a:p>
            <a:r>
              <a:rPr lang="en-US" sz="1150" dirty="0">
                <a:solidFill>
                  <a:srgbClr val="EDF4FF"/>
                </a:solidFill>
              </a:rPr>
              <a:t>Transaction friction rises, prices grow inefficient, and honest sellers are penalized alongside buyers.</a:t>
            </a:r>
          </a:p>
        </p:txBody>
      </p:sp>
      <p:sp>
        <p:nvSpPr>
          <p:cNvPr id="14" name="직사각형 13">
            <a:extLst>
              <a:ext uri="{FF2B5EF4-FFF2-40B4-BE49-F238E27FC236}">
                <a16:creationId xmlns:a16="http://schemas.microsoft.com/office/drawing/2014/main" id="{B87A6A8A-76D4-EC49-B0AA-A1CBFDD25891}"/>
              </a:ext>
            </a:extLst>
          </p:cNvPr>
          <p:cNvSpPr/>
          <p:nvPr/>
        </p:nvSpPr>
        <p:spPr>
          <a:xfrm>
            <a:off x="6350000" y="2159000"/>
            <a:ext cx="5207000" cy="3683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5E230398-EC60-CC46-A023-073B2056737E}"/>
              </a:ext>
            </a:extLst>
          </p:cNvPr>
          <p:cNvSpPr txBox="1"/>
          <p:nvPr/>
        </p:nvSpPr>
        <p:spPr>
          <a:xfrm>
            <a:off x="6604000" y="2387600"/>
            <a:ext cx="4699000" cy="246221"/>
          </a:xfrm>
          <a:prstGeom prst="rect">
            <a:avLst/>
          </a:prstGeom>
          <a:noFill/>
          <a:ln>
            <a:noFill/>
          </a:ln>
        </p:spPr>
        <p:txBody>
          <a:bodyPr vertOverflow="overflow" vert="horz" wrap="square" rtlCol="0" anchor="t">
            <a:spAutoFit/>
          </a:bodyPr>
          <a:lstStyle/>
          <a:p>
            <a:r>
              <a:rPr lang="en-US" sz="1000" b="1" dirty="0">
                <a:solidFill>
                  <a:srgbClr val="A8E89E"/>
                </a:solidFill>
              </a:rPr>
              <a:t>INSURANCE MARKET</a:t>
            </a:r>
          </a:p>
        </p:txBody>
      </p:sp>
      <p:sp>
        <p:nvSpPr>
          <p:cNvPr id="16" name="TextBox 15">
            <a:extLst>
              <a:ext uri="{FF2B5EF4-FFF2-40B4-BE49-F238E27FC236}">
                <a16:creationId xmlns:a16="http://schemas.microsoft.com/office/drawing/2014/main" id="{69066196-66CF-BC4B-973F-D971BC1CC9E9}"/>
              </a:ext>
            </a:extLst>
          </p:cNvPr>
          <p:cNvSpPr txBox="1"/>
          <p:nvPr/>
        </p:nvSpPr>
        <p:spPr>
          <a:xfrm>
            <a:off x="6604000" y="2667000"/>
            <a:ext cx="4699000" cy="353943"/>
          </a:xfrm>
          <a:prstGeom prst="rect">
            <a:avLst/>
          </a:prstGeom>
          <a:noFill/>
          <a:ln>
            <a:noFill/>
          </a:ln>
        </p:spPr>
        <p:txBody>
          <a:bodyPr vertOverflow="overflow" vert="horz" wrap="square" rtlCol="0" anchor="t">
            <a:spAutoFit/>
          </a:bodyPr>
          <a:lstStyle/>
          <a:p>
            <a:r>
              <a:rPr lang="en-US" sz="1700" b="1" dirty="0">
                <a:solidFill>
                  <a:srgbClr val="EDF4FF"/>
                </a:solidFill>
              </a:rPr>
              <a:t>Demographic proxies, not real behavior</a:t>
            </a:r>
          </a:p>
        </p:txBody>
      </p:sp>
      <p:sp>
        <p:nvSpPr>
          <p:cNvPr id="17" name="TextBox 16">
            <a:extLst>
              <a:ext uri="{FF2B5EF4-FFF2-40B4-BE49-F238E27FC236}">
                <a16:creationId xmlns:a16="http://schemas.microsoft.com/office/drawing/2014/main" id="{0004940E-06B2-0041-8D9E-E28FDB2D75F3}"/>
              </a:ext>
            </a:extLst>
          </p:cNvPr>
          <p:cNvSpPr txBox="1"/>
          <p:nvPr/>
        </p:nvSpPr>
        <p:spPr>
          <a:xfrm>
            <a:off x="6604000" y="31750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Insurers price on age and registration duration because behavioral data is unavailable.</a:t>
            </a:r>
          </a:p>
        </p:txBody>
      </p:sp>
      <p:sp>
        <p:nvSpPr>
          <p:cNvPr id="18" name="TextBox 17">
            <a:extLst>
              <a:ext uri="{FF2B5EF4-FFF2-40B4-BE49-F238E27FC236}">
                <a16:creationId xmlns:a16="http://schemas.microsoft.com/office/drawing/2014/main" id="{89F4C9A3-7C86-2248-A985-519DEE433BF6}"/>
              </a:ext>
            </a:extLst>
          </p:cNvPr>
          <p:cNvSpPr txBox="1"/>
          <p:nvPr/>
        </p:nvSpPr>
        <p:spPr>
          <a:xfrm>
            <a:off x="6604000" y="35306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Safe riders subsidize risky ones. Premiums systematically misprice exposure.</a:t>
            </a:r>
          </a:p>
        </p:txBody>
      </p:sp>
      <p:sp>
        <p:nvSpPr>
          <p:cNvPr id="19" name="TextBox 18">
            <a:extLst>
              <a:ext uri="{FF2B5EF4-FFF2-40B4-BE49-F238E27FC236}">
                <a16:creationId xmlns:a16="http://schemas.microsoft.com/office/drawing/2014/main" id="{8F65C3B0-8D46-F847-838E-5BAD8785EBF4}"/>
              </a:ext>
            </a:extLst>
          </p:cNvPr>
          <p:cNvSpPr txBox="1"/>
          <p:nvPr/>
        </p:nvSpPr>
        <p:spPr>
          <a:xfrm>
            <a:off x="6604000" y="3886200"/>
            <a:ext cx="4699000" cy="461665"/>
          </a:xfrm>
          <a:prstGeom prst="rect">
            <a:avLst/>
          </a:prstGeom>
          <a:noFill/>
          <a:ln>
            <a:noFill/>
          </a:ln>
        </p:spPr>
        <p:txBody>
          <a:bodyPr vertOverflow="overflow" vert="horz" wrap="square" rtlCol="0" anchor="t">
            <a:spAutoFit/>
          </a:bodyPr>
          <a:lstStyle/>
          <a:p>
            <a:r>
              <a:rPr lang="en-US" sz="1200" i="1" dirty="0">
                <a:solidFill>
                  <a:srgbClr val="D6E2F2"/>
                </a:solidFill>
              </a:rPr>
              <a:t>Younger and experienced riders face the worst penalties — through no behavior of their own.</a:t>
            </a:r>
          </a:p>
        </p:txBody>
      </p:sp>
      <p:sp>
        <p:nvSpPr>
          <p:cNvPr id="20" name="직사각형 19">
            <a:extLst>
              <a:ext uri="{FF2B5EF4-FFF2-40B4-BE49-F238E27FC236}">
                <a16:creationId xmlns:a16="http://schemas.microsoft.com/office/drawing/2014/main" id="{05339E09-FAB0-7B40-B611-72F43C766426}"/>
              </a:ext>
            </a:extLst>
          </p:cNvPr>
          <p:cNvSpPr/>
          <p:nvPr/>
        </p:nvSpPr>
        <p:spPr>
          <a:xfrm>
            <a:off x="6604000" y="4419600"/>
            <a:ext cx="4699000" cy="12700"/>
          </a:xfrm>
          <a:prstGeom prst="rect">
            <a:avLst/>
          </a:prstGeom>
          <a:solidFill>
            <a:srgbClr val="1F35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E10890B9-1E3E-7A4D-A5FE-FB76917221C8}"/>
              </a:ext>
            </a:extLst>
          </p:cNvPr>
          <p:cNvSpPr txBox="1"/>
          <p:nvPr/>
        </p:nvSpPr>
        <p:spPr>
          <a:xfrm>
            <a:off x="6604000" y="4546600"/>
            <a:ext cx="4699000" cy="230832"/>
          </a:xfrm>
          <a:prstGeom prst="rect">
            <a:avLst/>
          </a:prstGeom>
          <a:noFill/>
          <a:ln>
            <a:noFill/>
          </a:ln>
        </p:spPr>
        <p:txBody>
          <a:bodyPr vertOverflow="overflow" vert="horz" wrap="square" rtlCol="0" anchor="t">
            <a:spAutoFit/>
          </a:bodyPr>
          <a:lstStyle/>
          <a:p>
            <a:r>
              <a:rPr lang="en-US" sz="900" b="1" dirty="0">
                <a:solidFill>
                  <a:srgbClr val="F4A261"/>
                </a:solidFill>
              </a:rPr>
              <a:t>CONSEQUENCE</a:t>
            </a:r>
          </a:p>
        </p:txBody>
      </p:sp>
      <p:sp>
        <p:nvSpPr>
          <p:cNvPr id="22" name="TextBox 21">
            <a:extLst>
              <a:ext uri="{FF2B5EF4-FFF2-40B4-BE49-F238E27FC236}">
                <a16:creationId xmlns:a16="http://schemas.microsoft.com/office/drawing/2014/main" id="{E3A05CE7-009D-D643-8D0F-3C38F83E6EBA}"/>
              </a:ext>
            </a:extLst>
          </p:cNvPr>
          <p:cNvSpPr txBox="1"/>
          <p:nvPr/>
        </p:nvSpPr>
        <p:spPr>
          <a:xfrm>
            <a:off x="6604000" y="4800600"/>
            <a:ext cx="4699000" cy="269304"/>
          </a:xfrm>
          <a:prstGeom prst="rect">
            <a:avLst/>
          </a:prstGeom>
          <a:noFill/>
          <a:ln>
            <a:noFill/>
          </a:ln>
        </p:spPr>
        <p:txBody>
          <a:bodyPr vertOverflow="overflow" vert="horz" wrap="square" rtlCol="0" anchor="t">
            <a:spAutoFit/>
          </a:bodyPr>
          <a:lstStyle/>
          <a:p>
            <a:r>
              <a:rPr lang="en-US" sz="1150" dirty="0">
                <a:solidFill>
                  <a:srgbClr val="EDF4FF"/>
                </a:solidFill>
              </a:rPr>
              <a:t>Economic inefficiency compounds with eroded trust in insurance providers.</a:t>
            </a:r>
          </a:p>
        </p:txBody>
      </p:sp>
      <p:sp>
        <p:nvSpPr>
          <p:cNvPr id="23" name="직사각형 22">
            <a:extLst>
              <a:ext uri="{FF2B5EF4-FFF2-40B4-BE49-F238E27FC236}">
                <a16:creationId xmlns:a16="http://schemas.microsoft.com/office/drawing/2014/main" id="{FCE0F537-3E14-7145-9725-B1AD7A36F789}"/>
              </a:ext>
            </a:extLst>
          </p:cNvPr>
          <p:cNvSpPr/>
          <p:nvPr/>
        </p:nvSpPr>
        <p:spPr>
          <a:xfrm>
            <a:off x="635000" y="6070600"/>
            <a:ext cx="50800" cy="304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0D851421-F079-4649-B570-4E1942689E60}"/>
              </a:ext>
            </a:extLst>
          </p:cNvPr>
          <p:cNvSpPr txBox="1"/>
          <p:nvPr/>
        </p:nvSpPr>
        <p:spPr>
          <a:xfrm>
            <a:off x="812800" y="6070600"/>
            <a:ext cx="2540000" cy="177800"/>
          </a:xfrm>
          <a:prstGeom prst="rect">
            <a:avLst/>
          </a:prstGeom>
          <a:noFill/>
          <a:ln>
            <a:noFill/>
          </a:ln>
        </p:spPr>
        <p:txBody>
          <a:bodyPr vertOverflow="overflow" vert="horz" wrap="square" rtlCol="0" anchor="t">
            <a:spAutoFit/>
          </a:bodyPr>
          <a:lstStyle/>
          <a:p>
            <a:r>
              <a:rPr lang="en-US" sz="900" b="1" dirty="0">
                <a:solidFill>
                  <a:srgbClr val="9CC6FF"/>
                </a:solidFill>
              </a:rPr>
              <a:t>ROOT CAUSE</a:t>
            </a:r>
          </a:p>
        </p:txBody>
      </p:sp>
      <p:sp>
        <p:nvSpPr>
          <p:cNvPr id="25" name="TextBox 24">
            <a:extLst>
              <a:ext uri="{FF2B5EF4-FFF2-40B4-BE49-F238E27FC236}">
                <a16:creationId xmlns:a16="http://schemas.microsoft.com/office/drawing/2014/main" id="{EC7EFD39-75C1-DF4C-91B4-E5B81CC56B14}"/>
              </a:ext>
            </a:extLst>
          </p:cNvPr>
          <p:cNvSpPr txBox="1"/>
          <p:nvPr/>
        </p:nvSpPr>
        <p:spPr>
          <a:xfrm>
            <a:off x="812800" y="6273800"/>
            <a:ext cx="10744200" cy="292388"/>
          </a:xfrm>
          <a:prstGeom prst="rect">
            <a:avLst/>
          </a:prstGeom>
          <a:noFill/>
          <a:ln>
            <a:noFill/>
          </a:ln>
        </p:spPr>
        <p:txBody>
          <a:bodyPr vertOverflow="overflow" vert="horz" wrap="square" rtlCol="0" anchor="t">
            <a:spAutoFit/>
          </a:bodyPr>
          <a:lstStyle/>
          <a:p>
            <a:r>
              <a:rPr lang="en-US" sz="1300" b="1" dirty="0">
                <a:solidFill>
                  <a:srgbClr val="EDF4FF"/>
                </a:solidFill>
              </a:rPr>
              <a:t>No shared, tamper-proof, portable record of real-world events. Data is siloed, mutable, and inaccessible across platforms.</a:t>
            </a:r>
          </a:p>
        </p:txBody>
      </p:sp>
      <p:sp>
        <p:nvSpPr>
          <p:cNvPr id="26" name="직사각형 25">
            <a:extLst>
              <a:ext uri="{FF2B5EF4-FFF2-40B4-BE49-F238E27FC236}">
                <a16:creationId xmlns:a16="http://schemas.microsoft.com/office/drawing/2014/main" id="{7908A218-06AE-574B-A165-A1FC6423DA19}"/>
              </a:ext>
            </a:extLst>
          </p:cNvPr>
          <p:cNvSpPr/>
          <p:nvPr/>
        </p:nvSpPr>
        <p:spPr>
          <a:xfrm>
            <a:off x="635000" y="6705600"/>
            <a:ext cx="457200" cy="25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7" name="TextBox 26">
            <a:extLst>
              <a:ext uri="{FF2B5EF4-FFF2-40B4-BE49-F238E27FC236}">
                <a16:creationId xmlns:a16="http://schemas.microsoft.com/office/drawing/2014/main" id="{A60FD11F-EB4A-E44A-9A69-03A491F66E21}"/>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871446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32F854-7BF8-284B-B732-0A26450B1888}"/>
              </a:ext>
            </a:extLst>
          </p:cNvPr>
          <p:cNvSpPr txBox="1"/>
          <p:nvPr/>
        </p:nvSpPr>
        <p:spPr>
          <a:xfrm>
            <a:off x="635000" y="635000"/>
            <a:ext cx="635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  ·  ELEVATOR PITCH &amp; MISSION</a:t>
            </a:r>
            <a:endParaRPr lang="ko-KR" altLang="en-US" sz="1200" b="1">
              <a:solidFill>
                <a:srgbClr val="9CC6FF"/>
              </a:solidFill>
            </a:endParaRPr>
          </a:p>
        </p:txBody>
      </p:sp>
      <p:sp>
        <p:nvSpPr>
          <p:cNvPr id="3" name="TextBox 2">
            <a:extLst>
              <a:ext uri="{FF2B5EF4-FFF2-40B4-BE49-F238E27FC236}">
                <a16:creationId xmlns:a16="http://schemas.microsoft.com/office/drawing/2014/main" id="{5B264AEC-71AA-5340-9D2C-CD910222D308}"/>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200" b="1">
                <a:solidFill>
                  <a:srgbClr val="EDF4FF"/>
                </a:solidFill>
              </a:rPr>
              <a:t>Turning trust into a verifiable layer</a:t>
            </a:r>
            <a:endParaRPr lang="ko-KR" altLang="en-US" sz="3200" b="1">
              <a:solidFill>
                <a:srgbClr val="EDF4FF"/>
              </a:solidFill>
            </a:endParaRPr>
          </a:p>
        </p:txBody>
      </p:sp>
      <p:sp>
        <p:nvSpPr>
          <p:cNvPr id="4" name="직사각형 3">
            <a:extLst>
              <a:ext uri="{FF2B5EF4-FFF2-40B4-BE49-F238E27FC236}">
                <a16:creationId xmlns:a16="http://schemas.microsoft.com/office/drawing/2014/main" id="{9F8DD986-1C8E-7B43-92A5-1DDAEBDA10E3}"/>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8F6047E5-5818-F24E-844F-F28137365FEA}"/>
              </a:ext>
            </a:extLst>
          </p:cNvPr>
          <p:cNvSpPr txBox="1"/>
          <p:nvPr/>
        </p:nvSpPr>
        <p:spPr>
          <a:xfrm>
            <a:off x="635000" y="21590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THE PITCH</a:t>
            </a:r>
            <a:endParaRPr lang="ko-KR" altLang="en-US" sz="900" b="1">
              <a:solidFill>
                <a:srgbClr val="7E94B0"/>
              </a:solidFill>
            </a:endParaRPr>
          </a:p>
        </p:txBody>
      </p:sp>
      <p:sp>
        <p:nvSpPr>
          <p:cNvPr id="6" name="직사각형 5">
            <a:extLst>
              <a:ext uri="{FF2B5EF4-FFF2-40B4-BE49-F238E27FC236}">
                <a16:creationId xmlns:a16="http://schemas.microsoft.com/office/drawing/2014/main" id="{EBF5F344-CD75-5540-B0C1-493D306009B3}"/>
              </a:ext>
            </a:extLst>
          </p:cNvPr>
          <p:cNvSpPr/>
          <p:nvPr/>
        </p:nvSpPr>
        <p:spPr>
          <a:xfrm>
            <a:off x="635000" y="2438400"/>
            <a:ext cx="10922000" cy="15748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88E3C0E2-1B6E-974F-A85A-B5E0230DB920}"/>
              </a:ext>
            </a:extLst>
          </p:cNvPr>
          <p:cNvSpPr/>
          <p:nvPr/>
        </p:nvSpPr>
        <p:spPr>
          <a:xfrm>
            <a:off x="635000" y="2438400"/>
            <a:ext cx="50800" cy="1574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93F3EB79-12C8-C244-AE22-25840C3FA9F1}"/>
              </a:ext>
            </a:extLst>
          </p:cNvPr>
          <p:cNvSpPr txBox="1"/>
          <p:nvPr/>
        </p:nvSpPr>
        <p:spPr>
          <a:xfrm>
            <a:off x="889000" y="2616200"/>
            <a:ext cx="10414000" cy="482600"/>
          </a:xfrm>
          <a:prstGeom prst="rect">
            <a:avLst/>
          </a:prstGeom>
          <a:noFill/>
          <a:ln>
            <a:noFill/>
          </a:ln>
        </p:spPr>
        <p:txBody>
          <a:bodyPr vertOverflow="overflow" vert="horz" wrap="square" rtlCol="0" anchor="t">
            <a:spAutoFit/>
          </a:bodyPr>
          <a:lstStyle/>
          <a:p>
            <a:pPr algn="l"/>
            <a:r>
              <a:rPr lang="en-US" altLang="ko-KR" sz="1600" b="1">
                <a:solidFill>
                  <a:srgbClr val="EDF4FF"/>
                </a:solidFill>
              </a:rPr>
              <a:t>MotoChain and RideTrue are a dual-protocol DeFi system: a tamper-proof identity layer for motorcycles and a behavior-based insurance market for riders.</a:t>
            </a:r>
            <a:endParaRPr lang="ko-KR" altLang="en-US" sz="1600" b="1">
              <a:solidFill>
                <a:srgbClr val="EDF4FF"/>
              </a:solidFill>
            </a:endParaRPr>
          </a:p>
        </p:txBody>
      </p:sp>
      <p:sp>
        <p:nvSpPr>
          <p:cNvPr id="9" name="TextBox 8">
            <a:extLst>
              <a:ext uri="{FF2B5EF4-FFF2-40B4-BE49-F238E27FC236}">
                <a16:creationId xmlns:a16="http://schemas.microsoft.com/office/drawing/2014/main" id="{94D87C11-CE3D-214F-9518-56BD6A614162}"/>
              </a:ext>
            </a:extLst>
          </p:cNvPr>
          <p:cNvSpPr txBox="1"/>
          <p:nvPr/>
        </p:nvSpPr>
        <p:spPr>
          <a:xfrm>
            <a:off x="889000" y="3149600"/>
            <a:ext cx="10414000" cy="482600"/>
          </a:xfrm>
          <a:prstGeom prst="rect">
            <a:avLst/>
          </a:prstGeom>
          <a:noFill/>
          <a:ln>
            <a:noFill/>
          </a:ln>
        </p:spPr>
        <p:txBody>
          <a:bodyPr vertOverflow="overflow" vert="horz" wrap="square" rtlCol="0" anchor="t">
            <a:spAutoFit/>
          </a:bodyPr>
          <a:lstStyle/>
          <a:p>
            <a:pPr algn="l"/>
            <a:r>
              <a:rPr lang="en-US" altLang="ko-KR" sz="1200">
                <a:solidFill>
                  <a:srgbClr val="D6E2F2"/>
                </a:solidFill>
              </a:rPr>
              <a:t>MotoChain replaces unverifiable seller claims with an immutable on-chain history of each bike. RideTrue replaces demographic-proxy pricing with real-time, privacy-preserving behavioral risk assessment.</a:t>
            </a:r>
            <a:endParaRPr lang="ko-KR" altLang="en-US" sz="1200">
              <a:solidFill>
                <a:srgbClr val="D6E2F2"/>
              </a:solidFill>
            </a:endParaRPr>
          </a:p>
        </p:txBody>
      </p:sp>
      <p:sp>
        <p:nvSpPr>
          <p:cNvPr id="10" name="TextBox 9">
            <a:extLst>
              <a:ext uri="{FF2B5EF4-FFF2-40B4-BE49-F238E27FC236}">
                <a16:creationId xmlns:a16="http://schemas.microsoft.com/office/drawing/2014/main" id="{5CFB26D1-DDC1-4047-9E48-F23868BFDF1A}"/>
              </a:ext>
            </a:extLst>
          </p:cNvPr>
          <p:cNvSpPr txBox="1"/>
          <p:nvPr/>
        </p:nvSpPr>
        <p:spPr>
          <a:xfrm>
            <a:off x="889000" y="3657600"/>
            <a:ext cx="10414000" cy="279400"/>
          </a:xfrm>
          <a:prstGeom prst="rect">
            <a:avLst/>
          </a:prstGeom>
          <a:noFill/>
          <a:ln>
            <a:noFill/>
          </a:ln>
        </p:spPr>
        <p:txBody>
          <a:bodyPr vertOverflow="overflow" vert="horz" wrap="square" rtlCol="0" anchor="t">
            <a:spAutoFit/>
          </a:bodyPr>
          <a:lstStyle/>
          <a:p>
            <a:pPr algn="l"/>
            <a:r>
              <a:rPr lang="en-US" altLang="ko-KR" sz="1100" i="1">
                <a:solidFill>
                  <a:srgbClr val="9CC6FF"/>
                </a:solidFill>
              </a:rPr>
              <a:t>Core innovation: combining on-chain identity, economic incentives, and zero-knowledge proofs to convert trust-dependent markets into verifiable, self-enforcing ones.</a:t>
            </a:r>
            <a:endParaRPr lang="ko-KR" altLang="en-US" sz="1100" i="1">
              <a:solidFill>
                <a:srgbClr val="9CC6FF"/>
              </a:solidFill>
            </a:endParaRPr>
          </a:p>
        </p:txBody>
      </p:sp>
      <p:sp>
        <p:nvSpPr>
          <p:cNvPr id="11" name="TextBox 10">
            <a:extLst>
              <a:ext uri="{FF2B5EF4-FFF2-40B4-BE49-F238E27FC236}">
                <a16:creationId xmlns:a16="http://schemas.microsoft.com/office/drawing/2014/main" id="{EB56E6A6-86EE-C24D-82CF-114741239EED}"/>
              </a:ext>
            </a:extLst>
          </p:cNvPr>
          <p:cNvSpPr txBox="1"/>
          <p:nvPr/>
        </p:nvSpPr>
        <p:spPr>
          <a:xfrm>
            <a:off x="635000" y="42164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THE MISSION</a:t>
            </a:r>
            <a:endParaRPr lang="ko-KR" altLang="en-US" sz="900" b="1">
              <a:solidFill>
                <a:srgbClr val="7E94B0"/>
              </a:solidFill>
            </a:endParaRPr>
          </a:p>
        </p:txBody>
      </p:sp>
      <p:sp>
        <p:nvSpPr>
          <p:cNvPr id="12" name="직사각형 11">
            <a:extLst>
              <a:ext uri="{FF2B5EF4-FFF2-40B4-BE49-F238E27FC236}">
                <a16:creationId xmlns:a16="http://schemas.microsoft.com/office/drawing/2014/main" id="{9FD020F6-AAC9-2D47-A2DB-7773E5DD114F}"/>
              </a:ext>
            </a:extLst>
          </p:cNvPr>
          <p:cNvSpPr/>
          <p:nvPr/>
        </p:nvSpPr>
        <p:spPr>
          <a:xfrm>
            <a:off x="635000" y="4495800"/>
            <a:ext cx="10922000" cy="1778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3BCAF281-2A57-A345-965F-4BBABEB4E86D}"/>
              </a:ext>
            </a:extLst>
          </p:cNvPr>
          <p:cNvSpPr/>
          <p:nvPr/>
        </p:nvSpPr>
        <p:spPr>
          <a:xfrm>
            <a:off x="812800" y="4775200"/>
            <a:ext cx="50800" cy="1143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19B41330-D6FC-0D46-B10E-040C49F15D5F}"/>
              </a:ext>
            </a:extLst>
          </p:cNvPr>
          <p:cNvSpPr txBox="1"/>
          <p:nvPr/>
        </p:nvSpPr>
        <p:spPr>
          <a:xfrm>
            <a:off x="889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WHAT WE REPLACE</a:t>
            </a:r>
            <a:endParaRPr lang="ko-KR" altLang="en-US" sz="900" b="1">
              <a:solidFill>
                <a:srgbClr val="4AA3FF"/>
              </a:solidFill>
            </a:endParaRPr>
          </a:p>
        </p:txBody>
      </p:sp>
      <p:sp>
        <p:nvSpPr>
          <p:cNvPr id="15" name="TextBox 14">
            <a:extLst>
              <a:ext uri="{FF2B5EF4-FFF2-40B4-BE49-F238E27FC236}">
                <a16:creationId xmlns:a16="http://schemas.microsoft.com/office/drawing/2014/main" id="{CF2798D0-B351-2A4E-88EA-9E24EA5DAD52}"/>
              </a:ext>
            </a:extLst>
          </p:cNvPr>
          <p:cNvSpPr txBox="1"/>
          <p:nvPr/>
        </p:nvSpPr>
        <p:spPr>
          <a:xfrm>
            <a:off x="889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Trust-based inefficiency</a:t>
            </a:r>
            <a:endParaRPr lang="ko-KR" altLang="en-US" sz="1400" b="1">
              <a:solidFill>
                <a:srgbClr val="EDF4FF"/>
              </a:solidFill>
            </a:endParaRPr>
          </a:p>
        </p:txBody>
      </p:sp>
      <p:sp>
        <p:nvSpPr>
          <p:cNvPr id="16" name="TextBox 15">
            <a:extLst>
              <a:ext uri="{FF2B5EF4-FFF2-40B4-BE49-F238E27FC236}">
                <a16:creationId xmlns:a16="http://schemas.microsoft.com/office/drawing/2014/main" id="{E79DF4B2-533D-C144-BFF0-D2461412B102}"/>
              </a:ext>
            </a:extLst>
          </p:cNvPr>
          <p:cNvSpPr txBox="1"/>
          <p:nvPr/>
        </p:nvSpPr>
        <p:spPr>
          <a:xfrm>
            <a:off x="889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Replace trust-dependent intermediaries with verifiable, user-owned data and economically enforced truth.</a:t>
            </a:r>
            <a:endParaRPr lang="ko-KR" altLang="en-US" sz="1100">
              <a:solidFill>
                <a:srgbClr val="D6E2F2"/>
              </a:solidFill>
            </a:endParaRPr>
          </a:p>
        </p:txBody>
      </p:sp>
      <p:sp>
        <p:nvSpPr>
          <p:cNvPr id="17" name="직사각형 16">
            <a:extLst>
              <a:ext uri="{FF2B5EF4-FFF2-40B4-BE49-F238E27FC236}">
                <a16:creationId xmlns:a16="http://schemas.microsoft.com/office/drawing/2014/main" id="{8856FD26-6DE8-D64D-B285-7FA459701ED7}"/>
              </a:ext>
            </a:extLst>
          </p:cNvPr>
          <p:cNvSpPr/>
          <p:nvPr/>
        </p:nvSpPr>
        <p:spPr>
          <a:xfrm>
            <a:off x="4495800" y="4775200"/>
            <a:ext cx="50800" cy="1143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A4BC3486-C104-DD41-8917-C4BA09E14160}"/>
              </a:ext>
            </a:extLst>
          </p:cNvPr>
          <p:cNvSpPr txBox="1"/>
          <p:nvPr/>
        </p:nvSpPr>
        <p:spPr>
          <a:xfrm>
            <a:off x="4572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WHO OWNS THE DATA</a:t>
            </a:r>
            <a:endParaRPr lang="ko-KR" altLang="en-US" sz="900" b="1">
              <a:solidFill>
                <a:srgbClr val="A8E89E"/>
              </a:solidFill>
            </a:endParaRPr>
          </a:p>
        </p:txBody>
      </p:sp>
      <p:sp>
        <p:nvSpPr>
          <p:cNvPr id="19" name="TextBox 18">
            <a:extLst>
              <a:ext uri="{FF2B5EF4-FFF2-40B4-BE49-F238E27FC236}">
                <a16:creationId xmlns:a16="http://schemas.microsoft.com/office/drawing/2014/main" id="{1B17BE54-D7AE-6244-9D05-4228975C0DBE}"/>
              </a:ext>
            </a:extLst>
          </p:cNvPr>
          <p:cNvSpPr txBox="1"/>
          <p:nvPr/>
        </p:nvSpPr>
        <p:spPr>
          <a:xfrm>
            <a:off x="4572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Individuals — not institutions</a:t>
            </a:r>
            <a:endParaRPr lang="ko-KR" altLang="en-US" sz="1400" b="1">
              <a:solidFill>
                <a:srgbClr val="EDF4FF"/>
              </a:solidFill>
            </a:endParaRPr>
          </a:p>
        </p:txBody>
      </p:sp>
      <p:sp>
        <p:nvSpPr>
          <p:cNvPr id="20" name="TextBox 19">
            <a:extLst>
              <a:ext uri="{FF2B5EF4-FFF2-40B4-BE49-F238E27FC236}">
                <a16:creationId xmlns:a16="http://schemas.microsoft.com/office/drawing/2014/main" id="{BE7930C9-53D0-1445-9541-4909C9E62287}"/>
              </a:ext>
            </a:extLst>
          </p:cNvPr>
          <p:cNvSpPr txBox="1"/>
          <p:nvPr/>
        </p:nvSpPr>
        <p:spPr>
          <a:xfrm>
            <a:off x="4572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Users control their history, reputation, and financial outcomes — portable across platforms and providers.</a:t>
            </a:r>
            <a:endParaRPr lang="ko-KR" altLang="en-US" sz="1100">
              <a:solidFill>
                <a:srgbClr val="D6E2F2"/>
              </a:solidFill>
            </a:endParaRPr>
          </a:p>
        </p:txBody>
      </p:sp>
      <p:sp>
        <p:nvSpPr>
          <p:cNvPr id="21" name="직사각형 20">
            <a:extLst>
              <a:ext uri="{FF2B5EF4-FFF2-40B4-BE49-F238E27FC236}">
                <a16:creationId xmlns:a16="http://schemas.microsoft.com/office/drawing/2014/main" id="{81636922-0351-674B-8224-6DE85B52E788}"/>
              </a:ext>
            </a:extLst>
          </p:cNvPr>
          <p:cNvSpPr/>
          <p:nvPr/>
        </p:nvSpPr>
        <p:spPr>
          <a:xfrm>
            <a:off x="8178800" y="4775200"/>
            <a:ext cx="50800" cy="11430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86C4D994-B5BF-D04D-92E7-C2C5AA44052B}"/>
              </a:ext>
            </a:extLst>
          </p:cNvPr>
          <p:cNvSpPr txBox="1"/>
          <p:nvPr/>
        </p:nvSpPr>
        <p:spPr>
          <a:xfrm>
            <a:off x="8255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WHERE WE START</a:t>
            </a:r>
            <a:endParaRPr lang="ko-KR" altLang="en-US" sz="900" b="1">
              <a:solidFill>
                <a:srgbClr val="F4A261"/>
              </a:solidFill>
            </a:endParaRPr>
          </a:p>
        </p:txBody>
      </p:sp>
      <p:sp>
        <p:nvSpPr>
          <p:cNvPr id="23" name="TextBox 22">
            <a:extLst>
              <a:ext uri="{FF2B5EF4-FFF2-40B4-BE49-F238E27FC236}">
                <a16:creationId xmlns:a16="http://schemas.microsoft.com/office/drawing/2014/main" id="{11DADA05-38F6-4941-96A5-64257B177E27}"/>
              </a:ext>
            </a:extLst>
          </p:cNvPr>
          <p:cNvSpPr txBox="1"/>
          <p:nvPr/>
        </p:nvSpPr>
        <p:spPr>
          <a:xfrm>
            <a:off x="8255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Motorcycles + rider insurance</a:t>
            </a:r>
            <a:endParaRPr lang="ko-KR" altLang="en-US" sz="1400" b="1">
              <a:solidFill>
                <a:srgbClr val="EDF4FF"/>
              </a:solidFill>
            </a:endParaRPr>
          </a:p>
        </p:txBody>
      </p:sp>
      <p:sp>
        <p:nvSpPr>
          <p:cNvPr id="24" name="TextBox 23">
            <a:extLst>
              <a:ext uri="{FF2B5EF4-FFF2-40B4-BE49-F238E27FC236}">
                <a16:creationId xmlns:a16="http://schemas.microsoft.com/office/drawing/2014/main" id="{E65DB7BE-5FA4-454C-BD6E-2D277A113BC2}"/>
              </a:ext>
            </a:extLst>
          </p:cNvPr>
          <p:cNvSpPr txBox="1"/>
          <p:nvPr/>
        </p:nvSpPr>
        <p:spPr>
          <a:xfrm>
            <a:off x="8255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Expand toward a global trustless layer for real-world asset verification and behavior-based finance.</a:t>
            </a:r>
            <a:endParaRPr lang="ko-KR" altLang="en-US" sz="1100">
              <a:solidFill>
                <a:srgbClr val="D6E2F2"/>
              </a:solidFill>
            </a:endParaRPr>
          </a:p>
        </p:txBody>
      </p:sp>
      <p:sp>
        <p:nvSpPr>
          <p:cNvPr id="25" name="직사각형 24">
            <a:extLst>
              <a:ext uri="{FF2B5EF4-FFF2-40B4-BE49-F238E27FC236}">
                <a16:creationId xmlns:a16="http://schemas.microsoft.com/office/drawing/2014/main" id="{509B0B8C-44B7-144D-8055-645D77431ABD}"/>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72D80AB5-6E39-0542-A820-876C926F86CB}"/>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Verifiable identity for the bike. Verifiable behavior for the rider. Both on-chain, both user-owned.</a:t>
            </a:r>
            <a:endParaRPr lang="ko-KR" altLang="en-US" sz="1300" b="1">
              <a:solidFill>
                <a:srgbClr val="EDF4FF"/>
              </a:solidFill>
            </a:endParaRPr>
          </a:p>
        </p:txBody>
      </p:sp>
      <p:sp>
        <p:nvSpPr>
          <p:cNvPr id="28" name="TextBox 27">
            <a:extLst>
              <a:ext uri="{FF2B5EF4-FFF2-40B4-BE49-F238E27FC236}">
                <a16:creationId xmlns:a16="http://schemas.microsoft.com/office/drawing/2014/main" id="{867A70C3-1FA5-B138-ACB5-AE84805894E7}"/>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2137465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5AE587-C88B-9142-BC69-324DBEA8F786}"/>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II.1  ·  MARKET SIZE &amp; STRUCTURAL NECESSITY</a:t>
            </a:r>
            <a:endParaRPr lang="ko-KR" altLang="en-US" sz="1200" b="1">
              <a:solidFill>
                <a:srgbClr val="9CC6FF"/>
              </a:solidFill>
            </a:endParaRPr>
          </a:p>
        </p:txBody>
      </p:sp>
      <p:sp>
        <p:nvSpPr>
          <p:cNvPr id="3" name="TextBox 2">
            <a:extLst>
              <a:ext uri="{FF2B5EF4-FFF2-40B4-BE49-F238E27FC236}">
                <a16:creationId xmlns:a16="http://schemas.microsoft.com/office/drawing/2014/main" id="{CB75061F-6A61-414E-BC56-98C800959A60}"/>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A $190B market with structurally fixable inefficiency</a:t>
            </a:r>
            <a:endParaRPr lang="ko-KR" altLang="en-US" sz="3000" b="1">
              <a:solidFill>
                <a:srgbClr val="EDF4FF"/>
              </a:solidFill>
            </a:endParaRPr>
          </a:p>
        </p:txBody>
      </p:sp>
      <p:sp>
        <p:nvSpPr>
          <p:cNvPr id="4" name="직사각형 3">
            <a:extLst>
              <a:ext uri="{FF2B5EF4-FFF2-40B4-BE49-F238E27FC236}">
                <a16:creationId xmlns:a16="http://schemas.microsoft.com/office/drawing/2014/main" id="{FE644777-A9EB-034E-8E27-39E1F3E8A6C8}"/>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5BC43B1A-E584-5543-93BF-5191AC104F52}"/>
              </a:ext>
            </a:extLst>
          </p:cNvPr>
          <p:cNvSpPr txBox="1"/>
          <p:nvPr/>
        </p:nvSpPr>
        <p:spPr>
          <a:xfrm>
            <a:off x="635000" y="21590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MARKET SIZE</a:t>
            </a:r>
            <a:endParaRPr lang="ko-KR" altLang="en-US" sz="900" b="1">
              <a:solidFill>
                <a:srgbClr val="7E94B0"/>
              </a:solidFill>
            </a:endParaRPr>
          </a:p>
        </p:txBody>
      </p:sp>
      <p:sp>
        <p:nvSpPr>
          <p:cNvPr id="6" name="직사각형 5">
            <a:extLst>
              <a:ext uri="{FF2B5EF4-FFF2-40B4-BE49-F238E27FC236}">
                <a16:creationId xmlns:a16="http://schemas.microsoft.com/office/drawing/2014/main" id="{D41A96D1-0D74-E84A-AD6E-F3BFE444EF25}"/>
              </a:ext>
            </a:extLst>
          </p:cNvPr>
          <p:cNvSpPr/>
          <p:nvPr/>
        </p:nvSpPr>
        <p:spPr>
          <a:xfrm>
            <a:off x="635000" y="2438400"/>
            <a:ext cx="5207000" cy="16764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834C1926-E494-C142-A4CA-9A9C2FAF1E44}"/>
              </a:ext>
            </a:extLst>
          </p:cNvPr>
          <p:cNvSpPr/>
          <p:nvPr/>
        </p:nvSpPr>
        <p:spPr>
          <a:xfrm>
            <a:off x="635000" y="2438400"/>
            <a:ext cx="50800" cy="1676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247BDF81-D45E-7344-9886-C451BF578825}"/>
              </a:ext>
            </a:extLst>
          </p:cNvPr>
          <p:cNvSpPr txBox="1"/>
          <p:nvPr/>
        </p:nvSpPr>
        <p:spPr>
          <a:xfrm>
            <a:off x="889000" y="2616200"/>
            <a:ext cx="4699000" cy="177800"/>
          </a:xfrm>
          <a:prstGeom prst="rect">
            <a:avLst/>
          </a:prstGeom>
          <a:noFill/>
          <a:ln>
            <a:noFill/>
          </a:ln>
        </p:spPr>
        <p:txBody>
          <a:bodyPr vertOverflow="overflow" vert="horz" wrap="square" rtlCol="0" anchor="t">
            <a:spAutoFit/>
          </a:bodyPr>
          <a:lstStyle/>
          <a:p>
            <a:pPr algn="l"/>
            <a:r>
              <a:rPr lang="en-US" altLang="ko-KR" sz="1000" b="1">
                <a:solidFill>
                  <a:srgbClr val="9CC6FF"/>
                </a:solidFill>
              </a:rPr>
              <a:t>GLOBAL MOTORCYCLE MARKET</a:t>
            </a:r>
            <a:endParaRPr lang="ko-KR" altLang="en-US" sz="1000" b="1">
              <a:solidFill>
                <a:srgbClr val="9CC6FF"/>
              </a:solidFill>
            </a:endParaRPr>
          </a:p>
        </p:txBody>
      </p:sp>
      <p:sp>
        <p:nvSpPr>
          <p:cNvPr id="9" name="TextBox 8">
            <a:extLst>
              <a:ext uri="{FF2B5EF4-FFF2-40B4-BE49-F238E27FC236}">
                <a16:creationId xmlns:a16="http://schemas.microsoft.com/office/drawing/2014/main" id="{9A71B64D-678D-5B46-ACE1-124D8782A2B0}"/>
              </a:ext>
            </a:extLst>
          </p:cNvPr>
          <p:cNvSpPr txBox="1"/>
          <p:nvPr/>
        </p:nvSpPr>
        <p:spPr>
          <a:xfrm>
            <a:off x="889000" y="2844800"/>
            <a:ext cx="4699000" cy="558800"/>
          </a:xfrm>
          <a:prstGeom prst="rect">
            <a:avLst/>
          </a:prstGeom>
          <a:noFill/>
          <a:ln>
            <a:noFill/>
          </a:ln>
        </p:spPr>
        <p:txBody>
          <a:bodyPr vertOverflow="overflow" vert="horz" wrap="square" rtlCol="0" anchor="t">
            <a:spAutoFit/>
          </a:bodyPr>
          <a:lstStyle/>
          <a:p>
            <a:pPr algn="l"/>
            <a:r>
              <a:rPr lang="en-US" altLang="ko-KR" sz="3600" b="1">
                <a:solidFill>
                  <a:srgbClr val="4AA3FF"/>
                </a:solidFill>
              </a:rPr>
              <a:t>$120B+</a:t>
            </a:r>
            <a:endParaRPr lang="ko-KR" altLang="en-US" sz="3600" b="1">
              <a:solidFill>
                <a:srgbClr val="4AA3FF"/>
              </a:solidFill>
            </a:endParaRPr>
          </a:p>
        </p:txBody>
      </p:sp>
      <p:sp>
        <p:nvSpPr>
          <p:cNvPr id="10" name="TextBox 9">
            <a:extLst>
              <a:ext uri="{FF2B5EF4-FFF2-40B4-BE49-F238E27FC236}">
                <a16:creationId xmlns:a16="http://schemas.microsoft.com/office/drawing/2014/main" id="{08C2BAF9-04E9-BE43-9772-2D2AE1153F6B}"/>
              </a:ext>
            </a:extLst>
          </p:cNvPr>
          <p:cNvSpPr txBox="1"/>
          <p:nvPr/>
        </p:nvSpPr>
        <p:spPr>
          <a:xfrm>
            <a:off x="889000" y="34290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annually  ·  used vehicles a substantial share</a:t>
            </a:r>
            <a:endParaRPr lang="ko-KR" altLang="en-US" sz="1200" i="1">
              <a:solidFill>
                <a:srgbClr val="B8C8E0"/>
              </a:solidFill>
            </a:endParaRPr>
          </a:p>
        </p:txBody>
      </p:sp>
      <p:sp>
        <p:nvSpPr>
          <p:cNvPr id="11" name="TextBox 10">
            <a:extLst>
              <a:ext uri="{FF2B5EF4-FFF2-40B4-BE49-F238E27FC236}">
                <a16:creationId xmlns:a16="http://schemas.microsoft.com/office/drawing/2014/main" id="{82FD999A-AB78-944E-8688-189DB43C674B}"/>
              </a:ext>
            </a:extLst>
          </p:cNvPr>
          <p:cNvSpPr txBox="1"/>
          <p:nvPr/>
        </p:nvSpPr>
        <p:spPr>
          <a:xfrm>
            <a:off x="889000" y="3733800"/>
            <a:ext cx="4699000" cy="279400"/>
          </a:xfrm>
          <a:prstGeom prst="rect">
            <a:avLst/>
          </a:prstGeom>
          <a:noFill/>
          <a:ln>
            <a:noFill/>
          </a:ln>
        </p:spPr>
        <p:txBody>
          <a:bodyPr vertOverflow="overflow" vert="horz" wrap="square" rtlCol="0" anchor="t">
            <a:spAutoFit/>
          </a:bodyPr>
          <a:lstStyle/>
          <a:p>
            <a:pPr algn="l"/>
            <a:r>
              <a:rPr lang="en-US" altLang="ko-KR" sz="1200" b="1">
                <a:solidFill>
                  <a:srgbClr val="EDF4FF"/>
                </a:solidFill>
              </a:rPr>
              <a:t>5–10% transaction value lost to fraud and misrepresentation</a:t>
            </a:r>
            <a:endParaRPr lang="ko-KR" altLang="en-US" sz="1200" b="1">
              <a:solidFill>
                <a:srgbClr val="EDF4FF"/>
              </a:solidFill>
            </a:endParaRPr>
          </a:p>
        </p:txBody>
      </p:sp>
      <p:sp>
        <p:nvSpPr>
          <p:cNvPr id="12" name="직사각형 11">
            <a:extLst>
              <a:ext uri="{FF2B5EF4-FFF2-40B4-BE49-F238E27FC236}">
                <a16:creationId xmlns:a16="http://schemas.microsoft.com/office/drawing/2014/main" id="{A6EF8A87-F2E0-EC44-AA16-9B7ED83FBE04}"/>
              </a:ext>
            </a:extLst>
          </p:cNvPr>
          <p:cNvSpPr/>
          <p:nvPr/>
        </p:nvSpPr>
        <p:spPr>
          <a:xfrm>
            <a:off x="6350000" y="2438400"/>
            <a:ext cx="5207000" cy="16764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22A130F4-6270-B74E-872A-9C219589574E}"/>
              </a:ext>
            </a:extLst>
          </p:cNvPr>
          <p:cNvSpPr/>
          <p:nvPr/>
        </p:nvSpPr>
        <p:spPr>
          <a:xfrm>
            <a:off x="6350000" y="2438400"/>
            <a:ext cx="50800" cy="16764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51F426B1-68B6-DA4D-9F1E-2DB96B577B52}"/>
              </a:ext>
            </a:extLst>
          </p:cNvPr>
          <p:cNvSpPr txBox="1"/>
          <p:nvPr/>
        </p:nvSpPr>
        <p:spPr>
          <a:xfrm>
            <a:off x="6604000" y="2616200"/>
            <a:ext cx="4699000" cy="177800"/>
          </a:xfrm>
          <a:prstGeom prst="rect">
            <a:avLst/>
          </a:prstGeom>
          <a:noFill/>
          <a:ln>
            <a:noFill/>
          </a:ln>
        </p:spPr>
        <p:txBody>
          <a:bodyPr vertOverflow="overflow" vert="horz" wrap="square" rtlCol="0" anchor="t">
            <a:spAutoFit/>
          </a:bodyPr>
          <a:lstStyle/>
          <a:p>
            <a:pPr algn="l"/>
            <a:r>
              <a:rPr lang="en-US" altLang="ko-KR" sz="1000" b="1">
                <a:solidFill>
                  <a:srgbClr val="A8E89E"/>
                </a:solidFill>
              </a:rPr>
              <a:t>GLOBAL MOTORCYCLE INSURANCE</a:t>
            </a:r>
            <a:endParaRPr lang="ko-KR" altLang="en-US" sz="1000" b="1">
              <a:solidFill>
                <a:srgbClr val="A8E89E"/>
              </a:solidFill>
            </a:endParaRPr>
          </a:p>
        </p:txBody>
      </p:sp>
      <p:sp>
        <p:nvSpPr>
          <p:cNvPr id="15" name="TextBox 14">
            <a:extLst>
              <a:ext uri="{FF2B5EF4-FFF2-40B4-BE49-F238E27FC236}">
                <a16:creationId xmlns:a16="http://schemas.microsoft.com/office/drawing/2014/main" id="{117974E4-CC44-D84B-A8D1-EC33FF4E6DA5}"/>
              </a:ext>
            </a:extLst>
          </p:cNvPr>
          <p:cNvSpPr txBox="1"/>
          <p:nvPr/>
        </p:nvSpPr>
        <p:spPr>
          <a:xfrm>
            <a:off x="6604000" y="2844800"/>
            <a:ext cx="4699000" cy="558800"/>
          </a:xfrm>
          <a:prstGeom prst="rect">
            <a:avLst/>
          </a:prstGeom>
          <a:noFill/>
          <a:ln>
            <a:noFill/>
          </a:ln>
        </p:spPr>
        <p:txBody>
          <a:bodyPr vertOverflow="overflow" vert="horz" wrap="square" rtlCol="0" anchor="t">
            <a:spAutoFit/>
          </a:bodyPr>
          <a:lstStyle/>
          <a:p>
            <a:pPr algn="l"/>
            <a:r>
              <a:rPr lang="en-US" altLang="ko-KR" sz="3600" b="1">
                <a:solidFill>
                  <a:srgbClr val="A8E89E"/>
                </a:solidFill>
              </a:rPr>
              <a:t>$70B+</a:t>
            </a:r>
            <a:endParaRPr lang="ko-KR" altLang="en-US" sz="3600" b="1">
              <a:solidFill>
                <a:srgbClr val="A8E89E"/>
              </a:solidFill>
            </a:endParaRPr>
          </a:p>
        </p:txBody>
      </p:sp>
      <p:sp>
        <p:nvSpPr>
          <p:cNvPr id="16" name="TextBox 15">
            <a:extLst>
              <a:ext uri="{FF2B5EF4-FFF2-40B4-BE49-F238E27FC236}">
                <a16:creationId xmlns:a16="http://schemas.microsoft.com/office/drawing/2014/main" id="{45895D42-9959-5540-9066-AF58DDCBFB47}"/>
              </a:ext>
            </a:extLst>
          </p:cNvPr>
          <p:cNvSpPr txBox="1"/>
          <p:nvPr/>
        </p:nvSpPr>
        <p:spPr>
          <a:xfrm>
            <a:off x="6604000" y="34290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annually  ·  persistent risk misallocation</a:t>
            </a:r>
            <a:endParaRPr lang="ko-KR" altLang="en-US" sz="1200" i="1">
              <a:solidFill>
                <a:srgbClr val="B8C8E0"/>
              </a:solidFill>
            </a:endParaRPr>
          </a:p>
        </p:txBody>
      </p:sp>
      <p:sp>
        <p:nvSpPr>
          <p:cNvPr id="17" name="TextBox 16">
            <a:extLst>
              <a:ext uri="{FF2B5EF4-FFF2-40B4-BE49-F238E27FC236}">
                <a16:creationId xmlns:a16="http://schemas.microsoft.com/office/drawing/2014/main" id="{3360554D-F44A-2548-BECA-CC964903BE9F}"/>
              </a:ext>
            </a:extLst>
          </p:cNvPr>
          <p:cNvSpPr txBox="1"/>
          <p:nvPr/>
        </p:nvSpPr>
        <p:spPr>
          <a:xfrm>
            <a:off x="6604000" y="3733800"/>
            <a:ext cx="4699000" cy="279400"/>
          </a:xfrm>
          <a:prstGeom prst="rect">
            <a:avLst/>
          </a:prstGeom>
          <a:noFill/>
          <a:ln>
            <a:noFill/>
          </a:ln>
        </p:spPr>
        <p:txBody>
          <a:bodyPr vertOverflow="overflow" vert="horz" wrap="square" rtlCol="0" anchor="t">
            <a:spAutoFit/>
          </a:bodyPr>
          <a:lstStyle/>
          <a:p>
            <a:pPr algn="l"/>
            <a:r>
              <a:rPr lang="en-US" altLang="ko-KR" sz="1200" b="1">
                <a:solidFill>
                  <a:srgbClr val="EDF4FF"/>
                </a:solidFill>
              </a:rPr>
              <a:t>1–2% pricing-accuracy gain  =  billions in recoverable value</a:t>
            </a:r>
            <a:endParaRPr lang="ko-KR" altLang="en-US" sz="1200" b="1">
              <a:solidFill>
                <a:srgbClr val="EDF4FF"/>
              </a:solidFill>
            </a:endParaRPr>
          </a:p>
        </p:txBody>
      </p:sp>
      <p:sp>
        <p:nvSpPr>
          <p:cNvPr id="18" name="TextBox 17">
            <a:extLst>
              <a:ext uri="{FF2B5EF4-FFF2-40B4-BE49-F238E27FC236}">
                <a16:creationId xmlns:a16="http://schemas.microsoft.com/office/drawing/2014/main" id="{5DC28445-9CB7-5E45-8BBF-E792AEDC1290}"/>
              </a:ext>
            </a:extLst>
          </p:cNvPr>
          <p:cNvSpPr txBox="1"/>
          <p:nvPr/>
        </p:nvSpPr>
        <p:spPr>
          <a:xfrm>
            <a:off x="635000" y="4343400"/>
            <a:ext cx="635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WHY BLOCKCHAIN IS STRUCTURAL — NOT A CHOICE</a:t>
            </a:r>
            <a:endParaRPr lang="ko-KR" altLang="en-US" sz="900" b="1">
              <a:solidFill>
                <a:srgbClr val="7E94B0"/>
              </a:solidFill>
            </a:endParaRPr>
          </a:p>
        </p:txBody>
      </p:sp>
      <p:sp>
        <p:nvSpPr>
          <p:cNvPr id="19" name="TextBox 18">
            <a:extLst>
              <a:ext uri="{FF2B5EF4-FFF2-40B4-BE49-F238E27FC236}">
                <a16:creationId xmlns:a16="http://schemas.microsoft.com/office/drawing/2014/main" id="{9D5D469E-0A73-CC4C-A8DF-F5F11589E2EF}"/>
              </a:ext>
            </a:extLst>
          </p:cNvPr>
          <p:cNvSpPr txBox="1"/>
          <p:nvPr/>
        </p:nvSpPr>
        <p:spPr>
          <a:xfrm>
            <a:off x="635000" y="4572000"/>
            <a:ext cx="10922000" cy="406400"/>
          </a:xfrm>
          <a:prstGeom prst="rect">
            <a:avLst/>
          </a:prstGeom>
          <a:noFill/>
          <a:ln>
            <a:noFill/>
          </a:ln>
        </p:spPr>
        <p:txBody>
          <a:bodyPr vertOverflow="overflow" vert="horz" wrap="square" rtlCol="0" anchor="t">
            <a:spAutoFit/>
          </a:bodyPr>
          <a:lstStyle/>
          <a:p>
            <a:pPr algn="l"/>
            <a:r>
              <a:rPr lang="en-US" altLang="ko-KR" sz="1200" i="1">
                <a:solidFill>
                  <a:srgbClr val="B8C8E0"/>
                </a:solidFill>
              </a:rPr>
              <a:t>Centralized alternatives fail because data-holders have conflicts of interest, competitors won't share, and records remain mutable. Only four properties — held simultaneously — break the bind:</a:t>
            </a:r>
            <a:endParaRPr lang="ko-KR" altLang="en-US" sz="1200" i="1">
              <a:solidFill>
                <a:srgbClr val="B8C8E0"/>
              </a:solidFill>
            </a:endParaRPr>
          </a:p>
        </p:txBody>
      </p:sp>
      <p:sp>
        <p:nvSpPr>
          <p:cNvPr id="20" name="직사각형 19">
            <a:extLst>
              <a:ext uri="{FF2B5EF4-FFF2-40B4-BE49-F238E27FC236}">
                <a16:creationId xmlns:a16="http://schemas.microsoft.com/office/drawing/2014/main" id="{38C1EAAB-3EC4-F942-ADD7-F04FA22AAF1A}"/>
              </a:ext>
            </a:extLst>
          </p:cNvPr>
          <p:cNvSpPr/>
          <p:nvPr/>
        </p:nvSpPr>
        <p:spPr>
          <a:xfrm>
            <a:off x="635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직사각형 20">
            <a:extLst>
              <a:ext uri="{FF2B5EF4-FFF2-40B4-BE49-F238E27FC236}">
                <a16:creationId xmlns:a16="http://schemas.microsoft.com/office/drawing/2014/main" id="{DBBF4350-EACC-0D44-BC4A-E797AC3008A7}"/>
              </a:ext>
            </a:extLst>
          </p:cNvPr>
          <p:cNvSpPr/>
          <p:nvPr/>
        </p:nvSpPr>
        <p:spPr>
          <a:xfrm>
            <a:off x="635000" y="5080000"/>
            <a:ext cx="50800" cy="1143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B5E4E352-6D5F-D241-9277-0EF17455C4DD}"/>
              </a:ext>
            </a:extLst>
          </p:cNvPr>
          <p:cNvSpPr txBox="1"/>
          <p:nvPr/>
        </p:nvSpPr>
        <p:spPr>
          <a:xfrm>
            <a:off x="787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4AA3FF"/>
                </a:solidFill>
              </a:rPr>
              <a:t>IMMUTABILITY</a:t>
            </a:r>
            <a:endParaRPr lang="ko-KR" altLang="en-US" sz="900" b="1">
              <a:solidFill>
                <a:srgbClr val="4AA3FF"/>
              </a:solidFill>
            </a:endParaRPr>
          </a:p>
        </p:txBody>
      </p:sp>
      <p:sp>
        <p:nvSpPr>
          <p:cNvPr id="23" name="TextBox 22">
            <a:extLst>
              <a:ext uri="{FF2B5EF4-FFF2-40B4-BE49-F238E27FC236}">
                <a16:creationId xmlns:a16="http://schemas.microsoft.com/office/drawing/2014/main" id="{961410F7-02E6-404A-8517-A71434B10844}"/>
              </a:ext>
            </a:extLst>
          </p:cNvPr>
          <p:cNvSpPr txBox="1"/>
          <p:nvPr/>
        </p:nvSpPr>
        <p:spPr>
          <a:xfrm>
            <a:off x="787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Records cannot be altered retroactively. The history you write today is the history that exists in five years.</a:t>
            </a:r>
            <a:endParaRPr lang="ko-KR" altLang="en-US" sz="1000">
              <a:solidFill>
                <a:srgbClr val="EDF4FF"/>
              </a:solidFill>
            </a:endParaRPr>
          </a:p>
        </p:txBody>
      </p:sp>
      <p:sp>
        <p:nvSpPr>
          <p:cNvPr id="24" name="직사각형 23">
            <a:extLst>
              <a:ext uri="{FF2B5EF4-FFF2-40B4-BE49-F238E27FC236}">
                <a16:creationId xmlns:a16="http://schemas.microsoft.com/office/drawing/2014/main" id="{54E4D36D-D4B9-AC48-BBC7-9ED833042C0B}"/>
              </a:ext>
            </a:extLst>
          </p:cNvPr>
          <p:cNvSpPr/>
          <p:nvPr/>
        </p:nvSpPr>
        <p:spPr>
          <a:xfrm>
            <a:off x="3429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직사각형 24">
            <a:extLst>
              <a:ext uri="{FF2B5EF4-FFF2-40B4-BE49-F238E27FC236}">
                <a16:creationId xmlns:a16="http://schemas.microsoft.com/office/drawing/2014/main" id="{3A09EFC5-CCEB-6546-88FC-30CF0D5AD424}"/>
              </a:ext>
            </a:extLst>
          </p:cNvPr>
          <p:cNvSpPr/>
          <p:nvPr/>
        </p:nvSpPr>
        <p:spPr>
          <a:xfrm>
            <a:off x="3429000" y="5080000"/>
            <a:ext cx="50800" cy="1143000"/>
          </a:xfrm>
          <a:prstGeom prst="rect">
            <a:avLst/>
          </a:prstGeom>
          <a:solidFill>
            <a:srgbClr val="4ECD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2DE53CC9-CD4A-944B-A3BA-983E6CFB7F9B}"/>
              </a:ext>
            </a:extLst>
          </p:cNvPr>
          <p:cNvSpPr txBox="1"/>
          <p:nvPr/>
        </p:nvSpPr>
        <p:spPr>
          <a:xfrm>
            <a:off x="3581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4ECDC4"/>
                </a:solidFill>
              </a:rPr>
              <a:t>DECENTRALIZED VALIDATION</a:t>
            </a:r>
            <a:endParaRPr lang="ko-KR" altLang="en-US" sz="900" b="1">
              <a:solidFill>
                <a:srgbClr val="4ECDC4"/>
              </a:solidFill>
            </a:endParaRPr>
          </a:p>
        </p:txBody>
      </p:sp>
      <p:sp>
        <p:nvSpPr>
          <p:cNvPr id="27" name="TextBox 26">
            <a:extLst>
              <a:ext uri="{FF2B5EF4-FFF2-40B4-BE49-F238E27FC236}">
                <a16:creationId xmlns:a16="http://schemas.microsoft.com/office/drawing/2014/main" id="{649EDB00-171C-B34C-A5D2-A31B5EAB5667}"/>
              </a:ext>
            </a:extLst>
          </p:cNvPr>
          <p:cNvSpPr txBox="1"/>
          <p:nvPr/>
        </p:nvSpPr>
        <p:spPr>
          <a:xfrm>
            <a:off x="3581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Independent participants verify entries — no single institution gatekeeps truth.</a:t>
            </a:r>
            <a:endParaRPr lang="ko-KR" altLang="en-US" sz="1000">
              <a:solidFill>
                <a:srgbClr val="EDF4FF"/>
              </a:solidFill>
            </a:endParaRPr>
          </a:p>
        </p:txBody>
      </p:sp>
      <p:sp>
        <p:nvSpPr>
          <p:cNvPr id="28" name="직사각형 27">
            <a:extLst>
              <a:ext uri="{FF2B5EF4-FFF2-40B4-BE49-F238E27FC236}">
                <a16:creationId xmlns:a16="http://schemas.microsoft.com/office/drawing/2014/main" id="{20B06BC3-D5D0-5544-A13F-455A8F0543BE}"/>
              </a:ext>
            </a:extLst>
          </p:cNvPr>
          <p:cNvSpPr/>
          <p:nvPr/>
        </p:nvSpPr>
        <p:spPr>
          <a:xfrm>
            <a:off x="6223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BD115E23-9929-604D-AAE9-1F812D615C06}"/>
              </a:ext>
            </a:extLst>
          </p:cNvPr>
          <p:cNvSpPr/>
          <p:nvPr/>
        </p:nvSpPr>
        <p:spPr>
          <a:xfrm>
            <a:off x="6223000" y="5080000"/>
            <a:ext cx="50800" cy="11430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234A8BA8-643A-854B-BF7F-2FAFA07E6FB6}"/>
              </a:ext>
            </a:extLst>
          </p:cNvPr>
          <p:cNvSpPr txBox="1"/>
          <p:nvPr/>
        </p:nvSpPr>
        <p:spPr>
          <a:xfrm>
            <a:off x="6375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F4A261"/>
                </a:solidFill>
              </a:rPr>
              <a:t>ECONOMIC ENFORCEMENT</a:t>
            </a:r>
            <a:endParaRPr lang="ko-KR" altLang="en-US" sz="900" b="1">
              <a:solidFill>
                <a:srgbClr val="F4A261"/>
              </a:solidFill>
            </a:endParaRPr>
          </a:p>
        </p:txBody>
      </p:sp>
      <p:sp>
        <p:nvSpPr>
          <p:cNvPr id="31" name="TextBox 30">
            <a:extLst>
              <a:ext uri="{FF2B5EF4-FFF2-40B4-BE49-F238E27FC236}">
                <a16:creationId xmlns:a16="http://schemas.microsoft.com/office/drawing/2014/main" id="{D3027042-BC6D-4C45-A016-482C18251509}"/>
              </a:ext>
            </a:extLst>
          </p:cNvPr>
          <p:cNvSpPr txBox="1"/>
          <p:nvPr/>
        </p:nvSpPr>
        <p:spPr>
          <a:xfrm>
            <a:off x="6375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Staking and slashing make dishonest entries directly costly. Trust comes from skin in the game, not branding.</a:t>
            </a:r>
            <a:endParaRPr lang="ko-KR" altLang="en-US" sz="1000">
              <a:solidFill>
                <a:srgbClr val="EDF4FF"/>
              </a:solidFill>
            </a:endParaRPr>
          </a:p>
        </p:txBody>
      </p:sp>
      <p:sp>
        <p:nvSpPr>
          <p:cNvPr id="32" name="직사각형 31">
            <a:extLst>
              <a:ext uri="{FF2B5EF4-FFF2-40B4-BE49-F238E27FC236}">
                <a16:creationId xmlns:a16="http://schemas.microsoft.com/office/drawing/2014/main" id="{76E06476-F29B-FA46-A4D7-25920AD3DFF8}"/>
              </a:ext>
            </a:extLst>
          </p:cNvPr>
          <p:cNvSpPr/>
          <p:nvPr/>
        </p:nvSpPr>
        <p:spPr>
          <a:xfrm>
            <a:off x="9017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직사각형 32">
            <a:extLst>
              <a:ext uri="{FF2B5EF4-FFF2-40B4-BE49-F238E27FC236}">
                <a16:creationId xmlns:a16="http://schemas.microsoft.com/office/drawing/2014/main" id="{EB163B23-CE0C-4B44-836B-4545ADC8EF29}"/>
              </a:ext>
            </a:extLst>
          </p:cNvPr>
          <p:cNvSpPr/>
          <p:nvPr/>
        </p:nvSpPr>
        <p:spPr>
          <a:xfrm>
            <a:off x="9017000" y="5080000"/>
            <a:ext cx="50800" cy="1143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856AF5E-8364-1941-8480-1C88FF53A2D2}"/>
              </a:ext>
            </a:extLst>
          </p:cNvPr>
          <p:cNvSpPr txBox="1"/>
          <p:nvPr/>
        </p:nvSpPr>
        <p:spPr>
          <a:xfrm>
            <a:off x="9169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A8E89E"/>
                </a:solidFill>
              </a:rPr>
              <a:t>PORTABLE IDENTITY</a:t>
            </a:r>
            <a:endParaRPr lang="ko-KR" altLang="en-US" sz="900" b="1">
              <a:solidFill>
                <a:srgbClr val="A8E89E"/>
              </a:solidFill>
            </a:endParaRPr>
          </a:p>
        </p:txBody>
      </p:sp>
      <p:sp>
        <p:nvSpPr>
          <p:cNvPr id="35" name="TextBox 34">
            <a:extLst>
              <a:ext uri="{FF2B5EF4-FFF2-40B4-BE49-F238E27FC236}">
                <a16:creationId xmlns:a16="http://schemas.microsoft.com/office/drawing/2014/main" id="{5E1CDFA1-3B17-084E-BBB9-FF041F1770B9}"/>
              </a:ext>
            </a:extLst>
          </p:cNvPr>
          <p:cNvSpPr txBox="1"/>
          <p:nvPr/>
        </p:nvSpPr>
        <p:spPr>
          <a:xfrm>
            <a:off x="9169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User-owned identity moves across platforms, insurers, and marketplaces — never trapped inside one vendor.</a:t>
            </a:r>
            <a:endParaRPr lang="ko-KR" altLang="en-US" sz="1000">
              <a:solidFill>
                <a:srgbClr val="EDF4FF"/>
              </a:solidFill>
            </a:endParaRPr>
          </a:p>
        </p:txBody>
      </p:sp>
      <p:sp>
        <p:nvSpPr>
          <p:cNvPr id="36" name="직사각형 35">
            <a:extLst>
              <a:ext uri="{FF2B5EF4-FFF2-40B4-BE49-F238E27FC236}">
                <a16:creationId xmlns:a16="http://schemas.microsoft.com/office/drawing/2014/main" id="{B1DFF165-98EF-D346-95E4-F2B34D8EDE50}"/>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B013158A-DBEF-E44A-B731-900A27E13205}"/>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Blockchain isn't the novelty — it's the only structure that delivers all four simultaneously.</a:t>
            </a:r>
            <a:endParaRPr lang="ko-KR" altLang="en-US" sz="1300" b="1">
              <a:solidFill>
                <a:srgbClr val="EDF4FF"/>
              </a:solidFill>
            </a:endParaRPr>
          </a:p>
        </p:txBody>
      </p:sp>
      <p:sp>
        <p:nvSpPr>
          <p:cNvPr id="39" name="TextBox 38">
            <a:extLst>
              <a:ext uri="{FF2B5EF4-FFF2-40B4-BE49-F238E27FC236}">
                <a16:creationId xmlns:a16="http://schemas.microsoft.com/office/drawing/2014/main" id="{0E76C950-811C-1CB0-A3A1-1E26BA97A11F}"/>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43506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6F93E2-5012-E643-9D6A-5CD0FD6FB4D3}"/>
              </a:ext>
            </a:extLst>
          </p:cNvPr>
          <p:cNvSpPr txBox="1"/>
          <p:nvPr/>
        </p:nvSpPr>
        <p:spPr>
          <a:xfrm>
            <a:off x="635000" y="635000"/>
            <a:ext cx="6350000" cy="279400"/>
          </a:xfrm>
          <a:prstGeom prst="rect">
            <a:avLst/>
          </a:prstGeom>
          <a:noFill/>
          <a:ln>
            <a:noFill/>
          </a:ln>
        </p:spPr>
        <p:txBody>
          <a:bodyPr vertOverflow="overflow" vert="horz" wrap="square" rtlCol="0" anchor="t">
            <a:spAutoFit/>
          </a:bodyPr>
          <a:lstStyle/>
          <a:p>
            <a:pPr algn="l"/>
            <a:r>
              <a:rPr lang="en-US" altLang="ko-KR" sz="1200" b="1" dirty="0">
                <a:solidFill>
                  <a:srgbClr val="9CC6FF"/>
                </a:solidFill>
              </a:rPr>
              <a:t>II.2  ·  TECHNICAL ARCHITECTURE &amp; SYSTEM LOGIC</a:t>
            </a:r>
            <a:endParaRPr lang="ko-KR" altLang="en-US" sz="1200" b="1" dirty="0">
              <a:solidFill>
                <a:srgbClr val="9CC6FF"/>
              </a:solidFill>
            </a:endParaRPr>
          </a:p>
        </p:txBody>
      </p:sp>
      <p:sp>
        <p:nvSpPr>
          <p:cNvPr id="3" name="TextBox 2">
            <a:extLst>
              <a:ext uri="{FF2B5EF4-FFF2-40B4-BE49-F238E27FC236}">
                <a16:creationId xmlns:a16="http://schemas.microsoft.com/office/drawing/2014/main" id="{D2FF5FC0-76A6-1049-8B96-E6535E57A8B2}"/>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200" b="1">
                <a:solidFill>
                  <a:srgbClr val="EDF4FF"/>
                </a:solidFill>
              </a:rPr>
              <a:t>Two protocols on Base, one shared substrate</a:t>
            </a:r>
            <a:endParaRPr lang="ko-KR" altLang="en-US" sz="3200" b="1">
              <a:solidFill>
                <a:srgbClr val="EDF4FF"/>
              </a:solidFill>
            </a:endParaRPr>
          </a:p>
        </p:txBody>
      </p:sp>
      <p:sp>
        <p:nvSpPr>
          <p:cNvPr id="4" name="TextBox 3">
            <a:extLst>
              <a:ext uri="{FF2B5EF4-FFF2-40B4-BE49-F238E27FC236}">
                <a16:creationId xmlns:a16="http://schemas.microsoft.com/office/drawing/2014/main" id="{D65AE054-BA71-1D43-89B0-57DD1FB1FD36}"/>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400" i="1">
                <a:solidFill>
                  <a:srgbClr val="B8C8E0"/>
                </a:solidFill>
              </a:rPr>
              <a:t>Modular and interoperable — Ethereum L2 economics with mainnet security.</a:t>
            </a:r>
            <a:endParaRPr lang="ko-KR" altLang="en-US" sz="1400" i="1">
              <a:solidFill>
                <a:srgbClr val="B8C8E0"/>
              </a:solidFill>
            </a:endParaRPr>
          </a:p>
        </p:txBody>
      </p:sp>
      <p:sp>
        <p:nvSpPr>
          <p:cNvPr id="5" name="직사각형 4">
            <a:extLst>
              <a:ext uri="{FF2B5EF4-FFF2-40B4-BE49-F238E27FC236}">
                <a16:creationId xmlns:a16="http://schemas.microsoft.com/office/drawing/2014/main" id="{377F08C1-DAF9-6E40-8476-A4C66B40D4C6}"/>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모서리가 둥근 직사각형 5">
            <a:extLst>
              <a:ext uri="{FF2B5EF4-FFF2-40B4-BE49-F238E27FC236}">
                <a16:creationId xmlns:a16="http://schemas.microsoft.com/office/drawing/2014/main" id="{BD559C34-9041-F44A-8AF9-CD2A15BDDAAD}"/>
              </a:ext>
            </a:extLst>
          </p:cNvPr>
          <p:cNvSpPr/>
          <p:nvPr/>
        </p:nvSpPr>
        <p:spPr>
          <a:xfrm>
            <a:off x="635000" y="2413000"/>
            <a:ext cx="5207000" cy="2794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C4D11FA9-6E77-C04E-87AB-95E28D4910AD}"/>
              </a:ext>
            </a:extLst>
          </p:cNvPr>
          <p:cNvSpPr/>
          <p:nvPr/>
        </p:nvSpPr>
        <p:spPr>
          <a:xfrm>
            <a:off x="1041400" y="2416964"/>
            <a:ext cx="4239518" cy="45719"/>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A3141F48-6AE7-6C47-B26B-A93420AD28A9}"/>
              </a:ext>
            </a:extLst>
          </p:cNvPr>
          <p:cNvSpPr txBox="1"/>
          <p:nvPr/>
        </p:nvSpPr>
        <p:spPr>
          <a:xfrm>
            <a:off x="889000" y="2590800"/>
            <a:ext cx="2540000" cy="152400"/>
          </a:xfrm>
          <a:prstGeom prst="rect">
            <a:avLst/>
          </a:prstGeom>
          <a:noFill/>
          <a:ln>
            <a:noFill/>
          </a:ln>
        </p:spPr>
        <p:txBody>
          <a:bodyPr vertOverflow="overflow" vert="horz" wrap="square" rtlCol="0" anchor="t">
            <a:spAutoFit/>
          </a:bodyPr>
          <a:lstStyle/>
          <a:p>
            <a:pPr algn="l"/>
            <a:r>
              <a:rPr lang="en-US" altLang="ko-KR" sz="1000" b="1">
                <a:solidFill>
                  <a:srgbClr val="9CC6FF"/>
                </a:solidFill>
              </a:rPr>
              <a:t>PROTOCOL A</a:t>
            </a:r>
            <a:endParaRPr lang="ko-KR" altLang="en-US" sz="1000" b="1">
              <a:solidFill>
                <a:srgbClr val="9CC6FF"/>
              </a:solidFill>
            </a:endParaRPr>
          </a:p>
        </p:txBody>
      </p:sp>
      <p:sp>
        <p:nvSpPr>
          <p:cNvPr id="9" name="TextBox 8">
            <a:extLst>
              <a:ext uri="{FF2B5EF4-FFF2-40B4-BE49-F238E27FC236}">
                <a16:creationId xmlns:a16="http://schemas.microsoft.com/office/drawing/2014/main" id="{C2131218-4DC8-C342-93C6-8F26690DEF8D}"/>
              </a:ext>
            </a:extLst>
          </p:cNvPr>
          <p:cNvSpPr txBox="1"/>
          <p:nvPr/>
        </p:nvSpPr>
        <p:spPr>
          <a:xfrm>
            <a:off x="889000" y="2794000"/>
            <a:ext cx="4699000" cy="381000"/>
          </a:xfrm>
          <a:prstGeom prst="rect">
            <a:avLst/>
          </a:prstGeom>
          <a:noFill/>
          <a:ln>
            <a:noFill/>
          </a:ln>
        </p:spPr>
        <p:txBody>
          <a:bodyPr vertOverflow="overflow" vert="horz" wrap="square" rtlCol="0" anchor="t">
            <a:spAutoFit/>
          </a:bodyPr>
          <a:lstStyle/>
          <a:p>
            <a:pPr algn="l"/>
            <a:r>
              <a:rPr lang="en-US" altLang="ko-KR" sz="2200" b="1">
                <a:solidFill>
                  <a:srgbClr val="EDF4FF"/>
                </a:solidFill>
              </a:rPr>
              <a:t>MotoChain</a:t>
            </a:r>
            <a:endParaRPr lang="ko-KR" altLang="en-US" sz="2200" b="1">
              <a:solidFill>
                <a:srgbClr val="EDF4FF"/>
              </a:solidFill>
            </a:endParaRPr>
          </a:p>
        </p:txBody>
      </p:sp>
      <p:sp>
        <p:nvSpPr>
          <p:cNvPr id="10" name="TextBox 9">
            <a:extLst>
              <a:ext uri="{FF2B5EF4-FFF2-40B4-BE49-F238E27FC236}">
                <a16:creationId xmlns:a16="http://schemas.microsoft.com/office/drawing/2014/main" id="{D418E125-3DE6-4A45-B02A-0D76C8301DB7}"/>
              </a:ext>
            </a:extLst>
          </p:cNvPr>
          <p:cNvSpPr txBox="1"/>
          <p:nvPr/>
        </p:nvSpPr>
        <p:spPr>
          <a:xfrm>
            <a:off x="889000" y="32004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Motorcycle identity &amp; history registry</a:t>
            </a:r>
            <a:endParaRPr lang="ko-KR" altLang="en-US" sz="1200" i="1">
              <a:solidFill>
                <a:srgbClr val="B8C8E0"/>
              </a:solidFill>
            </a:endParaRPr>
          </a:p>
        </p:txBody>
      </p:sp>
      <p:sp>
        <p:nvSpPr>
          <p:cNvPr id="11" name="TextBox 10">
            <a:extLst>
              <a:ext uri="{FF2B5EF4-FFF2-40B4-BE49-F238E27FC236}">
                <a16:creationId xmlns:a16="http://schemas.microsoft.com/office/drawing/2014/main" id="{DB99654E-90AE-2142-8139-35E60D3122D4}"/>
              </a:ext>
            </a:extLst>
          </p:cNvPr>
          <p:cNvSpPr txBox="1"/>
          <p:nvPr/>
        </p:nvSpPr>
        <p:spPr>
          <a:xfrm>
            <a:off x="889000" y="3556000"/>
            <a:ext cx="4699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WHAT IT MANAGES</a:t>
            </a:r>
            <a:endParaRPr lang="ko-KR" altLang="en-US" sz="900" b="1">
              <a:solidFill>
                <a:srgbClr val="7E94B0"/>
              </a:solidFill>
            </a:endParaRPr>
          </a:p>
        </p:txBody>
      </p:sp>
      <p:sp>
        <p:nvSpPr>
          <p:cNvPr id="12" name="직사각형 11">
            <a:extLst>
              <a:ext uri="{FF2B5EF4-FFF2-40B4-BE49-F238E27FC236}">
                <a16:creationId xmlns:a16="http://schemas.microsoft.com/office/drawing/2014/main" id="{405E3D5C-97E3-3A4C-A965-E0D3B64C6FEA}"/>
              </a:ext>
            </a:extLst>
          </p:cNvPr>
          <p:cNvSpPr/>
          <p:nvPr/>
        </p:nvSpPr>
        <p:spPr>
          <a:xfrm>
            <a:off x="889000" y="38100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TextBox 12">
            <a:extLst>
              <a:ext uri="{FF2B5EF4-FFF2-40B4-BE49-F238E27FC236}">
                <a16:creationId xmlns:a16="http://schemas.microsoft.com/office/drawing/2014/main" id="{3C6B9FC1-34E0-2E46-AB45-0261BA7C79AF}"/>
              </a:ext>
            </a:extLst>
          </p:cNvPr>
          <p:cNvSpPr txBox="1"/>
          <p:nvPr/>
        </p:nvSpPr>
        <p:spPr>
          <a:xfrm>
            <a:off x="1041399" y="37211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VIN-linked identity token</a:t>
            </a:r>
            <a:endParaRPr lang="ko-KR" altLang="en-US" sz="1100" b="1">
              <a:solidFill>
                <a:srgbClr val="EDF4FF"/>
              </a:solidFill>
            </a:endParaRPr>
          </a:p>
        </p:txBody>
      </p:sp>
      <p:sp>
        <p:nvSpPr>
          <p:cNvPr id="14" name="TextBox 13">
            <a:extLst>
              <a:ext uri="{FF2B5EF4-FFF2-40B4-BE49-F238E27FC236}">
                <a16:creationId xmlns:a16="http://schemas.microsoft.com/office/drawing/2014/main" id="{2D6FC679-2DFA-514A-A7BE-AEB5A053AA55}"/>
              </a:ext>
            </a:extLst>
          </p:cNvPr>
          <p:cNvSpPr txBox="1"/>
          <p:nvPr/>
        </p:nvSpPr>
        <p:spPr>
          <a:xfrm>
            <a:off x="1041399" y="38989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Permanent digital anchor per bike, minted on entry</a:t>
            </a:r>
            <a:endParaRPr lang="ko-KR" altLang="en-US" sz="1000">
              <a:solidFill>
                <a:srgbClr val="9CADC4"/>
              </a:solidFill>
            </a:endParaRPr>
          </a:p>
        </p:txBody>
      </p:sp>
      <p:sp>
        <p:nvSpPr>
          <p:cNvPr id="15" name="직사각형 14">
            <a:extLst>
              <a:ext uri="{FF2B5EF4-FFF2-40B4-BE49-F238E27FC236}">
                <a16:creationId xmlns:a16="http://schemas.microsoft.com/office/drawing/2014/main" id="{574F7C49-7398-D14F-9B44-465599DBDED7}"/>
              </a:ext>
            </a:extLst>
          </p:cNvPr>
          <p:cNvSpPr/>
          <p:nvPr/>
        </p:nvSpPr>
        <p:spPr>
          <a:xfrm>
            <a:off x="889000" y="41402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F89ADCA7-5152-6349-A56E-4A545A819E79}"/>
              </a:ext>
            </a:extLst>
          </p:cNvPr>
          <p:cNvSpPr txBox="1"/>
          <p:nvPr/>
        </p:nvSpPr>
        <p:spPr>
          <a:xfrm>
            <a:off x="1041399" y="40513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Controlled ownership transitions</a:t>
            </a:r>
            <a:endParaRPr lang="ko-KR" altLang="en-US" sz="1100" b="1">
              <a:solidFill>
                <a:srgbClr val="EDF4FF"/>
              </a:solidFill>
            </a:endParaRPr>
          </a:p>
        </p:txBody>
      </p:sp>
      <p:sp>
        <p:nvSpPr>
          <p:cNvPr id="17" name="TextBox 16">
            <a:extLst>
              <a:ext uri="{FF2B5EF4-FFF2-40B4-BE49-F238E27FC236}">
                <a16:creationId xmlns:a16="http://schemas.microsoft.com/office/drawing/2014/main" id="{33814622-8E91-344F-BC89-21C46C31F247}"/>
              </a:ext>
            </a:extLst>
          </p:cNvPr>
          <p:cNvSpPr txBox="1"/>
          <p:nvPr/>
        </p:nvSpPr>
        <p:spPr>
          <a:xfrm>
            <a:off x="1041399" y="42291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Transfers as structured state changes — not raw token moves</a:t>
            </a:r>
            <a:endParaRPr lang="ko-KR" altLang="en-US" sz="1000">
              <a:solidFill>
                <a:srgbClr val="9CADC4"/>
              </a:solidFill>
            </a:endParaRPr>
          </a:p>
        </p:txBody>
      </p:sp>
      <p:sp>
        <p:nvSpPr>
          <p:cNvPr id="18" name="직사각형 17">
            <a:extLst>
              <a:ext uri="{FF2B5EF4-FFF2-40B4-BE49-F238E27FC236}">
                <a16:creationId xmlns:a16="http://schemas.microsoft.com/office/drawing/2014/main" id="{30BA60D1-7448-F94F-B193-E06CC3AFF710}"/>
              </a:ext>
            </a:extLst>
          </p:cNvPr>
          <p:cNvSpPr/>
          <p:nvPr/>
        </p:nvSpPr>
        <p:spPr>
          <a:xfrm>
            <a:off x="889000" y="44704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DDDD7FD0-6503-D74E-8D11-77A6DA28F42A}"/>
              </a:ext>
            </a:extLst>
          </p:cNvPr>
          <p:cNvSpPr txBox="1"/>
          <p:nvPr/>
        </p:nvSpPr>
        <p:spPr>
          <a:xfrm>
            <a:off x="1041399" y="43815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Staked service entries</a:t>
            </a:r>
            <a:endParaRPr lang="ko-KR" altLang="en-US" sz="1100" b="1">
              <a:solidFill>
                <a:srgbClr val="EDF4FF"/>
              </a:solidFill>
            </a:endParaRPr>
          </a:p>
        </p:txBody>
      </p:sp>
      <p:sp>
        <p:nvSpPr>
          <p:cNvPr id="20" name="TextBox 19">
            <a:extLst>
              <a:ext uri="{FF2B5EF4-FFF2-40B4-BE49-F238E27FC236}">
                <a16:creationId xmlns:a16="http://schemas.microsoft.com/office/drawing/2014/main" id="{54A4174B-DF13-C347-870A-19B77362974B}"/>
              </a:ext>
            </a:extLst>
          </p:cNvPr>
          <p:cNvSpPr txBox="1"/>
          <p:nvPr/>
        </p:nvSpPr>
        <p:spPr>
          <a:xfrm>
            <a:off x="1041399" y="45593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Authorized mechanics sign records; collateral at risk</a:t>
            </a:r>
            <a:endParaRPr lang="ko-KR" altLang="en-US" sz="1000">
              <a:solidFill>
                <a:srgbClr val="9CADC4"/>
              </a:solidFill>
            </a:endParaRPr>
          </a:p>
        </p:txBody>
      </p:sp>
      <p:sp>
        <p:nvSpPr>
          <p:cNvPr id="21" name="직사각형 20">
            <a:extLst>
              <a:ext uri="{FF2B5EF4-FFF2-40B4-BE49-F238E27FC236}">
                <a16:creationId xmlns:a16="http://schemas.microsoft.com/office/drawing/2014/main" id="{89AEBCD0-F4BB-A544-A073-07A69C25FD27}"/>
              </a:ext>
            </a:extLst>
          </p:cNvPr>
          <p:cNvSpPr/>
          <p:nvPr/>
        </p:nvSpPr>
        <p:spPr>
          <a:xfrm>
            <a:off x="889000" y="48006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7FF0443B-2E4E-EF44-B5D4-E0736282FC9D}"/>
              </a:ext>
            </a:extLst>
          </p:cNvPr>
          <p:cNvSpPr txBox="1"/>
          <p:nvPr/>
        </p:nvSpPr>
        <p:spPr>
          <a:xfrm>
            <a:off x="1041399" y="47117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Protocol-level integrity rules</a:t>
            </a:r>
            <a:endParaRPr lang="ko-KR" altLang="en-US" sz="1100" b="1">
              <a:solidFill>
                <a:srgbClr val="EDF4FF"/>
              </a:solidFill>
            </a:endParaRPr>
          </a:p>
        </p:txBody>
      </p:sp>
      <p:sp>
        <p:nvSpPr>
          <p:cNvPr id="23" name="TextBox 22">
            <a:extLst>
              <a:ext uri="{FF2B5EF4-FFF2-40B4-BE49-F238E27FC236}">
                <a16:creationId xmlns:a16="http://schemas.microsoft.com/office/drawing/2014/main" id="{2FA7464F-C547-1C49-A4BD-17411C6E211F}"/>
              </a:ext>
            </a:extLst>
          </p:cNvPr>
          <p:cNvSpPr txBox="1"/>
          <p:nvPr/>
        </p:nvSpPr>
        <p:spPr>
          <a:xfrm>
            <a:off x="1041399" y="4889500"/>
            <a:ext cx="4572000" cy="177800"/>
          </a:xfrm>
          <a:prstGeom prst="rect">
            <a:avLst/>
          </a:prstGeom>
          <a:noFill/>
          <a:ln>
            <a:noFill/>
          </a:ln>
        </p:spPr>
        <p:txBody>
          <a:bodyPr vertOverflow="overflow" vert="horz" wrap="square" rtlCol="0" anchor="t">
            <a:spAutoFit/>
          </a:bodyPr>
          <a:lstStyle/>
          <a:p>
            <a:pPr algn="l"/>
            <a:r>
              <a:rPr lang="en-US" altLang="ko-KR" sz="1000" dirty="0">
                <a:solidFill>
                  <a:srgbClr val="9CADC4"/>
                </a:solidFill>
              </a:rPr>
              <a:t>Non-sequential mileage and conflicts flagged automatically</a:t>
            </a:r>
            <a:endParaRPr lang="ko-KR" altLang="en-US" sz="1000" dirty="0">
              <a:solidFill>
                <a:srgbClr val="9CADC4"/>
              </a:solidFill>
            </a:endParaRPr>
          </a:p>
        </p:txBody>
      </p:sp>
      <p:sp>
        <p:nvSpPr>
          <p:cNvPr id="24" name="모서리가 둥근 직사각형 23">
            <a:extLst>
              <a:ext uri="{FF2B5EF4-FFF2-40B4-BE49-F238E27FC236}">
                <a16:creationId xmlns:a16="http://schemas.microsoft.com/office/drawing/2014/main" id="{002D419A-0274-594F-BC04-B31A961A91C8}"/>
              </a:ext>
            </a:extLst>
          </p:cNvPr>
          <p:cNvSpPr/>
          <p:nvPr/>
        </p:nvSpPr>
        <p:spPr>
          <a:xfrm>
            <a:off x="6350000" y="2413000"/>
            <a:ext cx="5207000" cy="27940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직사각형 24">
            <a:extLst>
              <a:ext uri="{FF2B5EF4-FFF2-40B4-BE49-F238E27FC236}">
                <a16:creationId xmlns:a16="http://schemas.microsoft.com/office/drawing/2014/main" id="{125FC844-EA6A-F14A-8256-5FA2D39AE2EA}"/>
              </a:ext>
            </a:extLst>
          </p:cNvPr>
          <p:cNvSpPr/>
          <p:nvPr/>
        </p:nvSpPr>
        <p:spPr>
          <a:xfrm>
            <a:off x="6756399" y="2413000"/>
            <a:ext cx="4329815" cy="50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4557737F-84A9-D745-ADEF-A93F3B8B648A}"/>
              </a:ext>
            </a:extLst>
          </p:cNvPr>
          <p:cNvSpPr txBox="1"/>
          <p:nvPr/>
        </p:nvSpPr>
        <p:spPr>
          <a:xfrm>
            <a:off x="6604000" y="2590800"/>
            <a:ext cx="2540000" cy="152400"/>
          </a:xfrm>
          <a:prstGeom prst="rect">
            <a:avLst/>
          </a:prstGeom>
          <a:noFill/>
          <a:ln>
            <a:noFill/>
          </a:ln>
        </p:spPr>
        <p:txBody>
          <a:bodyPr vertOverflow="overflow" vert="horz" wrap="square" rtlCol="0" anchor="t">
            <a:spAutoFit/>
          </a:bodyPr>
          <a:lstStyle/>
          <a:p>
            <a:pPr algn="l"/>
            <a:r>
              <a:rPr lang="en-US" altLang="ko-KR" sz="1000" b="1">
                <a:solidFill>
                  <a:srgbClr val="A8E89E"/>
                </a:solidFill>
              </a:rPr>
              <a:t>PROTOCOL B</a:t>
            </a:r>
            <a:endParaRPr lang="ko-KR" altLang="en-US" sz="1000" b="1">
              <a:solidFill>
                <a:srgbClr val="A8E89E"/>
              </a:solidFill>
            </a:endParaRPr>
          </a:p>
        </p:txBody>
      </p:sp>
      <p:sp>
        <p:nvSpPr>
          <p:cNvPr id="27" name="TextBox 26">
            <a:extLst>
              <a:ext uri="{FF2B5EF4-FFF2-40B4-BE49-F238E27FC236}">
                <a16:creationId xmlns:a16="http://schemas.microsoft.com/office/drawing/2014/main" id="{7711F648-E16B-E647-9C77-B1FE5C697F1F}"/>
              </a:ext>
            </a:extLst>
          </p:cNvPr>
          <p:cNvSpPr txBox="1"/>
          <p:nvPr/>
        </p:nvSpPr>
        <p:spPr>
          <a:xfrm>
            <a:off x="6604000" y="2794000"/>
            <a:ext cx="4699000" cy="381000"/>
          </a:xfrm>
          <a:prstGeom prst="rect">
            <a:avLst/>
          </a:prstGeom>
          <a:noFill/>
          <a:ln>
            <a:noFill/>
          </a:ln>
        </p:spPr>
        <p:txBody>
          <a:bodyPr vertOverflow="overflow" vert="horz" wrap="square" rtlCol="0" anchor="t">
            <a:spAutoFit/>
          </a:bodyPr>
          <a:lstStyle/>
          <a:p>
            <a:pPr algn="l"/>
            <a:r>
              <a:rPr lang="en-US" altLang="ko-KR" sz="2200" b="1" dirty="0" err="1">
                <a:solidFill>
                  <a:srgbClr val="EDF4FF"/>
                </a:solidFill>
              </a:rPr>
              <a:t>RideTrue</a:t>
            </a:r>
            <a:endParaRPr lang="ko-KR" altLang="en-US" sz="2200" b="1" dirty="0">
              <a:solidFill>
                <a:srgbClr val="EDF4FF"/>
              </a:solidFill>
            </a:endParaRPr>
          </a:p>
        </p:txBody>
      </p:sp>
      <p:sp>
        <p:nvSpPr>
          <p:cNvPr id="28" name="TextBox 27">
            <a:extLst>
              <a:ext uri="{FF2B5EF4-FFF2-40B4-BE49-F238E27FC236}">
                <a16:creationId xmlns:a16="http://schemas.microsoft.com/office/drawing/2014/main" id="{B3AB8646-6C77-FA42-A82F-01FA2C9AF3C3}"/>
              </a:ext>
            </a:extLst>
          </p:cNvPr>
          <p:cNvSpPr txBox="1"/>
          <p:nvPr/>
        </p:nvSpPr>
        <p:spPr>
          <a:xfrm>
            <a:off x="6604000" y="32004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Behavior-based rider insurance pool</a:t>
            </a:r>
            <a:endParaRPr lang="ko-KR" altLang="en-US" sz="1200" i="1">
              <a:solidFill>
                <a:srgbClr val="B8C8E0"/>
              </a:solidFill>
            </a:endParaRPr>
          </a:p>
        </p:txBody>
      </p:sp>
      <p:sp>
        <p:nvSpPr>
          <p:cNvPr id="29" name="TextBox 28">
            <a:extLst>
              <a:ext uri="{FF2B5EF4-FFF2-40B4-BE49-F238E27FC236}">
                <a16:creationId xmlns:a16="http://schemas.microsoft.com/office/drawing/2014/main" id="{6DC51E49-A39D-704B-BF81-9D496C5B626F}"/>
              </a:ext>
            </a:extLst>
          </p:cNvPr>
          <p:cNvSpPr txBox="1"/>
          <p:nvPr/>
        </p:nvSpPr>
        <p:spPr>
          <a:xfrm>
            <a:off x="6604000" y="3529584"/>
            <a:ext cx="4699000" cy="152400"/>
          </a:xfrm>
          <a:prstGeom prst="rect">
            <a:avLst/>
          </a:prstGeom>
          <a:noFill/>
          <a:ln>
            <a:noFill/>
          </a:ln>
        </p:spPr>
        <p:txBody>
          <a:bodyPr vertOverflow="overflow" vert="horz" wrap="square" rtlCol="0" anchor="t">
            <a:spAutoFit/>
          </a:bodyPr>
          <a:lstStyle/>
          <a:p>
            <a:pPr algn="l"/>
            <a:r>
              <a:rPr lang="en-US" altLang="ko-KR" sz="900" b="1" dirty="0">
                <a:solidFill>
                  <a:srgbClr val="7E94B0"/>
                </a:solidFill>
              </a:rPr>
              <a:t>WHAT IT MANAGES</a:t>
            </a:r>
            <a:endParaRPr lang="ko-KR" altLang="en-US" sz="900" b="1" dirty="0">
              <a:solidFill>
                <a:srgbClr val="7E94B0"/>
              </a:solidFill>
            </a:endParaRPr>
          </a:p>
        </p:txBody>
      </p:sp>
      <p:sp>
        <p:nvSpPr>
          <p:cNvPr id="30" name="직사각형 29">
            <a:extLst>
              <a:ext uri="{FF2B5EF4-FFF2-40B4-BE49-F238E27FC236}">
                <a16:creationId xmlns:a16="http://schemas.microsoft.com/office/drawing/2014/main" id="{DF843866-33B6-2F4F-A7B3-E1A599288E93}"/>
              </a:ext>
            </a:extLst>
          </p:cNvPr>
          <p:cNvSpPr/>
          <p:nvPr/>
        </p:nvSpPr>
        <p:spPr>
          <a:xfrm>
            <a:off x="6604000" y="38100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1" name="TextBox 30">
            <a:extLst>
              <a:ext uri="{FF2B5EF4-FFF2-40B4-BE49-F238E27FC236}">
                <a16:creationId xmlns:a16="http://schemas.microsoft.com/office/drawing/2014/main" id="{66DBD981-BAA5-6245-BBEA-FCE56B630C0D}"/>
              </a:ext>
            </a:extLst>
          </p:cNvPr>
          <p:cNvSpPr txBox="1"/>
          <p:nvPr/>
        </p:nvSpPr>
        <p:spPr>
          <a:xfrm>
            <a:off x="6756399" y="3712346"/>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Rider identity &amp; safety score</a:t>
            </a:r>
            <a:endParaRPr lang="ko-KR" altLang="en-US" sz="1100" b="1">
              <a:solidFill>
                <a:srgbClr val="EDF4FF"/>
              </a:solidFill>
            </a:endParaRPr>
          </a:p>
        </p:txBody>
      </p:sp>
      <p:sp>
        <p:nvSpPr>
          <p:cNvPr id="32" name="TextBox 31">
            <a:extLst>
              <a:ext uri="{FF2B5EF4-FFF2-40B4-BE49-F238E27FC236}">
                <a16:creationId xmlns:a16="http://schemas.microsoft.com/office/drawing/2014/main" id="{BFF15B2E-815B-E041-9C46-C2A2D4DCFF3B}"/>
              </a:ext>
            </a:extLst>
          </p:cNvPr>
          <p:cNvSpPr txBox="1"/>
          <p:nvPr/>
        </p:nvSpPr>
        <p:spPr>
          <a:xfrm>
            <a:off x="6756399" y="38901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Updated on-chain from off-chain telematics</a:t>
            </a:r>
            <a:endParaRPr lang="ko-KR" altLang="en-US" sz="1000">
              <a:solidFill>
                <a:srgbClr val="9CADC4"/>
              </a:solidFill>
            </a:endParaRPr>
          </a:p>
        </p:txBody>
      </p:sp>
      <p:sp>
        <p:nvSpPr>
          <p:cNvPr id="33" name="직사각형 32">
            <a:extLst>
              <a:ext uri="{FF2B5EF4-FFF2-40B4-BE49-F238E27FC236}">
                <a16:creationId xmlns:a16="http://schemas.microsoft.com/office/drawing/2014/main" id="{76FD7A20-A278-2741-A776-BA4305A079F8}"/>
              </a:ext>
            </a:extLst>
          </p:cNvPr>
          <p:cNvSpPr/>
          <p:nvPr/>
        </p:nvSpPr>
        <p:spPr>
          <a:xfrm>
            <a:off x="6604000" y="41402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9E24374E-E6DC-204A-92F7-90E64AAC43B1}"/>
              </a:ext>
            </a:extLst>
          </p:cNvPr>
          <p:cNvSpPr txBox="1"/>
          <p:nvPr/>
        </p:nvSpPr>
        <p:spPr>
          <a:xfrm>
            <a:off x="6756399" y="4042546"/>
            <a:ext cx="2540000" cy="177800"/>
          </a:xfrm>
          <a:prstGeom prst="rect">
            <a:avLst/>
          </a:prstGeom>
          <a:noFill/>
          <a:ln>
            <a:noFill/>
          </a:ln>
        </p:spPr>
        <p:txBody>
          <a:bodyPr vertOverflow="overflow" vert="horz" wrap="square" rtlCol="0" anchor="t">
            <a:spAutoFit/>
          </a:bodyPr>
          <a:lstStyle/>
          <a:p>
            <a:pPr algn="l"/>
            <a:r>
              <a:rPr lang="en-US" altLang="ko-KR" sz="1100" b="1" dirty="0">
                <a:solidFill>
                  <a:srgbClr val="EDF4FF"/>
                </a:solidFill>
              </a:rPr>
              <a:t>ZK-proof attestations</a:t>
            </a:r>
            <a:endParaRPr lang="ko-KR" altLang="en-US" sz="1100" b="1" dirty="0">
              <a:solidFill>
                <a:srgbClr val="EDF4FF"/>
              </a:solidFill>
            </a:endParaRPr>
          </a:p>
        </p:txBody>
      </p:sp>
      <p:sp>
        <p:nvSpPr>
          <p:cNvPr id="35" name="TextBox 34">
            <a:extLst>
              <a:ext uri="{FF2B5EF4-FFF2-40B4-BE49-F238E27FC236}">
                <a16:creationId xmlns:a16="http://schemas.microsoft.com/office/drawing/2014/main" id="{5337A64B-AA70-4C43-9176-4B1589D331FA}"/>
              </a:ext>
            </a:extLst>
          </p:cNvPr>
          <p:cNvSpPr txBox="1"/>
          <p:nvPr/>
        </p:nvSpPr>
        <p:spPr>
          <a:xfrm>
            <a:off x="6756399" y="42203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Attests safe behavior without exposing raw data</a:t>
            </a:r>
            <a:endParaRPr lang="ko-KR" altLang="en-US" sz="1000">
              <a:solidFill>
                <a:srgbClr val="9CADC4"/>
              </a:solidFill>
            </a:endParaRPr>
          </a:p>
        </p:txBody>
      </p:sp>
      <p:sp>
        <p:nvSpPr>
          <p:cNvPr id="36" name="직사각형 35">
            <a:extLst>
              <a:ext uri="{FF2B5EF4-FFF2-40B4-BE49-F238E27FC236}">
                <a16:creationId xmlns:a16="http://schemas.microsoft.com/office/drawing/2014/main" id="{DEC074EA-3B40-B64F-B4B4-7D13F20B61B4}"/>
              </a:ext>
            </a:extLst>
          </p:cNvPr>
          <p:cNvSpPr/>
          <p:nvPr/>
        </p:nvSpPr>
        <p:spPr>
          <a:xfrm>
            <a:off x="6604000" y="44704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02AA4DEA-EEEA-A847-A74C-937FACC6B80E}"/>
              </a:ext>
            </a:extLst>
          </p:cNvPr>
          <p:cNvSpPr txBox="1"/>
          <p:nvPr/>
        </p:nvSpPr>
        <p:spPr>
          <a:xfrm>
            <a:off x="6756399" y="4372746"/>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USDC insurance pool</a:t>
            </a:r>
            <a:endParaRPr lang="ko-KR" altLang="en-US" sz="1100" b="1">
              <a:solidFill>
                <a:srgbClr val="EDF4FF"/>
              </a:solidFill>
            </a:endParaRPr>
          </a:p>
        </p:txBody>
      </p:sp>
      <p:sp>
        <p:nvSpPr>
          <p:cNvPr id="38" name="TextBox 37">
            <a:extLst>
              <a:ext uri="{FF2B5EF4-FFF2-40B4-BE49-F238E27FC236}">
                <a16:creationId xmlns:a16="http://schemas.microsoft.com/office/drawing/2014/main" id="{0D319E6C-A8E3-8F40-AF58-56ADF71E251C}"/>
              </a:ext>
            </a:extLst>
          </p:cNvPr>
          <p:cNvSpPr txBox="1"/>
          <p:nvPr/>
        </p:nvSpPr>
        <p:spPr>
          <a:xfrm>
            <a:off x="6756399" y="45505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Premiums and payouts in stablecoin</a:t>
            </a:r>
            <a:endParaRPr lang="ko-KR" altLang="en-US" sz="1000">
              <a:solidFill>
                <a:srgbClr val="9CADC4"/>
              </a:solidFill>
            </a:endParaRPr>
          </a:p>
        </p:txBody>
      </p:sp>
      <p:sp>
        <p:nvSpPr>
          <p:cNvPr id="39" name="직사각형 38">
            <a:extLst>
              <a:ext uri="{FF2B5EF4-FFF2-40B4-BE49-F238E27FC236}">
                <a16:creationId xmlns:a16="http://schemas.microsoft.com/office/drawing/2014/main" id="{B09F954F-9FE1-4545-9396-8EC8082E5049}"/>
              </a:ext>
            </a:extLst>
          </p:cNvPr>
          <p:cNvSpPr/>
          <p:nvPr/>
        </p:nvSpPr>
        <p:spPr>
          <a:xfrm>
            <a:off x="6604000" y="48006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2115B975-9D54-7D4D-B500-05FC4B358BFD}"/>
              </a:ext>
            </a:extLst>
          </p:cNvPr>
          <p:cNvSpPr txBox="1"/>
          <p:nvPr/>
        </p:nvSpPr>
        <p:spPr>
          <a:xfrm>
            <a:off x="6756399" y="4702946"/>
            <a:ext cx="2540000" cy="177800"/>
          </a:xfrm>
          <a:prstGeom prst="rect">
            <a:avLst/>
          </a:prstGeom>
          <a:noFill/>
          <a:ln>
            <a:noFill/>
          </a:ln>
        </p:spPr>
        <p:txBody>
          <a:bodyPr vertOverflow="overflow" vert="horz" wrap="square" rtlCol="0" anchor="t">
            <a:spAutoFit/>
          </a:bodyPr>
          <a:lstStyle/>
          <a:p>
            <a:pPr algn="l"/>
            <a:r>
              <a:rPr lang="en-US" altLang="ko-KR" sz="1100" b="1" dirty="0">
                <a:solidFill>
                  <a:srgbClr val="EDF4FF"/>
                </a:solidFill>
              </a:rPr>
              <a:t>Composable with DeFi</a:t>
            </a:r>
            <a:endParaRPr lang="ko-KR" altLang="en-US" sz="1100" b="1" dirty="0">
              <a:solidFill>
                <a:srgbClr val="EDF4FF"/>
              </a:solidFill>
            </a:endParaRPr>
          </a:p>
        </p:txBody>
      </p:sp>
      <p:sp>
        <p:nvSpPr>
          <p:cNvPr id="41" name="TextBox 40">
            <a:extLst>
              <a:ext uri="{FF2B5EF4-FFF2-40B4-BE49-F238E27FC236}">
                <a16:creationId xmlns:a16="http://schemas.microsoft.com/office/drawing/2014/main" id="{9C51EC39-DC27-C148-84C9-2153863829C0}"/>
              </a:ext>
            </a:extLst>
          </p:cNvPr>
          <p:cNvSpPr txBox="1"/>
          <p:nvPr/>
        </p:nvSpPr>
        <p:spPr>
          <a:xfrm>
            <a:off x="6756399" y="48807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Idle capital deployed into Aave for yield</a:t>
            </a:r>
            <a:endParaRPr lang="ko-KR" altLang="en-US" sz="1000">
              <a:solidFill>
                <a:srgbClr val="9CADC4"/>
              </a:solidFill>
            </a:endParaRPr>
          </a:p>
        </p:txBody>
      </p:sp>
      <p:sp>
        <p:nvSpPr>
          <p:cNvPr id="42" name="TextBox 41">
            <a:extLst>
              <a:ext uri="{FF2B5EF4-FFF2-40B4-BE49-F238E27FC236}">
                <a16:creationId xmlns:a16="http://schemas.microsoft.com/office/drawing/2014/main" id="{0F4450A3-BD0F-2847-B05C-306E1D45A162}"/>
              </a:ext>
            </a:extLst>
          </p:cNvPr>
          <p:cNvSpPr txBox="1"/>
          <p:nvPr/>
        </p:nvSpPr>
        <p:spPr>
          <a:xfrm>
            <a:off x="635000" y="5397500"/>
            <a:ext cx="254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DEPLOYED ON</a:t>
            </a:r>
            <a:endParaRPr lang="ko-KR" altLang="en-US" sz="900" b="1">
              <a:solidFill>
                <a:srgbClr val="7E94B0"/>
              </a:solidFill>
            </a:endParaRPr>
          </a:p>
        </p:txBody>
      </p:sp>
      <p:sp>
        <p:nvSpPr>
          <p:cNvPr id="43" name="직사각형 42">
            <a:extLst>
              <a:ext uri="{FF2B5EF4-FFF2-40B4-BE49-F238E27FC236}">
                <a16:creationId xmlns:a16="http://schemas.microsoft.com/office/drawing/2014/main" id="{39019B19-40D7-3443-AB8A-FB5AD43AF469}"/>
              </a:ext>
            </a:extLst>
          </p:cNvPr>
          <p:cNvSpPr/>
          <p:nvPr/>
        </p:nvSpPr>
        <p:spPr>
          <a:xfrm>
            <a:off x="635000" y="5613400"/>
            <a:ext cx="10922000" cy="736600"/>
          </a:xfrm>
          <a:prstGeom prst="rect">
            <a:avLst/>
          </a:prstGeom>
          <a:solidFill>
            <a:srgbClr val="0F1B2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직사각형 43">
            <a:extLst>
              <a:ext uri="{FF2B5EF4-FFF2-40B4-BE49-F238E27FC236}">
                <a16:creationId xmlns:a16="http://schemas.microsoft.com/office/drawing/2014/main" id="{9592E46F-7AA0-1448-9AF3-2B82AF80C2B5}"/>
              </a:ext>
            </a:extLst>
          </p:cNvPr>
          <p:cNvSpPr/>
          <p:nvPr/>
        </p:nvSpPr>
        <p:spPr>
          <a:xfrm>
            <a:off x="635000" y="5613400"/>
            <a:ext cx="50800" cy="7366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5" name="TextBox 44">
            <a:extLst>
              <a:ext uri="{FF2B5EF4-FFF2-40B4-BE49-F238E27FC236}">
                <a16:creationId xmlns:a16="http://schemas.microsoft.com/office/drawing/2014/main" id="{1F87E040-EBF2-0C4F-84D4-34BA87FB1CEF}"/>
              </a:ext>
            </a:extLst>
          </p:cNvPr>
          <p:cNvSpPr txBox="1"/>
          <p:nvPr/>
        </p:nvSpPr>
        <p:spPr>
          <a:xfrm>
            <a:off x="889000" y="5715000"/>
            <a:ext cx="1270000" cy="330200"/>
          </a:xfrm>
          <a:prstGeom prst="rect">
            <a:avLst/>
          </a:prstGeom>
          <a:noFill/>
          <a:ln>
            <a:noFill/>
          </a:ln>
        </p:spPr>
        <p:txBody>
          <a:bodyPr vertOverflow="overflow" vert="horz" wrap="square" rtlCol="0" anchor="t">
            <a:spAutoFit/>
          </a:bodyPr>
          <a:lstStyle/>
          <a:p>
            <a:pPr algn="l"/>
            <a:r>
              <a:rPr lang="en-US" altLang="ko-KR" b="1">
                <a:solidFill>
                  <a:srgbClr val="4AA3FF"/>
                </a:solidFill>
              </a:rPr>
              <a:t>Base</a:t>
            </a:r>
            <a:endParaRPr lang="ko-KR" altLang="en-US" b="1">
              <a:solidFill>
                <a:srgbClr val="4AA3FF"/>
              </a:solidFill>
            </a:endParaRPr>
          </a:p>
        </p:txBody>
      </p:sp>
      <p:sp>
        <p:nvSpPr>
          <p:cNvPr id="46" name="TextBox 45">
            <a:extLst>
              <a:ext uri="{FF2B5EF4-FFF2-40B4-BE49-F238E27FC236}">
                <a16:creationId xmlns:a16="http://schemas.microsoft.com/office/drawing/2014/main" id="{DB1D7306-E7A3-F34B-8D46-1D52F6F5B8B4}"/>
              </a:ext>
            </a:extLst>
          </p:cNvPr>
          <p:cNvSpPr txBox="1"/>
          <p:nvPr/>
        </p:nvSpPr>
        <p:spPr>
          <a:xfrm>
            <a:off x="889000" y="5984834"/>
            <a:ext cx="1778000" cy="203200"/>
          </a:xfrm>
          <a:prstGeom prst="rect">
            <a:avLst/>
          </a:prstGeom>
          <a:noFill/>
          <a:ln>
            <a:noFill/>
          </a:ln>
        </p:spPr>
        <p:txBody>
          <a:bodyPr vertOverflow="overflow" vert="horz" wrap="square" rtlCol="0" anchor="t">
            <a:spAutoFit/>
          </a:bodyPr>
          <a:lstStyle/>
          <a:p>
            <a:pPr algn="l"/>
            <a:r>
              <a:rPr lang="en-US" altLang="ko-KR" sz="1000" b="1" dirty="0">
                <a:solidFill>
                  <a:srgbClr val="9CC6FF"/>
                </a:solidFill>
              </a:rPr>
              <a:t>Ethereum Layer 2</a:t>
            </a:r>
            <a:endParaRPr lang="ko-KR" altLang="en-US" sz="1000" b="1" dirty="0">
              <a:solidFill>
                <a:srgbClr val="9CC6FF"/>
              </a:solidFill>
            </a:endParaRPr>
          </a:p>
        </p:txBody>
      </p:sp>
      <p:sp>
        <p:nvSpPr>
          <p:cNvPr id="47" name="직사각형 46">
            <a:extLst>
              <a:ext uri="{FF2B5EF4-FFF2-40B4-BE49-F238E27FC236}">
                <a16:creationId xmlns:a16="http://schemas.microsoft.com/office/drawing/2014/main" id="{B7233E6D-78A4-B449-A7FF-9E7CF803442F}"/>
              </a:ext>
            </a:extLst>
          </p:cNvPr>
          <p:cNvSpPr/>
          <p:nvPr/>
        </p:nvSpPr>
        <p:spPr>
          <a:xfrm>
            <a:off x="2794000" y="5765800"/>
            <a:ext cx="12700" cy="457200"/>
          </a:xfrm>
          <a:prstGeom prst="rect">
            <a:avLst/>
          </a:prstGeom>
          <a:solidFill>
            <a:srgbClr val="1F406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8" name="TextBox 47">
            <a:extLst>
              <a:ext uri="{FF2B5EF4-FFF2-40B4-BE49-F238E27FC236}">
                <a16:creationId xmlns:a16="http://schemas.microsoft.com/office/drawing/2014/main" id="{77939FE4-6B3C-7C4D-BBE3-BA31E32408AC}"/>
              </a:ext>
            </a:extLst>
          </p:cNvPr>
          <p:cNvSpPr txBox="1"/>
          <p:nvPr/>
        </p:nvSpPr>
        <p:spPr>
          <a:xfrm>
            <a:off x="3048000" y="5740400"/>
            <a:ext cx="2794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MAINNET-INHERITED SECURITY</a:t>
            </a:r>
            <a:endParaRPr lang="ko-KR" altLang="en-US" sz="900" b="1">
              <a:solidFill>
                <a:srgbClr val="9CC6FF"/>
              </a:solidFill>
            </a:endParaRPr>
          </a:p>
        </p:txBody>
      </p:sp>
      <p:sp>
        <p:nvSpPr>
          <p:cNvPr id="49" name="TextBox 48">
            <a:extLst>
              <a:ext uri="{FF2B5EF4-FFF2-40B4-BE49-F238E27FC236}">
                <a16:creationId xmlns:a16="http://schemas.microsoft.com/office/drawing/2014/main" id="{C0A4A6FF-9F6B-6E49-BB82-3193230A4090}"/>
              </a:ext>
            </a:extLst>
          </p:cNvPr>
          <p:cNvSpPr txBox="1"/>
          <p:nvPr/>
        </p:nvSpPr>
        <p:spPr>
          <a:xfrm>
            <a:off x="3048000" y="5943600"/>
            <a:ext cx="2794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Ethereum's settlement guarantees</a:t>
            </a:r>
            <a:endParaRPr lang="ko-KR" altLang="en-US" sz="1100">
              <a:solidFill>
                <a:srgbClr val="EDF4FF"/>
              </a:solidFill>
            </a:endParaRPr>
          </a:p>
        </p:txBody>
      </p:sp>
      <p:sp>
        <p:nvSpPr>
          <p:cNvPr id="50" name="TextBox 49">
            <a:extLst>
              <a:ext uri="{FF2B5EF4-FFF2-40B4-BE49-F238E27FC236}">
                <a16:creationId xmlns:a16="http://schemas.microsoft.com/office/drawing/2014/main" id="{0547EB6F-911A-1240-B832-0B8BCB2BCCDC}"/>
              </a:ext>
            </a:extLst>
          </p:cNvPr>
          <p:cNvSpPr txBox="1"/>
          <p:nvPr/>
        </p:nvSpPr>
        <p:spPr>
          <a:xfrm>
            <a:off x="5969000" y="5740400"/>
            <a:ext cx="2286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LOW-COST WRITES</a:t>
            </a:r>
            <a:endParaRPr lang="ko-KR" altLang="en-US" sz="900" b="1">
              <a:solidFill>
                <a:srgbClr val="9CC6FF"/>
              </a:solidFill>
            </a:endParaRPr>
          </a:p>
        </p:txBody>
      </p:sp>
      <p:sp>
        <p:nvSpPr>
          <p:cNvPr id="51" name="TextBox 50">
            <a:extLst>
              <a:ext uri="{FF2B5EF4-FFF2-40B4-BE49-F238E27FC236}">
                <a16:creationId xmlns:a16="http://schemas.microsoft.com/office/drawing/2014/main" id="{74B73817-5B52-5B43-8C2E-B9A94CAEC888}"/>
              </a:ext>
            </a:extLst>
          </p:cNvPr>
          <p:cNvSpPr txBox="1"/>
          <p:nvPr/>
        </p:nvSpPr>
        <p:spPr>
          <a:xfrm>
            <a:off x="5969000" y="5943600"/>
            <a:ext cx="3048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Frequent service &amp; behavior updates feasible</a:t>
            </a:r>
            <a:endParaRPr lang="ko-KR" altLang="en-US" sz="1100">
              <a:solidFill>
                <a:srgbClr val="EDF4FF"/>
              </a:solidFill>
            </a:endParaRPr>
          </a:p>
        </p:txBody>
      </p:sp>
      <p:sp>
        <p:nvSpPr>
          <p:cNvPr id="52" name="TextBox 51">
            <a:extLst>
              <a:ext uri="{FF2B5EF4-FFF2-40B4-BE49-F238E27FC236}">
                <a16:creationId xmlns:a16="http://schemas.microsoft.com/office/drawing/2014/main" id="{81BF0513-1420-B64A-B580-B41397223C28}"/>
              </a:ext>
            </a:extLst>
          </p:cNvPr>
          <p:cNvSpPr txBox="1"/>
          <p:nvPr/>
        </p:nvSpPr>
        <p:spPr>
          <a:xfrm>
            <a:off x="9144000" y="5740400"/>
            <a:ext cx="2286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FAST FINALITY</a:t>
            </a:r>
            <a:endParaRPr lang="ko-KR" altLang="en-US" sz="900" b="1">
              <a:solidFill>
                <a:srgbClr val="9CC6FF"/>
              </a:solidFill>
            </a:endParaRPr>
          </a:p>
        </p:txBody>
      </p:sp>
      <p:sp>
        <p:nvSpPr>
          <p:cNvPr id="53" name="TextBox 52">
            <a:extLst>
              <a:ext uri="{FF2B5EF4-FFF2-40B4-BE49-F238E27FC236}">
                <a16:creationId xmlns:a16="http://schemas.microsoft.com/office/drawing/2014/main" id="{BD9EABD2-5066-B344-9F0B-291B9683EC6F}"/>
              </a:ext>
            </a:extLst>
          </p:cNvPr>
          <p:cNvSpPr txBox="1"/>
          <p:nvPr/>
        </p:nvSpPr>
        <p:spPr>
          <a:xfrm>
            <a:off x="9144000" y="5943600"/>
            <a:ext cx="2286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Real-time UX without L1 confirmation lag</a:t>
            </a:r>
            <a:endParaRPr lang="ko-KR" altLang="en-US" sz="1100">
              <a:solidFill>
                <a:srgbClr val="EDF4FF"/>
              </a:solidFill>
            </a:endParaRPr>
          </a:p>
        </p:txBody>
      </p:sp>
      <p:sp>
        <p:nvSpPr>
          <p:cNvPr id="54" name="직사각형 53">
            <a:extLst>
              <a:ext uri="{FF2B5EF4-FFF2-40B4-BE49-F238E27FC236}">
                <a16:creationId xmlns:a16="http://schemas.microsoft.com/office/drawing/2014/main" id="{1005FBF0-E32F-4C4D-8DC8-26B1C2ADDE7A}"/>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5" name="TextBox 54">
            <a:extLst>
              <a:ext uri="{FF2B5EF4-FFF2-40B4-BE49-F238E27FC236}">
                <a16:creationId xmlns:a16="http://schemas.microsoft.com/office/drawing/2014/main" id="{34707A14-981D-1645-9614-5E1F687B1894}"/>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Two contracts. One chain. Identity for the bike feeds behavior pricing for the rider.</a:t>
            </a:r>
            <a:endParaRPr lang="ko-KR" altLang="en-US" sz="1300" b="1">
              <a:solidFill>
                <a:srgbClr val="EDF4FF"/>
              </a:solidFill>
            </a:endParaRPr>
          </a:p>
        </p:txBody>
      </p:sp>
      <p:sp>
        <p:nvSpPr>
          <p:cNvPr id="57" name="TextBox 56">
            <a:extLst>
              <a:ext uri="{FF2B5EF4-FFF2-40B4-BE49-F238E27FC236}">
                <a16:creationId xmlns:a16="http://schemas.microsoft.com/office/drawing/2014/main" id="{FDC8F982-59DD-1B9B-A1C1-48285B44632A}"/>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3961349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1F48C-970D-834E-9030-3313304D68CC}"/>
              </a:ext>
            </a:extLst>
          </p:cNvPr>
          <p:cNvSpPr txBox="1"/>
          <p:nvPr/>
        </p:nvSpPr>
        <p:spPr>
          <a:xfrm>
            <a:off x="635000" y="635000"/>
            <a:ext cx="5080000" cy="279400"/>
          </a:xfrm>
          <a:prstGeom prst="rect">
            <a:avLst/>
          </a:prstGeom>
          <a:noFill/>
          <a:ln>
            <a:noFill/>
          </a:ln>
        </p:spPr>
        <p:txBody>
          <a:bodyPr vertOverflow="overflow" vert="horz" wrap="square" rtlCol="0" anchor="t">
            <a:spAutoFit/>
          </a:bodyPr>
          <a:lstStyle/>
          <a:p>
            <a:pPr algn="l"/>
            <a:r>
              <a:rPr lang="en-US" altLang="ko-KR" sz="1200" b="1">
                <a:solidFill>
                  <a:srgbClr val="4AA3FF"/>
                </a:solidFill>
              </a:rPr>
              <a:t>II.2  ·  MOTOCHAIN</a:t>
            </a:r>
            <a:endParaRPr lang="ko-KR" altLang="en-US" sz="1200" b="1">
              <a:solidFill>
                <a:srgbClr val="4AA3FF"/>
              </a:solidFill>
            </a:endParaRPr>
          </a:p>
        </p:txBody>
      </p:sp>
      <p:sp>
        <p:nvSpPr>
          <p:cNvPr id="3" name="TextBox 2">
            <a:extLst>
              <a:ext uri="{FF2B5EF4-FFF2-40B4-BE49-F238E27FC236}">
                <a16:creationId xmlns:a16="http://schemas.microsoft.com/office/drawing/2014/main" id="{E2612944-5534-A945-9188-227471C3F60A}"/>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Identity, lifecycle, and integrity rules embedded in code</a:t>
            </a:r>
            <a:endParaRPr lang="ko-KR" altLang="en-US" sz="3000" b="1">
              <a:solidFill>
                <a:srgbClr val="EDF4FF"/>
              </a:solidFill>
            </a:endParaRPr>
          </a:p>
        </p:txBody>
      </p:sp>
      <p:sp>
        <p:nvSpPr>
          <p:cNvPr id="4" name="TextBox 3">
            <a:extLst>
              <a:ext uri="{FF2B5EF4-FFF2-40B4-BE49-F238E27FC236}">
                <a16:creationId xmlns:a16="http://schemas.microsoft.com/office/drawing/2014/main" id="{E86755E8-3B0E-1348-BF0C-695D5FA9C30A}"/>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Each bike enters as a VIN-linked token. The contract enforces consistency — no off-chain auditor required.</a:t>
            </a:r>
            <a:endParaRPr lang="ko-KR" altLang="en-US" sz="1300" i="1">
              <a:solidFill>
                <a:srgbClr val="B8C8E0"/>
              </a:solidFill>
            </a:endParaRPr>
          </a:p>
        </p:txBody>
      </p:sp>
      <p:sp>
        <p:nvSpPr>
          <p:cNvPr id="5" name="직사각형 4">
            <a:extLst>
              <a:ext uri="{FF2B5EF4-FFF2-40B4-BE49-F238E27FC236}">
                <a16:creationId xmlns:a16="http://schemas.microsoft.com/office/drawing/2014/main" id="{6214C035-C06C-364B-96F6-A4CAC77340B0}"/>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8BF7F42D-9393-6A45-9B67-F2AFE75E8730}"/>
              </a:ext>
            </a:extLst>
          </p:cNvPr>
          <p:cNvSpPr txBox="1"/>
          <p:nvPr/>
        </p:nvSpPr>
        <p:spPr>
          <a:xfrm>
            <a:off x="635000" y="24130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BIKE LIFECYCLE — ON CHAIN</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F10E09AA-948F-E543-98A3-D38BAC565968}"/>
              </a:ext>
            </a:extLst>
          </p:cNvPr>
          <p:cNvSpPr/>
          <p:nvPr/>
        </p:nvSpPr>
        <p:spPr>
          <a:xfrm>
            <a:off x="6350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7EF81298-555B-D04D-954D-AE04F71740DE}"/>
              </a:ext>
            </a:extLst>
          </p:cNvPr>
          <p:cNvSpPr/>
          <p:nvPr/>
        </p:nvSpPr>
        <p:spPr>
          <a:xfrm>
            <a:off x="9525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3CC8AA24-D3FF-EA40-8E64-85C39DAD750E}"/>
              </a:ext>
            </a:extLst>
          </p:cNvPr>
          <p:cNvSpPr txBox="1"/>
          <p:nvPr/>
        </p:nvSpPr>
        <p:spPr>
          <a:xfrm>
            <a:off x="8128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01</a:t>
            </a:r>
            <a:endParaRPr lang="ko-KR" altLang="en-US" sz="1400" b="1">
              <a:solidFill>
                <a:srgbClr val="4AA3FF"/>
              </a:solidFill>
            </a:endParaRPr>
          </a:p>
        </p:txBody>
      </p:sp>
      <p:sp>
        <p:nvSpPr>
          <p:cNvPr id="10" name="TextBox 9">
            <a:extLst>
              <a:ext uri="{FF2B5EF4-FFF2-40B4-BE49-F238E27FC236}">
                <a16:creationId xmlns:a16="http://schemas.microsoft.com/office/drawing/2014/main" id="{CC328B2F-5BA8-BC4A-B014-1E3966635716}"/>
              </a:ext>
            </a:extLst>
          </p:cNvPr>
          <p:cNvSpPr txBox="1"/>
          <p:nvPr/>
        </p:nvSpPr>
        <p:spPr>
          <a:xfrm>
            <a:off x="8128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Mint</a:t>
            </a:r>
            <a:endParaRPr lang="ko-KR" altLang="en-US" b="1">
              <a:solidFill>
                <a:srgbClr val="EDF4FF"/>
              </a:solidFill>
            </a:endParaRPr>
          </a:p>
        </p:txBody>
      </p:sp>
      <p:sp>
        <p:nvSpPr>
          <p:cNvPr id="11" name="TextBox 10">
            <a:extLst>
              <a:ext uri="{FF2B5EF4-FFF2-40B4-BE49-F238E27FC236}">
                <a16:creationId xmlns:a16="http://schemas.microsoft.com/office/drawing/2014/main" id="{83536B11-E2D7-0140-B735-6C5D631A44ED}"/>
              </a:ext>
            </a:extLst>
          </p:cNvPr>
          <p:cNvSpPr txBox="1"/>
          <p:nvPr/>
        </p:nvSpPr>
        <p:spPr>
          <a:xfrm>
            <a:off x="8128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VIN identity token</a:t>
            </a:r>
            <a:endParaRPr lang="ko-KR" altLang="en-US" sz="1100" i="1">
              <a:solidFill>
                <a:srgbClr val="9CC6FF"/>
              </a:solidFill>
            </a:endParaRPr>
          </a:p>
        </p:txBody>
      </p:sp>
      <p:sp>
        <p:nvSpPr>
          <p:cNvPr id="12" name="TextBox 11">
            <a:extLst>
              <a:ext uri="{FF2B5EF4-FFF2-40B4-BE49-F238E27FC236}">
                <a16:creationId xmlns:a16="http://schemas.microsoft.com/office/drawing/2014/main" id="{F3E2D5DD-CDD1-CC45-9F1C-E9D452F92875}"/>
              </a:ext>
            </a:extLst>
          </p:cNvPr>
          <p:cNvSpPr txBox="1"/>
          <p:nvPr/>
        </p:nvSpPr>
        <p:spPr>
          <a:xfrm>
            <a:off x="8128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Bike enters the system. Permanent on-chain anchor. One-time fee.</a:t>
            </a:r>
            <a:endParaRPr lang="ko-KR" altLang="en-US" sz="1100">
              <a:solidFill>
                <a:srgbClr val="D6E2F2"/>
              </a:solidFill>
            </a:endParaRPr>
          </a:p>
        </p:txBody>
      </p:sp>
      <p:sp>
        <p:nvSpPr>
          <p:cNvPr id="13" name="모서리가 둥근 직사각형 12">
            <a:extLst>
              <a:ext uri="{FF2B5EF4-FFF2-40B4-BE49-F238E27FC236}">
                <a16:creationId xmlns:a16="http://schemas.microsoft.com/office/drawing/2014/main" id="{A44E8D26-239F-974F-BC6C-6F88188C5BF2}"/>
              </a:ext>
            </a:extLst>
          </p:cNvPr>
          <p:cNvSpPr/>
          <p:nvPr/>
        </p:nvSpPr>
        <p:spPr>
          <a:xfrm>
            <a:off x="33655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직사각형 13">
            <a:extLst>
              <a:ext uri="{FF2B5EF4-FFF2-40B4-BE49-F238E27FC236}">
                <a16:creationId xmlns:a16="http://schemas.microsoft.com/office/drawing/2014/main" id="{591D9275-8701-AB4E-BFC0-FBA27EC57DDC}"/>
              </a:ext>
            </a:extLst>
          </p:cNvPr>
          <p:cNvSpPr/>
          <p:nvPr/>
        </p:nvSpPr>
        <p:spPr>
          <a:xfrm>
            <a:off x="36830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5A22173D-88B1-7047-BFFF-82AECD08DADD}"/>
              </a:ext>
            </a:extLst>
          </p:cNvPr>
          <p:cNvSpPr txBox="1"/>
          <p:nvPr/>
        </p:nvSpPr>
        <p:spPr>
          <a:xfrm>
            <a:off x="35433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02</a:t>
            </a:r>
            <a:endParaRPr lang="ko-KR" altLang="en-US" sz="1400" b="1">
              <a:solidFill>
                <a:srgbClr val="4AA3FF"/>
              </a:solidFill>
            </a:endParaRPr>
          </a:p>
        </p:txBody>
      </p:sp>
      <p:sp>
        <p:nvSpPr>
          <p:cNvPr id="16" name="TextBox 15">
            <a:extLst>
              <a:ext uri="{FF2B5EF4-FFF2-40B4-BE49-F238E27FC236}">
                <a16:creationId xmlns:a16="http://schemas.microsoft.com/office/drawing/2014/main" id="{1F1188DC-3A12-FB44-8BEB-A31B154F4FB6}"/>
              </a:ext>
            </a:extLst>
          </p:cNvPr>
          <p:cNvSpPr txBox="1"/>
          <p:nvPr/>
        </p:nvSpPr>
        <p:spPr>
          <a:xfrm>
            <a:off x="35433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Transfer</a:t>
            </a:r>
            <a:endParaRPr lang="ko-KR" altLang="en-US" b="1">
              <a:solidFill>
                <a:srgbClr val="EDF4FF"/>
              </a:solidFill>
            </a:endParaRPr>
          </a:p>
        </p:txBody>
      </p:sp>
      <p:sp>
        <p:nvSpPr>
          <p:cNvPr id="17" name="TextBox 16">
            <a:extLst>
              <a:ext uri="{FF2B5EF4-FFF2-40B4-BE49-F238E27FC236}">
                <a16:creationId xmlns:a16="http://schemas.microsoft.com/office/drawing/2014/main" id="{D6DED3DC-1AFC-4741-BABA-1FECF4C1CF8D}"/>
              </a:ext>
            </a:extLst>
          </p:cNvPr>
          <p:cNvSpPr txBox="1"/>
          <p:nvPr/>
        </p:nvSpPr>
        <p:spPr>
          <a:xfrm>
            <a:off x="35433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Controlled state change</a:t>
            </a:r>
            <a:endParaRPr lang="ko-KR" altLang="en-US" sz="1100" i="1">
              <a:solidFill>
                <a:srgbClr val="9CC6FF"/>
              </a:solidFill>
            </a:endParaRPr>
          </a:p>
        </p:txBody>
      </p:sp>
      <p:sp>
        <p:nvSpPr>
          <p:cNvPr id="18" name="TextBox 17">
            <a:extLst>
              <a:ext uri="{FF2B5EF4-FFF2-40B4-BE49-F238E27FC236}">
                <a16:creationId xmlns:a16="http://schemas.microsoft.com/office/drawing/2014/main" id="{6EF21FE4-9773-E949-9654-27C056FCD702}"/>
              </a:ext>
            </a:extLst>
          </p:cNvPr>
          <p:cNvSpPr txBox="1"/>
          <p:nvPr/>
        </p:nvSpPr>
        <p:spPr>
          <a:xfrm>
            <a:off x="35433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Ownership moves wallet-to-wallet — title is the wallet.</a:t>
            </a:r>
            <a:endParaRPr lang="ko-KR" altLang="en-US" sz="1100">
              <a:solidFill>
                <a:srgbClr val="D6E2F2"/>
              </a:solidFill>
            </a:endParaRPr>
          </a:p>
        </p:txBody>
      </p:sp>
      <p:sp>
        <p:nvSpPr>
          <p:cNvPr id="19" name="모서리가 둥근 직사각형 18">
            <a:extLst>
              <a:ext uri="{FF2B5EF4-FFF2-40B4-BE49-F238E27FC236}">
                <a16:creationId xmlns:a16="http://schemas.microsoft.com/office/drawing/2014/main" id="{074E8CDC-1491-484B-AE65-7596DB3CE02D}"/>
              </a:ext>
            </a:extLst>
          </p:cNvPr>
          <p:cNvSpPr/>
          <p:nvPr/>
        </p:nvSpPr>
        <p:spPr>
          <a:xfrm>
            <a:off x="60960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0" name="직사각형 19">
            <a:extLst>
              <a:ext uri="{FF2B5EF4-FFF2-40B4-BE49-F238E27FC236}">
                <a16:creationId xmlns:a16="http://schemas.microsoft.com/office/drawing/2014/main" id="{F914ABEF-E6A6-EE41-A794-B0B0FB344618}"/>
              </a:ext>
            </a:extLst>
          </p:cNvPr>
          <p:cNvSpPr/>
          <p:nvPr/>
        </p:nvSpPr>
        <p:spPr>
          <a:xfrm>
            <a:off x="64135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BCDF39B8-1974-144B-A97F-BFCF1E9CD17F}"/>
              </a:ext>
            </a:extLst>
          </p:cNvPr>
          <p:cNvSpPr txBox="1"/>
          <p:nvPr/>
        </p:nvSpPr>
        <p:spPr>
          <a:xfrm>
            <a:off x="62738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03</a:t>
            </a:r>
            <a:endParaRPr lang="ko-KR" altLang="en-US" sz="1400" b="1">
              <a:solidFill>
                <a:srgbClr val="4AA3FF"/>
              </a:solidFill>
            </a:endParaRPr>
          </a:p>
        </p:txBody>
      </p:sp>
      <p:sp>
        <p:nvSpPr>
          <p:cNvPr id="22" name="TextBox 21">
            <a:extLst>
              <a:ext uri="{FF2B5EF4-FFF2-40B4-BE49-F238E27FC236}">
                <a16:creationId xmlns:a16="http://schemas.microsoft.com/office/drawing/2014/main" id="{7B606B04-02F1-0046-B806-69FF58EEFE02}"/>
              </a:ext>
            </a:extLst>
          </p:cNvPr>
          <p:cNvSpPr txBox="1"/>
          <p:nvPr/>
        </p:nvSpPr>
        <p:spPr>
          <a:xfrm>
            <a:off x="62738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Service</a:t>
            </a:r>
            <a:endParaRPr lang="ko-KR" altLang="en-US" b="1">
              <a:solidFill>
                <a:srgbClr val="EDF4FF"/>
              </a:solidFill>
            </a:endParaRPr>
          </a:p>
        </p:txBody>
      </p:sp>
      <p:sp>
        <p:nvSpPr>
          <p:cNvPr id="23" name="TextBox 22">
            <a:extLst>
              <a:ext uri="{FF2B5EF4-FFF2-40B4-BE49-F238E27FC236}">
                <a16:creationId xmlns:a16="http://schemas.microsoft.com/office/drawing/2014/main" id="{A8B33C22-8D65-0F47-B987-3B95D7BDD7EA}"/>
              </a:ext>
            </a:extLst>
          </p:cNvPr>
          <p:cNvSpPr txBox="1"/>
          <p:nvPr/>
        </p:nvSpPr>
        <p:spPr>
          <a:xfrm>
            <a:off x="62738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Staked entry</a:t>
            </a:r>
            <a:endParaRPr lang="ko-KR" altLang="en-US" sz="1100" i="1">
              <a:solidFill>
                <a:srgbClr val="9CC6FF"/>
              </a:solidFill>
            </a:endParaRPr>
          </a:p>
        </p:txBody>
      </p:sp>
      <p:sp>
        <p:nvSpPr>
          <p:cNvPr id="24" name="TextBox 23">
            <a:extLst>
              <a:ext uri="{FF2B5EF4-FFF2-40B4-BE49-F238E27FC236}">
                <a16:creationId xmlns:a16="http://schemas.microsoft.com/office/drawing/2014/main" id="{70BC7328-E793-A94A-9D64-CD7A6B330623}"/>
              </a:ext>
            </a:extLst>
          </p:cNvPr>
          <p:cNvSpPr txBox="1"/>
          <p:nvPr/>
        </p:nvSpPr>
        <p:spPr>
          <a:xfrm>
            <a:off x="62738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Authorized mechanic signs. Stake is collateral against fraud.</a:t>
            </a:r>
            <a:endParaRPr lang="ko-KR" altLang="en-US" sz="1100">
              <a:solidFill>
                <a:srgbClr val="D6E2F2"/>
              </a:solidFill>
            </a:endParaRPr>
          </a:p>
        </p:txBody>
      </p:sp>
      <p:sp>
        <p:nvSpPr>
          <p:cNvPr id="25" name="모서리가 둥근 직사각형 24">
            <a:extLst>
              <a:ext uri="{FF2B5EF4-FFF2-40B4-BE49-F238E27FC236}">
                <a16:creationId xmlns:a16="http://schemas.microsoft.com/office/drawing/2014/main" id="{AC167BBC-8347-E841-92F8-1934B580970A}"/>
              </a:ext>
            </a:extLst>
          </p:cNvPr>
          <p:cNvSpPr/>
          <p:nvPr/>
        </p:nvSpPr>
        <p:spPr>
          <a:xfrm>
            <a:off x="88265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직사각형 25">
            <a:extLst>
              <a:ext uri="{FF2B5EF4-FFF2-40B4-BE49-F238E27FC236}">
                <a16:creationId xmlns:a16="http://schemas.microsoft.com/office/drawing/2014/main" id="{2081DC94-FA60-494C-90C6-0F5E13C9F5B6}"/>
              </a:ext>
            </a:extLst>
          </p:cNvPr>
          <p:cNvSpPr/>
          <p:nvPr/>
        </p:nvSpPr>
        <p:spPr>
          <a:xfrm>
            <a:off x="91440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7" name="TextBox 26">
            <a:extLst>
              <a:ext uri="{FF2B5EF4-FFF2-40B4-BE49-F238E27FC236}">
                <a16:creationId xmlns:a16="http://schemas.microsoft.com/office/drawing/2014/main" id="{97415713-E21C-8C4E-9E87-CF41CA04CC11}"/>
              </a:ext>
            </a:extLst>
          </p:cNvPr>
          <p:cNvSpPr txBox="1"/>
          <p:nvPr/>
        </p:nvSpPr>
        <p:spPr>
          <a:xfrm>
            <a:off x="90043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04</a:t>
            </a:r>
            <a:endParaRPr lang="ko-KR" altLang="en-US" sz="1400" b="1">
              <a:solidFill>
                <a:srgbClr val="4AA3FF"/>
              </a:solidFill>
            </a:endParaRPr>
          </a:p>
        </p:txBody>
      </p:sp>
      <p:sp>
        <p:nvSpPr>
          <p:cNvPr id="28" name="TextBox 27">
            <a:extLst>
              <a:ext uri="{FF2B5EF4-FFF2-40B4-BE49-F238E27FC236}">
                <a16:creationId xmlns:a16="http://schemas.microsoft.com/office/drawing/2014/main" id="{6AEC0E1B-9677-404C-8148-50E3D460BBF2}"/>
              </a:ext>
            </a:extLst>
          </p:cNvPr>
          <p:cNvSpPr txBox="1"/>
          <p:nvPr/>
        </p:nvSpPr>
        <p:spPr>
          <a:xfrm>
            <a:off x="90043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Inspect</a:t>
            </a:r>
            <a:endParaRPr lang="ko-KR" altLang="en-US" b="1">
              <a:solidFill>
                <a:srgbClr val="EDF4FF"/>
              </a:solidFill>
            </a:endParaRPr>
          </a:p>
        </p:txBody>
      </p:sp>
      <p:sp>
        <p:nvSpPr>
          <p:cNvPr id="29" name="TextBox 28">
            <a:extLst>
              <a:ext uri="{FF2B5EF4-FFF2-40B4-BE49-F238E27FC236}">
                <a16:creationId xmlns:a16="http://schemas.microsoft.com/office/drawing/2014/main" id="{51AA7C69-160F-EB42-BDD4-D50E57616C8C}"/>
              </a:ext>
            </a:extLst>
          </p:cNvPr>
          <p:cNvSpPr txBox="1"/>
          <p:nvPr/>
        </p:nvSpPr>
        <p:spPr>
          <a:xfrm>
            <a:off x="90043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Oracle consensus</a:t>
            </a:r>
            <a:endParaRPr lang="ko-KR" altLang="en-US" sz="1100" i="1">
              <a:solidFill>
                <a:srgbClr val="9CC6FF"/>
              </a:solidFill>
            </a:endParaRPr>
          </a:p>
        </p:txBody>
      </p:sp>
      <p:sp>
        <p:nvSpPr>
          <p:cNvPr id="30" name="TextBox 29">
            <a:extLst>
              <a:ext uri="{FF2B5EF4-FFF2-40B4-BE49-F238E27FC236}">
                <a16:creationId xmlns:a16="http://schemas.microsoft.com/office/drawing/2014/main" id="{309ECE53-2609-F744-BA2F-FAD74ACA5CF5}"/>
              </a:ext>
            </a:extLst>
          </p:cNvPr>
          <p:cNvSpPr txBox="1"/>
          <p:nvPr/>
        </p:nvSpPr>
        <p:spPr>
          <a:xfrm>
            <a:off x="90043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Multi-source confirmation before claims are finalized on-chain.</a:t>
            </a:r>
            <a:endParaRPr lang="ko-KR" altLang="en-US" sz="1100">
              <a:solidFill>
                <a:srgbClr val="D6E2F2"/>
              </a:solidFill>
            </a:endParaRPr>
          </a:p>
        </p:txBody>
      </p:sp>
      <p:sp>
        <p:nvSpPr>
          <p:cNvPr id="31" name="오른쪽 화살표[R] 30">
            <a:extLst>
              <a:ext uri="{FF2B5EF4-FFF2-40B4-BE49-F238E27FC236}">
                <a16:creationId xmlns:a16="http://schemas.microsoft.com/office/drawing/2014/main" id="{9669E596-58D1-FA48-AF21-175C96DAE6D6}"/>
              </a:ext>
            </a:extLst>
          </p:cNvPr>
          <p:cNvSpPr/>
          <p:nvPr/>
        </p:nvSpPr>
        <p:spPr>
          <a:xfrm>
            <a:off x="31750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2" name="오른쪽 화살표[R] 31">
            <a:extLst>
              <a:ext uri="{FF2B5EF4-FFF2-40B4-BE49-F238E27FC236}">
                <a16:creationId xmlns:a16="http://schemas.microsoft.com/office/drawing/2014/main" id="{8EF8FFCD-A3A2-3945-B103-26C38526E5B7}"/>
              </a:ext>
            </a:extLst>
          </p:cNvPr>
          <p:cNvSpPr/>
          <p:nvPr/>
        </p:nvSpPr>
        <p:spPr>
          <a:xfrm>
            <a:off x="59055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오른쪽 화살표[R] 32">
            <a:extLst>
              <a:ext uri="{FF2B5EF4-FFF2-40B4-BE49-F238E27FC236}">
                <a16:creationId xmlns:a16="http://schemas.microsoft.com/office/drawing/2014/main" id="{58B107CB-B1F5-1842-8EF4-323C685A80A5}"/>
              </a:ext>
            </a:extLst>
          </p:cNvPr>
          <p:cNvSpPr/>
          <p:nvPr/>
        </p:nvSpPr>
        <p:spPr>
          <a:xfrm>
            <a:off x="86360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E17D9648-60A4-4C43-8358-A8F61D1E63D4}"/>
              </a:ext>
            </a:extLst>
          </p:cNvPr>
          <p:cNvSpPr txBox="1"/>
          <p:nvPr/>
        </p:nvSpPr>
        <p:spPr>
          <a:xfrm>
            <a:off x="635000" y="4546600"/>
            <a:ext cx="635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INTEGRITY ENFORCED AT THE PROTOCOL LEVEL</a:t>
            </a:r>
            <a:endParaRPr lang="ko-KR" altLang="en-US" sz="900" b="1">
              <a:solidFill>
                <a:srgbClr val="7E94B0"/>
              </a:solidFill>
            </a:endParaRPr>
          </a:p>
        </p:txBody>
      </p:sp>
      <p:sp>
        <p:nvSpPr>
          <p:cNvPr id="35" name="직사각형 34">
            <a:extLst>
              <a:ext uri="{FF2B5EF4-FFF2-40B4-BE49-F238E27FC236}">
                <a16:creationId xmlns:a16="http://schemas.microsoft.com/office/drawing/2014/main" id="{B6FBBDB9-7DF9-1344-8FC6-D65A08092FBC}"/>
              </a:ext>
            </a:extLst>
          </p:cNvPr>
          <p:cNvSpPr/>
          <p:nvPr/>
        </p:nvSpPr>
        <p:spPr>
          <a:xfrm>
            <a:off x="635000" y="4800600"/>
            <a:ext cx="10922000" cy="14986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6" name="직사각형 35">
            <a:extLst>
              <a:ext uri="{FF2B5EF4-FFF2-40B4-BE49-F238E27FC236}">
                <a16:creationId xmlns:a16="http://schemas.microsoft.com/office/drawing/2014/main" id="{96A516BE-96B8-114F-8C6E-70BB41EFB789}"/>
              </a:ext>
            </a:extLst>
          </p:cNvPr>
          <p:cNvSpPr/>
          <p:nvPr/>
        </p:nvSpPr>
        <p:spPr>
          <a:xfrm>
            <a:off x="863600" y="50292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D37C0463-DB3D-4C42-A12B-C6D1D462F281}"/>
              </a:ext>
            </a:extLst>
          </p:cNvPr>
          <p:cNvSpPr txBox="1"/>
          <p:nvPr/>
        </p:nvSpPr>
        <p:spPr>
          <a:xfrm>
            <a:off x="1041400" y="49784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Non-sequential mileage</a:t>
            </a:r>
            <a:endParaRPr lang="ko-KR" altLang="en-US" sz="1200" b="1">
              <a:solidFill>
                <a:srgbClr val="EDF4FF"/>
              </a:solidFill>
            </a:endParaRPr>
          </a:p>
        </p:txBody>
      </p:sp>
      <p:sp>
        <p:nvSpPr>
          <p:cNvPr id="38" name="TextBox 37">
            <a:extLst>
              <a:ext uri="{FF2B5EF4-FFF2-40B4-BE49-F238E27FC236}">
                <a16:creationId xmlns:a16="http://schemas.microsoft.com/office/drawing/2014/main" id="{E3B22EA4-E98F-344D-9F4C-1FFECB384D79}"/>
              </a:ext>
            </a:extLst>
          </p:cNvPr>
          <p:cNvSpPr txBox="1"/>
          <p:nvPr/>
        </p:nvSpPr>
        <p:spPr>
          <a:xfrm>
            <a:off x="4572000" y="49784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Mileage readings below a prior entry are flagged automatically. Rollback is structurally impossible.</a:t>
            </a:r>
            <a:endParaRPr lang="ko-KR" altLang="en-US" sz="1100">
              <a:solidFill>
                <a:srgbClr val="D6E2F2"/>
              </a:solidFill>
            </a:endParaRPr>
          </a:p>
        </p:txBody>
      </p:sp>
      <p:sp>
        <p:nvSpPr>
          <p:cNvPr id="39" name="직사각형 38">
            <a:extLst>
              <a:ext uri="{FF2B5EF4-FFF2-40B4-BE49-F238E27FC236}">
                <a16:creationId xmlns:a16="http://schemas.microsoft.com/office/drawing/2014/main" id="{6C5D2209-D40B-F94E-9AEB-5C58C3AB8C0A}"/>
              </a:ext>
            </a:extLst>
          </p:cNvPr>
          <p:cNvSpPr/>
          <p:nvPr/>
        </p:nvSpPr>
        <p:spPr>
          <a:xfrm>
            <a:off x="863600" y="54356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B7E06E66-ED03-194A-BE4F-0C3C386657E4}"/>
              </a:ext>
            </a:extLst>
          </p:cNvPr>
          <p:cNvSpPr txBox="1"/>
          <p:nvPr/>
        </p:nvSpPr>
        <p:spPr>
          <a:xfrm>
            <a:off x="1041400" y="53848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Conflicting service records</a:t>
            </a:r>
            <a:endParaRPr lang="ko-KR" altLang="en-US" sz="1200" b="1">
              <a:solidFill>
                <a:srgbClr val="EDF4FF"/>
              </a:solidFill>
            </a:endParaRPr>
          </a:p>
        </p:txBody>
      </p:sp>
      <p:sp>
        <p:nvSpPr>
          <p:cNvPr id="41" name="TextBox 40">
            <a:extLst>
              <a:ext uri="{FF2B5EF4-FFF2-40B4-BE49-F238E27FC236}">
                <a16:creationId xmlns:a16="http://schemas.microsoft.com/office/drawing/2014/main" id="{B79B327D-39B8-E544-AA7E-9FEDEE65B4E9}"/>
              </a:ext>
            </a:extLst>
          </p:cNvPr>
          <p:cNvSpPr txBox="1"/>
          <p:nvPr/>
        </p:nvSpPr>
        <p:spPr>
          <a:xfrm>
            <a:off x="4572000" y="53848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Two writers logging incompatible work on the same bike triggers a dispute window before either entry finalizes.</a:t>
            </a:r>
            <a:endParaRPr lang="ko-KR" altLang="en-US" sz="1100">
              <a:solidFill>
                <a:srgbClr val="D6E2F2"/>
              </a:solidFill>
            </a:endParaRPr>
          </a:p>
        </p:txBody>
      </p:sp>
      <p:sp>
        <p:nvSpPr>
          <p:cNvPr id="42" name="직사각형 41">
            <a:extLst>
              <a:ext uri="{FF2B5EF4-FFF2-40B4-BE49-F238E27FC236}">
                <a16:creationId xmlns:a16="http://schemas.microsoft.com/office/drawing/2014/main" id="{F2DDB251-4CE3-9043-BE54-127AE1D227CA}"/>
              </a:ext>
            </a:extLst>
          </p:cNvPr>
          <p:cNvSpPr/>
          <p:nvPr/>
        </p:nvSpPr>
        <p:spPr>
          <a:xfrm>
            <a:off x="863600" y="5842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3" name="TextBox 42">
            <a:extLst>
              <a:ext uri="{FF2B5EF4-FFF2-40B4-BE49-F238E27FC236}">
                <a16:creationId xmlns:a16="http://schemas.microsoft.com/office/drawing/2014/main" id="{812528E6-CC9F-EF4C-8139-A261C8DBD870}"/>
              </a:ext>
            </a:extLst>
          </p:cNvPr>
          <p:cNvSpPr txBox="1"/>
          <p:nvPr/>
        </p:nvSpPr>
        <p:spPr>
          <a:xfrm>
            <a:off x="1041400" y="57912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Cryptographic write authorization</a:t>
            </a:r>
            <a:endParaRPr lang="ko-KR" altLang="en-US" sz="1200" b="1">
              <a:solidFill>
                <a:srgbClr val="EDF4FF"/>
              </a:solidFill>
            </a:endParaRPr>
          </a:p>
        </p:txBody>
      </p:sp>
      <p:sp>
        <p:nvSpPr>
          <p:cNvPr id="44" name="TextBox 43">
            <a:extLst>
              <a:ext uri="{FF2B5EF4-FFF2-40B4-BE49-F238E27FC236}">
                <a16:creationId xmlns:a16="http://schemas.microsoft.com/office/drawing/2014/main" id="{1656EE01-7A5A-304D-B784-3679C77FA5EE}"/>
              </a:ext>
            </a:extLst>
          </p:cNvPr>
          <p:cNvSpPr txBox="1"/>
          <p:nvPr/>
        </p:nvSpPr>
        <p:spPr>
          <a:xfrm>
            <a:off x="4572000" y="57912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Only wallets with active stake can write. Stake auto-slashes on confirmed fraud.</a:t>
            </a:r>
            <a:endParaRPr lang="ko-KR" altLang="en-US" sz="1100">
              <a:solidFill>
                <a:srgbClr val="D6E2F2"/>
              </a:solidFill>
            </a:endParaRPr>
          </a:p>
        </p:txBody>
      </p:sp>
      <p:sp>
        <p:nvSpPr>
          <p:cNvPr id="45" name="직사각형 44">
            <a:extLst>
              <a:ext uri="{FF2B5EF4-FFF2-40B4-BE49-F238E27FC236}">
                <a16:creationId xmlns:a16="http://schemas.microsoft.com/office/drawing/2014/main" id="{7CBBE6B4-8823-4349-A6A1-520D7B963E32}"/>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6" name="TextBox 45">
            <a:extLst>
              <a:ext uri="{FF2B5EF4-FFF2-40B4-BE49-F238E27FC236}">
                <a16:creationId xmlns:a16="http://schemas.microsoft.com/office/drawing/2014/main" id="{1E8B0152-332D-C947-A3DE-EB8681FBD85F}"/>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Data integrity isn't a process — it's a contract clause. Bad data can't be written, not just challenged after the fact.</a:t>
            </a:r>
            <a:endParaRPr lang="ko-KR" altLang="en-US" sz="1300" b="1">
              <a:solidFill>
                <a:srgbClr val="EDF4FF"/>
              </a:solidFill>
            </a:endParaRPr>
          </a:p>
        </p:txBody>
      </p:sp>
      <p:sp>
        <p:nvSpPr>
          <p:cNvPr id="48" name="TextBox 47">
            <a:extLst>
              <a:ext uri="{FF2B5EF4-FFF2-40B4-BE49-F238E27FC236}">
                <a16:creationId xmlns:a16="http://schemas.microsoft.com/office/drawing/2014/main" id="{8B919751-3E19-B675-37CA-C865EDBACA73}"/>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250382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EF3B6F-EEA1-6342-8355-39FE9A163958}"/>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A8E89E"/>
                </a:solidFill>
              </a:rPr>
              <a:t>II.2  ·  RIDETRUE  ·  TELEMETRY INTEGRITY</a:t>
            </a:r>
            <a:endParaRPr lang="ko-KR" altLang="en-US" sz="1200" b="1">
              <a:solidFill>
                <a:srgbClr val="A8E89E"/>
              </a:solidFill>
            </a:endParaRPr>
          </a:p>
        </p:txBody>
      </p:sp>
      <p:sp>
        <p:nvSpPr>
          <p:cNvPr id="3" name="TextBox 2">
            <a:extLst>
              <a:ext uri="{FF2B5EF4-FFF2-40B4-BE49-F238E27FC236}">
                <a16:creationId xmlns:a16="http://schemas.microsoft.com/office/drawing/2014/main" id="{565B18DB-FCF2-C541-8F2C-652B1EB61538}"/>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2800" b="1">
                <a:solidFill>
                  <a:srgbClr val="EDF4FF"/>
                </a:solidFill>
              </a:rPr>
              <a:t>ZK proves the math. Five defenses prove the inputs.</a:t>
            </a:r>
            <a:endParaRPr lang="ko-KR" altLang="en-US" sz="2800" b="1">
              <a:solidFill>
                <a:srgbClr val="EDF4FF"/>
              </a:solidFill>
            </a:endParaRPr>
          </a:p>
        </p:txBody>
      </p:sp>
      <p:sp>
        <p:nvSpPr>
          <p:cNvPr id="4" name="TextBox 3">
            <a:extLst>
              <a:ext uri="{FF2B5EF4-FFF2-40B4-BE49-F238E27FC236}">
                <a16:creationId xmlns:a16="http://schemas.microsoft.com/office/drawing/2014/main" id="{532DA79A-98BD-A842-8ED1-D0F8BB9090A3}"/>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A ZK proof confirms inputs lead to a score — it cannot confirm those inputs reflect real riding. Anti-spoofing is the design challenge.</a:t>
            </a:r>
            <a:endParaRPr lang="ko-KR" altLang="en-US" sz="1300" i="1">
              <a:solidFill>
                <a:srgbClr val="B8C8E0"/>
              </a:solidFill>
            </a:endParaRPr>
          </a:p>
        </p:txBody>
      </p:sp>
      <p:sp>
        <p:nvSpPr>
          <p:cNvPr id="5" name="직사각형 4">
            <a:extLst>
              <a:ext uri="{FF2B5EF4-FFF2-40B4-BE49-F238E27FC236}">
                <a16:creationId xmlns:a16="http://schemas.microsoft.com/office/drawing/2014/main" id="{E339B8B8-0802-2344-980F-1FA2C2CAFE14}"/>
              </a:ext>
            </a:extLst>
          </p:cNvPr>
          <p:cNvSpPr/>
          <p:nvPr/>
        </p:nvSpPr>
        <p:spPr>
          <a:xfrm>
            <a:off x="635000" y="2082800"/>
            <a:ext cx="1092200" cy="50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직사각형 5">
            <a:extLst>
              <a:ext uri="{FF2B5EF4-FFF2-40B4-BE49-F238E27FC236}">
                <a16:creationId xmlns:a16="http://schemas.microsoft.com/office/drawing/2014/main" id="{5C982C06-1C06-0740-A2E0-28025E8D186C}"/>
              </a:ext>
            </a:extLst>
          </p:cNvPr>
          <p:cNvSpPr/>
          <p:nvPr/>
        </p:nvSpPr>
        <p:spPr>
          <a:xfrm>
            <a:off x="635000" y="2387600"/>
            <a:ext cx="10922000" cy="558800"/>
          </a:xfrm>
          <a:prstGeom prst="rect">
            <a:avLst/>
          </a:prstGeom>
          <a:solidFill>
            <a:srgbClr val="1A120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38B52BB3-4A32-6C40-8D0A-C5A7DFFE208C}"/>
              </a:ext>
            </a:extLst>
          </p:cNvPr>
          <p:cNvSpPr/>
          <p:nvPr/>
        </p:nvSpPr>
        <p:spPr>
          <a:xfrm>
            <a:off x="635000" y="2387600"/>
            <a:ext cx="50800" cy="5588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C8A21C34-FE5A-3148-B4CB-FFC5ECCE08AE}"/>
              </a:ext>
            </a:extLst>
          </p:cNvPr>
          <p:cNvSpPr txBox="1"/>
          <p:nvPr/>
        </p:nvSpPr>
        <p:spPr>
          <a:xfrm>
            <a:off x="863600" y="2413000"/>
            <a:ext cx="2540000" cy="152400"/>
          </a:xfrm>
          <a:prstGeom prst="rect">
            <a:avLst/>
          </a:prstGeom>
          <a:noFill/>
          <a:ln>
            <a:noFill/>
          </a:ln>
        </p:spPr>
        <p:txBody>
          <a:bodyPr vertOverflow="overflow" vert="horz" wrap="square" rtlCol="0" anchor="t">
            <a:spAutoFit/>
          </a:bodyPr>
          <a:lstStyle/>
          <a:p>
            <a:pPr algn="l"/>
            <a:r>
              <a:rPr lang="en-US" altLang="ko-KR" sz="900" b="1" dirty="0">
                <a:solidFill>
                  <a:srgbClr val="F4A261"/>
                </a:solidFill>
              </a:rPr>
              <a:t>THE ATTACK</a:t>
            </a:r>
            <a:endParaRPr lang="ko-KR" altLang="en-US" sz="900" b="1" dirty="0">
              <a:solidFill>
                <a:srgbClr val="F4A261"/>
              </a:solidFill>
            </a:endParaRPr>
          </a:p>
        </p:txBody>
      </p:sp>
      <p:sp>
        <p:nvSpPr>
          <p:cNvPr id="9" name="TextBox 8">
            <a:extLst>
              <a:ext uri="{FF2B5EF4-FFF2-40B4-BE49-F238E27FC236}">
                <a16:creationId xmlns:a16="http://schemas.microsoft.com/office/drawing/2014/main" id="{ABF6C4F3-66DB-304E-A50D-D887DB787367}"/>
              </a:ext>
            </a:extLst>
          </p:cNvPr>
          <p:cNvSpPr txBox="1"/>
          <p:nvPr/>
        </p:nvSpPr>
        <p:spPr>
          <a:xfrm>
            <a:off x="863600" y="2616200"/>
            <a:ext cx="10414000" cy="228600"/>
          </a:xfrm>
          <a:prstGeom prst="rect">
            <a:avLst/>
          </a:prstGeom>
          <a:noFill/>
          <a:ln>
            <a:noFill/>
          </a:ln>
        </p:spPr>
        <p:txBody>
          <a:bodyPr vertOverflow="overflow" vert="horz" wrap="square" rtlCol="0" anchor="t">
            <a:spAutoFit/>
          </a:bodyPr>
          <a:lstStyle/>
          <a:p>
            <a:pPr algn="l"/>
            <a:r>
              <a:rPr lang="en-US" altLang="ko-KR" sz="1200" b="1" dirty="0">
                <a:solidFill>
                  <a:srgbClr val="EDF4FF"/>
                </a:solidFill>
              </a:rPr>
              <a:t>Spoof GPS, replay clean rides on a stationary device, or fabricate accelerometer data to earn undeserved premium discounts.</a:t>
            </a:r>
            <a:endParaRPr lang="ko-KR" altLang="en-US" sz="1200" b="1" dirty="0">
              <a:solidFill>
                <a:srgbClr val="EDF4FF"/>
              </a:solidFill>
            </a:endParaRPr>
          </a:p>
        </p:txBody>
      </p:sp>
      <p:sp>
        <p:nvSpPr>
          <p:cNvPr id="10" name="모서리가 둥근 직사각형 9">
            <a:extLst>
              <a:ext uri="{FF2B5EF4-FFF2-40B4-BE49-F238E27FC236}">
                <a16:creationId xmlns:a16="http://schemas.microsoft.com/office/drawing/2014/main" id="{D125D1A5-D1E3-C64D-8D71-6CFB05CED0CA}"/>
              </a:ext>
            </a:extLst>
          </p:cNvPr>
          <p:cNvSpPr/>
          <p:nvPr/>
        </p:nvSpPr>
        <p:spPr>
          <a:xfrm>
            <a:off x="635000" y="30988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1" name="직사각형 10">
            <a:extLst>
              <a:ext uri="{FF2B5EF4-FFF2-40B4-BE49-F238E27FC236}">
                <a16:creationId xmlns:a16="http://schemas.microsoft.com/office/drawing/2014/main" id="{8DBB4965-9571-A64D-98EA-0119F4ED9658}"/>
              </a:ext>
            </a:extLst>
          </p:cNvPr>
          <p:cNvSpPr/>
          <p:nvPr/>
        </p:nvSpPr>
        <p:spPr>
          <a:xfrm>
            <a:off x="640080" y="32766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DB0AB973-5C45-CA4D-8D1A-CD6AAEA68E1C}"/>
              </a:ext>
            </a:extLst>
          </p:cNvPr>
          <p:cNvSpPr txBox="1"/>
          <p:nvPr/>
        </p:nvSpPr>
        <p:spPr>
          <a:xfrm>
            <a:off x="863600" y="32512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1</a:t>
            </a:r>
            <a:endParaRPr lang="ko-KR" altLang="en-US" sz="2800" b="1">
              <a:solidFill>
                <a:srgbClr val="A8E89E"/>
              </a:solidFill>
            </a:endParaRPr>
          </a:p>
        </p:txBody>
      </p:sp>
      <p:sp>
        <p:nvSpPr>
          <p:cNvPr id="13" name="TextBox 12">
            <a:extLst>
              <a:ext uri="{FF2B5EF4-FFF2-40B4-BE49-F238E27FC236}">
                <a16:creationId xmlns:a16="http://schemas.microsoft.com/office/drawing/2014/main" id="{0A291F5E-FB47-674D-AB2E-E14FEEC8AC39}"/>
              </a:ext>
            </a:extLst>
          </p:cNvPr>
          <p:cNvSpPr txBox="1"/>
          <p:nvPr/>
        </p:nvSpPr>
        <p:spPr>
          <a:xfrm>
            <a:off x="1447800" y="32766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HARDWARE ATTESTATION</a:t>
            </a:r>
            <a:endParaRPr lang="ko-KR" altLang="en-US" sz="900" b="1">
              <a:solidFill>
                <a:srgbClr val="A8E89E"/>
              </a:solidFill>
            </a:endParaRPr>
          </a:p>
        </p:txBody>
      </p:sp>
      <p:sp>
        <p:nvSpPr>
          <p:cNvPr id="14" name="TextBox 13">
            <a:extLst>
              <a:ext uri="{FF2B5EF4-FFF2-40B4-BE49-F238E27FC236}">
                <a16:creationId xmlns:a16="http://schemas.microsoft.com/office/drawing/2014/main" id="{E67183EF-8F70-314D-8EC2-41906953CB50}"/>
              </a:ext>
            </a:extLst>
          </p:cNvPr>
          <p:cNvSpPr txBox="1"/>
          <p:nvPr/>
        </p:nvSpPr>
        <p:spPr>
          <a:xfrm>
            <a:off x="1447800" y="34544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Prove the device is real</a:t>
            </a:r>
            <a:endParaRPr lang="ko-KR" altLang="en-US" sz="1400" b="1">
              <a:solidFill>
                <a:srgbClr val="EDF4FF"/>
              </a:solidFill>
            </a:endParaRPr>
          </a:p>
        </p:txBody>
      </p:sp>
      <p:sp>
        <p:nvSpPr>
          <p:cNvPr id="15" name="TextBox 14">
            <a:extLst>
              <a:ext uri="{FF2B5EF4-FFF2-40B4-BE49-F238E27FC236}">
                <a16:creationId xmlns:a16="http://schemas.microsoft.com/office/drawing/2014/main" id="{DFDC3653-84B3-D240-B3BF-06227AC46BFF}"/>
              </a:ext>
            </a:extLst>
          </p:cNvPr>
          <p:cNvSpPr txBox="1"/>
          <p:nvPr/>
        </p:nvSpPr>
        <p:spPr>
          <a:xfrm>
            <a:off x="1447800" y="37846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Android Play Integrity, iOS DeviceCheck and App Attest confirm telemetry came from a genuine, uncompromised device running the official app.</a:t>
            </a:r>
            <a:endParaRPr lang="ko-KR" altLang="en-US" sz="1100">
              <a:solidFill>
                <a:srgbClr val="D6E2F2"/>
              </a:solidFill>
            </a:endParaRPr>
          </a:p>
        </p:txBody>
      </p:sp>
      <p:sp>
        <p:nvSpPr>
          <p:cNvPr id="16" name="모서리가 둥근 직사각형 15">
            <a:extLst>
              <a:ext uri="{FF2B5EF4-FFF2-40B4-BE49-F238E27FC236}">
                <a16:creationId xmlns:a16="http://schemas.microsoft.com/office/drawing/2014/main" id="{6AD0E46A-65D8-0341-AAF1-D10709549154}"/>
              </a:ext>
            </a:extLst>
          </p:cNvPr>
          <p:cNvSpPr/>
          <p:nvPr/>
        </p:nvSpPr>
        <p:spPr>
          <a:xfrm>
            <a:off x="6350000" y="30988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A22DD11D-47C1-C145-938B-BD9D8530418E}"/>
              </a:ext>
            </a:extLst>
          </p:cNvPr>
          <p:cNvSpPr/>
          <p:nvPr/>
        </p:nvSpPr>
        <p:spPr>
          <a:xfrm>
            <a:off x="6355080" y="32766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E437FAD0-BA82-6F4F-B760-B85A9A61DA6F}"/>
              </a:ext>
            </a:extLst>
          </p:cNvPr>
          <p:cNvSpPr txBox="1"/>
          <p:nvPr/>
        </p:nvSpPr>
        <p:spPr>
          <a:xfrm>
            <a:off x="6578600" y="32512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2</a:t>
            </a:r>
            <a:endParaRPr lang="ko-KR" altLang="en-US" sz="2800" b="1">
              <a:solidFill>
                <a:srgbClr val="A8E89E"/>
              </a:solidFill>
            </a:endParaRPr>
          </a:p>
        </p:txBody>
      </p:sp>
      <p:sp>
        <p:nvSpPr>
          <p:cNvPr id="19" name="TextBox 18">
            <a:extLst>
              <a:ext uri="{FF2B5EF4-FFF2-40B4-BE49-F238E27FC236}">
                <a16:creationId xmlns:a16="http://schemas.microsoft.com/office/drawing/2014/main" id="{7849C0E9-B039-704B-9E4F-1B3D9C78CEFC}"/>
              </a:ext>
            </a:extLst>
          </p:cNvPr>
          <p:cNvSpPr txBox="1"/>
          <p:nvPr/>
        </p:nvSpPr>
        <p:spPr>
          <a:xfrm>
            <a:off x="7162800" y="32766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SENSOR FUSION</a:t>
            </a:r>
            <a:endParaRPr lang="ko-KR" altLang="en-US" sz="900" b="1">
              <a:solidFill>
                <a:srgbClr val="A8E89E"/>
              </a:solidFill>
            </a:endParaRPr>
          </a:p>
        </p:txBody>
      </p:sp>
      <p:sp>
        <p:nvSpPr>
          <p:cNvPr id="20" name="TextBox 19">
            <a:extLst>
              <a:ext uri="{FF2B5EF4-FFF2-40B4-BE49-F238E27FC236}">
                <a16:creationId xmlns:a16="http://schemas.microsoft.com/office/drawing/2014/main" id="{9D5599A1-D704-2B4F-8748-CC2ED37D50FB}"/>
              </a:ext>
            </a:extLst>
          </p:cNvPr>
          <p:cNvSpPr txBox="1"/>
          <p:nvPr/>
        </p:nvSpPr>
        <p:spPr>
          <a:xfrm>
            <a:off x="7162800" y="34544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Make spoofing combinatorially hard</a:t>
            </a:r>
            <a:endParaRPr lang="ko-KR" altLang="en-US" sz="1400" b="1">
              <a:solidFill>
                <a:srgbClr val="EDF4FF"/>
              </a:solidFill>
            </a:endParaRPr>
          </a:p>
        </p:txBody>
      </p:sp>
      <p:sp>
        <p:nvSpPr>
          <p:cNvPr id="21" name="TextBox 20">
            <a:extLst>
              <a:ext uri="{FF2B5EF4-FFF2-40B4-BE49-F238E27FC236}">
                <a16:creationId xmlns:a16="http://schemas.microsoft.com/office/drawing/2014/main" id="{8E29D13C-245C-A440-8B77-2A6EFFEE5064}"/>
              </a:ext>
            </a:extLst>
          </p:cNvPr>
          <p:cNvSpPr txBox="1"/>
          <p:nvPr/>
        </p:nvSpPr>
        <p:spPr>
          <a:xfrm>
            <a:off x="7162800" y="37846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Reconstruct behavior from GPS, accelerometer, gyroscope, magnetometer, and where available, OBD/ECU. A spoofer must forge all of them consistently.</a:t>
            </a:r>
            <a:endParaRPr lang="ko-KR" altLang="en-US" sz="1100">
              <a:solidFill>
                <a:srgbClr val="D6E2F2"/>
              </a:solidFill>
            </a:endParaRPr>
          </a:p>
        </p:txBody>
      </p:sp>
      <p:sp>
        <p:nvSpPr>
          <p:cNvPr id="22" name="모서리가 둥근 직사각형 21">
            <a:extLst>
              <a:ext uri="{FF2B5EF4-FFF2-40B4-BE49-F238E27FC236}">
                <a16:creationId xmlns:a16="http://schemas.microsoft.com/office/drawing/2014/main" id="{83F40BEC-D4AC-0549-8840-200E6FA2C61F}"/>
              </a:ext>
            </a:extLst>
          </p:cNvPr>
          <p:cNvSpPr/>
          <p:nvPr/>
        </p:nvSpPr>
        <p:spPr>
          <a:xfrm>
            <a:off x="635000" y="48514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D8748F44-9D3F-B045-940C-F9D606BC1E74}"/>
              </a:ext>
            </a:extLst>
          </p:cNvPr>
          <p:cNvSpPr/>
          <p:nvPr/>
        </p:nvSpPr>
        <p:spPr>
          <a:xfrm>
            <a:off x="640080" y="50292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3AAA5483-24A0-504E-ADF9-D9DF1BED7A58}"/>
              </a:ext>
            </a:extLst>
          </p:cNvPr>
          <p:cNvSpPr txBox="1"/>
          <p:nvPr/>
        </p:nvSpPr>
        <p:spPr>
          <a:xfrm>
            <a:off x="863600" y="50038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3</a:t>
            </a:r>
            <a:endParaRPr lang="ko-KR" altLang="en-US" sz="2800" b="1">
              <a:solidFill>
                <a:srgbClr val="A8E89E"/>
              </a:solidFill>
            </a:endParaRPr>
          </a:p>
        </p:txBody>
      </p:sp>
      <p:sp>
        <p:nvSpPr>
          <p:cNvPr id="25" name="TextBox 24">
            <a:extLst>
              <a:ext uri="{FF2B5EF4-FFF2-40B4-BE49-F238E27FC236}">
                <a16:creationId xmlns:a16="http://schemas.microsoft.com/office/drawing/2014/main" id="{54EDCF77-466A-4B42-B9E8-CC849419C766}"/>
              </a:ext>
            </a:extLst>
          </p:cNvPr>
          <p:cNvSpPr txBox="1"/>
          <p:nvPr/>
        </p:nvSpPr>
        <p:spPr>
          <a:xfrm>
            <a:off x="1447800" y="50292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STATISTICAL ANOMALY</a:t>
            </a:r>
            <a:endParaRPr lang="ko-KR" altLang="en-US" sz="900" b="1">
              <a:solidFill>
                <a:srgbClr val="A8E89E"/>
              </a:solidFill>
            </a:endParaRPr>
          </a:p>
        </p:txBody>
      </p:sp>
      <p:sp>
        <p:nvSpPr>
          <p:cNvPr id="26" name="TextBox 25">
            <a:extLst>
              <a:ext uri="{FF2B5EF4-FFF2-40B4-BE49-F238E27FC236}">
                <a16:creationId xmlns:a16="http://schemas.microsoft.com/office/drawing/2014/main" id="{4A8C22CD-E9F6-1C45-80B9-8F5DD6F0C09A}"/>
              </a:ext>
            </a:extLst>
          </p:cNvPr>
          <p:cNvSpPr txBox="1"/>
          <p:nvPr/>
        </p:nvSpPr>
        <p:spPr>
          <a:xfrm>
            <a:off x="1447800" y="52070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Catch what doesn't add up</a:t>
            </a:r>
            <a:endParaRPr lang="ko-KR" altLang="en-US" sz="1400" b="1">
              <a:solidFill>
                <a:srgbClr val="EDF4FF"/>
              </a:solidFill>
            </a:endParaRPr>
          </a:p>
        </p:txBody>
      </p:sp>
      <p:sp>
        <p:nvSpPr>
          <p:cNvPr id="27" name="TextBox 26">
            <a:extLst>
              <a:ext uri="{FF2B5EF4-FFF2-40B4-BE49-F238E27FC236}">
                <a16:creationId xmlns:a16="http://schemas.microsoft.com/office/drawing/2014/main" id="{1B8DB834-8E38-CA44-9896-328EDA79DA65}"/>
              </a:ext>
            </a:extLst>
          </p:cNvPr>
          <p:cNvSpPr txBox="1"/>
          <p:nvPr/>
        </p:nvSpPr>
        <p:spPr>
          <a:xfrm>
            <a:off x="1447800" y="55372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Per-rider baseline flags physically implausible trajectories or accelerometer signatures inconsistent with reported speed. Flagged rides exit scoring.</a:t>
            </a:r>
            <a:endParaRPr lang="ko-KR" altLang="en-US" sz="1100">
              <a:solidFill>
                <a:srgbClr val="D6E2F2"/>
              </a:solidFill>
            </a:endParaRPr>
          </a:p>
        </p:txBody>
      </p:sp>
      <p:sp>
        <p:nvSpPr>
          <p:cNvPr id="28" name="모서리가 둥근 직사각형 27">
            <a:extLst>
              <a:ext uri="{FF2B5EF4-FFF2-40B4-BE49-F238E27FC236}">
                <a16:creationId xmlns:a16="http://schemas.microsoft.com/office/drawing/2014/main" id="{45C1ACF0-ABEA-004F-8BC6-61D0481F3F22}"/>
              </a:ext>
            </a:extLst>
          </p:cNvPr>
          <p:cNvSpPr/>
          <p:nvPr/>
        </p:nvSpPr>
        <p:spPr>
          <a:xfrm>
            <a:off x="6350000" y="48514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5445B494-4539-0B43-A681-DFA3780661A7}"/>
              </a:ext>
            </a:extLst>
          </p:cNvPr>
          <p:cNvSpPr/>
          <p:nvPr/>
        </p:nvSpPr>
        <p:spPr>
          <a:xfrm>
            <a:off x="6355080" y="50292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51D2FC18-31BC-3F42-92BA-C72965114A3B}"/>
              </a:ext>
            </a:extLst>
          </p:cNvPr>
          <p:cNvSpPr txBox="1"/>
          <p:nvPr/>
        </p:nvSpPr>
        <p:spPr>
          <a:xfrm>
            <a:off x="6578600" y="50038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4</a:t>
            </a:r>
            <a:endParaRPr lang="ko-KR" altLang="en-US" sz="2800" b="1">
              <a:solidFill>
                <a:srgbClr val="A8E89E"/>
              </a:solidFill>
            </a:endParaRPr>
          </a:p>
        </p:txBody>
      </p:sp>
      <p:sp>
        <p:nvSpPr>
          <p:cNvPr id="31" name="TextBox 30">
            <a:extLst>
              <a:ext uri="{FF2B5EF4-FFF2-40B4-BE49-F238E27FC236}">
                <a16:creationId xmlns:a16="http://schemas.microsoft.com/office/drawing/2014/main" id="{6B6D02D4-73CE-5446-9D43-9274C60FECCC}"/>
              </a:ext>
            </a:extLst>
          </p:cNvPr>
          <p:cNvSpPr txBox="1"/>
          <p:nvPr/>
        </p:nvSpPr>
        <p:spPr>
          <a:xfrm>
            <a:off x="7162800" y="50292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SAMPLING &amp; CHALLENGE</a:t>
            </a:r>
            <a:endParaRPr lang="ko-KR" altLang="en-US" sz="900" b="1">
              <a:solidFill>
                <a:srgbClr val="A8E89E"/>
              </a:solidFill>
            </a:endParaRPr>
          </a:p>
        </p:txBody>
      </p:sp>
      <p:sp>
        <p:nvSpPr>
          <p:cNvPr id="32" name="TextBox 31">
            <a:extLst>
              <a:ext uri="{FF2B5EF4-FFF2-40B4-BE49-F238E27FC236}">
                <a16:creationId xmlns:a16="http://schemas.microsoft.com/office/drawing/2014/main" id="{2380DD4A-D17C-7A4A-A267-D367B8CF8D51}"/>
              </a:ext>
            </a:extLst>
          </p:cNvPr>
          <p:cNvSpPr txBox="1"/>
          <p:nvPr/>
        </p:nvSpPr>
        <p:spPr>
          <a:xfrm>
            <a:off x="7162800" y="52070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Verify a random subset</a:t>
            </a:r>
            <a:endParaRPr lang="ko-KR" altLang="en-US" sz="1400" b="1">
              <a:solidFill>
                <a:srgbClr val="EDF4FF"/>
              </a:solidFill>
            </a:endParaRPr>
          </a:p>
        </p:txBody>
      </p:sp>
      <p:sp>
        <p:nvSpPr>
          <p:cNvPr id="33" name="TextBox 32">
            <a:extLst>
              <a:ext uri="{FF2B5EF4-FFF2-40B4-BE49-F238E27FC236}">
                <a16:creationId xmlns:a16="http://schemas.microsoft.com/office/drawing/2014/main" id="{4F032458-AA54-A64B-BE90-06386AF19DDF}"/>
              </a:ext>
            </a:extLst>
          </p:cNvPr>
          <p:cNvSpPr txBox="1"/>
          <p:nvPr/>
        </p:nvSpPr>
        <p:spPr>
          <a:xfrm>
            <a:off x="7162800" y="55372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Random rides cross-checked against cell-tower triangulation, third-party traffic data, and paired hardware tokens on the bike for a Verified Rider tier.</a:t>
            </a:r>
            <a:endParaRPr lang="ko-KR" altLang="en-US" sz="1100">
              <a:solidFill>
                <a:srgbClr val="D6E2F2"/>
              </a:solidFill>
            </a:endParaRPr>
          </a:p>
        </p:txBody>
      </p:sp>
      <p:sp>
        <p:nvSpPr>
          <p:cNvPr id="34" name="직사각형 33">
            <a:extLst>
              <a:ext uri="{FF2B5EF4-FFF2-40B4-BE49-F238E27FC236}">
                <a16:creationId xmlns:a16="http://schemas.microsoft.com/office/drawing/2014/main" id="{0CC7EE58-3F4C-3F48-BDBF-498293DECBF7}"/>
              </a:ext>
            </a:extLst>
          </p:cNvPr>
          <p:cNvSpPr/>
          <p:nvPr/>
        </p:nvSpPr>
        <p:spPr>
          <a:xfrm>
            <a:off x="635000" y="6477000"/>
            <a:ext cx="50800" cy="2794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F803A6BE-6890-0342-9B4B-6D6C5A946C23}"/>
              </a:ext>
            </a:extLst>
          </p:cNvPr>
          <p:cNvSpPr txBox="1"/>
          <p:nvPr/>
        </p:nvSpPr>
        <p:spPr>
          <a:xfrm>
            <a:off x="812800" y="6272784"/>
            <a:ext cx="8890000" cy="457200"/>
          </a:xfrm>
          <a:prstGeom prst="rect">
            <a:avLst/>
          </a:prstGeom>
          <a:noFill/>
          <a:ln>
            <a:noFill/>
          </a:ln>
        </p:spPr>
        <p:txBody>
          <a:bodyPr vertOverflow="overflow" vert="horz" wrap="square" rtlCol="0" anchor="t">
            <a:spAutoFit/>
          </a:bodyPr>
          <a:lstStyle/>
          <a:p>
            <a:pPr algn="l"/>
            <a:r>
              <a:rPr lang="en-US" altLang="ko-KR" sz="900" b="0">
                <a:solidFill>
                  <a:srgbClr val="B8C8E0"/>
                </a:solidFill>
              </a:rPr>
              <a:t>5  ·  BIOMETRIC BINDING  —  tie each session to the registered rider (Face ID, fingerprint, or voice). Prevents score farming: a careful rider cannot cover for a riskier one.</a:t>
            </a:r>
            <a:endParaRPr lang="ko-KR" altLang="en-US" sz="1300" b="1">
              <a:solidFill>
                <a:srgbClr val="EDF4FF"/>
              </a:solidFill>
            </a:endParaRPr>
          </a:p>
          <a:p>
            <a:r>
              <a:rPr sz="850">
                <a:solidFill>
                  <a:srgbClr val="9CC6FF"/>
                </a:solidFill>
              </a:rPr>
              <a:t>No system is absolute — goal: detection × penalty &gt; expected payoff.</a:t>
            </a:r>
          </a:p>
        </p:txBody>
      </p:sp>
      <p:sp>
        <p:nvSpPr>
          <p:cNvPr id="37" name="TextBox 36">
            <a:extLst>
              <a:ext uri="{FF2B5EF4-FFF2-40B4-BE49-F238E27FC236}">
                <a16:creationId xmlns:a16="http://schemas.microsoft.com/office/drawing/2014/main" id="{4E36D5DA-E434-E263-87FD-3323955924CC}"/>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2905726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347BFD-E489-B44F-A17E-8410B3C5167E}"/>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II.2  ·  ORACLES, CLAIMS &amp; COMPOSABILITY</a:t>
            </a:r>
            <a:endParaRPr lang="ko-KR" altLang="en-US" sz="1200" b="1">
              <a:solidFill>
                <a:srgbClr val="9CC6FF"/>
              </a:solidFill>
            </a:endParaRPr>
          </a:p>
        </p:txBody>
      </p:sp>
      <p:sp>
        <p:nvSpPr>
          <p:cNvPr id="3" name="TextBox 2">
            <a:extLst>
              <a:ext uri="{FF2B5EF4-FFF2-40B4-BE49-F238E27FC236}">
                <a16:creationId xmlns:a16="http://schemas.microsoft.com/office/drawing/2014/main" id="{6ABE1200-133F-DA40-9C18-D75BA29D6D6C}"/>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Where off-chain reality meets on-chain execution</a:t>
            </a:r>
            <a:endParaRPr lang="ko-KR" altLang="en-US" sz="3000" b="1">
              <a:solidFill>
                <a:srgbClr val="EDF4FF"/>
              </a:solidFill>
            </a:endParaRPr>
          </a:p>
        </p:txBody>
      </p:sp>
      <p:sp>
        <p:nvSpPr>
          <p:cNvPr id="4" name="TextBox 3">
            <a:extLst>
              <a:ext uri="{FF2B5EF4-FFF2-40B4-BE49-F238E27FC236}">
                <a16:creationId xmlns:a16="http://schemas.microsoft.com/office/drawing/2014/main" id="{6C2BB9A8-D62E-3B4A-B26F-C01C2700E668}"/>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Claims, repair confirmations, and idle capital all require trust-minimized bridges to the outside world.</a:t>
            </a:r>
            <a:endParaRPr lang="ko-KR" altLang="en-US" sz="1300" i="1">
              <a:solidFill>
                <a:srgbClr val="B8C8E0"/>
              </a:solidFill>
            </a:endParaRPr>
          </a:p>
        </p:txBody>
      </p:sp>
      <p:sp>
        <p:nvSpPr>
          <p:cNvPr id="5" name="직사각형 4">
            <a:extLst>
              <a:ext uri="{FF2B5EF4-FFF2-40B4-BE49-F238E27FC236}">
                <a16:creationId xmlns:a16="http://schemas.microsoft.com/office/drawing/2014/main" id="{B2FADBB9-BAF6-EF45-A39D-DC3CF8070B5D}"/>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B1BB2628-58EA-3A4B-921B-8284180A3559}"/>
              </a:ext>
            </a:extLst>
          </p:cNvPr>
          <p:cNvSpPr txBox="1"/>
          <p:nvPr/>
        </p:nvSpPr>
        <p:spPr>
          <a:xfrm>
            <a:off x="635000" y="2387600"/>
            <a:ext cx="635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CLAIMS LIFECYCLE — RIDER FILES TO PAYOUT</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65B630E0-FB64-C446-ADA6-E67C7BCFE8BD}"/>
              </a:ext>
            </a:extLst>
          </p:cNvPr>
          <p:cNvSpPr/>
          <p:nvPr/>
        </p:nvSpPr>
        <p:spPr>
          <a:xfrm>
            <a:off x="6350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8B50009E-7705-6445-9414-DF7D4E4FE2BB}"/>
              </a:ext>
            </a:extLst>
          </p:cNvPr>
          <p:cNvSpPr/>
          <p:nvPr/>
        </p:nvSpPr>
        <p:spPr>
          <a:xfrm>
            <a:off x="6273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944C38B0-75BA-E143-834E-11F274916C08}"/>
              </a:ext>
            </a:extLst>
          </p:cNvPr>
          <p:cNvSpPr txBox="1"/>
          <p:nvPr/>
        </p:nvSpPr>
        <p:spPr>
          <a:xfrm>
            <a:off x="8128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1</a:t>
            </a:r>
            <a:endParaRPr lang="ko-KR" altLang="en-US" sz="1400" b="1">
              <a:solidFill>
                <a:srgbClr val="4AA3FF"/>
              </a:solidFill>
            </a:endParaRPr>
          </a:p>
        </p:txBody>
      </p:sp>
      <p:sp>
        <p:nvSpPr>
          <p:cNvPr id="10" name="TextBox 9">
            <a:extLst>
              <a:ext uri="{FF2B5EF4-FFF2-40B4-BE49-F238E27FC236}">
                <a16:creationId xmlns:a16="http://schemas.microsoft.com/office/drawing/2014/main" id="{D6DFCF32-0FB9-8141-8C06-888D8A322FEF}"/>
              </a:ext>
            </a:extLst>
          </p:cNvPr>
          <p:cNvSpPr txBox="1"/>
          <p:nvPr/>
        </p:nvSpPr>
        <p:spPr>
          <a:xfrm>
            <a:off x="11684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File</a:t>
            </a:r>
            <a:endParaRPr lang="ko-KR" altLang="en-US" sz="1600" b="1">
              <a:solidFill>
                <a:srgbClr val="EDF4FF"/>
              </a:solidFill>
            </a:endParaRPr>
          </a:p>
        </p:txBody>
      </p:sp>
      <p:sp>
        <p:nvSpPr>
          <p:cNvPr id="11" name="TextBox 10">
            <a:extLst>
              <a:ext uri="{FF2B5EF4-FFF2-40B4-BE49-F238E27FC236}">
                <a16:creationId xmlns:a16="http://schemas.microsoft.com/office/drawing/2014/main" id="{519B56A1-2E26-2941-9118-B4C092FC16BB}"/>
              </a:ext>
            </a:extLst>
          </p:cNvPr>
          <p:cNvSpPr txBox="1"/>
          <p:nvPr/>
        </p:nvSpPr>
        <p:spPr>
          <a:xfrm>
            <a:off x="8128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Rider submits via app (abstracted wallet, no gas concerns).</a:t>
            </a:r>
            <a:endParaRPr lang="ko-KR" altLang="en-US" sz="1000">
              <a:solidFill>
                <a:srgbClr val="D6E2F2"/>
              </a:solidFill>
            </a:endParaRPr>
          </a:p>
        </p:txBody>
      </p:sp>
      <p:sp>
        <p:nvSpPr>
          <p:cNvPr id="12" name="모서리가 둥근 직사각형 11">
            <a:extLst>
              <a:ext uri="{FF2B5EF4-FFF2-40B4-BE49-F238E27FC236}">
                <a16:creationId xmlns:a16="http://schemas.microsoft.com/office/drawing/2014/main" id="{21BFF2A4-B025-604B-94E5-02063D532919}"/>
              </a:ext>
            </a:extLst>
          </p:cNvPr>
          <p:cNvSpPr/>
          <p:nvPr/>
        </p:nvSpPr>
        <p:spPr>
          <a:xfrm>
            <a:off x="34544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45FB8967-D82D-5B40-B5EF-85FC61FE3553}"/>
              </a:ext>
            </a:extLst>
          </p:cNvPr>
          <p:cNvSpPr/>
          <p:nvPr/>
        </p:nvSpPr>
        <p:spPr>
          <a:xfrm>
            <a:off x="34467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3A4166EA-A7C2-DC47-9C58-8D64CB389222}"/>
              </a:ext>
            </a:extLst>
          </p:cNvPr>
          <p:cNvSpPr txBox="1"/>
          <p:nvPr/>
        </p:nvSpPr>
        <p:spPr>
          <a:xfrm>
            <a:off x="36322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2</a:t>
            </a:r>
            <a:endParaRPr lang="ko-KR" altLang="en-US" sz="1400" b="1">
              <a:solidFill>
                <a:srgbClr val="4AA3FF"/>
              </a:solidFill>
            </a:endParaRPr>
          </a:p>
        </p:txBody>
      </p:sp>
      <p:sp>
        <p:nvSpPr>
          <p:cNvPr id="15" name="TextBox 14">
            <a:extLst>
              <a:ext uri="{FF2B5EF4-FFF2-40B4-BE49-F238E27FC236}">
                <a16:creationId xmlns:a16="http://schemas.microsoft.com/office/drawing/2014/main" id="{26119B23-3B2F-0D4D-A728-E2176931E847}"/>
              </a:ext>
            </a:extLst>
          </p:cNvPr>
          <p:cNvSpPr txBox="1"/>
          <p:nvPr/>
        </p:nvSpPr>
        <p:spPr>
          <a:xfrm>
            <a:off x="39878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Aggregate</a:t>
            </a:r>
            <a:endParaRPr lang="ko-KR" altLang="en-US" sz="1600" b="1">
              <a:solidFill>
                <a:srgbClr val="EDF4FF"/>
              </a:solidFill>
            </a:endParaRPr>
          </a:p>
        </p:txBody>
      </p:sp>
      <p:sp>
        <p:nvSpPr>
          <p:cNvPr id="16" name="TextBox 15">
            <a:extLst>
              <a:ext uri="{FF2B5EF4-FFF2-40B4-BE49-F238E27FC236}">
                <a16:creationId xmlns:a16="http://schemas.microsoft.com/office/drawing/2014/main" id="{990CBE99-908F-844C-9A47-5A21A7CE3100}"/>
              </a:ext>
            </a:extLst>
          </p:cNvPr>
          <p:cNvSpPr txBox="1"/>
          <p:nvPr/>
        </p:nvSpPr>
        <p:spPr>
          <a:xfrm>
            <a:off x="36322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Decentralized oracles pull from repair shops, insurers, public records.</a:t>
            </a:r>
            <a:endParaRPr lang="ko-KR" altLang="en-US" sz="1000">
              <a:solidFill>
                <a:srgbClr val="D6E2F2"/>
              </a:solidFill>
            </a:endParaRPr>
          </a:p>
        </p:txBody>
      </p:sp>
      <p:sp>
        <p:nvSpPr>
          <p:cNvPr id="17" name="모서리가 둥근 직사각형 16">
            <a:extLst>
              <a:ext uri="{FF2B5EF4-FFF2-40B4-BE49-F238E27FC236}">
                <a16:creationId xmlns:a16="http://schemas.microsoft.com/office/drawing/2014/main" id="{2070FE43-946F-1443-852E-3153D518D995}"/>
              </a:ext>
            </a:extLst>
          </p:cNvPr>
          <p:cNvSpPr/>
          <p:nvPr/>
        </p:nvSpPr>
        <p:spPr>
          <a:xfrm>
            <a:off x="62738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직사각형 17">
            <a:extLst>
              <a:ext uri="{FF2B5EF4-FFF2-40B4-BE49-F238E27FC236}">
                <a16:creationId xmlns:a16="http://schemas.microsoft.com/office/drawing/2014/main" id="{79F0E0ED-F516-BD4B-9066-3FA6B16FCAE2}"/>
              </a:ext>
            </a:extLst>
          </p:cNvPr>
          <p:cNvSpPr/>
          <p:nvPr/>
        </p:nvSpPr>
        <p:spPr>
          <a:xfrm>
            <a:off x="62661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FA657950-B6BD-4E41-9BB9-7180556056DF}"/>
              </a:ext>
            </a:extLst>
          </p:cNvPr>
          <p:cNvSpPr txBox="1"/>
          <p:nvPr/>
        </p:nvSpPr>
        <p:spPr>
          <a:xfrm>
            <a:off x="64516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3</a:t>
            </a:r>
            <a:endParaRPr lang="ko-KR" altLang="en-US" sz="1400" b="1">
              <a:solidFill>
                <a:srgbClr val="4AA3FF"/>
              </a:solidFill>
            </a:endParaRPr>
          </a:p>
        </p:txBody>
      </p:sp>
      <p:sp>
        <p:nvSpPr>
          <p:cNvPr id="20" name="TextBox 19">
            <a:extLst>
              <a:ext uri="{FF2B5EF4-FFF2-40B4-BE49-F238E27FC236}">
                <a16:creationId xmlns:a16="http://schemas.microsoft.com/office/drawing/2014/main" id="{E3E4DAAC-AA16-054F-B3C8-7F4D07064EC3}"/>
              </a:ext>
            </a:extLst>
          </p:cNvPr>
          <p:cNvSpPr txBox="1"/>
          <p:nvPr/>
        </p:nvSpPr>
        <p:spPr>
          <a:xfrm>
            <a:off x="68072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Consensus</a:t>
            </a:r>
            <a:endParaRPr lang="ko-KR" altLang="en-US" sz="1600" b="1">
              <a:solidFill>
                <a:srgbClr val="EDF4FF"/>
              </a:solidFill>
            </a:endParaRPr>
          </a:p>
        </p:txBody>
      </p:sp>
      <p:sp>
        <p:nvSpPr>
          <p:cNvPr id="21" name="TextBox 20">
            <a:extLst>
              <a:ext uri="{FF2B5EF4-FFF2-40B4-BE49-F238E27FC236}">
                <a16:creationId xmlns:a16="http://schemas.microsoft.com/office/drawing/2014/main" id="{BE19AEF6-EBAF-8F40-B3EE-28E9C6113756}"/>
              </a:ext>
            </a:extLst>
          </p:cNvPr>
          <p:cNvSpPr txBox="1"/>
          <p:nvPr/>
        </p:nvSpPr>
        <p:spPr>
          <a:xfrm>
            <a:off x="64516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Multiple independent sources must agree before validity is established.</a:t>
            </a:r>
            <a:endParaRPr lang="ko-KR" altLang="en-US" sz="1000">
              <a:solidFill>
                <a:srgbClr val="D6E2F2"/>
              </a:solidFill>
            </a:endParaRPr>
          </a:p>
        </p:txBody>
      </p:sp>
      <p:sp>
        <p:nvSpPr>
          <p:cNvPr id="22" name="모서리가 둥근 직사각형 21">
            <a:extLst>
              <a:ext uri="{FF2B5EF4-FFF2-40B4-BE49-F238E27FC236}">
                <a16:creationId xmlns:a16="http://schemas.microsoft.com/office/drawing/2014/main" id="{5E6C1EBC-62D0-2346-A616-3DA8D3F51308}"/>
              </a:ext>
            </a:extLst>
          </p:cNvPr>
          <p:cNvSpPr/>
          <p:nvPr/>
        </p:nvSpPr>
        <p:spPr>
          <a:xfrm>
            <a:off x="90932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0493C87D-41F9-9649-98D2-F5E1835D23C2}"/>
              </a:ext>
            </a:extLst>
          </p:cNvPr>
          <p:cNvSpPr/>
          <p:nvPr/>
        </p:nvSpPr>
        <p:spPr>
          <a:xfrm>
            <a:off x="90855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64A6E587-80EF-4F4B-AFF6-B6AE33942356}"/>
              </a:ext>
            </a:extLst>
          </p:cNvPr>
          <p:cNvSpPr txBox="1"/>
          <p:nvPr/>
        </p:nvSpPr>
        <p:spPr>
          <a:xfrm>
            <a:off x="92710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4</a:t>
            </a:r>
            <a:endParaRPr lang="ko-KR" altLang="en-US" sz="1400" b="1">
              <a:solidFill>
                <a:srgbClr val="4AA3FF"/>
              </a:solidFill>
            </a:endParaRPr>
          </a:p>
        </p:txBody>
      </p:sp>
      <p:sp>
        <p:nvSpPr>
          <p:cNvPr id="25" name="TextBox 24">
            <a:extLst>
              <a:ext uri="{FF2B5EF4-FFF2-40B4-BE49-F238E27FC236}">
                <a16:creationId xmlns:a16="http://schemas.microsoft.com/office/drawing/2014/main" id="{BD4BD7D2-D615-C649-8810-D867089F31B1}"/>
              </a:ext>
            </a:extLst>
          </p:cNvPr>
          <p:cNvSpPr txBox="1"/>
          <p:nvPr/>
        </p:nvSpPr>
        <p:spPr>
          <a:xfrm>
            <a:off x="96266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Execute or Escalate</a:t>
            </a:r>
            <a:endParaRPr lang="ko-KR" altLang="en-US" sz="1600" b="1">
              <a:solidFill>
                <a:srgbClr val="EDF4FF"/>
              </a:solidFill>
            </a:endParaRPr>
          </a:p>
        </p:txBody>
      </p:sp>
      <p:sp>
        <p:nvSpPr>
          <p:cNvPr id="26" name="TextBox 25">
            <a:extLst>
              <a:ext uri="{FF2B5EF4-FFF2-40B4-BE49-F238E27FC236}">
                <a16:creationId xmlns:a16="http://schemas.microsoft.com/office/drawing/2014/main" id="{29AA5CB9-64EA-174B-9DEC-DA2BE33101B0}"/>
              </a:ext>
            </a:extLst>
          </p:cNvPr>
          <p:cNvSpPr txBox="1"/>
          <p:nvPr/>
        </p:nvSpPr>
        <p:spPr>
          <a:xfrm>
            <a:off x="92710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Smart contract pays out — or routes disputed claims to arbitration.</a:t>
            </a:r>
            <a:endParaRPr lang="ko-KR" altLang="en-US" sz="1000">
              <a:solidFill>
                <a:srgbClr val="D6E2F2"/>
              </a:solidFill>
            </a:endParaRPr>
          </a:p>
        </p:txBody>
      </p:sp>
      <p:sp>
        <p:nvSpPr>
          <p:cNvPr id="27" name="오른쪽 화살표[R] 26">
            <a:extLst>
              <a:ext uri="{FF2B5EF4-FFF2-40B4-BE49-F238E27FC236}">
                <a16:creationId xmlns:a16="http://schemas.microsoft.com/office/drawing/2014/main" id="{836937FD-DBA0-5345-81ED-1517EF9678F9}"/>
              </a:ext>
            </a:extLst>
          </p:cNvPr>
          <p:cNvSpPr/>
          <p:nvPr/>
        </p:nvSpPr>
        <p:spPr>
          <a:xfrm>
            <a:off x="32004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8" name="오른쪽 화살표[R] 27">
            <a:extLst>
              <a:ext uri="{FF2B5EF4-FFF2-40B4-BE49-F238E27FC236}">
                <a16:creationId xmlns:a16="http://schemas.microsoft.com/office/drawing/2014/main" id="{96889DA4-664C-1B46-B78A-FB0C1460535F}"/>
              </a:ext>
            </a:extLst>
          </p:cNvPr>
          <p:cNvSpPr/>
          <p:nvPr/>
        </p:nvSpPr>
        <p:spPr>
          <a:xfrm>
            <a:off x="60198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오른쪽 화살표[R] 28">
            <a:extLst>
              <a:ext uri="{FF2B5EF4-FFF2-40B4-BE49-F238E27FC236}">
                <a16:creationId xmlns:a16="http://schemas.microsoft.com/office/drawing/2014/main" id="{3228D4A7-7FFB-FD45-BAE6-A0CA2ADB8985}"/>
              </a:ext>
            </a:extLst>
          </p:cNvPr>
          <p:cNvSpPr/>
          <p:nvPr/>
        </p:nvSpPr>
        <p:spPr>
          <a:xfrm>
            <a:off x="88392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9061AAC6-14E5-0641-9D98-980921E76BEB}"/>
              </a:ext>
            </a:extLst>
          </p:cNvPr>
          <p:cNvSpPr/>
          <p:nvPr/>
        </p:nvSpPr>
        <p:spPr>
          <a:xfrm>
            <a:off x="635000" y="3987800"/>
            <a:ext cx="5270500" cy="2286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1" name="직사각형 30">
            <a:extLst>
              <a:ext uri="{FF2B5EF4-FFF2-40B4-BE49-F238E27FC236}">
                <a16:creationId xmlns:a16="http://schemas.microsoft.com/office/drawing/2014/main" id="{23AE8D9F-3A39-864B-BB4B-A4474C5A8DFE}"/>
              </a:ext>
            </a:extLst>
          </p:cNvPr>
          <p:cNvSpPr/>
          <p:nvPr/>
        </p:nvSpPr>
        <p:spPr>
          <a:xfrm>
            <a:off x="635000" y="3987800"/>
            <a:ext cx="50800" cy="2286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2" name="TextBox 31">
            <a:extLst>
              <a:ext uri="{FF2B5EF4-FFF2-40B4-BE49-F238E27FC236}">
                <a16:creationId xmlns:a16="http://schemas.microsoft.com/office/drawing/2014/main" id="{2FD6F152-1F26-8A45-9F0D-FF1AD94DC92A}"/>
              </a:ext>
            </a:extLst>
          </p:cNvPr>
          <p:cNvSpPr txBox="1"/>
          <p:nvPr/>
        </p:nvSpPr>
        <p:spPr>
          <a:xfrm>
            <a:off x="889000" y="4165600"/>
            <a:ext cx="3810000" cy="177800"/>
          </a:xfrm>
          <a:prstGeom prst="rect">
            <a:avLst/>
          </a:prstGeom>
          <a:noFill/>
          <a:ln>
            <a:noFill/>
          </a:ln>
        </p:spPr>
        <p:txBody>
          <a:bodyPr vertOverflow="overflow" vert="horz" wrap="square" rtlCol="0" anchor="t">
            <a:spAutoFit/>
          </a:bodyPr>
          <a:lstStyle/>
          <a:p>
            <a:pPr algn="l"/>
            <a:r>
              <a:rPr lang="en-US" altLang="ko-KR" sz="1000" b="1">
                <a:solidFill>
                  <a:srgbClr val="9CC6FF"/>
                </a:solidFill>
              </a:rPr>
              <a:t>ORACLE INTEGRITY</a:t>
            </a:r>
            <a:endParaRPr lang="ko-KR" altLang="en-US" sz="1000" b="1">
              <a:solidFill>
                <a:srgbClr val="9CC6FF"/>
              </a:solidFill>
            </a:endParaRPr>
          </a:p>
        </p:txBody>
      </p:sp>
      <p:sp>
        <p:nvSpPr>
          <p:cNvPr id="33" name="TextBox 32">
            <a:extLst>
              <a:ext uri="{FF2B5EF4-FFF2-40B4-BE49-F238E27FC236}">
                <a16:creationId xmlns:a16="http://schemas.microsoft.com/office/drawing/2014/main" id="{1422473A-F023-0647-B098-0D7A723DE468}"/>
              </a:ext>
            </a:extLst>
          </p:cNvPr>
          <p:cNvSpPr txBox="1"/>
          <p:nvPr/>
        </p:nvSpPr>
        <p:spPr>
          <a:xfrm>
            <a:off x="889000" y="4394200"/>
            <a:ext cx="48260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No single source trusted</a:t>
            </a:r>
            <a:endParaRPr lang="ko-KR" altLang="en-US" sz="1600" b="1">
              <a:solidFill>
                <a:srgbClr val="EDF4FF"/>
              </a:solidFill>
            </a:endParaRPr>
          </a:p>
        </p:txBody>
      </p:sp>
      <p:sp>
        <p:nvSpPr>
          <p:cNvPr id="34" name="직사각형 33">
            <a:extLst>
              <a:ext uri="{FF2B5EF4-FFF2-40B4-BE49-F238E27FC236}">
                <a16:creationId xmlns:a16="http://schemas.microsoft.com/office/drawing/2014/main" id="{62372CFE-206B-CA4B-B9EB-CCA23CDDD545}"/>
              </a:ext>
            </a:extLst>
          </p:cNvPr>
          <p:cNvSpPr/>
          <p:nvPr/>
        </p:nvSpPr>
        <p:spPr>
          <a:xfrm>
            <a:off x="889000" y="48260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586C90C0-2A64-374F-9EC9-B34BE6AEA56E}"/>
              </a:ext>
            </a:extLst>
          </p:cNvPr>
          <p:cNvSpPr txBox="1"/>
          <p:nvPr/>
        </p:nvSpPr>
        <p:spPr>
          <a:xfrm>
            <a:off x="1041400" y="47752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Multi-source aggregation</a:t>
            </a:r>
            <a:endParaRPr lang="ko-KR" altLang="en-US" sz="1100" b="1">
              <a:solidFill>
                <a:srgbClr val="EDF4FF"/>
              </a:solidFill>
            </a:endParaRPr>
          </a:p>
        </p:txBody>
      </p:sp>
      <p:sp>
        <p:nvSpPr>
          <p:cNvPr id="36" name="TextBox 35">
            <a:extLst>
              <a:ext uri="{FF2B5EF4-FFF2-40B4-BE49-F238E27FC236}">
                <a16:creationId xmlns:a16="http://schemas.microsoft.com/office/drawing/2014/main" id="{282E2E5F-FD98-8A45-A313-E25B005A6C33}"/>
              </a:ext>
            </a:extLst>
          </p:cNvPr>
          <p:cNvSpPr txBox="1"/>
          <p:nvPr/>
        </p:nvSpPr>
        <p:spPr>
          <a:xfrm>
            <a:off x="1041400" y="49784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Independent providers must reach consensus before a data point is accepted.</a:t>
            </a:r>
            <a:endParaRPr lang="ko-KR" altLang="en-US" sz="1000">
              <a:solidFill>
                <a:srgbClr val="D6E2F2"/>
              </a:solidFill>
            </a:endParaRPr>
          </a:p>
        </p:txBody>
      </p:sp>
      <p:sp>
        <p:nvSpPr>
          <p:cNvPr id="37" name="직사각형 36">
            <a:extLst>
              <a:ext uri="{FF2B5EF4-FFF2-40B4-BE49-F238E27FC236}">
                <a16:creationId xmlns:a16="http://schemas.microsoft.com/office/drawing/2014/main" id="{22B015CF-8EA5-074F-8712-FA5DC93A4E45}"/>
              </a:ext>
            </a:extLst>
          </p:cNvPr>
          <p:cNvSpPr/>
          <p:nvPr/>
        </p:nvSpPr>
        <p:spPr>
          <a:xfrm>
            <a:off x="889000" y="53086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8A56E212-A0A4-2A40-B9DA-30DAF510C248}"/>
              </a:ext>
            </a:extLst>
          </p:cNvPr>
          <p:cNvSpPr txBox="1"/>
          <p:nvPr/>
        </p:nvSpPr>
        <p:spPr>
          <a:xfrm>
            <a:off x="1041400" y="52578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Economic staking</a:t>
            </a:r>
            <a:endParaRPr lang="ko-KR" altLang="en-US" sz="1100" b="1">
              <a:solidFill>
                <a:srgbClr val="EDF4FF"/>
              </a:solidFill>
            </a:endParaRPr>
          </a:p>
        </p:txBody>
      </p:sp>
      <p:sp>
        <p:nvSpPr>
          <p:cNvPr id="39" name="TextBox 38">
            <a:extLst>
              <a:ext uri="{FF2B5EF4-FFF2-40B4-BE49-F238E27FC236}">
                <a16:creationId xmlns:a16="http://schemas.microsoft.com/office/drawing/2014/main" id="{8E952C82-52F4-A94A-995A-963D099BF699}"/>
              </a:ext>
            </a:extLst>
          </p:cNvPr>
          <p:cNvSpPr txBox="1"/>
          <p:nvPr/>
        </p:nvSpPr>
        <p:spPr>
          <a:xfrm>
            <a:off x="1041400" y="54610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Oracle operators stake collateral. Bad feeds are slashed.</a:t>
            </a:r>
            <a:endParaRPr lang="ko-KR" altLang="en-US" sz="1000">
              <a:solidFill>
                <a:srgbClr val="D6E2F2"/>
              </a:solidFill>
            </a:endParaRPr>
          </a:p>
        </p:txBody>
      </p:sp>
      <p:sp>
        <p:nvSpPr>
          <p:cNvPr id="40" name="직사각형 39">
            <a:extLst>
              <a:ext uri="{FF2B5EF4-FFF2-40B4-BE49-F238E27FC236}">
                <a16:creationId xmlns:a16="http://schemas.microsoft.com/office/drawing/2014/main" id="{1CDD96D8-2913-6A40-9F49-37ED1C27B506}"/>
              </a:ext>
            </a:extLst>
          </p:cNvPr>
          <p:cNvSpPr/>
          <p:nvPr/>
        </p:nvSpPr>
        <p:spPr>
          <a:xfrm>
            <a:off x="889000" y="57912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439D85C4-6F54-494B-8029-5614DF1439AA}"/>
              </a:ext>
            </a:extLst>
          </p:cNvPr>
          <p:cNvSpPr txBox="1"/>
          <p:nvPr/>
        </p:nvSpPr>
        <p:spPr>
          <a:xfrm>
            <a:off x="1041400" y="57404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Fallback mechanism</a:t>
            </a:r>
            <a:endParaRPr lang="ko-KR" altLang="en-US" sz="1100" b="1">
              <a:solidFill>
                <a:srgbClr val="EDF4FF"/>
              </a:solidFill>
            </a:endParaRPr>
          </a:p>
        </p:txBody>
      </p:sp>
      <p:sp>
        <p:nvSpPr>
          <p:cNvPr id="42" name="TextBox 41">
            <a:extLst>
              <a:ext uri="{FF2B5EF4-FFF2-40B4-BE49-F238E27FC236}">
                <a16:creationId xmlns:a16="http://schemas.microsoft.com/office/drawing/2014/main" id="{0ADA9F51-21AA-F948-B794-3628CE97ACC6}"/>
              </a:ext>
            </a:extLst>
          </p:cNvPr>
          <p:cNvSpPr txBox="1"/>
          <p:nvPr/>
        </p:nvSpPr>
        <p:spPr>
          <a:xfrm>
            <a:off x="1041400" y="59436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Stale or conflicting feeds pause execution; decisions escalate to arbitration.</a:t>
            </a:r>
            <a:endParaRPr lang="ko-KR" altLang="en-US" sz="1000">
              <a:solidFill>
                <a:srgbClr val="D6E2F2"/>
              </a:solidFill>
            </a:endParaRPr>
          </a:p>
        </p:txBody>
      </p:sp>
      <p:sp>
        <p:nvSpPr>
          <p:cNvPr id="43" name="직사각형 42">
            <a:extLst>
              <a:ext uri="{FF2B5EF4-FFF2-40B4-BE49-F238E27FC236}">
                <a16:creationId xmlns:a16="http://schemas.microsoft.com/office/drawing/2014/main" id="{469E2844-CC4C-C045-AC10-C0322A62CF90}"/>
              </a:ext>
            </a:extLst>
          </p:cNvPr>
          <p:cNvSpPr/>
          <p:nvPr/>
        </p:nvSpPr>
        <p:spPr>
          <a:xfrm>
            <a:off x="6286500" y="3987800"/>
            <a:ext cx="5270500" cy="2286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직사각형 43">
            <a:extLst>
              <a:ext uri="{FF2B5EF4-FFF2-40B4-BE49-F238E27FC236}">
                <a16:creationId xmlns:a16="http://schemas.microsoft.com/office/drawing/2014/main" id="{C837981E-9B09-8C4A-9590-C48020DEEED9}"/>
              </a:ext>
            </a:extLst>
          </p:cNvPr>
          <p:cNvSpPr/>
          <p:nvPr/>
        </p:nvSpPr>
        <p:spPr>
          <a:xfrm>
            <a:off x="6286500" y="3987800"/>
            <a:ext cx="50800" cy="2286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5" name="TextBox 44">
            <a:extLst>
              <a:ext uri="{FF2B5EF4-FFF2-40B4-BE49-F238E27FC236}">
                <a16:creationId xmlns:a16="http://schemas.microsoft.com/office/drawing/2014/main" id="{AD293C1E-9C90-6640-B212-B6C0816120ED}"/>
              </a:ext>
            </a:extLst>
          </p:cNvPr>
          <p:cNvSpPr txBox="1"/>
          <p:nvPr/>
        </p:nvSpPr>
        <p:spPr>
          <a:xfrm>
            <a:off x="6540500" y="4165600"/>
            <a:ext cx="3810000" cy="177800"/>
          </a:xfrm>
          <a:prstGeom prst="rect">
            <a:avLst/>
          </a:prstGeom>
          <a:noFill/>
          <a:ln>
            <a:noFill/>
          </a:ln>
        </p:spPr>
        <p:txBody>
          <a:bodyPr vertOverflow="overflow" vert="horz" wrap="square" rtlCol="0" anchor="t">
            <a:spAutoFit/>
          </a:bodyPr>
          <a:lstStyle/>
          <a:p>
            <a:pPr algn="l"/>
            <a:r>
              <a:rPr lang="en-US" altLang="ko-KR" sz="1000" b="1">
                <a:solidFill>
                  <a:srgbClr val="A8E89E"/>
                </a:solidFill>
              </a:rPr>
              <a:t>DEFI COMPOSABILITY</a:t>
            </a:r>
            <a:endParaRPr lang="ko-KR" altLang="en-US" sz="1000" b="1">
              <a:solidFill>
                <a:srgbClr val="A8E89E"/>
              </a:solidFill>
            </a:endParaRPr>
          </a:p>
        </p:txBody>
      </p:sp>
      <p:sp>
        <p:nvSpPr>
          <p:cNvPr id="46" name="TextBox 45">
            <a:extLst>
              <a:ext uri="{FF2B5EF4-FFF2-40B4-BE49-F238E27FC236}">
                <a16:creationId xmlns:a16="http://schemas.microsoft.com/office/drawing/2014/main" id="{727E07FF-9BC8-BB47-A61C-4C8F6C41225B}"/>
              </a:ext>
            </a:extLst>
          </p:cNvPr>
          <p:cNvSpPr txBox="1"/>
          <p:nvPr/>
        </p:nvSpPr>
        <p:spPr>
          <a:xfrm>
            <a:off x="6540500" y="4394200"/>
            <a:ext cx="48260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Idle pool capital is productive</a:t>
            </a:r>
            <a:endParaRPr lang="ko-KR" altLang="en-US" sz="1600" b="1">
              <a:solidFill>
                <a:srgbClr val="EDF4FF"/>
              </a:solidFill>
            </a:endParaRPr>
          </a:p>
        </p:txBody>
      </p:sp>
      <p:sp>
        <p:nvSpPr>
          <p:cNvPr id="47" name="직사각형 46">
            <a:extLst>
              <a:ext uri="{FF2B5EF4-FFF2-40B4-BE49-F238E27FC236}">
                <a16:creationId xmlns:a16="http://schemas.microsoft.com/office/drawing/2014/main" id="{C7CD24F7-341E-4C40-B390-42E795C19E47}"/>
              </a:ext>
            </a:extLst>
          </p:cNvPr>
          <p:cNvSpPr/>
          <p:nvPr/>
        </p:nvSpPr>
        <p:spPr>
          <a:xfrm>
            <a:off x="6540500" y="48260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8" name="TextBox 47">
            <a:extLst>
              <a:ext uri="{FF2B5EF4-FFF2-40B4-BE49-F238E27FC236}">
                <a16:creationId xmlns:a16="http://schemas.microsoft.com/office/drawing/2014/main" id="{D4B6D8D4-32C9-964C-8ACB-51CE06964EE3}"/>
              </a:ext>
            </a:extLst>
          </p:cNvPr>
          <p:cNvSpPr txBox="1"/>
          <p:nvPr/>
        </p:nvSpPr>
        <p:spPr>
          <a:xfrm>
            <a:off x="6692900" y="47752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Yield via Aave</a:t>
            </a:r>
            <a:endParaRPr lang="ko-KR" altLang="en-US" sz="1100" b="1">
              <a:solidFill>
                <a:srgbClr val="EDF4FF"/>
              </a:solidFill>
            </a:endParaRPr>
          </a:p>
        </p:txBody>
      </p:sp>
      <p:sp>
        <p:nvSpPr>
          <p:cNvPr id="49" name="TextBox 48">
            <a:extLst>
              <a:ext uri="{FF2B5EF4-FFF2-40B4-BE49-F238E27FC236}">
                <a16:creationId xmlns:a16="http://schemas.microsoft.com/office/drawing/2014/main" id="{B7FE426E-19E6-204D-8279-AFBA51D37B17}"/>
              </a:ext>
            </a:extLst>
          </p:cNvPr>
          <p:cNvSpPr txBox="1"/>
          <p:nvPr/>
        </p:nvSpPr>
        <p:spPr>
          <a:xfrm>
            <a:off x="6692900" y="49784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Excess reserves deployed into blue-chip lending markets for stablecoin yield.</a:t>
            </a:r>
            <a:endParaRPr lang="ko-KR" altLang="en-US" sz="1000">
              <a:solidFill>
                <a:srgbClr val="D6E2F2"/>
              </a:solidFill>
            </a:endParaRPr>
          </a:p>
        </p:txBody>
      </p:sp>
      <p:sp>
        <p:nvSpPr>
          <p:cNvPr id="50" name="직사각형 49">
            <a:extLst>
              <a:ext uri="{FF2B5EF4-FFF2-40B4-BE49-F238E27FC236}">
                <a16:creationId xmlns:a16="http://schemas.microsoft.com/office/drawing/2014/main" id="{9BC631F4-0B32-4742-9185-BE3D656CF095}"/>
              </a:ext>
            </a:extLst>
          </p:cNvPr>
          <p:cNvSpPr/>
          <p:nvPr/>
        </p:nvSpPr>
        <p:spPr>
          <a:xfrm>
            <a:off x="6540500" y="53086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1" name="TextBox 50">
            <a:extLst>
              <a:ext uri="{FF2B5EF4-FFF2-40B4-BE49-F238E27FC236}">
                <a16:creationId xmlns:a16="http://schemas.microsoft.com/office/drawing/2014/main" id="{342D0605-67CF-F745-88DA-A0A3F9A11D14}"/>
              </a:ext>
            </a:extLst>
          </p:cNvPr>
          <p:cNvSpPr txBox="1"/>
          <p:nvPr/>
        </p:nvSpPr>
        <p:spPr>
          <a:xfrm>
            <a:off x="6692900" y="52578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DEX liquidity</a:t>
            </a:r>
            <a:endParaRPr lang="ko-KR" altLang="en-US" sz="1100" b="1">
              <a:solidFill>
                <a:srgbClr val="EDF4FF"/>
              </a:solidFill>
            </a:endParaRPr>
          </a:p>
        </p:txBody>
      </p:sp>
      <p:sp>
        <p:nvSpPr>
          <p:cNvPr id="52" name="TextBox 51">
            <a:extLst>
              <a:ext uri="{FF2B5EF4-FFF2-40B4-BE49-F238E27FC236}">
                <a16:creationId xmlns:a16="http://schemas.microsoft.com/office/drawing/2014/main" id="{51341ED0-E297-2C4D-ACF2-9FE0B9D25828}"/>
              </a:ext>
            </a:extLst>
          </p:cNvPr>
          <p:cNvSpPr txBox="1"/>
          <p:nvPr/>
        </p:nvSpPr>
        <p:spPr>
          <a:xfrm>
            <a:off x="6692900" y="54610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Rapid rebalancing during stress accesses on-chain liquidity in real time.</a:t>
            </a:r>
            <a:endParaRPr lang="ko-KR" altLang="en-US" sz="1000">
              <a:solidFill>
                <a:srgbClr val="D6E2F2"/>
              </a:solidFill>
            </a:endParaRPr>
          </a:p>
        </p:txBody>
      </p:sp>
      <p:sp>
        <p:nvSpPr>
          <p:cNvPr id="53" name="직사각형 52">
            <a:extLst>
              <a:ext uri="{FF2B5EF4-FFF2-40B4-BE49-F238E27FC236}">
                <a16:creationId xmlns:a16="http://schemas.microsoft.com/office/drawing/2014/main" id="{F05F0C8F-ED4C-DC4E-992F-097C7B0F54AD}"/>
              </a:ext>
            </a:extLst>
          </p:cNvPr>
          <p:cNvSpPr/>
          <p:nvPr/>
        </p:nvSpPr>
        <p:spPr>
          <a:xfrm>
            <a:off x="6540500" y="57912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4" name="TextBox 53">
            <a:extLst>
              <a:ext uri="{FF2B5EF4-FFF2-40B4-BE49-F238E27FC236}">
                <a16:creationId xmlns:a16="http://schemas.microsoft.com/office/drawing/2014/main" id="{2AE180B9-1110-524E-8F83-42E65122A697}"/>
              </a:ext>
            </a:extLst>
          </p:cNvPr>
          <p:cNvSpPr txBox="1"/>
          <p:nvPr/>
        </p:nvSpPr>
        <p:spPr>
          <a:xfrm>
            <a:off x="6692900" y="57404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Capital efficiency</a:t>
            </a:r>
            <a:endParaRPr lang="ko-KR" altLang="en-US" sz="1100" b="1">
              <a:solidFill>
                <a:srgbClr val="EDF4FF"/>
              </a:solidFill>
            </a:endParaRPr>
          </a:p>
        </p:txBody>
      </p:sp>
      <p:sp>
        <p:nvSpPr>
          <p:cNvPr id="55" name="TextBox 54">
            <a:extLst>
              <a:ext uri="{FF2B5EF4-FFF2-40B4-BE49-F238E27FC236}">
                <a16:creationId xmlns:a16="http://schemas.microsoft.com/office/drawing/2014/main" id="{B0D7AEDD-4493-534C-A835-6AE08B89A2BA}"/>
              </a:ext>
            </a:extLst>
          </p:cNvPr>
          <p:cNvSpPr txBox="1"/>
          <p:nvPr/>
        </p:nvSpPr>
        <p:spPr>
          <a:xfrm>
            <a:off x="6692900" y="59436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Improves returns without compromising claim-payout liquidity requirements.</a:t>
            </a:r>
            <a:endParaRPr lang="ko-KR" altLang="en-US" sz="1000">
              <a:solidFill>
                <a:srgbClr val="D6E2F2"/>
              </a:solidFill>
            </a:endParaRPr>
          </a:p>
        </p:txBody>
      </p:sp>
      <p:sp>
        <p:nvSpPr>
          <p:cNvPr id="56" name="직사각형 55">
            <a:extLst>
              <a:ext uri="{FF2B5EF4-FFF2-40B4-BE49-F238E27FC236}">
                <a16:creationId xmlns:a16="http://schemas.microsoft.com/office/drawing/2014/main" id="{BF8EEE11-6E58-7541-88B4-FDDDD42687D0}"/>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7" name="TextBox 56">
            <a:extLst>
              <a:ext uri="{FF2B5EF4-FFF2-40B4-BE49-F238E27FC236}">
                <a16:creationId xmlns:a16="http://schemas.microsoft.com/office/drawing/2014/main" id="{D8BB3F3D-2E55-9D4E-B634-D8040E745562}"/>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Claims pay automatically when oracles agree. Idle capital earns yield until they don't.</a:t>
            </a:r>
            <a:endParaRPr lang="ko-KR" altLang="en-US" sz="1300" b="1">
              <a:solidFill>
                <a:srgbClr val="EDF4FF"/>
              </a:solidFill>
            </a:endParaRPr>
          </a:p>
        </p:txBody>
      </p:sp>
      <p:sp>
        <p:nvSpPr>
          <p:cNvPr id="59" name="TextBox 58">
            <a:extLst>
              <a:ext uri="{FF2B5EF4-FFF2-40B4-BE49-F238E27FC236}">
                <a16:creationId xmlns:a16="http://schemas.microsoft.com/office/drawing/2014/main" id="{A6CD6D8A-6403-2288-CCA5-5C953F2E1D04}"/>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17310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D524F7-0788-7E47-BF3F-480CCDC2B918}"/>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II.3  ·  USER EXPERIENCE &amp; ONBOARDING</a:t>
            </a:r>
            <a:endParaRPr lang="ko-KR" altLang="en-US" sz="1200" b="1">
              <a:solidFill>
                <a:srgbClr val="9CC6FF"/>
              </a:solidFill>
            </a:endParaRPr>
          </a:p>
        </p:txBody>
      </p:sp>
      <p:sp>
        <p:nvSpPr>
          <p:cNvPr id="3" name="TextBox 2">
            <a:extLst>
              <a:ext uri="{FF2B5EF4-FFF2-40B4-BE49-F238E27FC236}">
                <a16:creationId xmlns:a16="http://schemas.microsoft.com/office/drawing/2014/main" id="{4239B0EE-FE40-1D4E-8C4D-817C16D01605}"/>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Adoption depends on hiding the blockchain</a:t>
            </a:r>
            <a:endParaRPr lang="ko-KR" altLang="en-US" sz="3000" b="1">
              <a:solidFill>
                <a:srgbClr val="EDF4FF"/>
              </a:solidFill>
            </a:endParaRPr>
          </a:p>
        </p:txBody>
      </p:sp>
      <p:sp>
        <p:nvSpPr>
          <p:cNvPr id="4" name="TextBox 3">
            <a:extLst>
              <a:ext uri="{FF2B5EF4-FFF2-40B4-BE49-F238E27FC236}">
                <a16:creationId xmlns:a16="http://schemas.microsoft.com/office/drawing/2014/main" id="{4AA05081-7E52-C946-B314-174512E866E9}"/>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The barrier isn't technical feasibility — it's user friction. Modern mobile UX, decentralized substrate underneath.</a:t>
            </a:r>
            <a:endParaRPr lang="ko-KR" altLang="en-US" sz="1300" i="1">
              <a:solidFill>
                <a:srgbClr val="B8C8E0"/>
              </a:solidFill>
            </a:endParaRPr>
          </a:p>
        </p:txBody>
      </p:sp>
      <p:sp>
        <p:nvSpPr>
          <p:cNvPr id="5" name="직사각형 4">
            <a:extLst>
              <a:ext uri="{FF2B5EF4-FFF2-40B4-BE49-F238E27FC236}">
                <a16:creationId xmlns:a16="http://schemas.microsoft.com/office/drawing/2014/main" id="{1145A1FF-53D1-EE41-98E7-1D5EBEEC8A2E}"/>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C96A91F5-A5E1-274E-922C-1E6E6886FD4B}"/>
              </a:ext>
            </a:extLst>
          </p:cNvPr>
          <p:cNvSpPr txBox="1"/>
          <p:nvPr/>
        </p:nvSpPr>
        <p:spPr>
          <a:xfrm>
            <a:off x="635000" y="23876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ABSTRACTING THE FRICTION</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9C803967-2388-8D4C-AB71-7A01AFC65B67}"/>
              </a:ext>
            </a:extLst>
          </p:cNvPr>
          <p:cNvSpPr/>
          <p:nvPr/>
        </p:nvSpPr>
        <p:spPr>
          <a:xfrm>
            <a:off x="635000" y="2641600"/>
            <a:ext cx="52705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BA357542-F2FB-9F49-972C-552199952392}"/>
              </a:ext>
            </a:extLst>
          </p:cNvPr>
          <p:cNvSpPr/>
          <p:nvPr/>
        </p:nvSpPr>
        <p:spPr>
          <a:xfrm>
            <a:off x="635000" y="2794000"/>
            <a:ext cx="45719" cy="7874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AE8B5619-D7F7-C746-B140-B9857024CE78}"/>
              </a:ext>
            </a:extLst>
          </p:cNvPr>
          <p:cNvSpPr txBox="1"/>
          <p:nvPr/>
        </p:nvSpPr>
        <p:spPr>
          <a:xfrm>
            <a:off x="889000" y="2794000"/>
            <a:ext cx="3810000" cy="152400"/>
          </a:xfrm>
          <a:prstGeom prst="rect">
            <a:avLst/>
          </a:prstGeom>
          <a:noFill/>
          <a:ln>
            <a:noFill/>
          </a:ln>
        </p:spPr>
        <p:txBody>
          <a:bodyPr vertOverflow="overflow" vert="horz" wrap="square" rtlCol="0" anchor="t">
            <a:spAutoFit/>
          </a:bodyPr>
          <a:lstStyle/>
          <a:p>
            <a:pPr algn="l"/>
            <a:r>
              <a:rPr lang="en-US" altLang="ko-KR" sz="1000" b="1">
                <a:solidFill>
                  <a:srgbClr val="F4A261"/>
                </a:solidFill>
              </a:rPr>
              <a:t>ACCOUNT ABSTRACTION</a:t>
            </a:r>
            <a:endParaRPr lang="ko-KR" altLang="en-US" sz="1000" b="1">
              <a:solidFill>
                <a:srgbClr val="F4A261"/>
              </a:solidFill>
            </a:endParaRPr>
          </a:p>
        </p:txBody>
      </p:sp>
      <p:sp>
        <p:nvSpPr>
          <p:cNvPr id="10" name="TextBox 9">
            <a:extLst>
              <a:ext uri="{FF2B5EF4-FFF2-40B4-BE49-F238E27FC236}">
                <a16:creationId xmlns:a16="http://schemas.microsoft.com/office/drawing/2014/main" id="{702AB70D-C050-4340-A1A5-89EC209BA73A}"/>
              </a:ext>
            </a:extLst>
          </p:cNvPr>
          <p:cNvSpPr txBox="1"/>
          <p:nvPr/>
        </p:nvSpPr>
        <p:spPr>
          <a:xfrm>
            <a:off x="889000" y="29972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Email and social login</a:t>
            </a:r>
            <a:endParaRPr lang="ko-KR" altLang="en-US" sz="1400" b="1">
              <a:solidFill>
                <a:srgbClr val="EDF4FF"/>
              </a:solidFill>
            </a:endParaRPr>
          </a:p>
        </p:txBody>
      </p:sp>
      <p:sp>
        <p:nvSpPr>
          <p:cNvPr id="11" name="TextBox 10">
            <a:extLst>
              <a:ext uri="{FF2B5EF4-FFF2-40B4-BE49-F238E27FC236}">
                <a16:creationId xmlns:a16="http://schemas.microsoft.com/office/drawing/2014/main" id="{4805DB24-E65F-F94C-A5AE-41C2B0CEC62C}"/>
              </a:ext>
            </a:extLst>
          </p:cNvPr>
          <p:cNvSpPr txBox="1"/>
          <p:nvPr/>
        </p:nvSpPr>
        <p:spPr>
          <a:xfrm>
            <a:off x="889000" y="3327400"/>
            <a:ext cx="4826000" cy="381000"/>
          </a:xfrm>
          <a:prstGeom prst="rect">
            <a:avLst/>
          </a:prstGeom>
          <a:noFill/>
          <a:ln>
            <a:noFill/>
          </a:ln>
        </p:spPr>
        <p:txBody>
          <a:bodyPr vertOverflow="overflow" vert="horz" wrap="square" rtlCol="0" anchor="t">
            <a:spAutoFit/>
          </a:bodyPr>
          <a:lstStyle/>
          <a:p>
            <a:pPr algn="l"/>
            <a:r>
              <a:rPr lang="en-US" altLang="ko-KR" sz="1100">
                <a:solidFill>
                  <a:srgbClr val="D6E2F2"/>
                </a:solidFill>
              </a:rPr>
              <a:t>Wallets generated and managed in the background. No seed phrases. No manual key handling.</a:t>
            </a:r>
            <a:endParaRPr lang="ko-KR" altLang="en-US" sz="1100">
              <a:solidFill>
                <a:srgbClr val="D6E2F2"/>
              </a:solidFill>
            </a:endParaRPr>
          </a:p>
        </p:txBody>
      </p:sp>
      <p:sp>
        <p:nvSpPr>
          <p:cNvPr id="12" name="모서리가 둥근 직사각형 11">
            <a:extLst>
              <a:ext uri="{FF2B5EF4-FFF2-40B4-BE49-F238E27FC236}">
                <a16:creationId xmlns:a16="http://schemas.microsoft.com/office/drawing/2014/main" id="{3CAB192A-E329-E342-998D-0C9DDFECEB10}"/>
              </a:ext>
            </a:extLst>
          </p:cNvPr>
          <p:cNvSpPr/>
          <p:nvPr/>
        </p:nvSpPr>
        <p:spPr>
          <a:xfrm>
            <a:off x="6286500" y="2641600"/>
            <a:ext cx="52705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B9FB0E81-1812-0D45-91AB-7882194918AA}"/>
              </a:ext>
            </a:extLst>
          </p:cNvPr>
          <p:cNvSpPr/>
          <p:nvPr/>
        </p:nvSpPr>
        <p:spPr>
          <a:xfrm>
            <a:off x="6286500" y="2794000"/>
            <a:ext cx="45719" cy="7874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A81D0871-60C6-C540-AF29-2069049A7E03}"/>
              </a:ext>
            </a:extLst>
          </p:cNvPr>
          <p:cNvSpPr txBox="1"/>
          <p:nvPr/>
        </p:nvSpPr>
        <p:spPr>
          <a:xfrm>
            <a:off x="6540500" y="2794000"/>
            <a:ext cx="3810000" cy="152400"/>
          </a:xfrm>
          <a:prstGeom prst="rect">
            <a:avLst/>
          </a:prstGeom>
          <a:noFill/>
          <a:ln>
            <a:noFill/>
          </a:ln>
        </p:spPr>
        <p:txBody>
          <a:bodyPr vertOverflow="overflow" vert="horz" wrap="square" rtlCol="0" anchor="t">
            <a:spAutoFit/>
          </a:bodyPr>
          <a:lstStyle/>
          <a:p>
            <a:pPr algn="l"/>
            <a:r>
              <a:rPr lang="en-US" altLang="ko-KR" sz="1000" b="1">
                <a:solidFill>
                  <a:srgbClr val="F4A261"/>
                </a:solidFill>
              </a:rPr>
              <a:t>GAS ABSTRACTION</a:t>
            </a:r>
            <a:endParaRPr lang="ko-KR" altLang="en-US" sz="1000" b="1">
              <a:solidFill>
                <a:srgbClr val="F4A261"/>
              </a:solidFill>
            </a:endParaRPr>
          </a:p>
        </p:txBody>
      </p:sp>
      <p:sp>
        <p:nvSpPr>
          <p:cNvPr id="15" name="TextBox 14">
            <a:extLst>
              <a:ext uri="{FF2B5EF4-FFF2-40B4-BE49-F238E27FC236}">
                <a16:creationId xmlns:a16="http://schemas.microsoft.com/office/drawing/2014/main" id="{98056DA6-E578-284D-812F-86E83D79BFD9}"/>
              </a:ext>
            </a:extLst>
          </p:cNvPr>
          <p:cNvSpPr txBox="1"/>
          <p:nvPr/>
        </p:nvSpPr>
        <p:spPr>
          <a:xfrm>
            <a:off x="6540500" y="29972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Fees bundled or subsidized</a:t>
            </a:r>
            <a:endParaRPr lang="ko-KR" altLang="en-US" sz="1400" b="1">
              <a:solidFill>
                <a:srgbClr val="EDF4FF"/>
              </a:solidFill>
            </a:endParaRPr>
          </a:p>
        </p:txBody>
      </p:sp>
      <p:sp>
        <p:nvSpPr>
          <p:cNvPr id="16" name="TextBox 15">
            <a:extLst>
              <a:ext uri="{FF2B5EF4-FFF2-40B4-BE49-F238E27FC236}">
                <a16:creationId xmlns:a16="http://schemas.microsoft.com/office/drawing/2014/main" id="{7E0E788F-EC35-1E45-A930-C69BF088D518}"/>
              </a:ext>
            </a:extLst>
          </p:cNvPr>
          <p:cNvSpPr txBox="1"/>
          <p:nvPr/>
        </p:nvSpPr>
        <p:spPr>
          <a:xfrm>
            <a:off x="6540500" y="3327400"/>
            <a:ext cx="4826000" cy="381000"/>
          </a:xfrm>
          <a:prstGeom prst="rect">
            <a:avLst/>
          </a:prstGeom>
          <a:noFill/>
          <a:ln>
            <a:noFill/>
          </a:ln>
        </p:spPr>
        <p:txBody>
          <a:bodyPr vertOverflow="overflow" vert="horz" wrap="square" rtlCol="0" anchor="t">
            <a:spAutoFit/>
          </a:bodyPr>
          <a:lstStyle/>
          <a:p>
            <a:pPr algn="l"/>
            <a:r>
              <a:rPr lang="en-US" altLang="ko-KR" sz="1100">
                <a:solidFill>
                  <a:srgbClr val="D6E2F2"/>
                </a:solidFill>
              </a:rPr>
              <a:t>Users never need to acquire or hold native tokens to use the protocol.</a:t>
            </a:r>
            <a:endParaRPr lang="ko-KR" altLang="en-US" sz="1100">
              <a:solidFill>
                <a:srgbClr val="D6E2F2"/>
              </a:solidFill>
            </a:endParaRPr>
          </a:p>
        </p:txBody>
      </p:sp>
      <p:sp>
        <p:nvSpPr>
          <p:cNvPr id="17" name="TextBox 16">
            <a:extLst>
              <a:ext uri="{FF2B5EF4-FFF2-40B4-BE49-F238E27FC236}">
                <a16:creationId xmlns:a16="http://schemas.microsoft.com/office/drawing/2014/main" id="{12BC66CF-EF8B-2744-992C-CEB0E0A5FEE9}"/>
              </a:ext>
            </a:extLst>
          </p:cNvPr>
          <p:cNvSpPr txBox="1"/>
          <p:nvPr/>
        </p:nvSpPr>
        <p:spPr>
          <a:xfrm>
            <a:off x="635000" y="39878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MOBILE-FIRST INTERFACE — PER AUDIENCE</a:t>
            </a:r>
            <a:endParaRPr lang="ko-KR" altLang="en-US" sz="900" b="1">
              <a:solidFill>
                <a:srgbClr val="7E94B0"/>
              </a:solidFill>
            </a:endParaRPr>
          </a:p>
        </p:txBody>
      </p:sp>
      <p:sp>
        <p:nvSpPr>
          <p:cNvPr id="18" name="모서리가 둥근 직사각형 17">
            <a:extLst>
              <a:ext uri="{FF2B5EF4-FFF2-40B4-BE49-F238E27FC236}">
                <a16:creationId xmlns:a16="http://schemas.microsoft.com/office/drawing/2014/main" id="{11EBEBCB-B4ED-DA4A-B913-7D5EE9312CAC}"/>
              </a:ext>
            </a:extLst>
          </p:cNvPr>
          <p:cNvSpPr/>
          <p:nvPr/>
        </p:nvSpPr>
        <p:spPr>
          <a:xfrm>
            <a:off x="6350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직사각형 18">
            <a:extLst>
              <a:ext uri="{FF2B5EF4-FFF2-40B4-BE49-F238E27FC236}">
                <a16:creationId xmlns:a16="http://schemas.microsoft.com/office/drawing/2014/main" id="{C416CCA7-791B-8D4B-89DE-BB111CF929D2}"/>
              </a:ext>
            </a:extLst>
          </p:cNvPr>
          <p:cNvSpPr/>
          <p:nvPr/>
        </p:nvSpPr>
        <p:spPr>
          <a:xfrm>
            <a:off x="838200" y="4239768"/>
            <a:ext cx="3060700" cy="52832"/>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0" name="TextBox 19">
            <a:extLst>
              <a:ext uri="{FF2B5EF4-FFF2-40B4-BE49-F238E27FC236}">
                <a16:creationId xmlns:a16="http://schemas.microsoft.com/office/drawing/2014/main" id="{4B87249B-ED58-AA4C-A23A-44559CB34962}"/>
              </a:ext>
            </a:extLst>
          </p:cNvPr>
          <p:cNvSpPr txBox="1"/>
          <p:nvPr/>
        </p:nvSpPr>
        <p:spPr>
          <a:xfrm>
            <a:off x="8382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FOR RIDERS</a:t>
            </a:r>
            <a:endParaRPr lang="ko-KR" altLang="en-US" sz="900" b="1">
              <a:solidFill>
                <a:srgbClr val="4AA3FF"/>
              </a:solidFill>
            </a:endParaRPr>
          </a:p>
        </p:txBody>
      </p:sp>
      <p:sp>
        <p:nvSpPr>
          <p:cNvPr id="21" name="TextBox 20">
            <a:extLst>
              <a:ext uri="{FF2B5EF4-FFF2-40B4-BE49-F238E27FC236}">
                <a16:creationId xmlns:a16="http://schemas.microsoft.com/office/drawing/2014/main" id="{9D0BE182-F0DE-AB44-B923-E1A6AB282981}"/>
              </a:ext>
            </a:extLst>
          </p:cNvPr>
          <p:cNvSpPr txBox="1"/>
          <p:nvPr/>
        </p:nvSpPr>
        <p:spPr>
          <a:xfrm>
            <a:off x="8382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Passive dashboard</a:t>
            </a:r>
            <a:endParaRPr lang="ko-KR" altLang="en-US" sz="1600" b="1">
              <a:solidFill>
                <a:srgbClr val="EDF4FF"/>
              </a:solidFill>
            </a:endParaRPr>
          </a:p>
        </p:txBody>
      </p:sp>
      <p:sp>
        <p:nvSpPr>
          <p:cNvPr id="22" name="TextBox 21">
            <a:extLst>
              <a:ext uri="{FF2B5EF4-FFF2-40B4-BE49-F238E27FC236}">
                <a16:creationId xmlns:a16="http://schemas.microsoft.com/office/drawing/2014/main" id="{E9C66899-7954-F143-B4CE-E2E26503C9E1}"/>
              </a:ext>
            </a:extLst>
          </p:cNvPr>
          <p:cNvSpPr txBox="1"/>
          <p:nvPr/>
        </p:nvSpPr>
        <p:spPr>
          <a:xfrm>
            <a:off x="8382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Safety score, premium level, potential savings. Behavioral tracking runs in background — minimal active input.</a:t>
            </a:r>
            <a:endParaRPr lang="ko-KR" altLang="en-US" sz="1100">
              <a:solidFill>
                <a:srgbClr val="D6E2F2"/>
              </a:solidFill>
            </a:endParaRPr>
          </a:p>
        </p:txBody>
      </p:sp>
      <p:sp>
        <p:nvSpPr>
          <p:cNvPr id="23" name="모서리가 둥근 직사각형 22">
            <a:extLst>
              <a:ext uri="{FF2B5EF4-FFF2-40B4-BE49-F238E27FC236}">
                <a16:creationId xmlns:a16="http://schemas.microsoft.com/office/drawing/2014/main" id="{CB2F9295-699E-4F46-9E46-45CF6A61A92B}"/>
              </a:ext>
            </a:extLst>
          </p:cNvPr>
          <p:cNvSpPr/>
          <p:nvPr/>
        </p:nvSpPr>
        <p:spPr>
          <a:xfrm>
            <a:off x="43688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85FEA04E-9F95-384D-91E7-83C1F0D695A5}"/>
              </a:ext>
            </a:extLst>
          </p:cNvPr>
          <p:cNvSpPr/>
          <p:nvPr/>
        </p:nvSpPr>
        <p:spPr>
          <a:xfrm>
            <a:off x="4572000" y="4239768"/>
            <a:ext cx="3060700" cy="52832"/>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325597A9-4FC0-E348-8285-49FCAF72FF06}"/>
              </a:ext>
            </a:extLst>
          </p:cNvPr>
          <p:cNvSpPr txBox="1"/>
          <p:nvPr/>
        </p:nvSpPr>
        <p:spPr>
          <a:xfrm>
            <a:off x="45720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FOR MECHANICS</a:t>
            </a:r>
            <a:endParaRPr lang="ko-KR" altLang="en-US" sz="900" b="1">
              <a:solidFill>
                <a:srgbClr val="A8E89E"/>
              </a:solidFill>
            </a:endParaRPr>
          </a:p>
        </p:txBody>
      </p:sp>
      <p:sp>
        <p:nvSpPr>
          <p:cNvPr id="26" name="TextBox 25">
            <a:extLst>
              <a:ext uri="{FF2B5EF4-FFF2-40B4-BE49-F238E27FC236}">
                <a16:creationId xmlns:a16="http://schemas.microsoft.com/office/drawing/2014/main" id="{0AFC8499-DE13-7F46-9D4F-18A3D22B3455}"/>
              </a:ext>
            </a:extLst>
          </p:cNvPr>
          <p:cNvSpPr txBox="1"/>
          <p:nvPr/>
        </p:nvSpPr>
        <p:spPr>
          <a:xfrm>
            <a:off x="45720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Sub-30-second entries</a:t>
            </a:r>
            <a:endParaRPr lang="ko-KR" altLang="en-US" sz="1600" b="1">
              <a:solidFill>
                <a:srgbClr val="EDF4FF"/>
              </a:solidFill>
            </a:endParaRPr>
          </a:p>
        </p:txBody>
      </p:sp>
      <p:sp>
        <p:nvSpPr>
          <p:cNvPr id="27" name="TextBox 26">
            <a:extLst>
              <a:ext uri="{FF2B5EF4-FFF2-40B4-BE49-F238E27FC236}">
                <a16:creationId xmlns:a16="http://schemas.microsoft.com/office/drawing/2014/main" id="{EDF95DE5-BC4A-C54C-90FE-2D78920C3FAF}"/>
              </a:ext>
            </a:extLst>
          </p:cNvPr>
          <p:cNvSpPr txBox="1"/>
          <p:nvPr/>
        </p:nvSpPr>
        <p:spPr>
          <a:xfrm>
            <a:off x="45720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Structured forms or QR-based vehicle ID. Optimized for speed at the shop counter.</a:t>
            </a:r>
            <a:endParaRPr lang="ko-KR" altLang="en-US" sz="1100">
              <a:solidFill>
                <a:srgbClr val="D6E2F2"/>
              </a:solidFill>
            </a:endParaRPr>
          </a:p>
        </p:txBody>
      </p:sp>
      <p:sp>
        <p:nvSpPr>
          <p:cNvPr id="28" name="모서리가 둥근 직사각형 27">
            <a:extLst>
              <a:ext uri="{FF2B5EF4-FFF2-40B4-BE49-F238E27FC236}">
                <a16:creationId xmlns:a16="http://schemas.microsoft.com/office/drawing/2014/main" id="{FC5F7E4F-BBF5-2B44-934B-8AD7E3B0A644}"/>
              </a:ext>
            </a:extLst>
          </p:cNvPr>
          <p:cNvSpPr/>
          <p:nvPr/>
        </p:nvSpPr>
        <p:spPr>
          <a:xfrm>
            <a:off x="81026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23ECDB0A-6770-D940-9947-E1C7C77F3B4B}"/>
              </a:ext>
            </a:extLst>
          </p:cNvPr>
          <p:cNvSpPr/>
          <p:nvPr/>
        </p:nvSpPr>
        <p:spPr>
          <a:xfrm>
            <a:off x="8305800" y="4239768"/>
            <a:ext cx="3060700" cy="52832"/>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1782E7C3-A3D4-1A48-9443-C3CB75EE8554}"/>
              </a:ext>
            </a:extLst>
          </p:cNvPr>
          <p:cNvSpPr txBox="1"/>
          <p:nvPr/>
        </p:nvSpPr>
        <p:spPr>
          <a:xfrm>
            <a:off x="83058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FOR BUYERS</a:t>
            </a:r>
            <a:endParaRPr lang="ko-KR" altLang="en-US" sz="900" b="1">
              <a:solidFill>
                <a:srgbClr val="F4A261"/>
              </a:solidFill>
            </a:endParaRPr>
          </a:p>
        </p:txBody>
      </p:sp>
      <p:sp>
        <p:nvSpPr>
          <p:cNvPr id="31" name="TextBox 30">
            <a:extLst>
              <a:ext uri="{FF2B5EF4-FFF2-40B4-BE49-F238E27FC236}">
                <a16:creationId xmlns:a16="http://schemas.microsoft.com/office/drawing/2014/main" id="{5CDA77C0-A2D3-A540-B002-CF73B345FA97}"/>
              </a:ext>
            </a:extLst>
          </p:cNvPr>
          <p:cNvSpPr txBox="1"/>
          <p:nvPr/>
        </p:nvSpPr>
        <p:spPr>
          <a:xfrm>
            <a:off x="83058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One-scan verification</a:t>
            </a:r>
            <a:endParaRPr lang="ko-KR" altLang="en-US" sz="1600" b="1">
              <a:solidFill>
                <a:srgbClr val="EDF4FF"/>
              </a:solidFill>
            </a:endParaRPr>
          </a:p>
        </p:txBody>
      </p:sp>
      <p:sp>
        <p:nvSpPr>
          <p:cNvPr id="32" name="TextBox 31">
            <a:extLst>
              <a:ext uri="{FF2B5EF4-FFF2-40B4-BE49-F238E27FC236}">
                <a16:creationId xmlns:a16="http://schemas.microsoft.com/office/drawing/2014/main" id="{35B05698-06A4-0E49-8CF2-D5ED7785B3C3}"/>
              </a:ext>
            </a:extLst>
          </p:cNvPr>
          <p:cNvSpPr txBox="1"/>
          <p:nvPr/>
        </p:nvSpPr>
        <p:spPr>
          <a:xfrm>
            <a:off x="83058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Scan a code or enter a VIN. Complete verifiable history surfaces immediately. No account required to read.</a:t>
            </a:r>
            <a:endParaRPr lang="ko-KR" altLang="en-US" sz="1100">
              <a:solidFill>
                <a:srgbClr val="D6E2F2"/>
              </a:solidFill>
            </a:endParaRPr>
          </a:p>
        </p:txBody>
      </p:sp>
      <p:sp>
        <p:nvSpPr>
          <p:cNvPr id="33" name="직사각형 32">
            <a:extLst>
              <a:ext uri="{FF2B5EF4-FFF2-40B4-BE49-F238E27FC236}">
                <a16:creationId xmlns:a16="http://schemas.microsoft.com/office/drawing/2014/main" id="{0310C2BA-489D-0045-9BFC-B07E6228FF09}"/>
              </a:ext>
            </a:extLst>
          </p:cNvPr>
          <p:cNvSpPr/>
          <p:nvPr/>
        </p:nvSpPr>
        <p:spPr>
          <a:xfrm>
            <a:off x="635000" y="6096000"/>
            <a:ext cx="10922000" cy="2794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직사각형 33">
            <a:extLst>
              <a:ext uri="{FF2B5EF4-FFF2-40B4-BE49-F238E27FC236}">
                <a16:creationId xmlns:a16="http://schemas.microsoft.com/office/drawing/2014/main" id="{471FC190-95E3-2743-AA55-A75B9F98E506}"/>
              </a:ext>
            </a:extLst>
          </p:cNvPr>
          <p:cNvSpPr/>
          <p:nvPr/>
        </p:nvSpPr>
        <p:spPr>
          <a:xfrm>
            <a:off x="635000" y="6096000"/>
            <a:ext cx="50800" cy="279400"/>
          </a:xfrm>
          <a:prstGeom prst="rect">
            <a:avLst/>
          </a:prstGeom>
          <a:solidFill>
            <a:srgbClr val="9CC6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BD3E9BC0-485A-8743-AD00-94B145C0AA82}"/>
              </a:ext>
            </a:extLst>
          </p:cNvPr>
          <p:cNvSpPr txBox="1"/>
          <p:nvPr/>
        </p:nvSpPr>
        <p:spPr>
          <a:xfrm>
            <a:off x="889000" y="6146800"/>
            <a:ext cx="1143000" cy="177800"/>
          </a:xfrm>
          <a:prstGeom prst="rect">
            <a:avLst/>
          </a:prstGeom>
          <a:noFill/>
          <a:ln>
            <a:noFill/>
          </a:ln>
        </p:spPr>
        <p:txBody>
          <a:bodyPr vertOverflow="overflow" vert="horz" wrap="square" rtlCol="0" anchor="t">
            <a:spAutoFit/>
          </a:bodyPr>
          <a:lstStyle/>
          <a:p>
            <a:pPr algn="l"/>
            <a:r>
              <a:rPr lang="en-US" altLang="ko-KR" sz="900" b="1">
                <a:solidFill>
                  <a:srgbClr val="9CC6FF"/>
                </a:solidFill>
              </a:rPr>
              <a:t>RETENTION</a:t>
            </a:r>
            <a:endParaRPr lang="ko-KR" altLang="en-US" sz="900" b="1">
              <a:solidFill>
                <a:srgbClr val="9CC6FF"/>
              </a:solidFill>
            </a:endParaRPr>
          </a:p>
        </p:txBody>
      </p:sp>
      <p:sp>
        <p:nvSpPr>
          <p:cNvPr id="36" name="TextBox 35">
            <a:extLst>
              <a:ext uri="{FF2B5EF4-FFF2-40B4-BE49-F238E27FC236}">
                <a16:creationId xmlns:a16="http://schemas.microsoft.com/office/drawing/2014/main" id="{89392D71-20A2-5945-9EA7-B9484CD9F374}"/>
              </a:ext>
            </a:extLst>
          </p:cNvPr>
          <p:cNvSpPr txBox="1"/>
          <p:nvPr/>
        </p:nvSpPr>
        <p:spPr>
          <a:xfrm>
            <a:off x="2159000" y="6146800"/>
            <a:ext cx="9398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Dynamic premiums + safety rebates for riders. Persistent reputation capital for mechanics and dealers.</a:t>
            </a:r>
            <a:endParaRPr lang="ko-KR" altLang="en-US" sz="1100">
              <a:solidFill>
                <a:srgbClr val="EDF4FF"/>
              </a:solidFill>
            </a:endParaRPr>
          </a:p>
        </p:txBody>
      </p:sp>
      <p:sp>
        <p:nvSpPr>
          <p:cNvPr id="37" name="직사각형 36">
            <a:extLst>
              <a:ext uri="{FF2B5EF4-FFF2-40B4-BE49-F238E27FC236}">
                <a16:creationId xmlns:a16="http://schemas.microsoft.com/office/drawing/2014/main" id="{60753A26-B4C5-444D-BBA4-8FCA37D1D523}"/>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FD8E93C5-0453-394A-B077-5D437C105E89}"/>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If the user has to know it's blockchain, the design has failed.</a:t>
            </a:r>
            <a:endParaRPr lang="ko-KR" altLang="en-US" sz="1300" b="1">
              <a:solidFill>
                <a:srgbClr val="EDF4FF"/>
              </a:solidFill>
            </a:endParaRPr>
          </a:p>
        </p:txBody>
      </p:sp>
      <p:sp>
        <p:nvSpPr>
          <p:cNvPr id="40" name="TextBox 39">
            <a:extLst>
              <a:ext uri="{FF2B5EF4-FFF2-40B4-BE49-F238E27FC236}">
                <a16:creationId xmlns:a16="http://schemas.microsoft.com/office/drawing/2014/main" id="{A93FF853-9150-A3B7-48D3-A2937205E2EB}"/>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3398226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A3A2DC-B667-2F46-912B-4A41D03685D7}"/>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II.4  ·  TARGET AUDIENCE &amp; GO-TO-MARKET</a:t>
            </a:r>
            <a:endParaRPr lang="ko-KR" altLang="en-US" sz="1200" b="1">
              <a:solidFill>
                <a:srgbClr val="9CC6FF"/>
              </a:solidFill>
            </a:endParaRPr>
          </a:p>
        </p:txBody>
      </p:sp>
      <p:sp>
        <p:nvSpPr>
          <p:cNvPr id="3" name="TextBox 2">
            <a:extLst>
              <a:ext uri="{FF2B5EF4-FFF2-40B4-BE49-F238E27FC236}">
                <a16:creationId xmlns:a16="http://schemas.microsoft.com/office/drawing/2014/main" id="{FCB87CFD-60FE-A84B-B09E-74EBCC10D2A2}"/>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2600" b="1">
                <a:solidFill>
                  <a:srgbClr val="EDF4FF"/>
                </a:solidFill>
              </a:rPr>
              <a:t>A multi-sided marketplace — start narrow, expand from the wedge</a:t>
            </a:r>
            <a:endParaRPr lang="ko-KR" altLang="en-US" sz="2600" b="1">
              <a:solidFill>
                <a:srgbClr val="EDF4FF"/>
              </a:solidFill>
            </a:endParaRPr>
          </a:p>
        </p:txBody>
      </p:sp>
      <p:sp>
        <p:nvSpPr>
          <p:cNvPr id="4" name="TextBox 3">
            <a:extLst>
              <a:ext uri="{FF2B5EF4-FFF2-40B4-BE49-F238E27FC236}">
                <a16:creationId xmlns:a16="http://schemas.microsoft.com/office/drawing/2014/main" id="{5F399D39-7465-B94F-934E-CD5066876D1C}"/>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Four participant classes must show up at once. The launch strategy is engineered around the supply-side anchor.</a:t>
            </a:r>
            <a:endParaRPr lang="ko-KR" altLang="en-US" sz="1300" i="1">
              <a:solidFill>
                <a:srgbClr val="B8C8E0"/>
              </a:solidFill>
            </a:endParaRPr>
          </a:p>
        </p:txBody>
      </p:sp>
      <p:sp>
        <p:nvSpPr>
          <p:cNvPr id="5" name="직사각형 4">
            <a:extLst>
              <a:ext uri="{FF2B5EF4-FFF2-40B4-BE49-F238E27FC236}">
                <a16:creationId xmlns:a16="http://schemas.microsoft.com/office/drawing/2014/main" id="{0655ECE2-F032-EC47-95D1-B3794CB402DE}"/>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0ED04F42-4E4F-3442-B697-2844BBF17D1A}"/>
              </a:ext>
            </a:extLst>
          </p:cNvPr>
          <p:cNvSpPr txBox="1"/>
          <p:nvPr/>
        </p:nvSpPr>
        <p:spPr>
          <a:xfrm>
            <a:off x="635000" y="23876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FOUR SIDES, ONE PROTOCOL</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E1BBC837-B134-EB46-A7AD-78ECF913E444}"/>
              </a:ext>
            </a:extLst>
          </p:cNvPr>
          <p:cNvSpPr/>
          <p:nvPr/>
        </p:nvSpPr>
        <p:spPr>
          <a:xfrm>
            <a:off x="6350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5E8B881D-831E-714D-B97A-E6064364189B}"/>
              </a:ext>
            </a:extLst>
          </p:cNvPr>
          <p:cNvSpPr/>
          <p:nvPr/>
        </p:nvSpPr>
        <p:spPr>
          <a:xfrm>
            <a:off x="635000" y="2794000"/>
            <a:ext cx="45719" cy="939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319E7BB1-0971-214E-8D3D-0CE95BF729F6}"/>
              </a:ext>
            </a:extLst>
          </p:cNvPr>
          <p:cNvSpPr txBox="1"/>
          <p:nvPr/>
        </p:nvSpPr>
        <p:spPr>
          <a:xfrm>
            <a:off x="8128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DEMAND</a:t>
            </a:r>
            <a:endParaRPr lang="ko-KR" altLang="en-US" sz="900" b="1">
              <a:solidFill>
                <a:srgbClr val="4AA3FF"/>
              </a:solidFill>
            </a:endParaRPr>
          </a:p>
        </p:txBody>
      </p:sp>
      <p:sp>
        <p:nvSpPr>
          <p:cNvPr id="10" name="TextBox 9">
            <a:extLst>
              <a:ext uri="{FF2B5EF4-FFF2-40B4-BE49-F238E27FC236}">
                <a16:creationId xmlns:a16="http://schemas.microsoft.com/office/drawing/2014/main" id="{4088EB16-CAAC-3143-9E56-D83527D6A7A8}"/>
              </a:ext>
            </a:extLst>
          </p:cNvPr>
          <p:cNvSpPr txBox="1"/>
          <p:nvPr/>
        </p:nvSpPr>
        <p:spPr>
          <a:xfrm>
            <a:off x="8128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Riders &amp; Buyers</a:t>
            </a:r>
            <a:endParaRPr lang="ko-KR" altLang="en-US" sz="1500" b="1">
              <a:solidFill>
                <a:srgbClr val="EDF4FF"/>
              </a:solidFill>
            </a:endParaRPr>
          </a:p>
        </p:txBody>
      </p:sp>
      <p:sp>
        <p:nvSpPr>
          <p:cNvPr id="11" name="TextBox 10">
            <a:extLst>
              <a:ext uri="{FF2B5EF4-FFF2-40B4-BE49-F238E27FC236}">
                <a16:creationId xmlns:a16="http://schemas.microsoft.com/office/drawing/2014/main" id="{67131775-2149-7C47-BFD5-673CDDE74F27}"/>
              </a:ext>
            </a:extLst>
          </p:cNvPr>
          <p:cNvSpPr txBox="1"/>
          <p:nvPr/>
        </p:nvSpPr>
        <p:spPr>
          <a:xfrm>
            <a:off x="8128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Want fair pricing and trustworthy histories</a:t>
            </a:r>
            <a:endParaRPr lang="ko-KR" altLang="en-US" sz="1100">
              <a:solidFill>
                <a:srgbClr val="D6E2F2"/>
              </a:solidFill>
            </a:endParaRPr>
          </a:p>
        </p:txBody>
      </p:sp>
      <p:sp>
        <p:nvSpPr>
          <p:cNvPr id="12" name="모서리가 둥근 직사각형 11">
            <a:extLst>
              <a:ext uri="{FF2B5EF4-FFF2-40B4-BE49-F238E27FC236}">
                <a16:creationId xmlns:a16="http://schemas.microsoft.com/office/drawing/2014/main" id="{827A7C75-158B-D94B-84E2-277D1229A7D4}"/>
              </a:ext>
            </a:extLst>
          </p:cNvPr>
          <p:cNvSpPr/>
          <p:nvPr/>
        </p:nvSpPr>
        <p:spPr>
          <a:xfrm>
            <a:off x="34544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85CFD026-16DB-ED4B-8E02-E3F345CA3B53}"/>
              </a:ext>
            </a:extLst>
          </p:cNvPr>
          <p:cNvSpPr/>
          <p:nvPr/>
        </p:nvSpPr>
        <p:spPr>
          <a:xfrm>
            <a:off x="3454400" y="2794000"/>
            <a:ext cx="45719" cy="939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73595689-94F8-4C45-B41B-76C082D23458}"/>
              </a:ext>
            </a:extLst>
          </p:cNvPr>
          <p:cNvSpPr txBox="1"/>
          <p:nvPr/>
        </p:nvSpPr>
        <p:spPr>
          <a:xfrm>
            <a:off x="36322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SUPPLY</a:t>
            </a:r>
            <a:endParaRPr lang="ko-KR" altLang="en-US" sz="900" b="1">
              <a:solidFill>
                <a:srgbClr val="A8E89E"/>
              </a:solidFill>
            </a:endParaRPr>
          </a:p>
        </p:txBody>
      </p:sp>
      <p:sp>
        <p:nvSpPr>
          <p:cNvPr id="15" name="TextBox 14">
            <a:extLst>
              <a:ext uri="{FF2B5EF4-FFF2-40B4-BE49-F238E27FC236}">
                <a16:creationId xmlns:a16="http://schemas.microsoft.com/office/drawing/2014/main" id="{BAD94C12-3CD3-8E42-A1EA-386489644CA3}"/>
              </a:ext>
            </a:extLst>
          </p:cNvPr>
          <p:cNvSpPr txBox="1"/>
          <p:nvPr/>
        </p:nvSpPr>
        <p:spPr>
          <a:xfrm>
            <a:off x="36322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Mechanics &amp; Dealers</a:t>
            </a:r>
            <a:endParaRPr lang="ko-KR" altLang="en-US" sz="1500" b="1">
              <a:solidFill>
                <a:srgbClr val="EDF4FF"/>
              </a:solidFill>
            </a:endParaRPr>
          </a:p>
        </p:txBody>
      </p:sp>
      <p:sp>
        <p:nvSpPr>
          <p:cNvPr id="16" name="TextBox 15">
            <a:extLst>
              <a:ext uri="{FF2B5EF4-FFF2-40B4-BE49-F238E27FC236}">
                <a16:creationId xmlns:a16="http://schemas.microsoft.com/office/drawing/2014/main" id="{B0D05EE1-1301-6D49-A2FF-7A84DEC5DD99}"/>
              </a:ext>
            </a:extLst>
          </p:cNvPr>
          <p:cNvSpPr txBox="1"/>
          <p:nvPr/>
        </p:nvSpPr>
        <p:spPr>
          <a:xfrm>
            <a:off x="36322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Build verified reputation; gain customer trust</a:t>
            </a:r>
            <a:endParaRPr lang="ko-KR" altLang="en-US" sz="1100">
              <a:solidFill>
                <a:srgbClr val="D6E2F2"/>
              </a:solidFill>
            </a:endParaRPr>
          </a:p>
        </p:txBody>
      </p:sp>
      <p:sp>
        <p:nvSpPr>
          <p:cNvPr id="17" name="모서리가 둥근 직사각형 16">
            <a:extLst>
              <a:ext uri="{FF2B5EF4-FFF2-40B4-BE49-F238E27FC236}">
                <a16:creationId xmlns:a16="http://schemas.microsoft.com/office/drawing/2014/main" id="{64A7A65C-5C0F-CC44-8250-E6B2A22D4DEE}"/>
              </a:ext>
            </a:extLst>
          </p:cNvPr>
          <p:cNvSpPr/>
          <p:nvPr/>
        </p:nvSpPr>
        <p:spPr>
          <a:xfrm>
            <a:off x="62738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직사각형 17">
            <a:extLst>
              <a:ext uri="{FF2B5EF4-FFF2-40B4-BE49-F238E27FC236}">
                <a16:creationId xmlns:a16="http://schemas.microsoft.com/office/drawing/2014/main" id="{2D3E79DD-7460-AB4E-95C0-CC62551E8CA0}"/>
              </a:ext>
            </a:extLst>
          </p:cNvPr>
          <p:cNvSpPr/>
          <p:nvPr/>
        </p:nvSpPr>
        <p:spPr>
          <a:xfrm>
            <a:off x="6273800" y="2794000"/>
            <a:ext cx="45719" cy="9398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7345F47-447D-904A-8671-86A4D0812598}"/>
              </a:ext>
            </a:extLst>
          </p:cNvPr>
          <p:cNvSpPr txBox="1"/>
          <p:nvPr/>
        </p:nvSpPr>
        <p:spPr>
          <a:xfrm>
            <a:off x="64516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CAPITAL</a:t>
            </a:r>
            <a:endParaRPr lang="ko-KR" altLang="en-US" sz="900" b="1">
              <a:solidFill>
                <a:srgbClr val="F4A261"/>
              </a:solidFill>
            </a:endParaRPr>
          </a:p>
        </p:txBody>
      </p:sp>
      <p:sp>
        <p:nvSpPr>
          <p:cNvPr id="20" name="TextBox 19">
            <a:extLst>
              <a:ext uri="{FF2B5EF4-FFF2-40B4-BE49-F238E27FC236}">
                <a16:creationId xmlns:a16="http://schemas.microsoft.com/office/drawing/2014/main" id="{22D82773-ECCF-1248-9765-8E2FE36C145F}"/>
              </a:ext>
            </a:extLst>
          </p:cNvPr>
          <p:cNvSpPr txBox="1"/>
          <p:nvPr/>
        </p:nvSpPr>
        <p:spPr>
          <a:xfrm>
            <a:off x="64516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Liquidity Providers</a:t>
            </a:r>
            <a:endParaRPr lang="ko-KR" altLang="en-US" sz="1500" b="1">
              <a:solidFill>
                <a:srgbClr val="EDF4FF"/>
              </a:solidFill>
            </a:endParaRPr>
          </a:p>
        </p:txBody>
      </p:sp>
      <p:sp>
        <p:nvSpPr>
          <p:cNvPr id="21" name="TextBox 20">
            <a:extLst>
              <a:ext uri="{FF2B5EF4-FFF2-40B4-BE49-F238E27FC236}">
                <a16:creationId xmlns:a16="http://schemas.microsoft.com/office/drawing/2014/main" id="{376DE769-7C2C-CD45-9631-341C76B962C5}"/>
              </a:ext>
            </a:extLst>
          </p:cNvPr>
          <p:cNvSpPr txBox="1"/>
          <p:nvPr/>
        </p:nvSpPr>
        <p:spPr>
          <a:xfrm>
            <a:off x="64516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Real insurance demand — not token emissions</a:t>
            </a:r>
            <a:endParaRPr lang="ko-KR" altLang="en-US" sz="1100">
              <a:solidFill>
                <a:srgbClr val="D6E2F2"/>
              </a:solidFill>
            </a:endParaRPr>
          </a:p>
        </p:txBody>
      </p:sp>
      <p:sp>
        <p:nvSpPr>
          <p:cNvPr id="22" name="모서리가 둥근 직사각형 21">
            <a:extLst>
              <a:ext uri="{FF2B5EF4-FFF2-40B4-BE49-F238E27FC236}">
                <a16:creationId xmlns:a16="http://schemas.microsoft.com/office/drawing/2014/main" id="{045F1CBA-3F19-DB46-845F-F9A99925F40E}"/>
              </a:ext>
            </a:extLst>
          </p:cNvPr>
          <p:cNvSpPr/>
          <p:nvPr/>
        </p:nvSpPr>
        <p:spPr>
          <a:xfrm>
            <a:off x="90932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ED92D718-CF40-7A4A-ABFF-E89E3B6EB8CF}"/>
              </a:ext>
            </a:extLst>
          </p:cNvPr>
          <p:cNvSpPr/>
          <p:nvPr/>
        </p:nvSpPr>
        <p:spPr>
          <a:xfrm>
            <a:off x="9093200" y="2794000"/>
            <a:ext cx="45719" cy="939800"/>
          </a:xfrm>
          <a:prstGeom prst="rect">
            <a:avLst/>
          </a:prstGeom>
          <a:solidFill>
            <a:srgbClr val="C9A0D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C8CC24B6-CC89-E84B-AF96-5CB939A8203B}"/>
              </a:ext>
            </a:extLst>
          </p:cNvPr>
          <p:cNvSpPr txBox="1"/>
          <p:nvPr/>
        </p:nvSpPr>
        <p:spPr>
          <a:xfrm>
            <a:off x="92710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C9A0DC"/>
                </a:solidFill>
              </a:rPr>
              <a:t>B2B</a:t>
            </a:r>
            <a:endParaRPr lang="ko-KR" altLang="en-US" sz="900" b="1">
              <a:solidFill>
                <a:srgbClr val="C9A0DC"/>
              </a:solidFill>
            </a:endParaRPr>
          </a:p>
        </p:txBody>
      </p:sp>
      <p:sp>
        <p:nvSpPr>
          <p:cNvPr id="25" name="TextBox 24">
            <a:extLst>
              <a:ext uri="{FF2B5EF4-FFF2-40B4-BE49-F238E27FC236}">
                <a16:creationId xmlns:a16="http://schemas.microsoft.com/office/drawing/2014/main" id="{1914D940-8EED-A844-8AE5-AC2D3A92D0A9}"/>
              </a:ext>
            </a:extLst>
          </p:cNvPr>
          <p:cNvSpPr txBox="1"/>
          <p:nvPr/>
        </p:nvSpPr>
        <p:spPr>
          <a:xfrm>
            <a:off x="92710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Insurers &amp; Lenders</a:t>
            </a:r>
            <a:endParaRPr lang="ko-KR" altLang="en-US" sz="1500" b="1">
              <a:solidFill>
                <a:srgbClr val="EDF4FF"/>
              </a:solidFill>
            </a:endParaRPr>
          </a:p>
        </p:txBody>
      </p:sp>
      <p:sp>
        <p:nvSpPr>
          <p:cNvPr id="26" name="TextBox 25">
            <a:extLst>
              <a:ext uri="{FF2B5EF4-FFF2-40B4-BE49-F238E27FC236}">
                <a16:creationId xmlns:a16="http://schemas.microsoft.com/office/drawing/2014/main" id="{B97D93BD-BB9C-7B42-8D22-D53277AA28A2}"/>
              </a:ext>
            </a:extLst>
          </p:cNvPr>
          <p:cNvSpPr txBox="1"/>
          <p:nvPr/>
        </p:nvSpPr>
        <p:spPr>
          <a:xfrm>
            <a:off x="92710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Consume verified data for underwriting</a:t>
            </a:r>
            <a:endParaRPr lang="ko-KR" altLang="en-US" sz="1100">
              <a:solidFill>
                <a:srgbClr val="D6E2F2"/>
              </a:solidFill>
            </a:endParaRPr>
          </a:p>
        </p:txBody>
      </p:sp>
      <p:sp>
        <p:nvSpPr>
          <p:cNvPr id="27" name="모서리가 둥근 직사각형 26">
            <a:extLst>
              <a:ext uri="{FF2B5EF4-FFF2-40B4-BE49-F238E27FC236}">
                <a16:creationId xmlns:a16="http://schemas.microsoft.com/office/drawing/2014/main" id="{7AE3EF5D-B85D-B241-95DE-E366A2E77FED}"/>
              </a:ext>
            </a:extLst>
          </p:cNvPr>
          <p:cNvSpPr/>
          <p:nvPr/>
        </p:nvSpPr>
        <p:spPr>
          <a:xfrm>
            <a:off x="635000" y="4089400"/>
            <a:ext cx="5270500" cy="2159000"/>
          </a:xfrm>
          <a:prstGeom prst="roundRect">
            <a:avLst/>
          </a:prstGeom>
          <a:solidFill>
            <a:srgbClr val="102542"/>
          </a:solidFill>
          <a:ln w="12700" cap="flat" cmpd="sng" algn="ctr">
            <a:solidFill>
              <a:srgbClr val="4AA3F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8" name="직사각형 27">
            <a:extLst>
              <a:ext uri="{FF2B5EF4-FFF2-40B4-BE49-F238E27FC236}">
                <a16:creationId xmlns:a16="http://schemas.microsoft.com/office/drawing/2014/main" id="{4B280A47-F272-BA4B-A697-49D4D7254E9C}"/>
              </a:ext>
            </a:extLst>
          </p:cNvPr>
          <p:cNvSpPr/>
          <p:nvPr/>
        </p:nvSpPr>
        <p:spPr>
          <a:xfrm>
            <a:off x="914400" y="4080443"/>
            <a:ext cx="4724400" cy="87376"/>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TextBox 28">
            <a:extLst>
              <a:ext uri="{FF2B5EF4-FFF2-40B4-BE49-F238E27FC236}">
                <a16:creationId xmlns:a16="http://schemas.microsoft.com/office/drawing/2014/main" id="{48B5F4FE-9599-394D-B2D7-5C52AC1F2D5E}"/>
              </a:ext>
            </a:extLst>
          </p:cNvPr>
          <p:cNvSpPr txBox="1"/>
          <p:nvPr/>
        </p:nvSpPr>
        <p:spPr>
          <a:xfrm>
            <a:off x="863600" y="4216400"/>
            <a:ext cx="2540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LAUNCH STRATEGY</a:t>
            </a:r>
            <a:endParaRPr lang="ko-KR" altLang="en-US" sz="900" b="1">
              <a:solidFill>
                <a:srgbClr val="9CC6FF"/>
              </a:solidFill>
            </a:endParaRPr>
          </a:p>
        </p:txBody>
      </p:sp>
      <p:sp>
        <p:nvSpPr>
          <p:cNvPr id="30" name="TextBox 29">
            <a:extLst>
              <a:ext uri="{FF2B5EF4-FFF2-40B4-BE49-F238E27FC236}">
                <a16:creationId xmlns:a16="http://schemas.microsoft.com/office/drawing/2014/main" id="{C23C82C3-62A5-3249-AFE3-798E55E3F824}"/>
              </a:ext>
            </a:extLst>
          </p:cNvPr>
          <p:cNvSpPr txBox="1"/>
          <p:nvPr/>
        </p:nvSpPr>
        <p:spPr>
          <a:xfrm>
            <a:off x="863600" y="4419600"/>
            <a:ext cx="4826000" cy="304800"/>
          </a:xfrm>
          <a:prstGeom prst="rect">
            <a:avLst/>
          </a:prstGeom>
          <a:noFill/>
          <a:ln>
            <a:noFill/>
          </a:ln>
        </p:spPr>
        <p:txBody>
          <a:bodyPr vertOverflow="overflow" vert="horz" wrap="square" rtlCol="0" anchor="t">
            <a:spAutoFit/>
          </a:bodyPr>
          <a:lstStyle/>
          <a:p>
            <a:pPr algn="l"/>
            <a:r>
              <a:rPr lang="en-US" altLang="ko-KR" sz="1600" b="1">
                <a:solidFill>
                  <a:srgbClr val="EDF4FF"/>
                </a:solidFill>
              </a:rPr>
              <a:t>Seoul wedge — dealer-led adoption</a:t>
            </a:r>
            <a:endParaRPr lang="ko-KR" altLang="en-US" sz="1600" b="1">
              <a:solidFill>
                <a:srgbClr val="EDF4FF"/>
              </a:solidFill>
            </a:endParaRPr>
          </a:p>
        </p:txBody>
      </p:sp>
      <p:sp>
        <p:nvSpPr>
          <p:cNvPr id="31" name="TextBox 30">
            <a:extLst>
              <a:ext uri="{FF2B5EF4-FFF2-40B4-BE49-F238E27FC236}">
                <a16:creationId xmlns:a16="http://schemas.microsoft.com/office/drawing/2014/main" id="{37D3CB1A-281A-2040-883E-4F317BBEDC17}"/>
              </a:ext>
            </a:extLst>
          </p:cNvPr>
          <p:cNvSpPr txBox="1"/>
          <p:nvPr/>
        </p:nvSpPr>
        <p:spPr>
          <a:xfrm>
            <a:off x="863600" y="4775200"/>
            <a:ext cx="4826000" cy="660400"/>
          </a:xfrm>
          <a:prstGeom prst="rect">
            <a:avLst/>
          </a:prstGeom>
          <a:noFill/>
          <a:ln>
            <a:noFill/>
          </a:ln>
        </p:spPr>
        <p:txBody>
          <a:bodyPr vertOverflow="overflow" vert="horz" wrap="square" rtlCol="0" anchor="t">
            <a:spAutoFit/>
          </a:bodyPr>
          <a:lstStyle/>
          <a:p>
            <a:pPr algn="l"/>
            <a:r>
              <a:rPr lang="en-US" altLang="ko-KR" sz="1100">
                <a:solidFill>
                  <a:srgbClr val="D6E2F2"/>
                </a:solidFill>
              </a:rPr>
              <a:t>Partner with a small number of high-volume used-bike dealers and trusted repair shops in one dense urban market. Dealers control supply — they push adoption downstream.</a:t>
            </a:r>
            <a:endParaRPr lang="ko-KR" altLang="en-US" sz="1100">
              <a:solidFill>
                <a:srgbClr val="D6E2F2"/>
              </a:solidFill>
            </a:endParaRPr>
          </a:p>
        </p:txBody>
      </p:sp>
      <p:sp>
        <p:nvSpPr>
          <p:cNvPr id="32" name="직사각형 31">
            <a:extLst>
              <a:ext uri="{FF2B5EF4-FFF2-40B4-BE49-F238E27FC236}">
                <a16:creationId xmlns:a16="http://schemas.microsoft.com/office/drawing/2014/main" id="{7C126755-D46A-D849-A8C4-C22519E95A4F}"/>
              </a:ext>
            </a:extLst>
          </p:cNvPr>
          <p:cNvSpPr/>
          <p:nvPr/>
        </p:nvSpPr>
        <p:spPr>
          <a:xfrm>
            <a:off x="863600" y="5588000"/>
            <a:ext cx="50800" cy="558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E5DF3A72-8ECF-1E45-AB02-1F826F7B0AA8}"/>
              </a:ext>
            </a:extLst>
          </p:cNvPr>
          <p:cNvSpPr txBox="1"/>
          <p:nvPr/>
        </p:nvSpPr>
        <p:spPr>
          <a:xfrm>
            <a:off x="1016000" y="5562600"/>
            <a:ext cx="2540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WHY IT WORKS</a:t>
            </a:r>
            <a:endParaRPr lang="ko-KR" altLang="en-US" sz="900" b="1">
              <a:solidFill>
                <a:srgbClr val="A8E89E"/>
              </a:solidFill>
            </a:endParaRPr>
          </a:p>
        </p:txBody>
      </p:sp>
      <p:sp>
        <p:nvSpPr>
          <p:cNvPr id="34" name="TextBox 33">
            <a:extLst>
              <a:ext uri="{FF2B5EF4-FFF2-40B4-BE49-F238E27FC236}">
                <a16:creationId xmlns:a16="http://schemas.microsoft.com/office/drawing/2014/main" id="{CD56AD71-A3A9-9F4B-B074-343F414A86EB}"/>
              </a:ext>
            </a:extLst>
          </p:cNvPr>
          <p:cNvSpPr txBox="1"/>
          <p:nvPr/>
        </p:nvSpPr>
        <p:spPr>
          <a:xfrm>
            <a:off x="1016000" y="5765800"/>
            <a:ext cx="4699000" cy="381000"/>
          </a:xfrm>
          <a:prstGeom prst="rect">
            <a:avLst/>
          </a:prstGeom>
          <a:noFill/>
          <a:ln>
            <a:noFill/>
          </a:ln>
        </p:spPr>
        <p:txBody>
          <a:bodyPr vertOverflow="overflow" vert="horz" wrap="square" rtlCol="0" anchor="t">
            <a:spAutoFit/>
          </a:bodyPr>
          <a:lstStyle/>
          <a:p>
            <a:pPr algn="l"/>
            <a:r>
              <a:rPr lang="en-US" altLang="ko-KR" sz="1100">
                <a:solidFill>
                  <a:srgbClr val="EDF4FF"/>
                </a:solidFill>
              </a:rPr>
              <a:t>Verified histories let dealers sell faster, at higher prices, with fewer disputes — direct financial reason to onboard mechanics.</a:t>
            </a:r>
            <a:endParaRPr lang="ko-KR" altLang="en-US" sz="1100">
              <a:solidFill>
                <a:srgbClr val="EDF4FF"/>
              </a:solidFill>
            </a:endParaRPr>
          </a:p>
        </p:txBody>
      </p:sp>
      <p:sp>
        <p:nvSpPr>
          <p:cNvPr id="35" name="모서리가 둥근 직사각형 34">
            <a:extLst>
              <a:ext uri="{FF2B5EF4-FFF2-40B4-BE49-F238E27FC236}">
                <a16:creationId xmlns:a16="http://schemas.microsoft.com/office/drawing/2014/main" id="{2DCAD889-2B16-5C4C-ADDB-D46C7275C9BA}"/>
              </a:ext>
            </a:extLst>
          </p:cNvPr>
          <p:cNvSpPr/>
          <p:nvPr/>
        </p:nvSpPr>
        <p:spPr>
          <a:xfrm>
            <a:off x="6286500" y="4089400"/>
            <a:ext cx="5270500" cy="1041400"/>
          </a:xfrm>
          <a:prstGeom prst="roundRect">
            <a:avLst/>
          </a:prstGeom>
          <a:solidFill>
            <a:srgbClr val="1A1208"/>
          </a:solidFill>
          <a:ln w="12700" cap="flat" cmpd="sng" algn="ctr">
            <a:solidFill>
              <a:srgbClr val="F4A26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6" name="TextBox 35">
            <a:extLst>
              <a:ext uri="{FF2B5EF4-FFF2-40B4-BE49-F238E27FC236}">
                <a16:creationId xmlns:a16="http://schemas.microsoft.com/office/drawing/2014/main" id="{86854C21-D0A8-C744-A003-6ED1E27D8126}"/>
              </a:ext>
            </a:extLst>
          </p:cNvPr>
          <p:cNvSpPr txBox="1"/>
          <p:nvPr/>
        </p:nvSpPr>
        <p:spPr>
          <a:xfrm>
            <a:off x="6515100" y="4216400"/>
            <a:ext cx="25400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SYBIL RESISTANCE</a:t>
            </a:r>
            <a:endParaRPr lang="ko-KR" altLang="en-US" sz="900" b="1">
              <a:solidFill>
                <a:srgbClr val="F4A261"/>
              </a:solidFill>
            </a:endParaRPr>
          </a:p>
        </p:txBody>
      </p:sp>
      <p:sp>
        <p:nvSpPr>
          <p:cNvPr id="37" name="TextBox 36">
            <a:extLst>
              <a:ext uri="{FF2B5EF4-FFF2-40B4-BE49-F238E27FC236}">
                <a16:creationId xmlns:a16="http://schemas.microsoft.com/office/drawing/2014/main" id="{C3CFC73A-320C-C246-9194-51F3C9F972DD}"/>
              </a:ext>
            </a:extLst>
          </p:cNvPr>
          <p:cNvSpPr txBox="1"/>
          <p:nvPr/>
        </p:nvSpPr>
        <p:spPr>
          <a:xfrm>
            <a:off x="6515100" y="44196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Rewards for proof of real participation</a:t>
            </a:r>
            <a:endParaRPr lang="ko-KR" altLang="en-US" sz="1400" b="1">
              <a:solidFill>
                <a:srgbClr val="EDF4FF"/>
              </a:solidFill>
            </a:endParaRPr>
          </a:p>
        </p:txBody>
      </p:sp>
      <p:sp>
        <p:nvSpPr>
          <p:cNvPr id="38" name="TextBox 37">
            <a:extLst>
              <a:ext uri="{FF2B5EF4-FFF2-40B4-BE49-F238E27FC236}">
                <a16:creationId xmlns:a16="http://schemas.microsoft.com/office/drawing/2014/main" id="{6FBA49FC-8532-C04E-B013-0C966173F362}"/>
              </a:ext>
            </a:extLst>
          </p:cNvPr>
          <p:cNvSpPr txBox="1"/>
          <p:nvPr/>
        </p:nvSpPr>
        <p:spPr>
          <a:xfrm>
            <a:off x="6515100" y="4640969"/>
            <a:ext cx="4826000" cy="330200"/>
          </a:xfrm>
          <a:prstGeom prst="rect">
            <a:avLst/>
          </a:prstGeom>
          <a:noFill/>
          <a:ln>
            <a:noFill/>
          </a:ln>
        </p:spPr>
        <p:txBody>
          <a:bodyPr vertOverflow="overflow" vert="horz" wrap="square" rtlCol="0" anchor="t">
            <a:spAutoFit/>
          </a:bodyPr>
          <a:lstStyle/>
          <a:p>
            <a:pPr algn="l"/>
            <a:r>
              <a:rPr lang="en-US" altLang="ko-KR" sz="1100" dirty="0">
                <a:solidFill>
                  <a:srgbClr val="D6E2F2"/>
                </a:solidFill>
              </a:rPr>
              <a:t>Registering a real vehicle, maintaining a verified record, contributing to the pool. Not wallet creation.</a:t>
            </a:r>
            <a:endParaRPr lang="ko-KR" altLang="en-US" sz="1100" dirty="0">
              <a:solidFill>
                <a:srgbClr val="D6E2F2"/>
              </a:solidFill>
            </a:endParaRPr>
          </a:p>
        </p:txBody>
      </p:sp>
      <p:sp>
        <p:nvSpPr>
          <p:cNvPr id="39" name="모서리가 둥근 직사각형 38">
            <a:extLst>
              <a:ext uri="{FF2B5EF4-FFF2-40B4-BE49-F238E27FC236}">
                <a16:creationId xmlns:a16="http://schemas.microsoft.com/office/drawing/2014/main" id="{253B71E1-7289-5340-A6F0-AAE5333FC7FC}"/>
              </a:ext>
            </a:extLst>
          </p:cNvPr>
          <p:cNvSpPr/>
          <p:nvPr/>
        </p:nvSpPr>
        <p:spPr>
          <a:xfrm>
            <a:off x="6286500" y="5207000"/>
            <a:ext cx="5270500" cy="1041400"/>
          </a:xfrm>
          <a:prstGeom prst="roundRect">
            <a:avLst/>
          </a:prstGeom>
          <a:solidFill>
            <a:srgbClr val="1A0E2A"/>
          </a:solidFill>
          <a:ln w="12700" cap="flat" cmpd="sng" algn="ctr">
            <a:solidFill>
              <a:srgbClr val="C9A0D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205D8345-83D2-FD47-A3D3-A19B576904C8}"/>
              </a:ext>
            </a:extLst>
          </p:cNvPr>
          <p:cNvSpPr txBox="1"/>
          <p:nvPr/>
        </p:nvSpPr>
        <p:spPr>
          <a:xfrm>
            <a:off x="6515100" y="5334000"/>
            <a:ext cx="2540000" cy="152400"/>
          </a:xfrm>
          <a:prstGeom prst="rect">
            <a:avLst/>
          </a:prstGeom>
          <a:noFill/>
          <a:ln>
            <a:noFill/>
          </a:ln>
        </p:spPr>
        <p:txBody>
          <a:bodyPr vertOverflow="overflow" vert="horz" wrap="square" rtlCol="0" anchor="t">
            <a:spAutoFit/>
          </a:bodyPr>
          <a:lstStyle/>
          <a:p>
            <a:pPr algn="l"/>
            <a:r>
              <a:rPr lang="en-US" altLang="ko-KR" sz="900" b="1">
                <a:solidFill>
                  <a:srgbClr val="C9A0DC"/>
                </a:solidFill>
              </a:rPr>
              <a:t>B2B PARTNERSHIPS</a:t>
            </a:r>
            <a:endParaRPr lang="ko-KR" altLang="en-US" sz="900" b="1">
              <a:solidFill>
                <a:srgbClr val="C9A0DC"/>
              </a:solidFill>
            </a:endParaRPr>
          </a:p>
        </p:txBody>
      </p:sp>
      <p:sp>
        <p:nvSpPr>
          <p:cNvPr id="41" name="TextBox 40">
            <a:extLst>
              <a:ext uri="{FF2B5EF4-FFF2-40B4-BE49-F238E27FC236}">
                <a16:creationId xmlns:a16="http://schemas.microsoft.com/office/drawing/2014/main" id="{85C271B0-A6B0-B847-A9EA-471A1F64880B}"/>
              </a:ext>
            </a:extLst>
          </p:cNvPr>
          <p:cNvSpPr txBox="1"/>
          <p:nvPr/>
        </p:nvSpPr>
        <p:spPr>
          <a:xfrm>
            <a:off x="6515100" y="5537200"/>
            <a:ext cx="4826000" cy="279400"/>
          </a:xfrm>
          <a:prstGeom prst="rect">
            <a:avLst/>
          </a:prstGeom>
          <a:noFill/>
          <a:ln>
            <a:noFill/>
          </a:ln>
        </p:spPr>
        <p:txBody>
          <a:bodyPr vertOverflow="overflow" vert="horz" wrap="square" rtlCol="0" anchor="t">
            <a:spAutoFit/>
          </a:bodyPr>
          <a:lstStyle/>
          <a:p>
            <a:pPr algn="l"/>
            <a:r>
              <a:rPr lang="en-US" altLang="ko-KR" sz="1400" b="1" dirty="0">
                <a:solidFill>
                  <a:srgbClr val="EDF4FF"/>
                </a:solidFill>
              </a:rPr>
              <a:t>Visible at the moment of decision</a:t>
            </a:r>
            <a:endParaRPr lang="ko-KR" altLang="en-US" sz="1400" b="1" dirty="0">
              <a:solidFill>
                <a:srgbClr val="EDF4FF"/>
              </a:solidFill>
            </a:endParaRPr>
          </a:p>
        </p:txBody>
      </p:sp>
      <p:sp>
        <p:nvSpPr>
          <p:cNvPr id="42" name="TextBox 41">
            <a:extLst>
              <a:ext uri="{FF2B5EF4-FFF2-40B4-BE49-F238E27FC236}">
                <a16:creationId xmlns:a16="http://schemas.microsoft.com/office/drawing/2014/main" id="{CA4C5283-C467-E749-BE1D-564CA081C5C5}"/>
              </a:ext>
            </a:extLst>
          </p:cNvPr>
          <p:cNvSpPr txBox="1"/>
          <p:nvPr/>
        </p:nvSpPr>
        <p:spPr>
          <a:xfrm>
            <a:off x="6515100" y="5765800"/>
            <a:ext cx="4826000" cy="381000"/>
          </a:xfrm>
          <a:prstGeom prst="rect">
            <a:avLst/>
          </a:prstGeom>
          <a:noFill/>
          <a:ln>
            <a:noFill/>
          </a:ln>
        </p:spPr>
        <p:txBody>
          <a:bodyPr vertOverflow="overflow" vert="horz" wrap="square" rtlCol="0" anchor="t">
            <a:spAutoFit/>
          </a:bodyPr>
          <a:lstStyle/>
          <a:p>
            <a:pPr algn="l"/>
            <a:r>
              <a:rPr lang="en-US" altLang="ko-KR" sz="1100" dirty="0">
                <a:solidFill>
                  <a:srgbClr val="D6E2F2"/>
                </a:solidFill>
              </a:rPr>
              <a:t>Marketplace integrations show a Verified History badge. Insurance APIs convert behavioral score into immediate pricing input.</a:t>
            </a:r>
            <a:endParaRPr lang="ko-KR" altLang="en-US" sz="1100" dirty="0">
              <a:solidFill>
                <a:srgbClr val="D6E2F2"/>
              </a:solidFill>
            </a:endParaRPr>
          </a:p>
        </p:txBody>
      </p:sp>
      <p:sp>
        <p:nvSpPr>
          <p:cNvPr id="43" name="직사각형 42">
            <a:extLst>
              <a:ext uri="{FF2B5EF4-FFF2-40B4-BE49-F238E27FC236}">
                <a16:creationId xmlns:a16="http://schemas.microsoft.com/office/drawing/2014/main" id="{BDB29B4E-21A2-C646-9084-CBED9D30B897}"/>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TextBox 43">
            <a:extLst>
              <a:ext uri="{FF2B5EF4-FFF2-40B4-BE49-F238E27FC236}">
                <a16:creationId xmlns:a16="http://schemas.microsoft.com/office/drawing/2014/main" id="{BF33B4B9-429A-8B43-A247-8AA26BAC7683}"/>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Win the dealers in Seoul. The riders, mechanics, and B2B partners follow them.</a:t>
            </a:r>
            <a:endParaRPr lang="ko-KR" altLang="en-US" sz="1300" b="1">
              <a:solidFill>
                <a:srgbClr val="EDF4FF"/>
              </a:solidFill>
            </a:endParaRPr>
          </a:p>
        </p:txBody>
      </p:sp>
      <p:sp>
        <p:nvSpPr>
          <p:cNvPr id="46" name="TextBox 45">
            <a:extLst>
              <a:ext uri="{FF2B5EF4-FFF2-40B4-BE49-F238E27FC236}">
                <a16:creationId xmlns:a16="http://schemas.microsoft.com/office/drawing/2014/main" id="{AA55BAAA-8CDB-AF53-2F98-FBD501A22D01}"/>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105005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315200" y="-1371600"/>
            <a:ext cx="2743200" cy="2743200"/>
          </a:xfrm>
          <a:prstGeom prst="ellipse">
            <a:avLst/>
          </a:prstGeom>
          <a:solidFill>
            <a:srgbClr val="0D16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45720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HOW IT WORKS</a:t>
            </a:r>
          </a:p>
        </p:txBody>
      </p:sp>
      <p:sp>
        <p:nvSpPr>
          <p:cNvPr id="8" name="TextBox 7"/>
          <p:cNvSpPr txBox="1"/>
          <p:nvPr/>
        </p:nvSpPr>
        <p:spPr>
          <a:xfrm>
            <a:off x="640080" y="1463040"/>
            <a:ext cx="10972800" cy="320040"/>
          </a:xfrm>
          <a:prstGeom prst="rect">
            <a:avLst/>
          </a:prstGeom>
          <a:noFill/>
        </p:spPr>
        <p:txBody>
          <a:bodyPr wrap="square" lIns="0" tIns="0" rIns="0" bIns="0" anchor="t">
            <a:spAutoFit/>
          </a:bodyPr>
          <a:lstStyle/>
          <a:p>
            <a:pPr algn="l"/>
            <a:r>
              <a:rPr sz="1300" b="0" i="1">
                <a:solidFill>
                  <a:srgbClr val="B8C8E0"/>
                </a:solidFill>
                <a:latin typeface="Calibri"/>
              </a:rPr>
              <a:t>Six simple steps — from the moment something happens to the moment you get paid</a:t>
            </a:r>
          </a:p>
        </p:txBody>
      </p:sp>
      <p:sp>
        <p:nvSpPr>
          <p:cNvPr id="9" name="Rectangle 8"/>
          <p:cNvSpPr/>
          <p:nvPr/>
        </p:nvSpPr>
        <p:spPr>
          <a:xfrm>
            <a:off x="640080" y="1874519"/>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31620" y="2446020"/>
            <a:ext cx="3429000" cy="3429000"/>
          </a:xfrm>
          <a:prstGeom prst="ellipse">
            <a:avLst/>
          </a:prstGeom>
          <a:noFill/>
          <a:ln w="19050">
            <a:solidFill>
              <a:srgbClr val="9CC6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Isosceles Triangle 10"/>
          <p:cNvSpPr/>
          <p:nvPr/>
        </p:nvSpPr>
        <p:spPr>
          <a:xfrm rot="7200000">
            <a:off x="3909060" y="2512636"/>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Isosceles Triangle 11"/>
          <p:cNvSpPr/>
          <p:nvPr/>
        </p:nvSpPr>
        <p:spPr>
          <a:xfrm rot="10800000">
            <a:off x="4754880" y="3977640"/>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rot="14400000">
            <a:off x="3909060" y="5442643"/>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sosceles Triangle 13"/>
          <p:cNvSpPr/>
          <p:nvPr/>
        </p:nvSpPr>
        <p:spPr>
          <a:xfrm rot="18000000">
            <a:off x="2217420" y="5442643"/>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sosceles Triangle 14"/>
          <p:cNvSpPr/>
          <p:nvPr/>
        </p:nvSpPr>
        <p:spPr>
          <a:xfrm>
            <a:off x="1371600" y="3977640"/>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3600000">
            <a:off x="2217419" y="2512636"/>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706624" y="192938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01</a:t>
            </a:r>
          </a:p>
        </p:txBody>
      </p:sp>
      <p:sp>
        <p:nvSpPr>
          <p:cNvPr id="18" name="Oval 17"/>
          <p:cNvSpPr/>
          <p:nvPr/>
        </p:nvSpPr>
        <p:spPr>
          <a:xfrm>
            <a:off x="4171627" y="277520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02</a:t>
            </a:r>
          </a:p>
        </p:txBody>
      </p:sp>
      <p:sp>
        <p:nvSpPr>
          <p:cNvPr id="19" name="Oval 18"/>
          <p:cNvSpPr/>
          <p:nvPr/>
        </p:nvSpPr>
        <p:spPr>
          <a:xfrm>
            <a:off x="4171627" y="446684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03</a:t>
            </a:r>
          </a:p>
        </p:txBody>
      </p:sp>
      <p:sp>
        <p:nvSpPr>
          <p:cNvPr id="20" name="Oval 19"/>
          <p:cNvSpPr/>
          <p:nvPr/>
        </p:nvSpPr>
        <p:spPr>
          <a:xfrm>
            <a:off x="2706624" y="531266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04</a:t>
            </a:r>
          </a:p>
        </p:txBody>
      </p:sp>
      <p:sp>
        <p:nvSpPr>
          <p:cNvPr id="21" name="Oval 20"/>
          <p:cNvSpPr/>
          <p:nvPr/>
        </p:nvSpPr>
        <p:spPr>
          <a:xfrm>
            <a:off x="1241620" y="446684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05</a:t>
            </a:r>
          </a:p>
        </p:txBody>
      </p:sp>
      <p:sp>
        <p:nvSpPr>
          <p:cNvPr id="22" name="Oval 21"/>
          <p:cNvSpPr/>
          <p:nvPr/>
        </p:nvSpPr>
        <p:spPr>
          <a:xfrm>
            <a:off x="1241620" y="277520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06</a:t>
            </a:r>
          </a:p>
        </p:txBody>
      </p:sp>
      <p:sp>
        <p:nvSpPr>
          <p:cNvPr id="23" name="Oval 22"/>
          <p:cNvSpPr/>
          <p:nvPr/>
        </p:nvSpPr>
        <p:spPr>
          <a:xfrm>
            <a:off x="2446020" y="3360420"/>
            <a:ext cx="1600200" cy="1600200"/>
          </a:xfrm>
          <a:prstGeom prst="ellipse">
            <a:avLst/>
          </a:prstGeom>
          <a:solidFill>
            <a:srgbClr val="27D8D8"/>
          </a:solidFill>
          <a:ln w="31750">
            <a:solidFill>
              <a:srgbClr val="C8DC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50A12"/>
                </a:solidFill>
                <a:latin typeface="Calibri"/>
              </a:rPr>
              <a:t>RIDETRUE</a:t>
            </a:r>
          </a:p>
          <a:p>
            <a:pPr algn="ctr"/>
            <a:r>
              <a:rPr sz="900" b="1">
                <a:solidFill>
                  <a:srgbClr val="050A12"/>
                </a:solidFill>
                <a:latin typeface="Calibri"/>
              </a:rPr>
              <a:t>claim cycle</a:t>
            </a:r>
          </a:p>
        </p:txBody>
      </p:sp>
      <p:sp>
        <p:nvSpPr>
          <p:cNvPr id="24" name="Rounded Rectangle 23"/>
          <p:cNvSpPr/>
          <p:nvPr/>
        </p:nvSpPr>
        <p:spPr>
          <a:xfrm>
            <a:off x="6446520" y="2148840"/>
            <a:ext cx="5394960" cy="4343400"/>
          </a:xfrm>
          <a:prstGeom prst="roundRect">
            <a:avLst/>
          </a:prstGeom>
          <a:solidFill>
            <a:srgbClr val="0D1625"/>
          </a:solid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2377440"/>
            <a:ext cx="4663440" cy="274320"/>
          </a:xfrm>
          <a:prstGeom prst="rect">
            <a:avLst/>
          </a:prstGeom>
          <a:noFill/>
        </p:spPr>
        <p:txBody>
          <a:bodyPr wrap="square" lIns="0" tIns="0" rIns="0" bIns="0" anchor="t">
            <a:spAutoFit/>
          </a:bodyPr>
          <a:lstStyle/>
          <a:p>
            <a:pPr algn="l"/>
            <a:r>
              <a:rPr sz="1100" b="1" i="0">
                <a:solidFill>
                  <a:srgbClr val="9CC6FF"/>
                </a:solidFill>
                <a:latin typeface="Calibri"/>
              </a:rPr>
              <a:t>THE SIX STEPS</a:t>
            </a:r>
          </a:p>
        </p:txBody>
      </p:sp>
      <p:sp>
        <p:nvSpPr>
          <p:cNvPr id="26" name="Rectangle 25"/>
          <p:cNvSpPr/>
          <p:nvPr/>
        </p:nvSpPr>
        <p:spPr>
          <a:xfrm>
            <a:off x="6812280" y="269748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812280" y="2953512"/>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01</a:t>
            </a:r>
          </a:p>
        </p:txBody>
      </p:sp>
      <p:sp>
        <p:nvSpPr>
          <p:cNvPr id="28" name="TextBox 27"/>
          <p:cNvSpPr txBox="1"/>
          <p:nvPr/>
        </p:nvSpPr>
        <p:spPr>
          <a:xfrm>
            <a:off x="7406640" y="2916936"/>
            <a:ext cx="4343400" cy="274320"/>
          </a:xfrm>
          <a:prstGeom prst="rect">
            <a:avLst/>
          </a:prstGeom>
          <a:noFill/>
        </p:spPr>
        <p:txBody>
          <a:bodyPr wrap="square" lIns="0" tIns="0" rIns="0" bIns="0" anchor="t">
            <a:spAutoFit/>
          </a:bodyPr>
          <a:lstStyle/>
          <a:p>
            <a:pPr algn="l"/>
            <a:r>
              <a:rPr sz="1250" b="1" i="0">
                <a:solidFill>
                  <a:srgbClr val="EDF4FF"/>
                </a:solidFill>
                <a:latin typeface="Calibri"/>
              </a:rPr>
              <a:t>SOMETHING HAPPENS</a:t>
            </a:r>
          </a:p>
        </p:txBody>
      </p:sp>
      <p:sp>
        <p:nvSpPr>
          <p:cNvPr id="29" name="TextBox 28"/>
          <p:cNvSpPr txBox="1"/>
          <p:nvPr/>
        </p:nvSpPr>
        <p:spPr>
          <a:xfrm>
            <a:off x="7406640" y="3172968"/>
            <a:ext cx="4343400" cy="292608"/>
          </a:xfrm>
          <a:prstGeom prst="rect">
            <a:avLst/>
          </a:prstGeom>
          <a:noFill/>
        </p:spPr>
        <p:txBody>
          <a:bodyPr wrap="square" lIns="0" tIns="0" rIns="0" bIns="0" anchor="t">
            <a:spAutoFit/>
          </a:bodyPr>
          <a:lstStyle/>
          <a:p>
            <a:pPr algn="l"/>
            <a:r>
              <a:rPr sz="1000" b="0" i="0">
                <a:solidFill>
                  <a:srgbClr val="B8C8E0"/>
                </a:solidFill>
                <a:latin typeface="Calibri"/>
              </a:rPr>
              <a:t>Crash, theft, or damage</a:t>
            </a:r>
          </a:p>
        </p:txBody>
      </p:sp>
      <p:sp>
        <p:nvSpPr>
          <p:cNvPr id="30" name="Oval 29"/>
          <p:cNvSpPr/>
          <p:nvPr/>
        </p:nvSpPr>
        <p:spPr>
          <a:xfrm>
            <a:off x="6812280" y="3538728"/>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02</a:t>
            </a:r>
          </a:p>
        </p:txBody>
      </p:sp>
      <p:sp>
        <p:nvSpPr>
          <p:cNvPr id="31" name="TextBox 30"/>
          <p:cNvSpPr txBox="1"/>
          <p:nvPr/>
        </p:nvSpPr>
        <p:spPr>
          <a:xfrm>
            <a:off x="7406640" y="3502152"/>
            <a:ext cx="4343400" cy="274320"/>
          </a:xfrm>
          <a:prstGeom prst="rect">
            <a:avLst/>
          </a:prstGeom>
          <a:noFill/>
        </p:spPr>
        <p:txBody>
          <a:bodyPr wrap="square" lIns="0" tIns="0" rIns="0" bIns="0" anchor="t">
            <a:spAutoFit/>
          </a:bodyPr>
          <a:lstStyle/>
          <a:p>
            <a:pPr algn="l"/>
            <a:r>
              <a:rPr sz="1250" b="1" i="0">
                <a:solidFill>
                  <a:srgbClr val="EDF4FF"/>
                </a:solidFill>
                <a:latin typeface="Calibri"/>
              </a:rPr>
              <a:t>RIDER FILES CLAIM</a:t>
            </a:r>
          </a:p>
        </p:txBody>
      </p:sp>
      <p:sp>
        <p:nvSpPr>
          <p:cNvPr id="32" name="TextBox 31"/>
          <p:cNvSpPr txBox="1"/>
          <p:nvPr/>
        </p:nvSpPr>
        <p:spPr>
          <a:xfrm>
            <a:off x="7406640" y="3758184"/>
            <a:ext cx="4343400" cy="292608"/>
          </a:xfrm>
          <a:prstGeom prst="rect">
            <a:avLst/>
          </a:prstGeom>
          <a:noFill/>
        </p:spPr>
        <p:txBody>
          <a:bodyPr wrap="square" lIns="0" tIns="0" rIns="0" bIns="0" anchor="t">
            <a:spAutoFit/>
          </a:bodyPr>
          <a:lstStyle/>
          <a:p>
            <a:pPr algn="l"/>
            <a:r>
              <a:rPr sz="1000" b="0" i="0">
                <a:solidFill>
                  <a:srgbClr val="B8C8E0"/>
                </a:solidFill>
                <a:latin typeface="Calibri"/>
              </a:rPr>
              <a:t>Opens the app, adds photos &amp; details</a:t>
            </a:r>
          </a:p>
        </p:txBody>
      </p:sp>
      <p:sp>
        <p:nvSpPr>
          <p:cNvPr id="33" name="Oval 32"/>
          <p:cNvSpPr/>
          <p:nvPr/>
        </p:nvSpPr>
        <p:spPr>
          <a:xfrm>
            <a:off x="6812280" y="4123944"/>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03</a:t>
            </a:r>
          </a:p>
        </p:txBody>
      </p:sp>
      <p:sp>
        <p:nvSpPr>
          <p:cNvPr id="34" name="TextBox 33"/>
          <p:cNvSpPr txBox="1"/>
          <p:nvPr/>
        </p:nvSpPr>
        <p:spPr>
          <a:xfrm>
            <a:off x="7406640" y="4087368"/>
            <a:ext cx="4343400" cy="192360"/>
          </a:xfrm>
          <a:prstGeom prst="rect">
            <a:avLst/>
          </a:prstGeom>
          <a:noFill/>
        </p:spPr>
        <p:txBody>
          <a:bodyPr wrap="square" lIns="0" tIns="0" rIns="0" bIns="0" anchor="t">
            <a:spAutoFit/>
          </a:bodyPr>
          <a:lstStyle/>
          <a:p>
            <a:pPr algn="l"/>
            <a:r>
              <a:rPr sz="1250" b="1" i="0" dirty="0">
                <a:solidFill>
                  <a:srgbClr val="EDF4FF"/>
                </a:solidFill>
                <a:latin typeface="Calibri"/>
              </a:rPr>
              <a:t>EVIDENCE GATHERED</a:t>
            </a:r>
            <a:r>
              <a:rPr lang="en-US" sz="1250" b="1" i="0" dirty="0">
                <a:solidFill>
                  <a:srgbClr val="EDF4FF"/>
                </a:solidFill>
                <a:latin typeface="Calibri"/>
              </a:rPr>
              <a:t> ( Oracle Verification)</a:t>
            </a:r>
            <a:endParaRPr sz="1250" b="1" i="0" dirty="0">
              <a:solidFill>
                <a:srgbClr val="EDF4FF"/>
              </a:solidFill>
              <a:latin typeface="Calibri"/>
            </a:endParaRPr>
          </a:p>
        </p:txBody>
      </p:sp>
      <p:sp>
        <p:nvSpPr>
          <p:cNvPr id="35" name="TextBox 34"/>
          <p:cNvSpPr txBox="1"/>
          <p:nvPr/>
        </p:nvSpPr>
        <p:spPr>
          <a:xfrm>
            <a:off x="7406640" y="4343400"/>
            <a:ext cx="4343400" cy="292608"/>
          </a:xfrm>
          <a:prstGeom prst="rect">
            <a:avLst/>
          </a:prstGeom>
          <a:noFill/>
        </p:spPr>
        <p:txBody>
          <a:bodyPr wrap="square" lIns="0" tIns="0" rIns="0" bIns="0" anchor="t">
            <a:spAutoFit/>
          </a:bodyPr>
          <a:lstStyle/>
          <a:p>
            <a:pPr algn="l"/>
            <a:r>
              <a:rPr sz="1000" b="0" i="0">
                <a:solidFill>
                  <a:srgbClr val="B8C8E0"/>
                </a:solidFill>
                <a:latin typeface="Calibri"/>
              </a:rPr>
              <a:t>System checks shops, police, insurers</a:t>
            </a:r>
          </a:p>
        </p:txBody>
      </p:sp>
      <p:sp>
        <p:nvSpPr>
          <p:cNvPr id="36" name="Oval 35"/>
          <p:cNvSpPr/>
          <p:nvPr/>
        </p:nvSpPr>
        <p:spPr>
          <a:xfrm>
            <a:off x="6812280" y="4709160"/>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04</a:t>
            </a:r>
          </a:p>
        </p:txBody>
      </p:sp>
      <p:sp>
        <p:nvSpPr>
          <p:cNvPr id="37" name="TextBox 36"/>
          <p:cNvSpPr txBox="1"/>
          <p:nvPr/>
        </p:nvSpPr>
        <p:spPr>
          <a:xfrm>
            <a:off x="7406640" y="4672584"/>
            <a:ext cx="4343400" cy="274320"/>
          </a:xfrm>
          <a:prstGeom prst="rect">
            <a:avLst/>
          </a:prstGeom>
          <a:noFill/>
        </p:spPr>
        <p:txBody>
          <a:bodyPr wrap="square" lIns="0" tIns="0" rIns="0" bIns="0" anchor="t">
            <a:spAutoFit/>
          </a:bodyPr>
          <a:lstStyle/>
          <a:p>
            <a:pPr algn="l"/>
            <a:r>
              <a:rPr sz="1250" b="1" i="0">
                <a:solidFill>
                  <a:srgbClr val="EDF4FF"/>
                </a:solidFill>
                <a:latin typeface="Calibri"/>
              </a:rPr>
              <a:t>CLAIM APPROVED</a:t>
            </a:r>
          </a:p>
        </p:txBody>
      </p:sp>
      <p:sp>
        <p:nvSpPr>
          <p:cNvPr id="38" name="TextBox 37"/>
          <p:cNvSpPr txBox="1"/>
          <p:nvPr/>
        </p:nvSpPr>
        <p:spPr>
          <a:xfrm>
            <a:off x="7406640" y="4928616"/>
            <a:ext cx="4343400" cy="292608"/>
          </a:xfrm>
          <a:prstGeom prst="rect">
            <a:avLst/>
          </a:prstGeom>
          <a:noFill/>
        </p:spPr>
        <p:txBody>
          <a:bodyPr wrap="square" lIns="0" tIns="0" rIns="0" bIns="0" anchor="t">
            <a:spAutoFit/>
          </a:bodyPr>
          <a:lstStyle/>
          <a:p>
            <a:pPr algn="l"/>
            <a:r>
              <a:rPr sz="1000" b="0" i="0">
                <a:solidFill>
                  <a:srgbClr val="B8C8E0"/>
                </a:solidFill>
                <a:latin typeface="Calibri"/>
              </a:rPr>
              <a:t>Validators agree the claim is real</a:t>
            </a:r>
          </a:p>
        </p:txBody>
      </p:sp>
      <p:sp>
        <p:nvSpPr>
          <p:cNvPr id="39" name="Oval 38"/>
          <p:cNvSpPr/>
          <p:nvPr/>
        </p:nvSpPr>
        <p:spPr>
          <a:xfrm>
            <a:off x="6812280" y="5294376"/>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05</a:t>
            </a:r>
          </a:p>
        </p:txBody>
      </p:sp>
      <p:sp>
        <p:nvSpPr>
          <p:cNvPr id="40" name="TextBox 39"/>
          <p:cNvSpPr txBox="1"/>
          <p:nvPr/>
        </p:nvSpPr>
        <p:spPr>
          <a:xfrm>
            <a:off x="7406640" y="5257800"/>
            <a:ext cx="4343400" cy="274320"/>
          </a:xfrm>
          <a:prstGeom prst="rect">
            <a:avLst/>
          </a:prstGeom>
          <a:noFill/>
        </p:spPr>
        <p:txBody>
          <a:bodyPr wrap="square" lIns="0" tIns="0" rIns="0" bIns="0" anchor="t">
            <a:spAutoFit/>
          </a:bodyPr>
          <a:lstStyle/>
          <a:p>
            <a:pPr algn="l"/>
            <a:r>
              <a:rPr sz="1250" b="1" i="0">
                <a:solidFill>
                  <a:srgbClr val="EDF4FF"/>
                </a:solidFill>
                <a:latin typeface="Calibri"/>
              </a:rPr>
              <a:t>RIDER GETS PAID</a:t>
            </a:r>
          </a:p>
        </p:txBody>
      </p:sp>
      <p:sp>
        <p:nvSpPr>
          <p:cNvPr id="41" name="TextBox 40"/>
          <p:cNvSpPr txBox="1"/>
          <p:nvPr/>
        </p:nvSpPr>
        <p:spPr>
          <a:xfrm>
            <a:off x="7406640" y="5513832"/>
            <a:ext cx="4343400" cy="292608"/>
          </a:xfrm>
          <a:prstGeom prst="rect">
            <a:avLst/>
          </a:prstGeom>
          <a:noFill/>
        </p:spPr>
        <p:txBody>
          <a:bodyPr wrap="square" lIns="0" tIns="0" rIns="0" bIns="0" anchor="t">
            <a:spAutoFit/>
          </a:bodyPr>
          <a:lstStyle/>
          <a:p>
            <a:pPr algn="l"/>
            <a:r>
              <a:rPr sz="1000" b="0" i="0">
                <a:solidFill>
                  <a:srgbClr val="B8C8E0"/>
                </a:solidFill>
                <a:latin typeface="Calibri"/>
              </a:rPr>
              <a:t>USDC sent to the rider's wallet</a:t>
            </a:r>
          </a:p>
        </p:txBody>
      </p:sp>
      <p:sp>
        <p:nvSpPr>
          <p:cNvPr id="42" name="Oval 41"/>
          <p:cNvSpPr/>
          <p:nvPr/>
        </p:nvSpPr>
        <p:spPr>
          <a:xfrm>
            <a:off x="6812280" y="5879592"/>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06</a:t>
            </a:r>
          </a:p>
        </p:txBody>
      </p:sp>
      <p:sp>
        <p:nvSpPr>
          <p:cNvPr id="43" name="TextBox 42"/>
          <p:cNvSpPr txBox="1"/>
          <p:nvPr/>
        </p:nvSpPr>
        <p:spPr>
          <a:xfrm>
            <a:off x="7406640" y="5843016"/>
            <a:ext cx="4343400" cy="274320"/>
          </a:xfrm>
          <a:prstGeom prst="rect">
            <a:avLst/>
          </a:prstGeom>
          <a:noFill/>
        </p:spPr>
        <p:txBody>
          <a:bodyPr wrap="square" lIns="0" tIns="0" rIns="0" bIns="0" anchor="t">
            <a:spAutoFit/>
          </a:bodyPr>
          <a:lstStyle/>
          <a:p>
            <a:pPr algn="l"/>
            <a:r>
              <a:rPr sz="1250" b="1" i="0">
                <a:solidFill>
                  <a:srgbClr val="EDF4FF"/>
                </a:solidFill>
                <a:latin typeface="Calibri"/>
              </a:rPr>
              <a:t>POOL ADJUSTS</a:t>
            </a:r>
          </a:p>
        </p:txBody>
      </p:sp>
      <p:sp>
        <p:nvSpPr>
          <p:cNvPr id="44" name="TextBox 43"/>
          <p:cNvSpPr txBox="1"/>
          <p:nvPr/>
        </p:nvSpPr>
        <p:spPr>
          <a:xfrm>
            <a:off x="7406640" y="6099048"/>
            <a:ext cx="4343400" cy="292608"/>
          </a:xfrm>
          <a:prstGeom prst="rect">
            <a:avLst/>
          </a:prstGeom>
          <a:noFill/>
        </p:spPr>
        <p:txBody>
          <a:bodyPr wrap="square" lIns="0" tIns="0" rIns="0" bIns="0" anchor="t">
            <a:spAutoFit/>
          </a:bodyPr>
          <a:lstStyle/>
          <a:p>
            <a:pPr algn="l"/>
            <a:r>
              <a:rPr sz="1000" b="0" i="0">
                <a:solidFill>
                  <a:srgbClr val="B8C8E0"/>
                </a:solidFill>
                <a:latin typeface="Calibri"/>
              </a:rPr>
              <a:t>Reserves &amp; prices update for next time</a:t>
            </a:r>
          </a:p>
        </p:txBody>
      </p:sp>
      <p:sp>
        <p:nvSpPr>
          <p:cNvPr id="45" name="Rectangle 44"/>
          <p:cNvSpPr/>
          <p:nvPr/>
        </p:nvSpPr>
        <p:spPr>
          <a:xfrm>
            <a:off x="640080" y="6565392"/>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6620256"/>
            <a:ext cx="7315200" cy="201168"/>
          </a:xfrm>
          <a:prstGeom prst="rect">
            <a:avLst/>
          </a:prstGeom>
          <a:noFill/>
        </p:spPr>
        <p:txBody>
          <a:bodyPr wrap="square" lIns="0" tIns="0" rIns="0" bIns="0" anchor="t">
            <a:spAutoFit/>
          </a:bodyPr>
          <a:lstStyle/>
          <a:p>
            <a:pPr algn="l"/>
            <a:r>
              <a:rPr sz="950" b="0" i="1">
                <a:solidFill>
                  <a:srgbClr val="9CC6FF"/>
                </a:solidFill>
                <a:latin typeface="Calibri"/>
              </a:rPr>
              <a:t>Automated  ·  Transparent  ·  Paid in USDC</a:t>
            </a:r>
          </a:p>
        </p:txBody>
      </p:sp>
      <p:sp>
        <p:nvSpPr>
          <p:cNvPr id="47" name="TextBox 46"/>
          <p:cNvSpPr txBox="1"/>
          <p:nvPr/>
        </p:nvSpPr>
        <p:spPr>
          <a:xfrm>
            <a:off x="9601200" y="6620256"/>
            <a:ext cx="2286000" cy="201168"/>
          </a:xfrm>
          <a:prstGeom prst="rect">
            <a:avLst/>
          </a:prstGeom>
          <a:noFill/>
        </p:spPr>
        <p:txBody>
          <a:bodyPr wrap="square" lIns="0" tIns="0" rIns="0" bIns="0" anchor="t">
            <a:spAutoFit/>
          </a:bodyPr>
          <a:lstStyle/>
          <a:p>
            <a:pPr algn="r"/>
            <a:r>
              <a:rPr sz="950" b="1" i="0">
                <a:solidFill>
                  <a:srgbClr val="9CC6FF"/>
                </a:solidFill>
                <a:latin typeface="Calibri"/>
              </a:rPr>
              <a:t>MotoChain &amp; RideTrue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CORE FINANCIAL ASSUMPTIONS</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Year 1–3 Assumptions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Seoul launch · realistic numbers grounded in Korean industry data</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01  ·  3-YEAR PROJECTION</a:t>
            </a:r>
          </a:p>
        </p:txBody>
      </p:sp>
      <p:sp>
        <p:nvSpPr>
          <p:cNvPr id="11" name="Rectangle 10"/>
          <p:cNvSpPr/>
          <p:nvPr/>
        </p:nvSpPr>
        <p:spPr>
          <a:xfrm>
            <a:off x="50292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240280"/>
            <a:ext cx="6858000" cy="406908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2240280"/>
            <a:ext cx="3048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410815"/>
            <a:ext cx="2773680" cy="228600"/>
          </a:xfrm>
          <a:prstGeom prst="rect">
            <a:avLst/>
          </a:prstGeom>
          <a:noFill/>
        </p:spPr>
        <p:txBody>
          <a:bodyPr wrap="square" lIns="0" tIns="0" rIns="0" bIns="0" anchor="t">
            <a:spAutoFit/>
          </a:bodyPr>
          <a:lstStyle/>
          <a:p>
            <a:pPr algn="l"/>
            <a:r>
              <a:rPr sz="1000" b="1" i="0">
                <a:solidFill>
                  <a:srgbClr val="9CC6FF"/>
                </a:solidFill>
                <a:latin typeface="Calibri"/>
              </a:rPr>
              <a:t>Metric</a:t>
            </a:r>
          </a:p>
        </p:txBody>
      </p:sp>
      <p:sp>
        <p:nvSpPr>
          <p:cNvPr id="15" name="Rectangle 14"/>
          <p:cNvSpPr/>
          <p:nvPr/>
        </p:nvSpPr>
        <p:spPr>
          <a:xfrm>
            <a:off x="355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8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1</a:t>
            </a:r>
          </a:p>
        </p:txBody>
      </p:sp>
      <p:sp>
        <p:nvSpPr>
          <p:cNvPr id="17" name="Rectangle 16"/>
          <p:cNvSpPr/>
          <p:nvPr/>
        </p:nvSpPr>
        <p:spPr>
          <a:xfrm>
            <a:off x="482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5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2</a:t>
            </a:r>
          </a:p>
        </p:txBody>
      </p:sp>
      <p:sp>
        <p:nvSpPr>
          <p:cNvPr id="19" name="Rectangle 18"/>
          <p:cNvSpPr/>
          <p:nvPr/>
        </p:nvSpPr>
        <p:spPr>
          <a:xfrm>
            <a:off x="609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2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3</a:t>
            </a:r>
          </a:p>
        </p:txBody>
      </p:sp>
      <p:sp>
        <p:nvSpPr>
          <p:cNvPr id="21" name="Rectangle 20"/>
          <p:cNvSpPr/>
          <p:nvPr/>
        </p:nvSpPr>
        <p:spPr>
          <a:xfrm>
            <a:off x="502920" y="2796235"/>
            <a:ext cx="685800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2809951"/>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890062"/>
            <a:ext cx="2773680" cy="228600"/>
          </a:xfrm>
          <a:prstGeom prst="rect">
            <a:avLst/>
          </a:prstGeom>
          <a:noFill/>
        </p:spPr>
        <p:txBody>
          <a:bodyPr wrap="square" lIns="0" tIns="0" rIns="0" bIns="0" anchor="t">
            <a:spAutoFit/>
          </a:bodyPr>
          <a:lstStyle/>
          <a:p>
            <a:pPr algn="l"/>
            <a:r>
              <a:rPr sz="1100" b="0" i="0">
                <a:solidFill>
                  <a:srgbClr val="EDF4FF"/>
                </a:solidFill>
                <a:latin typeface="Calibri"/>
              </a:rPr>
              <a:t>Registered motorcycles</a:t>
            </a:r>
          </a:p>
        </p:txBody>
      </p:sp>
      <p:sp>
        <p:nvSpPr>
          <p:cNvPr id="24" name="TextBox 23"/>
          <p:cNvSpPr txBox="1"/>
          <p:nvPr/>
        </p:nvSpPr>
        <p:spPr>
          <a:xfrm>
            <a:off x="368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5,000</a:t>
            </a:r>
          </a:p>
        </p:txBody>
      </p:sp>
      <p:sp>
        <p:nvSpPr>
          <p:cNvPr id="25" name="TextBox 24"/>
          <p:cNvSpPr txBox="1"/>
          <p:nvPr/>
        </p:nvSpPr>
        <p:spPr>
          <a:xfrm>
            <a:off x="495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25,000</a:t>
            </a:r>
          </a:p>
        </p:txBody>
      </p:sp>
      <p:sp>
        <p:nvSpPr>
          <p:cNvPr id="26" name="TextBox 25"/>
          <p:cNvSpPr txBox="1"/>
          <p:nvPr/>
        </p:nvSpPr>
        <p:spPr>
          <a:xfrm>
            <a:off x="622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100,000</a:t>
            </a:r>
          </a:p>
        </p:txBody>
      </p:sp>
      <p:sp>
        <p:nvSpPr>
          <p:cNvPr id="27" name="Rectangle 26"/>
          <p:cNvSpPr/>
          <p:nvPr/>
        </p:nvSpPr>
        <p:spPr>
          <a:xfrm>
            <a:off x="502920" y="3194202"/>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3278886"/>
            <a:ext cx="2773680" cy="228600"/>
          </a:xfrm>
          <a:prstGeom prst="rect">
            <a:avLst/>
          </a:prstGeom>
          <a:noFill/>
        </p:spPr>
        <p:txBody>
          <a:bodyPr wrap="square" lIns="0" tIns="0" rIns="0" bIns="0" anchor="t">
            <a:spAutoFit/>
          </a:bodyPr>
          <a:lstStyle/>
          <a:p>
            <a:pPr algn="l"/>
            <a:r>
              <a:rPr sz="1100" b="0" i="0">
                <a:solidFill>
                  <a:srgbClr val="EDF4FF"/>
                </a:solidFill>
                <a:latin typeface="Calibri"/>
              </a:rPr>
              <a:t>Active RideTrue riders</a:t>
            </a:r>
          </a:p>
        </p:txBody>
      </p:sp>
      <p:sp>
        <p:nvSpPr>
          <p:cNvPr id="29" name="TextBox 28"/>
          <p:cNvSpPr txBox="1"/>
          <p:nvPr/>
        </p:nvSpPr>
        <p:spPr>
          <a:xfrm>
            <a:off x="368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2,000</a:t>
            </a:r>
          </a:p>
        </p:txBody>
      </p:sp>
      <p:sp>
        <p:nvSpPr>
          <p:cNvPr id="30" name="TextBox 29"/>
          <p:cNvSpPr txBox="1"/>
          <p:nvPr/>
        </p:nvSpPr>
        <p:spPr>
          <a:xfrm>
            <a:off x="495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12,000</a:t>
            </a:r>
          </a:p>
        </p:txBody>
      </p:sp>
      <p:sp>
        <p:nvSpPr>
          <p:cNvPr id="31" name="TextBox 30"/>
          <p:cNvSpPr txBox="1"/>
          <p:nvPr/>
        </p:nvSpPr>
        <p:spPr>
          <a:xfrm>
            <a:off x="622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50,000</a:t>
            </a:r>
          </a:p>
        </p:txBody>
      </p:sp>
      <p:sp>
        <p:nvSpPr>
          <p:cNvPr id="32" name="Rectangle 31"/>
          <p:cNvSpPr/>
          <p:nvPr/>
        </p:nvSpPr>
        <p:spPr>
          <a:xfrm>
            <a:off x="502920" y="3583025"/>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3587597"/>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3667709"/>
            <a:ext cx="2773680" cy="228600"/>
          </a:xfrm>
          <a:prstGeom prst="rect">
            <a:avLst/>
          </a:prstGeom>
          <a:noFill/>
        </p:spPr>
        <p:txBody>
          <a:bodyPr wrap="square" lIns="0" tIns="0" rIns="0" bIns="0" anchor="t">
            <a:spAutoFit/>
          </a:bodyPr>
          <a:lstStyle/>
          <a:p>
            <a:pPr algn="l"/>
            <a:r>
              <a:rPr sz="1100" b="0" i="0">
                <a:solidFill>
                  <a:srgbClr val="EDF4FF"/>
                </a:solidFill>
                <a:latin typeface="Calibri"/>
              </a:rPr>
              <a:t>Verified mechanics / dealers</a:t>
            </a:r>
          </a:p>
        </p:txBody>
      </p:sp>
      <p:sp>
        <p:nvSpPr>
          <p:cNvPr id="35" name="TextBox 34"/>
          <p:cNvSpPr txBox="1"/>
          <p:nvPr/>
        </p:nvSpPr>
        <p:spPr>
          <a:xfrm>
            <a:off x="368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100</a:t>
            </a:r>
          </a:p>
        </p:txBody>
      </p:sp>
      <p:sp>
        <p:nvSpPr>
          <p:cNvPr id="36" name="TextBox 35"/>
          <p:cNvSpPr txBox="1"/>
          <p:nvPr/>
        </p:nvSpPr>
        <p:spPr>
          <a:xfrm>
            <a:off x="495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500</a:t>
            </a:r>
          </a:p>
        </p:txBody>
      </p:sp>
      <p:sp>
        <p:nvSpPr>
          <p:cNvPr id="37" name="TextBox 36"/>
          <p:cNvSpPr txBox="1"/>
          <p:nvPr/>
        </p:nvSpPr>
        <p:spPr>
          <a:xfrm>
            <a:off x="622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2,000</a:t>
            </a:r>
          </a:p>
        </p:txBody>
      </p:sp>
      <p:sp>
        <p:nvSpPr>
          <p:cNvPr id="38" name="Rectangle 37"/>
          <p:cNvSpPr/>
          <p:nvPr/>
        </p:nvSpPr>
        <p:spPr>
          <a:xfrm>
            <a:off x="502920" y="3971848"/>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4056532"/>
            <a:ext cx="2773680" cy="228600"/>
          </a:xfrm>
          <a:prstGeom prst="rect">
            <a:avLst/>
          </a:prstGeom>
          <a:noFill/>
        </p:spPr>
        <p:txBody>
          <a:bodyPr wrap="square" lIns="0" tIns="0" rIns="0" bIns="0" anchor="t">
            <a:spAutoFit/>
          </a:bodyPr>
          <a:lstStyle/>
          <a:p>
            <a:pPr algn="l"/>
            <a:r>
              <a:rPr sz="1100" b="0" i="0">
                <a:solidFill>
                  <a:srgbClr val="EDF4FF"/>
                </a:solidFill>
                <a:latin typeface="Calibri"/>
              </a:rPr>
              <a:t>Average monthly premium</a:t>
            </a:r>
          </a:p>
        </p:txBody>
      </p:sp>
      <p:sp>
        <p:nvSpPr>
          <p:cNvPr id="40" name="TextBox 39"/>
          <p:cNvSpPr txBox="1"/>
          <p:nvPr/>
        </p:nvSpPr>
        <p:spPr>
          <a:xfrm>
            <a:off x="368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1" name="TextBox 40"/>
          <p:cNvSpPr txBox="1"/>
          <p:nvPr/>
        </p:nvSpPr>
        <p:spPr>
          <a:xfrm>
            <a:off x="495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2" name="TextBox 41"/>
          <p:cNvSpPr txBox="1"/>
          <p:nvPr/>
        </p:nvSpPr>
        <p:spPr>
          <a:xfrm>
            <a:off x="622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3" name="Rectangle 42"/>
          <p:cNvSpPr/>
          <p:nvPr/>
        </p:nvSpPr>
        <p:spPr>
          <a:xfrm>
            <a:off x="502920" y="4360672"/>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2920" y="4365244"/>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4445355"/>
            <a:ext cx="2773680" cy="228600"/>
          </a:xfrm>
          <a:prstGeom prst="rect">
            <a:avLst/>
          </a:prstGeom>
          <a:noFill/>
        </p:spPr>
        <p:txBody>
          <a:bodyPr wrap="square" lIns="0" tIns="0" rIns="0" bIns="0" anchor="t">
            <a:spAutoFit/>
          </a:bodyPr>
          <a:lstStyle/>
          <a:p>
            <a:pPr algn="l"/>
            <a:r>
              <a:rPr sz="1100" b="0" i="0">
                <a:solidFill>
                  <a:srgbClr val="EDF4FF"/>
                </a:solidFill>
                <a:latin typeface="Calibri"/>
              </a:rPr>
              <a:t>Annual pool contributions</a:t>
            </a:r>
          </a:p>
        </p:txBody>
      </p:sp>
      <p:sp>
        <p:nvSpPr>
          <p:cNvPr id="46" name="TextBox 45"/>
          <p:cNvSpPr txBox="1"/>
          <p:nvPr/>
        </p:nvSpPr>
        <p:spPr>
          <a:xfrm>
            <a:off x="368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₩2.16B</a:t>
            </a:r>
          </a:p>
        </p:txBody>
      </p:sp>
      <p:sp>
        <p:nvSpPr>
          <p:cNvPr id="47" name="TextBox 46"/>
          <p:cNvSpPr txBox="1"/>
          <p:nvPr/>
        </p:nvSpPr>
        <p:spPr>
          <a:xfrm>
            <a:off x="495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₩12.96B</a:t>
            </a:r>
          </a:p>
        </p:txBody>
      </p:sp>
      <p:sp>
        <p:nvSpPr>
          <p:cNvPr id="48" name="TextBox 47"/>
          <p:cNvSpPr txBox="1"/>
          <p:nvPr/>
        </p:nvSpPr>
        <p:spPr>
          <a:xfrm>
            <a:off x="622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₩54B</a:t>
            </a:r>
          </a:p>
        </p:txBody>
      </p:sp>
      <p:sp>
        <p:nvSpPr>
          <p:cNvPr id="49" name="Rectangle 48"/>
          <p:cNvSpPr/>
          <p:nvPr/>
        </p:nvSpPr>
        <p:spPr>
          <a:xfrm>
            <a:off x="502920" y="4749495"/>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4834178"/>
            <a:ext cx="2773680" cy="228600"/>
          </a:xfrm>
          <a:prstGeom prst="rect">
            <a:avLst/>
          </a:prstGeom>
          <a:noFill/>
        </p:spPr>
        <p:txBody>
          <a:bodyPr wrap="square" lIns="0" tIns="0" rIns="0" bIns="0" anchor="t">
            <a:spAutoFit/>
          </a:bodyPr>
          <a:lstStyle/>
          <a:p>
            <a:pPr algn="l"/>
            <a:r>
              <a:rPr sz="1100" b="0" i="0">
                <a:solidFill>
                  <a:srgbClr val="EDF4FF"/>
                </a:solidFill>
                <a:latin typeface="Calibri"/>
              </a:rPr>
              <a:t>Modeled claim frequency</a:t>
            </a:r>
          </a:p>
        </p:txBody>
      </p:sp>
      <p:sp>
        <p:nvSpPr>
          <p:cNvPr id="51" name="TextBox 50"/>
          <p:cNvSpPr txBox="1"/>
          <p:nvPr/>
        </p:nvSpPr>
        <p:spPr>
          <a:xfrm>
            <a:off x="368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2" name="TextBox 51"/>
          <p:cNvSpPr txBox="1"/>
          <p:nvPr/>
        </p:nvSpPr>
        <p:spPr>
          <a:xfrm>
            <a:off x="495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3" name="TextBox 52"/>
          <p:cNvSpPr txBox="1"/>
          <p:nvPr/>
        </p:nvSpPr>
        <p:spPr>
          <a:xfrm>
            <a:off x="622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4" name="Rectangle 53"/>
          <p:cNvSpPr/>
          <p:nvPr/>
        </p:nvSpPr>
        <p:spPr>
          <a:xfrm>
            <a:off x="502920" y="5138318"/>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02920" y="5142890"/>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5223002"/>
            <a:ext cx="2773680" cy="228600"/>
          </a:xfrm>
          <a:prstGeom prst="rect">
            <a:avLst/>
          </a:prstGeom>
          <a:noFill/>
        </p:spPr>
        <p:txBody>
          <a:bodyPr wrap="square" lIns="0" tIns="0" rIns="0" bIns="0" anchor="t">
            <a:spAutoFit/>
          </a:bodyPr>
          <a:lstStyle/>
          <a:p>
            <a:pPr algn="l"/>
            <a:r>
              <a:rPr sz="1100" b="0" i="0">
                <a:solidFill>
                  <a:srgbClr val="EDF4FF"/>
                </a:solidFill>
                <a:latin typeface="Calibri"/>
              </a:rPr>
              <a:t>Average claim severity</a:t>
            </a:r>
          </a:p>
        </p:txBody>
      </p:sp>
      <p:sp>
        <p:nvSpPr>
          <p:cNvPr id="57" name="TextBox 56"/>
          <p:cNvSpPr txBox="1"/>
          <p:nvPr/>
        </p:nvSpPr>
        <p:spPr>
          <a:xfrm>
            <a:off x="368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58" name="TextBox 57"/>
          <p:cNvSpPr txBox="1"/>
          <p:nvPr/>
        </p:nvSpPr>
        <p:spPr>
          <a:xfrm>
            <a:off x="495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59" name="TextBox 58"/>
          <p:cNvSpPr txBox="1"/>
          <p:nvPr/>
        </p:nvSpPr>
        <p:spPr>
          <a:xfrm>
            <a:off x="622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60" name="Rectangle 59"/>
          <p:cNvSpPr/>
          <p:nvPr/>
        </p:nvSpPr>
        <p:spPr>
          <a:xfrm>
            <a:off x="502920" y="5527141"/>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40080" y="5611825"/>
            <a:ext cx="2773680" cy="228600"/>
          </a:xfrm>
          <a:prstGeom prst="rect">
            <a:avLst/>
          </a:prstGeom>
          <a:noFill/>
        </p:spPr>
        <p:txBody>
          <a:bodyPr wrap="square" lIns="0" tIns="0" rIns="0" bIns="0" anchor="t">
            <a:spAutoFit/>
          </a:bodyPr>
          <a:lstStyle/>
          <a:p>
            <a:pPr algn="l"/>
            <a:r>
              <a:rPr sz="1100" b="0" i="0">
                <a:solidFill>
                  <a:srgbClr val="EDF4FF"/>
                </a:solidFill>
                <a:latin typeface="Calibri"/>
              </a:rPr>
              <a:t>Modeled loss ratio</a:t>
            </a:r>
          </a:p>
        </p:txBody>
      </p:sp>
      <p:sp>
        <p:nvSpPr>
          <p:cNvPr id="62" name="TextBox 61"/>
          <p:cNvSpPr txBox="1"/>
          <p:nvPr/>
        </p:nvSpPr>
        <p:spPr>
          <a:xfrm>
            <a:off x="368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3" name="TextBox 62"/>
          <p:cNvSpPr txBox="1"/>
          <p:nvPr/>
        </p:nvSpPr>
        <p:spPr>
          <a:xfrm>
            <a:off x="495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4" name="TextBox 63"/>
          <p:cNvSpPr txBox="1"/>
          <p:nvPr/>
        </p:nvSpPr>
        <p:spPr>
          <a:xfrm>
            <a:off x="622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5" name="Rectangle 64"/>
          <p:cNvSpPr/>
          <p:nvPr/>
        </p:nvSpPr>
        <p:spPr>
          <a:xfrm>
            <a:off x="502920" y="5915964"/>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5920536"/>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6000648"/>
            <a:ext cx="2773680" cy="228600"/>
          </a:xfrm>
          <a:prstGeom prst="rect">
            <a:avLst/>
          </a:prstGeom>
          <a:noFill/>
        </p:spPr>
        <p:txBody>
          <a:bodyPr wrap="square" lIns="0" tIns="0" rIns="0" bIns="0" anchor="t">
            <a:spAutoFit/>
          </a:bodyPr>
          <a:lstStyle/>
          <a:p>
            <a:pPr algn="l"/>
            <a:r>
              <a:rPr sz="1100" b="0" i="0">
                <a:solidFill>
                  <a:srgbClr val="EDF4FF"/>
                </a:solidFill>
                <a:latin typeface="Calibri"/>
              </a:rPr>
              <a:t>Protocol insurance fee</a:t>
            </a:r>
          </a:p>
        </p:txBody>
      </p:sp>
      <p:sp>
        <p:nvSpPr>
          <p:cNvPr id="68" name="TextBox 67"/>
          <p:cNvSpPr txBox="1"/>
          <p:nvPr/>
        </p:nvSpPr>
        <p:spPr>
          <a:xfrm>
            <a:off x="368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69" name="TextBox 68"/>
          <p:cNvSpPr txBox="1"/>
          <p:nvPr/>
        </p:nvSpPr>
        <p:spPr>
          <a:xfrm>
            <a:off x="495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70" name="TextBox 69"/>
          <p:cNvSpPr txBox="1"/>
          <p:nvPr/>
        </p:nvSpPr>
        <p:spPr>
          <a:xfrm>
            <a:off x="622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71" name="TextBox 70"/>
          <p:cNvSpPr txBox="1"/>
          <p:nvPr/>
        </p:nvSpPr>
        <p:spPr>
          <a:xfrm>
            <a:off x="7589520" y="1874519"/>
            <a:ext cx="4114800" cy="228600"/>
          </a:xfrm>
          <a:prstGeom prst="rect">
            <a:avLst/>
          </a:prstGeom>
          <a:noFill/>
        </p:spPr>
        <p:txBody>
          <a:bodyPr wrap="square" lIns="0" tIns="0" rIns="0" bIns="0" anchor="t">
            <a:spAutoFit/>
          </a:bodyPr>
          <a:lstStyle/>
          <a:p>
            <a:pPr algn="l"/>
            <a:r>
              <a:rPr sz="1050" b="1" i="0">
                <a:solidFill>
                  <a:srgbClr val="9CC6FF"/>
                </a:solidFill>
                <a:latin typeface="Calibri"/>
              </a:rPr>
              <a:t>02  ·  WHY THESE NUMBERS</a:t>
            </a:r>
          </a:p>
        </p:txBody>
      </p:sp>
      <p:sp>
        <p:nvSpPr>
          <p:cNvPr id="72" name="Rectangle 71"/>
          <p:cNvSpPr/>
          <p:nvPr/>
        </p:nvSpPr>
        <p:spPr>
          <a:xfrm>
            <a:off x="758952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7589520" y="224028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07808" y="233172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54112" y="2313432"/>
            <a:ext cx="3840480" cy="228600"/>
          </a:xfrm>
          <a:prstGeom prst="rect">
            <a:avLst/>
          </a:prstGeom>
          <a:noFill/>
        </p:spPr>
        <p:txBody>
          <a:bodyPr wrap="square" lIns="0" tIns="0" rIns="0" bIns="0" anchor="t">
            <a:spAutoFit/>
          </a:bodyPr>
          <a:lstStyle/>
          <a:p>
            <a:pPr algn="l"/>
            <a:r>
              <a:rPr sz="1050" b="1" i="0">
                <a:solidFill>
                  <a:srgbClr val="EDF4FF"/>
                </a:solidFill>
                <a:latin typeface="Calibri"/>
              </a:rPr>
              <a:t>Bike count Y1 ≈ 0.2% of Korea</a:t>
            </a:r>
          </a:p>
        </p:txBody>
      </p:sp>
      <p:sp>
        <p:nvSpPr>
          <p:cNvPr id="76" name="TextBox 75"/>
          <p:cNvSpPr txBox="1"/>
          <p:nvPr/>
        </p:nvSpPr>
        <p:spPr>
          <a:xfrm>
            <a:off x="7754112" y="2532888"/>
            <a:ext cx="3840480" cy="384048"/>
          </a:xfrm>
          <a:prstGeom prst="rect">
            <a:avLst/>
          </a:prstGeom>
          <a:noFill/>
        </p:spPr>
        <p:txBody>
          <a:bodyPr wrap="square" lIns="0" tIns="0" rIns="0" bIns="0" anchor="t">
            <a:spAutoFit/>
          </a:bodyPr>
          <a:lstStyle/>
          <a:p>
            <a:pPr algn="l"/>
            <a:r>
              <a:rPr sz="900" b="0" i="0">
                <a:solidFill>
                  <a:srgbClr val="B8C8E0"/>
                </a:solidFill>
                <a:latin typeface="Calibri"/>
              </a:rPr>
              <a:t>5,000 of Korea's ~2.3M registered motorcycles. Bottom-up via 5 dealer partnerships in Seoul.</a:t>
            </a:r>
          </a:p>
        </p:txBody>
      </p:sp>
      <p:sp>
        <p:nvSpPr>
          <p:cNvPr id="77" name="TextBox 76"/>
          <p:cNvSpPr txBox="1"/>
          <p:nvPr/>
        </p:nvSpPr>
        <p:spPr>
          <a:xfrm>
            <a:off x="7754112" y="2916936"/>
            <a:ext cx="3840480" cy="182880"/>
          </a:xfrm>
          <a:prstGeom prst="rect">
            <a:avLst/>
          </a:prstGeom>
          <a:noFill/>
        </p:spPr>
        <p:txBody>
          <a:bodyPr wrap="square" lIns="0" tIns="0" rIns="0" bIns="0" anchor="t">
            <a:spAutoFit/>
          </a:bodyPr>
          <a:lstStyle/>
          <a:p>
            <a:pPr algn="l"/>
            <a:r>
              <a:rPr sz="850" b="0" i="1">
                <a:solidFill>
                  <a:srgbClr val="9CC6FF"/>
                </a:solidFill>
                <a:latin typeface="Calibri"/>
              </a:rPr>
              <a:t>↳ KMIA · KOSTAT</a:t>
            </a:r>
          </a:p>
        </p:txBody>
      </p:sp>
      <p:sp>
        <p:nvSpPr>
          <p:cNvPr id="78" name="Rounded Rectangle 77"/>
          <p:cNvSpPr/>
          <p:nvPr/>
        </p:nvSpPr>
        <p:spPr>
          <a:xfrm>
            <a:off x="7589520" y="324612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7607808" y="333756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754112" y="3319272"/>
            <a:ext cx="3840480" cy="228600"/>
          </a:xfrm>
          <a:prstGeom prst="rect">
            <a:avLst/>
          </a:prstGeom>
          <a:noFill/>
        </p:spPr>
        <p:txBody>
          <a:bodyPr wrap="square" lIns="0" tIns="0" rIns="0" bIns="0" anchor="t">
            <a:spAutoFit/>
          </a:bodyPr>
          <a:lstStyle/>
          <a:p>
            <a:pPr algn="l"/>
            <a:r>
              <a:rPr sz="1050" b="1" i="0">
                <a:solidFill>
                  <a:srgbClr val="EDF4FF"/>
                </a:solidFill>
                <a:latin typeface="Calibri"/>
              </a:rPr>
              <a:t>₩90K premium is midpoint</a:t>
            </a:r>
          </a:p>
        </p:txBody>
      </p:sp>
      <p:sp>
        <p:nvSpPr>
          <p:cNvPr id="81" name="TextBox 80"/>
          <p:cNvSpPr txBox="1"/>
          <p:nvPr/>
        </p:nvSpPr>
        <p:spPr>
          <a:xfrm>
            <a:off x="7754112" y="3538728"/>
            <a:ext cx="3840480" cy="384048"/>
          </a:xfrm>
          <a:prstGeom prst="rect">
            <a:avLst/>
          </a:prstGeom>
          <a:noFill/>
        </p:spPr>
        <p:txBody>
          <a:bodyPr wrap="square" lIns="0" tIns="0" rIns="0" bIns="0" anchor="t">
            <a:spAutoFit/>
          </a:bodyPr>
          <a:lstStyle/>
          <a:p>
            <a:pPr algn="l"/>
            <a:r>
              <a:rPr sz="900" b="0" i="0">
                <a:solidFill>
                  <a:srgbClr val="B8C8E0"/>
                </a:solidFill>
                <a:latin typeface="Calibri"/>
              </a:rPr>
              <a:t>Korean motorcycle insurance ranges ₩50K–150K/month. Delivery riders skew higher.</a:t>
            </a:r>
          </a:p>
        </p:txBody>
      </p:sp>
      <p:sp>
        <p:nvSpPr>
          <p:cNvPr id="82" name="TextBox 81"/>
          <p:cNvSpPr txBox="1"/>
          <p:nvPr/>
        </p:nvSpPr>
        <p:spPr>
          <a:xfrm>
            <a:off x="7754112" y="3922776"/>
            <a:ext cx="3840480" cy="182880"/>
          </a:xfrm>
          <a:prstGeom prst="rect">
            <a:avLst/>
          </a:prstGeom>
          <a:noFill/>
        </p:spPr>
        <p:txBody>
          <a:bodyPr wrap="square" lIns="0" tIns="0" rIns="0" bIns="0" anchor="t">
            <a:spAutoFit/>
          </a:bodyPr>
          <a:lstStyle/>
          <a:p>
            <a:pPr algn="l"/>
            <a:r>
              <a:rPr sz="850" b="0" i="1">
                <a:solidFill>
                  <a:srgbClr val="9CC6FF"/>
                </a:solidFill>
                <a:latin typeface="Calibri"/>
              </a:rPr>
              <a:t>↳ KIDI · FSS</a:t>
            </a:r>
          </a:p>
        </p:txBody>
      </p:sp>
      <p:sp>
        <p:nvSpPr>
          <p:cNvPr id="83" name="Rounded Rectangle 82"/>
          <p:cNvSpPr/>
          <p:nvPr/>
        </p:nvSpPr>
        <p:spPr>
          <a:xfrm>
            <a:off x="7589520" y="425196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7607808" y="434340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754112" y="4325112"/>
            <a:ext cx="3840480" cy="228600"/>
          </a:xfrm>
          <a:prstGeom prst="rect">
            <a:avLst/>
          </a:prstGeom>
          <a:noFill/>
        </p:spPr>
        <p:txBody>
          <a:bodyPr wrap="square" lIns="0" tIns="0" rIns="0" bIns="0" anchor="t">
            <a:spAutoFit/>
          </a:bodyPr>
          <a:lstStyle/>
          <a:p>
            <a:pPr algn="l"/>
            <a:r>
              <a:rPr sz="1050" b="1" i="0">
                <a:solidFill>
                  <a:srgbClr val="EDF4FF"/>
                </a:solidFill>
                <a:latin typeface="Calibri"/>
              </a:rPr>
              <a:t>Loss ratio set conservatively</a:t>
            </a:r>
          </a:p>
        </p:txBody>
      </p:sp>
      <p:sp>
        <p:nvSpPr>
          <p:cNvPr id="86" name="TextBox 85"/>
          <p:cNvSpPr txBox="1"/>
          <p:nvPr/>
        </p:nvSpPr>
        <p:spPr>
          <a:xfrm>
            <a:off x="7754112" y="4544568"/>
            <a:ext cx="3840480" cy="384048"/>
          </a:xfrm>
          <a:prstGeom prst="rect">
            <a:avLst/>
          </a:prstGeom>
          <a:noFill/>
        </p:spPr>
        <p:txBody>
          <a:bodyPr wrap="square" lIns="0" tIns="0" rIns="0" bIns="0" anchor="t">
            <a:spAutoFit/>
          </a:bodyPr>
          <a:lstStyle/>
          <a:p>
            <a:pPr algn="l"/>
            <a:r>
              <a:rPr sz="900" b="0" i="0">
                <a:solidFill>
                  <a:srgbClr val="B8C8E0"/>
                </a:solidFill>
                <a:latin typeface="Calibri"/>
              </a:rPr>
              <a:t>8% frequency × ₩1.2M severity is intentional bottom case. Stress-test runs 15% × ₩2.5M (see 5.9).</a:t>
            </a:r>
          </a:p>
        </p:txBody>
      </p:sp>
      <p:sp>
        <p:nvSpPr>
          <p:cNvPr id="87" name="TextBox 86"/>
          <p:cNvSpPr txBox="1"/>
          <p:nvPr/>
        </p:nvSpPr>
        <p:spPr>
          <a:xfrm>
            <a:off x="7754112" y="4928616"/>
            <a:ext cx="3840480" cy="182880"/>
          </a:xfrm>
          <a:prstGeom prst="rect">
            <a:avLst/>
          </a:prstGeom>
          <a:noFill/>
        </p:spPr>
        <p:txBody>
          <a:bodyPr wrap="square" lIns="0" tIns="0" rIns="0" bIns="0" anchor="t">
            <a:spAutoFit/>
          </a:bodyPr>
          <a:lstStyle/>
          <a:p>
            <a:pPr algn="l"/>
            <a:r>
              <a:rPr sz="850" b="0" i="1">
                <a:solidFill>
                  <a:srgbClr val="9CC6FF"/>
                </a:solidFill>
                <a:latin typeface="Calibri"/>
              </a:rPr>
              <a:t>↳ KIDI motor reports</a:t>
            </a:r>
          </a:p>
        </p:txBody>
      </p:sp>
      <p:sp>
        <p:nvSpPr>
          <p:cNvPr id="88" name="Rounded Rectangle 87"/>
          <p:cNvSpPr/>
          <p:nvPr/>
        </p:nvSpPr>
        <p:spPr>
          <a:xfrm>
            <a:off x="7589520" y="525780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607808" y="534924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754112" y="5330952"/>
            <a:ext cx="3840480" cy="228600"/>
          </a:xfrm>
          <a:prstGeom prst="rect">
            <a:avLst/>
          </a:prstGeom>
          <a:noFill/>
        </p:spPr>
        <p:txBody>
          <a:bodyPr wrap="square" lIns="0" tIns="0" rIns="0" bIns="0" anchor="t">
            <a:spAutoFit/>
          </a:bodyPr>
          <a:lstStyle/>
          <a:p>
            <a:pPr algn="l"/>
            <a:r>
              <a:rPr sz="1050" b="1" i="0">
                <a:solidFill>
                  <a:srgbClr val="EDF4FF"/>
                </a:solidFill>
                <a:latin typeface="Calibri"/>
              </a:rPr>
              <a:t>Mechanic ramp tracks bike count</a:t>
            </a:r>
          </a:p>
        </p:txBody>
      </p:sp>
      <p:sp>
        <p:nvSpPr>
          <p:cNvPr id="91" name="TextBox 90"/>
          <p:cNvSpPr txBox="1"/>
          <p:nvPr/>
        </p:nvSpPr>
        <p:spPr>
          <a:xfrm>
            <a:off x="7754112" y="5550408"/>
            <a:ext cx="3840480" cy="384048"/>
          </a:xfrm>
          <a:prstGeom prst="rect">
            <a:avLst/>
          </a:prstGeom>
          <a:noFill/>
        </p:spPr>
        <p:txBody>
          <a:bodyPr wrap="square" lIns="0" tIns="0" rIns="0" bIns="0" anchor="t">
            <a:spAutoFit/>
          </a:bodyPr>
          <a:lstStyle/>
          <a:p>
            <a:pPr algn="l"/>
            <a:r>
              <a:rPr sz="900" b="0" i="0">
                <a:solidFill>
                  <a:srgbClr val="B8C8E0"/>
                </a:solidFill>
                <a:latin typeface="Calibri"/>
              </a:rPr>
              <a:t>~1 mechanic per 50 bikes — feasible if dealer partners require MotoChain logging.</a:t>
            </a:r>
          </a:p>
        </p:txBody>
      </p:sp>
      <p:sp>
        <p:nvSpPr>
          <p:cNvPr id="92" name="TextBox 91"/>
          <p:cNvSpPr txBox="1"/>
          <p:nvPr/>
        </p:nvSpPr>
        <p:spPr>
          <a:xfrm>
            <a:off x="7754112" y="5934456"/>
            <a:ext cx="3840480" cy="182880"/>
          </a:xfrm>
          <a:prstGeom prst="rect">
            <a:avLst/>
          </a:prstGeom>
          <a:noFill/>
        </p:spPr>
        <p:txBody>
          <a:bodyPr wrap="square" lIns="0" tIns="0" rIns="0" bIns="0" anchor="t">
            <a:spAutoFit/>
          </a:bodyPr>
          <a:lstStyle/>
          <a:p>
            <a:pPr algn="l"/>
            <a:r>
              <a:rPr sz="850" b="0" i="1">
                <a:solidFill>
                  <a:srgbClr val="9CC6FF"/>
                </a:solidFill>
                <a:latin typeface="Calibri"/>
              </a:rPr>
              <a:t>↳ Industry interviews</a:t>
            </a:r>
          </a:p>
        </p:txBody>
      </p:sp>
      <p:sp>
        <p:nvSpPr>
          <p:cNvPr id="93" name="Rectangle 9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Korea Motorcycle Industry Association · Korea Insurance Development Institute · Statistics Korea · Financial Supervisory Service · Statista 2024</a:t>
            </a:r>
          </a:p>
        </p:txBody>
      </p:sp>
      <p:sp>
        <p:nvSpPr>
          <p:cNvPr id="95" name="TextBox 9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REVENUE ENGINE</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Six Revenue Streams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How the protocol earns — Year 1 view, with the math behind each number</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3703320" cy="2212848"/>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67512" y="2011679"/>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01</a:t>
            </a:r>
          </a:p>
        </p:txBody>
      </p:sp>
      <p:sp>
        <p:nvSpPr>
          <p:cNvPr id="12" name="TextBox 11"/>
          <p:cNvSpPr txBox="1"/>
          <p:nvPr/>
        </p:nvSpPr>
        <p:spPr>
          <a:xfrm>
            <a:off x="112471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VIN REGISTRATION</a:t>
            </a:r>
          </a:p>
        </p:txBody>
      </p:sp>
      <p:sp>
        <p:nvSpPr>
          <p:cNvPr id="13" name="TextBox 12"/>
          <p:cNvSpPr txBox="1"/>
          <p:nvPr/>
        </p:nvSpPr>
        <p:spPr>
          <a:xfrm>
            <a:off x="685800" y="2423159"/>
            <a:ext cx="3337560" cy="457200"/>
          </a:xfrm>
          <a:prstGeom prst="rect">
            <a:avLst/>
          </a:prstGeom>
          <a:noFill/>
        </p:spPr>
        <p:txBody>
          <a:bodyPr wrap="square" lIns="0" tIns="0" rIns="0" bIns="0" anchor="t">
            <a:spAutoFit/>
          </a:bodyPr>
          <a:lstStyle/>
          <a:p>
            <a:pPr algn="l"/>
            <a:r>
              <a:rPr sz="2800" b="1" i="0">
                <a:solidFill>
                  <a:srgbClr val="4AA3FF"/>
                </a:solidFill>
                <a:latin typeface="Calibri"/>
              </a:rPr>
              <a:t>₩50M</a:t>
            </a:r>
          </a:p>
        </p:txBody>
      </p:sp>
      <p:sp>
        <p:nvSpPr>
          <p:cNvPr id="14" name="TextBox 13"/>
          <p:cNvSpPr txBox="1"/>
          <p:nvPr/>
        </p:nvSpPr>
        <p:spPr>
          <a:xfrm>
            <a:off x="68580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5,000 bikes × ₩10,000</a:t>
            </a:r>
          </a:p>
        </p:txBody>
      </p:sp>
      <p:sp>
        <p:nvSpPr>
          <p:cNvPr id="15" name="Rectangle 14"/>
          <p:cNvSpPr/>
          <p:nvPr/>
        </p:nvSpPr>
        <p:spPr>
          <a:xfrm>
            <a:off x="68580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One-time fee when a motorcycle is first registered on MotoChain.</a:t>
            </a:r>
          </a:p>
        </p:txBody>
      </p:sp>
      <p:sp>
        <p:nvSpPr>
          <p:cNvPr id="17" name="TextBox 16"/>
          <p:cNvSpPr txBox="1"/>
          <p:nvPr/>
        </p:nvSpPr>
        <p:spPr>
          <a:xfrm>
            <a:off x="68580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Fee benchmark: existing Korean motorcycle paperwork costs</a:t>
            </a:r>
          </a:p>
        </p:txBody>
      </p:sp>
      <p:sp>
        <p:nvSpPr>
          <p:cNvPr id="18" name="Rounded Rectangle 17"/>
          <p:cNvSpPr/>
          <p:nvPr/>
        </p:nvSpPr>
        <p:spPr>
          <a:xfrm>
            <a:off x="4343400" y="1874519"/>
            <a:ext cx="3703320" cy="2212848"/>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07992" y="2011679"/>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02</a:t>
            </a:r>
          </a:p>
        </p:txBody>
      </p:sp>
      <p:sp>
        <p:nvSpPr>
          <p:cNvPr id="20" name="TextBox 19"/>
          <p:cNvSpPr txBox="1"/>
          <p:nvPr/>
        </p:nvSpPr>
        <p:spPr>
          <a:xfrm>
            <a:off x="496519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OWNERSHIP TRANSFER</a:t>
            </a:r>
          </a:p>
        </p:txBody>
      </p:sp>
      <p:sp>
        <p:nvSpPr>
          <p:cNvPr id="21" name="TextBox 20"/>
          <p:cNvSpPr txBox="1"/>
          <p:nvPr/>
        </p:nvSpPr>
        <p:spPr>
          <a:xfrm>
            <a:off x="4526280" y="2423159"/>
            <a:ext cx="3337560" cy="457200"/>
          </a:xfrm>
          <a:prstGeom prst="rect">
            <a:avLst/>
          </a:prstGeom>
          <a:noFill/>
        </p:spPr>
        <p:txBody>
          <a:bodyPr wrap="square" lIns="0" tIns="0" rIns="0" bIns="0" anchor="t">
            <a:spAutoFit/>
          </a:bodyPr>
          <a:lstStyle/>
          <a:p>
            <a:pPr algn="l"/>
            <a:r>
              <a:rPr sz="2800" b="1" i="0">
                <a:solidFill>
                  <a:srgbClr val="4AA3FF"/>
                </a:solidFill>
                <a:latin typeface="Calibri"/>
              </a:rPr>
              <a:t>₩15M</a:t>
            </a:r>
          </a:p>
        </p:txBody>
      </p:sp>
      <p:sp>
        <p:nvSpPr>
          <p:cNvPr id="22" name="TextBox 21"/>
          <p:cNvSpPr txBox="1"/>
          <p:nvPr/>
        </p:nvSpPr>
        <p:spPr>
          <a:xfrm>
            <a:off x="452628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1,000 transfers × ₩15,000</a:t>
            </a:r>
          </a:p>
        </p:txBody>
      </p:sp>
      <p:sp>
        <p:nvSpPr>
          <p:cNvPr id="23" name="Rectangle 22"/>
          <p:cNvSpPr/>
          <p:nvPr/>
        </p:nvSpPr>
        <p:spPr>
          <a:xfrm>
            <a:off x="452628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2628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Charged on every resale. 20% annual transfer rate matches Korean used-bike market.</a:t>
            </a:r>
          </a:p>
        </p:txBody>
      </p:sp>
      <p:sp>
        <p:nvSpPr>
          <p:cNvPr id="25" name="TextBox 24"/>
          <p:cNvSpPr txBox="1"/>
          <p:nvPr/>
        </p:nvSpPr>
        <p:spPr>
          <a:xfrm>
            <a:off x="452628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Transfer rate: KMIA used motorcycle resale data</a:t>
            </a:r>
          </a:p>
        </p:txBody>
      </p:sp>
      <p:sp>
        <p:nvSpPr>
          <p:cNvPr id="26" name="Rounded Rectangle 25"/>
          <p:cNvSpPr/>
          <p:nvPr/>
        </p:nvSpPr>
        <p:spPr>
          <a:xfrm>
            <a:off x="8183880" y="1874519"/>
            <a:ext cx="3703320" cy="2212848"/>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48472" y="2011679"/>
            <a:ext cx="329184" cy="329184"/>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03</a:t>
            </a:r>
          </a:p>
        </p:txBody>
      </p:sp>
      <p:sp>
        <p:nvSpPr>
          <p:cNvPr id="28" name="TextBox 27"/>
          <p:cNvSpPr txBox="1"/>
          <p:nvPr/>
        </p:nvSpPr>
        <p:spPr>
          <a:xfrm>
            <a:off x="880567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SERVICE ENTRIES</a:t>
            </a:r>
          </a:p>
        </p:txBody>
      </p:sp>
      <p:sp>
        <p:nvSpPr>
          <p:cNvPr id="29" name="TextBox 28"/>
          <p:cNvSpPr txBox="1"/>
          <p:nvPr/>
        </p:nvSpPr>
        <p:spPr>
          <a:xfrm>
            <a:off x="8366760" y="2423159"/>
            <a:ext cx="3337560" cy="457200"/>
          </a:xfrm>
          <a:prstGeom prst="rect">
            <a:avLst/>
          </a:prstGeom>
          <a:noFill/>
        </p:spPr>
        <p:txBody>
          <a:bodyPr wrap="square" lIns="0" tIns="0" rIns="0" bIns="0" anchor="t">
            <a:spAutoFit/>
          </a:bodyPr>
          <a:lstStyle/>
          <a:p>
            <a:pPr algn="l"/>
            <a:r>
              <a:rPr sz="2800" b="1" i="0">
                <a:solidFill>
                  <a:srgbClr val="27D8D8"/>
                </a:solidFill>
                <a:latin typeface="Calibri"/>
              </a:rPr>
              <a:t>₩10M</a:t>
            </a:r>
          </a:p>
        </p:txBody>
      </p:sp>
      <p:sp>
        <p:nvSpPr>
          <p:cNvPr id="30" name="TextBox 29"/>
          <p:cNvSpPr txBox="1"/>
          <p:nvPr/>
        </p:nvSpPr>
        <p:spPr>
          <a:xfrm>
            <a:off x="836676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10,000 entries × ₩5,000  ·  20% to protocol</a:t>
            </a:r>
          </a:p>
        </p:txBody>
      </p:sp>
      <p:sp>
        <p:nvSpPr>
          <p:cNvPr id="31" name="Rectangle 30"/>
          <p:cNvSpPr/>
          <p:nvPr/>
        </p:nvSpPr>
        <p:spPr>
          <a:xfrm>
            <a:off x="836676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Fee per verified service record. 60% mechanic / 20% validator / 20% protocol.</a:t>
            </a:r>
          </a:p>
        </p:txBody>
      </p:sp>
      <p:sp>
        <p:nvSpPr>
          <p:cNvPr id="33" name="TextBox 32"/>
          <p:cNvSpPr txBox="1"/>
          <p:nvPr/>
        </p:nvSpPr>
        <p:spPr>
          <a:xfrm>
            <a:off x="836676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Service volume: 2 records/bike/year (industry: 3–5)</a:t>
            </a:r>
          </a:p>
        </p:txBody>
      </p:sp>
      <p:sp>
        <p:nvSpPr>
          <p:cNvPr id="34" name="Rounded Rectangle 33"/>
          <p:cNvSpPr/>
          <p:nvPr/>
        </p:nvSpPr>
        <p:spPr>
          <a:xfrm>
            <a:off x="502920" y="4224527"/>
            <a:ext cx="3703320" cy="2212848"/>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67512" y="4361687"/>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04</a:t>
            </a:r>
          </a:p>
        </p:txBody>
      </p:sp>
      <p:sp>
        <p:nvSpPr>
          <p:cNvPr id="36" name="TextBox 35"/>
          <p:cNvSpPr txBox="1"/>
          <p:nvPr/>
        </p:nvSpPr>
        <p:spPr>
          <a:xfrm>
            <a:off x="112471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INSURANCE POOL FEE</a:t>
            </a:r>
          </a:p>
        </p:txBody>
      </p:sp>
      <p:sp>
        <p:nvSpPr>
          <p:cNvPr id="37" name="TextBox 36"/>
          <p:cNvSpPr txBox="1"/>
          <p:nvPr/>
        </p:nvSpPr>
        <p:spPr>
          <a:xfrm>
            <a:off x="685800" y="4773167"/>
            <a:ext cx="3337560" cy="457200"/>
          </a:xfrm>
          <a:prstGeom prst="rect">
            <a:avLst/>
          </a:prstGeom>
          <a:noFill/>
        </p:spPr>
        <p:txBody>
          <a:bodyPr wrap="square" lIns="0" tIns="0" rIns="0" bIns="0" anchor="t">
            <a:spAutoFit/>
          </a:bodyPr>
          <a:lstStyle/>
          <a:p>
            <a:pPr algn="l"/>
            <a:r>
              <a:rPr sz="2800" b="1" i="0">
                <a:solidFill>
                  <a:srgbClr val="4EE59A"/>
                </a:solidFill>
                <a:latin typeface="Calibri"/>
              </a:rPr>
              <a:t>₩108M</a:t>
            </a:r>
          </a:p>
        </p:txBody>
      </p:sp>
      <p:sp>
        <p:nvSpPr>
          <p:cNvPr id="38" name="TextBox 37"/>
          <p:cNvSpPr txBox="1"/>
          <p:nvPr/>
        </p:nvSpPr>
        <p:spPr>
          <a:xfrm>
            <a:off x="68580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5% of ₩2.16B premium pool</a:t>
            </a:r>
          </a:p>
        </p:txBody>
      </p:sp>
      <p:sp>
        <p:nvSpPr>
          <p:cNvPr id="39" name="Rectangle 38"/>
          <p:cNvSpPr/>
          <p:nvPr/>
        </p:nvSpPr>
        <p:spPr>
          <a:xfrm>
            <a:off x="68580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Protocol fee on premium contributions. Industry-norm DeFi mutual fee.</a:t>
            </a:r>
          </a:p>
        </p:txBody>
      </p:sp>
      <p:sp>
        <p:nvSpPr>
          <p:cNvPr id="41" name="TextBox 40"/>
          <p:cNvSpPr txBox="1"/>
          <p:nvPr/>
        </p:nvSpPr>
        <p:spPr>
          <a:xfrm>
            <a:off x="68580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Nexus Mutual (2–7%) and similar DeFi pools</a:t>
            </a:r>
          </a:p>
        </p:txBody>
      </p:sp>
      <p:sp>
        <p:nvSpPr>
          <p:cNvPr id="42" name="Rounded Rectangle 41"/>
          <p:cNvSpPr/>
          <p:nvPr/>
        </p:nvSpPr>
        <p:spPr>
          <a:xfrm>
            <a:off x="4343400" y="4224527"/>
            <a:ext cx="3703320" cy="2212848"/>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507992" y="4361687"/>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05</a:t>
            </a:r>
          </a:p>
        </p:txBody>
      </p:sp>
      <p:sp>
        <p:nvSpPr>
          <p:cNvPr id="44" name="TextBox 43"/>
          <p:cNvSpPr txBox="1"/>
          <p:nvPr/>
        </p:nvSpPr>
        <p:spPr>
          <a:xfrm>
            <a:off x="496519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CLAIM PROCESSING</a:t>
            </a:r>
          </a:p>
        </p:txBody>
      </p:sp>
      <p:sp>
        <p:nvSpPr>
          <p:cNvPr id="45" name="TextBox 44"/>
          <p:cNvSpPr txBox="1"/>
          <p:nvPr/>
        </p:nvSpPr>
        <p:spPr>
          <a:xfrm>
            <a:off x="4526280" y="4773167"/>
            <a:ext cx="3337560" cy="457200"/>
          </a:xfrm>
          <a:prstGeom prst="rect">
            <a:avLst/>
          </a:prstGeom>
          <a:noFill/>
        </p:spPr>
        <p:txBody>
          <a:bodyPr wrap="square" lIns="0" tIns="0" rIns="0" bIns="0" anchor="t">
            <a:spAutoFit/>
          </a:bodyPr>
          <a:lstStyle/>
          <a:p>
            <a:pPr algn="l"/>
            <a:r>
              <a:rPr sz="2800" b="1" i="0">
                <a:solidFill>
                  <a:srgbClr val="4EE59A"/>
                </a:solidFill>
                <a:latin typeface="Calibri"/>
              </a:rPr>
              <a:t>₩1.92M</a:t>
            </a:r>
          </a:p>
        </p:txBody>
      </p:sp>
      <p:sp>
        <p:nvSpPr>
          <p:cNvPr id="46" name="TextBox 45"/>
          <p:cNvSpPr txBox="1"/>
          <p:nvPr/>
        </p:nvSpPr>
        <p:spPr>
          <a:xfrm>
            <a:off x="452628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1% net × ₩192M claims</a:t>
            </a:r>
          </a:p>
        </p:txBody>
      </p:sp>
      <p:sp>
        <p:nvSpPr>
          <p:cNvPr id="47" name="Rectangle 46"/>
          <p:cNvSpPr/>
          <p:nvPr/>
        </p:nvSpPr>
        <p:spPr>
          <a:xfrm>
            <a:off x="452628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2628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Admin fee on each approved claim. Small but covers oracle costs.</a:t>
            </a:r>
          </a:p>
        </p:txBody>
      </p:sp>
      <p:sp>
        <p:nvSpPr>
          <p:cNvPr id="49" name="TextBox 48"/>
          <p:cNvSpPr txBox="1"/>
          <p:nvPr/>
        </p:nvSpPr>
        <p:spPr>
          <a:xfrm>
            <a:off x="452628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traditional motor claim admin charges</a:t>
            </a:r>
          </a:p>
        </p:txBody>
      </p:sp>
      <p:sp>
        <p:nvSpPr>
          <p:cNvPr id="50" name="Rounded Rectangle 49"/>
          <p:cNvSpPr/>
          <p:nvPr/>
        </p:nvSpPr>
        <p:spPr>
          <a:xfrm>
            <a:off x="8183880" y="4224527"/>
            <a:ext cx="3703320" cy="2212848"/>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348472" y="4361687"/>
            <a:ext cx="329184" cy="329184"/>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06</a:t>
            </a:r>
          </a:p>
        </p:txBody>
      </p:sp>
      <p:sp>
        <p:nvSpPr>
          <p:cNvPr id="52" name="TextBox 51"/>
          <p:cNvSpPr txBox="1"/>
          <p:nvPr/>
        </p:nvSpPr>
        <p:spPr>
          <a:xfrm>
            <a:off x="880567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API / DATA ACCESS</a:t>
            </a:r>
          </a:p>
        </p:txBody>
      </p:sp>
      <p:sp>
        <p:nvSpPr>
          <p:cNvPr id="53" name="TextBox 52"/>
          <p:cNvSpPr txBox="1"/>
          <p:nvPr/>
        </p:nvSpPr>
        <p:spPr>
          <a:xfrm>
            <a:off x="8366760" y="4773167"/>
            <a:ext cx="3337560" cy="457200"/>
          </a:xfrm>
          <a:prstGeom prst="rect">
            <a:avLst/>
          </a:prstGeom>
          <a:noFill/>
        </p:spPr>
        <p:txBody>
          <a:bodyPr wrap="square" lIns="0" tIns="0" rIns="0" bIns="0" anchor="t">
            <a:spAutoFit/>
          </a:bodyPr>
          <a:lstStyle/>
          <a:p>
            <a:pPr algn="l"/>
            <a:r>
              <a:rPr sz="2800" b="1" i="0">
                <a:solidFill>
                  <a:srgbClr val="FFBF56"/>
                </a:solidFill>
                <a:latin typeface="Calibri"/>
              </a:rPr>
              <a:t>₩180M</a:t>
            </a:r>
          </a:p>
        </p:txBody>
      </p:sp>
      <p:sp>
        <p:nvSpPr>
          <p:cNvPr id="54" name="TextBox 53"/>
          <p:cNvSpPr txBox="1"/>
          <p:nvPr/>
        </p:nvSpPr>
        <p:spPr>
          <a:xfrm>
            <a:off x="836676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3 partners × ₩5M/mo × 12</a:t>
            </a:r>
          </a:p>
        </p:txBody>
      </p:sp>
      <p:sp>
        <p:nvSpPr>
          <p:cNvPr id="55" name="Rectangle 54"/>
          <p:cNvSpPr/>
          <p:nvPr/>
        </p:nvSpPr>
        <p:spPr>
          <a:xfrm>
            <a:off x="836676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6676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B2B subscription for insurers, lenders, and marketplaces accessing risk scores.</a:t>
            </a:r>
          </a:p>
        </p:txBody>
      </p:sp>
      <p:sp>
        <p:nvSpPr>
          <p:cNvPr id="57" name="TextBox 56"/>
          <p:cNvSpPr txBox="1"/>
          <p:nvPr/>
        </p:nvSpPr>
        <p:spPr>
          <a:xfrm>
            <a:off x="836676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Korean fintech B2B data API pricing</a:t>
            </a:r>
          </a:p>
        </p:txBody>
      </p:sp>
      <p:sp>
        <p:nvSpPr>
          <p:cNvPr id="58" name="Rectangle 57"/>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Year 1 total protocol revenue: ₩365M  ·  see Section 5.9 for the stress case</a:t>
            </a:r>
          </a:p>
        </p:txBody>
      </p:sp>
      <p:sp>
        <p:nvSpPr>
          <p:cNvPr id="60" name="TextBox 59"/>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REVENUE GROWTH</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Three-Year Revenue Build</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Each stream scales with bike count, rider count, and partner growth</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7680960" cy="361188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874519"/>
            <a:ext cx="3708049"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13050"/>
            <a:ext cx="3433729" cy="228600"/>
          </a:xfrm>
          <a:prstGeom prst="rect">
            <a:avLst/>
          </a:prstGeom>
          <a:noFill/>
        </p:spPr>
        <p:txBody>
          <a:bodyPr wrap="square" lIns="0" tIns="0" rIns="0" bIns="0" anchor="t">
            <a:spAutoFit/>
          </a:bodyPr>
          <a:lstStyle/>
          <a:p>
            <a:pPr algn="l"/>
            <a:r>
              <a:rPr sz="1000" b="1" i="0">
                <a:solidFill>
                  <a:srgbClr val="9CC6FF"/>
                </a:solidFill>
                <a:latin typeface="Calibri"/>
              </a:rPr>
              <a:t>Revenue Stream</a:t>
            </a:r>
          </a:p>
        </p:txBody>
      </p:sp>
      <p:sp>
        <p:nvSpPr>
          <p:cNvPr id="13" name="Rectangle 12"/>
          <p:cNvSpPr/>
          <p:nvPr/>
        </p:nvSpPr>
        <p:spPr>
          <a:xfrm>
            <a:off x="4210969"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8129"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1</a:t>
            </a:r>
          </a:p>
        </p:txBody>
      </p:sp>
      <p:sp>
        <p:nvSpPr>
          <p:cNvPr id="15" name="Rectangle 14"/>
          <p:cNvSpPr/>
          <p:nvPr/>
        </p:nvSpPr>
        <p:spPr>
          <a:xfrm>
            <a:off x="5535273"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72433"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2</a:t>
            </a:r>
          </a:p>
        </p:txBody>
      </p:sp>
      <p:sp>
        <p:nvSpPr>
          <p:cNvPr id="17" name="Rectangle 16"/>
          <p:cNvSpPr/>
          <p:nvPr/>
        </p:nvSpPr>
        <p:spPr>
          <a:xfrm>
            <a:off x="6859576"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6736"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3</a:t>
            </a:r>
          </a:p>
        </p:txBody>
      </p:sp>
      <p:sp>
        <p:nvSpPr>
          <p:cNvPr id="19" name="Rectangle 18"/>
          <p:cNvSpPr/>
          <p:nvPr/>
        </p:nvSpPr>
        <p:spPr>
          <a:xfrm>
            <a:off x="502920" y="2366466"/>
            <a:ext cx="768096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2380182"/>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2487754"/>
            <a:ext cx="3433729" cy="228600"/>
          </a:xfrm>
          <a:prstGeom prst="rect">
            <a:avLst/>
          </a:prstGeom>
          <a:noFill/>
        </p:spPr>
        <p:txBody>
          <a:bodyPr wrap="square" lIns="0" tIns="0" rIns="0" bIns="0" anchor="t">
            <a:spAutoFit/>
          </a:bodyPr>
          <a:lstStyle/>
          <a:p>
            <a:pPr algn="l"/>
            <a:r>
              <a:rPr sz="1100" b="0" i="0">
                <a:solidFill>
                  <a:srgbClr val="EDF4FF"/>
                </a:solidFill>
                <a:latin typeface="Calibri"/>
              </a:rPr>
              <a:t>VIN registration</a:t>
            </a:r>
          </a:p>
        </p:txBody>
      </p:sp>
      <p:sp>
        <p:nvSpPr>
          <p:cNvPr id="22" name="TextBox 21"/>
          <p:cNvSpPr txBox="1"/>
          <p:nvPr/>
        </p:nvSpPr>
        <p:spPr>
          <a:xfrm>
            <a:off x="4348129"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₩50M</a:t>
            </a:r>
          </a:p>
        </p:txBody>
      </p:sp>
      <p:sp>
        <p:nvSpPr>
          <p:cNvPr id="23" name="TextBox 22"/>
          <p:cNvSpPr txBox="1"/>
          <p:nvPr/>
        </p:nvSpPr>
        <p:spPr>
          <a:xfrm>
            <a:off x="5672433"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₩250M</a:t>
            </a:r>
          </a:p>
        </p:txBody>
      </p:sp>
      <p:sp>
        <p:nvSpPr>
          <p:cNvPr id="24" name="TextBox 23"/>
          <p:cNvSpPr txBox="1"/>
          <p:nvPr/>
        </p:nvSpPr>
        <p:spPr>
          <a:xfrm>
            <a:off x="6996736"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₩1.00B</a:t>
            </a:r>
          </a:p>
        </p:txBody>
      </p:sp>
      <p:sp>
        <p:nvSpPr>
          <p:cNvPr id="25" name="Rectangle 24"/>
          <p:cNvSpPr/>
          <p:nvPr/>
        </p:nvSpPr>
        <p:spPr>
          <a:xfrm>
            <a:off x="502920" y="2819355"/>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2931500"/>
            <a:ext cx="3433729" cy="228600"/>
          </a:xfrm>
          <a:prstGeom prst="rect">
            <a:avLst/>
          </a:prstGeom>
          <a:noFill/>
        </p:spPr>
        <p:txBody>
          <a:bodyPr wrap="square" lIns="0" tIns="0" rIns="0" bIns="0" anchor="t">
            <a:spAutoFit/>
          </a:bodyPr>
          <a:lstStyle/>
          <a:p>
            <a:pPr algn="l"/>
            <a:r>
              <a:rPr sz="1100" b="0" i="0">
                <a:solidFill>
                  <a:srgbClr val="EDF4FF"/>
                </a:solidFill>
                <a:latin typeface="Calibri"/>
              </a:rPr>
              <a:t>Ownership transfer</a:t>
            </a:r>
          </a:p>
        </p:txBody>
      </p:sp>
      <p:sp>
        <p:nvSpPr>
          <p:cNvPr id="27" name="TextBox 26"/>
          <p:cNvSpPr txBox="1"/>
          <p:nvPr/>
        </p:nvSpPr>
        <p:spPr>
          <a:xfrm>
            <a:off x="4348129"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₩15M</a:t>
            </a:r>
          </a:p>
        </p:txBody>
      </p:sp>
      <p:sp>
        <p:nvSpPr>
          <p:cNvPr id="28" name="TextBox 27"/>
          <p:cNvSpPr txBox="1"/>
          <p:nvPr/>
        </p:nvSpPr>
        <p:spPr>
          <a:xfrm>
            <a:off x="5672433"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₩75M</a:t>
            </a:r>
          </a:p>
        </p:txBody>
      </p:sp>
      <p:sp>
        <p:nvSpPr>
          <p:cNvPr id="29" name="TextBox 28"/>
          <p:cNvSpPr txBox="1"/>
          <p:nvPr/>
        </p:nvSpPr>
        <p:spPr>
          <a:xfrm>
            <a:off x="6996736"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₩300M</a:t>
            </a:r>
          </a:p>
        </p:txBody>
      </p:sp>
      <p:sp>
        <p:nvSpPr>
          <p:cNvPr id="30" name="Rectangle 29"/>
          <p:cNvSpPr/>
          <p:nvPr/>
        </p:nvSpPr>
        <p:spPr>
          <a:xfrm>
            <a:off x="502920" y="3263100"/>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2920" y="3267672"/>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375245"/>
            <a:ext cx="3433729" cy="228600"/>
          </a:xfrm>
          <a:prstGeom prst="rect">
            <a:avLst/>
          </a:prstGeom>
          <a:noFill/>
        </p:spPr>
        <p:txBody>
          <a:bodyPr wrap="square" lIns="0" tIns="0" rIns="0" bIns="0" anchor="t">
            <a:spAutoFit/>
          </a:bodyPr>
          <a:lstStyle/>
          <a:p>
            <a:pPr algn="l"/>
            <a:r>
              <a:rPr sz="1100" b="0" i="0">
                <a:solidFill>
                  <a:srgbClr val="EDF4FF"/>
                </a:solidFill>
                <a:latin typeface="Calibri"/>
              </a:rPr>
              <a:t>Service entries (protocol share)</a:t>
            </a:r>
          </a:p>
        </p:txBody>
      </p:sp>
      <p:sp>
        <p:nvSpPr>
          <p:cNvPr id="33" name="TextBox 32"/>
          <p:cNvSpPr txBox="1"/>
          <p:nvPr/>
        </p:nvSpPr>
        <p:spPr>
          <a:xfrm>
            <a:off x="4348129"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₩10M</a:t>
            </a:r>
          </a:p>
        </p:txBody>
      </p:sp>
      <p:sp>
        <p:nvSpPr>
          <p:cNvPr id="34" name="TextBox 33"/>
          <p:cNvSpPr txBox="1"/>
          <p:nvPr/>
        </p:nvSpPr>
        <p:spPr>
          <a:xfrm>
            <a:off x="5672433"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₩50M</a:t>
            </a:r>
          </a:p>
        </p:txBody>
      </p:sp>
      <p:sp>
        <p:nvSpPr>
          <p:cNvPr id="35" name="TextBox 34"/>
          <p:cNvSpPr txBox="1"/>
          <p:nvPr/>
        </p:nvSpPr>
        <p:spPr>
          <a:xfrm>
            <a:off x="6996736"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₩200M</a:t>
            </a:r>
          </a:p>
        </p:txBody>
      </p:sp>
      <p:sp>
        <p:nvSpPr>
          <p:cNvPr id="36" name="Rectangle 35"/>
          <p:cNvSpPr/>
          <p:nvPr/>
        </p:nvSpPr>
        <p:spPr>
          <a:xfrm>
            <a:off x="502920" y="3706845"/>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3818990"/>
            <a:ext cx="3433729" cy="228600"/>
          </a:xfrm>
          <a:prstGeom prst="rect">
            <a:avLst/>
          </a:prstGeom>
          <a:noFill/>
        </p:spPr>
        <p:txBody>
          <a:bodyPr wrap="square" lIns="0" tIns="0" rIns="0" bIns="0" anchor="t">
            <a:spAutoFit/>
          </a:bodyPr>
          <a:lstStyle/>
          <a:p>
            <a:pPr algn="l"/>
            <a:r>
              <a:rPr sz="1100" b="0" i="0">
                <a:solidFill>
                  <a:srgbClr val="EDF4FF"/>
                </a:solidFill>
                <a:latin typeface="Calibri"/>
              </a:rPr>
              <a:t>RideTrue insurance pool fee</a:t>
            </a:r>
          </a:p>
        </p:txBody>
      </p:sp>
      <p:sp>
        <p:nvSpPr>
          <p:cNvPr id="38" name="TextBox 37"/>
          <p:cNvSpPr txBox="1"/>
          <p:nvPr/>
        </p:nvSpPr>
        <p:spPr>
          <a:xfrm>
            <a:off x="4348129"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₩108M</a:t>
            </a:r>
          </a:p>
        </p:txBody>
      </p:sp>
      <p:sp>
        <p:nvSpPr>
          <p:cNvPr id="39" name="TextBox 38"/>
          <p:cNvSpPr txBox="1"/>
          <p:nvPr/>
        </p:nvSpPr>
        <p:spPr>
          <a:xfrm>
            <a:off x="5672433"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₩648M</a:t>
            </a:r>
          </a:p>
        </p:txBody>
      </p:sp>
      <p:sp>
        <p:nvSpPr>
          <p:cNvPr id="40" name="TextBox 39"/>
          <p:cNvSpPr txBox="1"/>
          <p:nvPr/>
        </p:nvSpPr>
        <p:spPr>
          <a:xfrm>
            <a:off x="6996736"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₩2.70B</a:t>
            </a:r>
          </a:p>
        </p:txBody>
      </p:sp>
      <p:sp>
        <p:nvSpPr>
          <p:cNvPr id="41" name="Rectangle 40"/>
          <p:cNvSpPr/>
          <p:nvPr/>
        </p:nvSpPr>
        <p:spPr>
          <a:xfrm>
            <a:off x="502920" y="4150591"/>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02920" y="4155163"/>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0080" y="4262735"/>
            <a:ext cx="3433729" cy="228600"/>
          </a:xfrm>
          <a:prstGeom prst="rect">
            <a:avLst/>
          </a:prstGeom>
          <a:noFill/>
        </p:spPr>
        <p:txBody>
          <a:bodyPr wrap="square" lIns="0" tIns="0" rIns="0" bIns="0" anchor="t">
            <a:spAutoFit/>
          </a:bodyPr>
          <a:lstStyle/>
          <a:p>
            <a:pPr algn="l"/>
            <a:r>
              <a:rPr sz="1100" b="0" i="0">
                <a:solidFill>
                  <a:srgbClr val="EDF4FF"/>
                </a:solidFill>
                <a:latin typeface="Calibri"/>
              </a:rPr>
              <a:t>Claim processing margin</a:t>
            </a:r>
          </a:p>
        </p:txBody>
      </p:sp>
      <p:sp>
        <p:nvSpPr>
          <p:cNvPr id="44" name="TextBox 43"/>
          <p:cNvSpPr txBox="1"/>
          <p:nvPr/>
        </p:nvSpPr>
        <p:spPr>
          <a:xfrm>
            <a:off x="4348129"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₩1.9M</a:t>
            </a:r>
          </a:p>
        </p:txBody>
      </p:sp>
      <p:sp>
        <p:nvSpPr>
          <p:cNvPr id="45" name="TextBox 44"/>
          <p:cNvSpPr txBox="1"/>
          <p:nvPr/>
        </p:nvSpPr>
        <p:spPr>
          <a:xfrm>
            <a:off x="5672433"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₩11.5M</a:t>
            </a:r>
          </a:p>
        </p:txBody>
      </p:sp>
      <p:sp>
        <p:nvSpPr>
          <p:cNvPr id="46" name="TextBox 45"/>
          <p:cNvSpPr txBox="1"/>
          <p:nvPr/>
        </p:nvSpPr>
        <p:spPr>
          <a:xfrm>
            <a:off x="6996736"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₩48M</a:t>
            </a:r>
          </a:p>
        </p:txBody>
      </p:sp>
      <p:sp>
        <p:nvSpPr>
          <p:cNvPr id="47" name="Rectangle 46"/>
          <p:cNvSpPr/>
          <p:nvPr/>
        </p:nvSpPr>
        <p:spPr>
          <a:xfrm>
            <a:off x="502920" y="4594336"/>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 y="4706481"/>
            <a:ext cx="3433729" cy="228600"/>
          </a:xfrm>
          <a:prstGeom prst="rect">
            <a:avLst/>
          </a:prstGeom>
          <a:noFill/>
        </p:spPr>
        <p:txBody>
          <a:bodyPr wrap="square" lIns="0" tIns="0" rIns="0" bIns="0" anchor="t">
            <a:spAutoFit/>
          </a:bodyPr>
          <a:lstStyle/>
          <a:p>
            <a:pPr algn="l"/>
            <a:r>
              <a:rPr sz="1100" b="0" i="0">
                <a:solidFill>
                  <a:srgbClr val="EDF4FF"/>
                </a:solidFill>
                <a:latin typeface="Calibri"/>
              </a:rPr>
              <a:t>API / data access subscriptions</a:t>
            </a:r>
          </a:p>
        </p:txBody>
      </p:sp>
      <p:sp>
        <p:nvSpPr>
          <p:cNvPr id="49" name="TextBox 48"/>
          <p:cNvSpPr txBox="1"/>
          <p:nvPr/>
        </p:nvSpPr>
        <p:spPr>
          <a:xfrm>
            <a:off x="4348129"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₩180M</a:t>
            </a:r>
          </a:p>
        </p:txBody>
      </p:sp>
      <p:sp>
        <p:nvSpPr>
          <p:cNvPr id="50" name="TextBox 49"/>
          <p:cNvSpPr txBox="1"/>
          <p:nvPr/>
        </p:nvSpPr>
        <p:spPr>
          <a:xfrm>
            <a:off x="5672433"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₩840M</a:t>
            </a:r>
          </a:p>
        </p:txBody>
      </p:sp>
      <p:sp>
        <p:nvSpPr>
          <p:cNvPr id="51" name="TextBox 50"/>
          <p:cNvSpPr txBox="1"/>
          <p:nvPr/>
        </p:nvSpPr>
        <p:spPr>
          <a:xfrm>
            <a:off x="6996736"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₩3.60B</a:t>
            </a:r>
          </a:p>
        </p:txBody>
      </p:sp>
      <p:sp>
        <p:nvSpPr>
          <p:cNvPr id="52" name="Rectangle 51"/>
          <p:cNvSpPr/>
          <p:nvPr/>
        </p:nvSpPr>
        <p:spPr>
          <a:xfrm>
            <a:off x="502920" y="5038081"/>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5042653"/>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150226"/>
            <a:ext cx="3433729" cy="228600"/>
          </a:xfrm>
          <a:prstGeom prst="rect">
            <a:avLst/>
          </a:prstGeom>
          <a:noFill/>
        </p:spPr>
        <p:txBody>
          <a:bodyPr wrap="square" lIns="0" tIns="0" rIns="0" bIns="0" anchor="t">
            <a:spAutoFit/>
          </a:bodyPr>
          <a:lstStyle/>
          <a:p>
            <a:pPr algn="l"/>
            <a:r>
              <a:rPr sz="1150" b="1" i="0">
                <a:solidFill>
                  <a:srgbClr val="9CC6FF"/>
                </a:solidFill>
                <a:latin typeface="Calibri"/>
              </a:rPr>
              <a:t>TOTAL PROTOCOL REVENUE</a:t>
            </a:r>
          </a:p>
        </p:txBody>
      </p:sp>
      <p:sp>
        <p:nvSpPr>
          <p:cNvPr id="55" name="TextBox 54"/>
          <p:cNvSpPr txBox="1"/>
          <p:nvPr/>
        </p:nvSpPr>
        <p:spPr>
          <a:xfrm>
            <a:off x="4348129"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₩365M</a:t>
            </a:r>
          </a:p>
        </p:txBody>
      </p:sp>
      <p:sp>
        <p:nvSpPr>
          <p:cNvPr id="56" name="TextBox 55"/>
          <p:cNvSpPr txBox="1"/>
          <p:nvPr/>
        </p:nvSpPr>
        <p:spPr>
          <a:xfrm>
            <a:off x="5672433"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₩1.87B</a:t>
            </a:r>
          </a:p>
        </p:txBody>
      </p:sp>
      <p:sp>
        <p:nvSpPr>
          <p:cNvPr id="57" name="TextBox 56"/>
          <p:cNvSpPr txBox="1"/>
          <p:nvPr/>
        </p:nvSpPr>
        <p:spPr>
          <a:xfrm>
            <a:off x="6996736"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₩7.85B</a:t>
            </a:r>
          </a:p>
        </p:txBody>
      </p:sp>
      <p:sp>
        <p:nvSpPr>
          <p:cNvPr id="58" name="TextBox 57"/>
          <p:cNvSpPr txBox="1"/>
          <p:nvPr/>
        </p:nvSpPr>
        <p:spPr>
          <a:xfrm>
            <a:off x="8412480" y="1874519"/>
            <a:ext cx="3337560" cy="228600"/>
          </a:xfrm>
          <a:prstGeom prst="rect">
            <a:avLst/>
          </a:prstGeom>
          <a:noFill/>
        </p:spPr>
        <p:txBody>
          <a:bodyPr wrap="square" lIns="0" tIns="0" rIns="0" bIns="0" anchor="t">
            <a:spAutoFit/>
          </a:bodyPr>
          <a:lstStyle/>
          <a:p>
            <a:pPr algn="l"/>
            <a:r>
              <a:rPr sz="1050" b="1" i="0">
                <a:solidFill>
                  <a:srgbClr val="9CC6FF"/>
                </a:solidFill>
                <a:latin typeface="Calibri"/>
              </a:rPr>
              <a:t>GROWTH HIGHLIGHTS</a:t>
            </a:r>
          </a:p>
        </p:txBody>
      </p:sp>
      <p:sp>
        <p:nvSpPr>
          <p:cNvPr id="59" name="Rectangle 58"/>
          <p:cNvSpPr/>
          <p:nvPr/>
        </p:nvSpPr>
        <p:spPr>
          <a:xfrm>
            <a:off x="841248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8412480" y="2240280"/>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77072" y="2331720"/>
            <a:ext cx="1828800" cy="502920"/>
          </a:xfrm>
          <a:prstGeom prst="rect">
            <a:avLst/>
          </a:prstGeom>
          <a:noFill/>
        </p:spPr>
        <p:txBody>
          <a:bodyPr wrap="square" lIns="0" tIns="0" rIns="0" bIns="0" anchor="t">
            <a:spAutoFit/>
          </a:bodyPr>
          <a:lstStyle/>
          <a:p>
            <a:pPr algn="l"/>
            <a:r>
              <a:rPr sz="2400" b="1" i="0">
                <a:solidFill>
                  <a:srgbClr val="27D8D8"/>
                </a:solidFill>
                <a:latin typeface="Calibri"/>
              </a:rPr>
              <a:t>21×</a:t>
            </a:r>
          </a:p>
        </p:txBody>
      </p:sp>
      <p:sp>
        <p:nvSpPr>
          <p:cNvPr id="62" name="TextBox 61"/>
          <p:cNvSpPr txBox="1"/>
          <p:nvPr/>
        </p:nvSpPr>
        <p:spPr>
          <a:xfrm>
            <a:off x="8577072" y="2862072"/>
            <a:ext cx="3063240" cy="201168"/>
          </a:xfrm>
          <a:prstGeom prst="rect">
            <a:avLst/>
          </a:prstGeom>
          <a:noFill/>
        </p:spPr>
        <p:txBody>
          <a:bodyPr wrap="square" lIns="0" tIns="0" rIns="0" bIns="0" anchor="t">
            <a:spAutoFit/>
          </a:bodyPr>
          <a:lstStyle/>
          <a:p>
            <a:pPr algn="l"/>
            <a:r>
              <a:rPr sz="950" b="1" i="0">
                <a:solidFill>
                  <a:srgbClr val="9CC6FF"/>
                </a:solidFill>
                <a:latin typeface="Calibri"/>
              </a:rPr>
              <a:t>REVENUE Y1 → Y3</a:t>
            </a:r>
          </a:p>
        </p:txBody>
      </p:sp>
      <p:sp>
        <p:nvSpPr>
          <p:cNvPr id="63" name="TextBox 62"/>
          <p:cNvSpPr txBox="1"/>
          <p:nvPr/>
        </p:nvSpPr>
        <p:spPr>
          <a:xfrm>
            <a:off x="8577072" y="3044952"/>
            <a:ext cx="3063240" cy="256032"/>
          </a:xfrm>
          <a:prstGeom prst="rect">
            <a:avLst/>
          </a:prstGeom>
          <a:noFill/>
        </p:spPr>
        <p:txBody>
          <a:bodyPr wrap="square" lIns="0" tIns="0" rIns="0" bIns="0" anchor="t">
            <a:spAutoFit/>
          </a:bodyPr>
          <a:lstStyle/>
          <a:p>
            <a:pPr algn="l"/>
            <a:r>
              <a:rPr sz="900" b="0" i="0">
                <a:solidFill>
                  <a:srgbClr val="B8C8E0"/>
                </a:solidFill>
                <a:latin typeface="Calibri"/>
              </a:rPr>
              <a:t>₩365M scales to ₩7.85B as bikes grow 20×.</a:t>
            </a:r>
          </a:p>
        </p:txBody>
      </p:sp>
      <p:sp>
        <p:nvSpPr>
          <p:cNvPr id="64" name="Rounded Rectangle 63"/>
          <p:cNvSpPr/>
          <p:nvPr/>
        </p:nvSpPr>
        <p:spPr>
          <a:xfrm>
            <a:off x="8412480" y="3410712"/>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577072" y="3502152"/>
            <a:ext cx="1828800" cy="502920"/>
          </a:xfrm>
          <a:prstGeom prst="rect">
            <a:avLst/>
          </a:prstGeom>
          <a:noFill/>
        </p:spPr>
        <p:txBody>
          <a:bodyPr wrap="square" lIns="0" tIns="0" rIns="0" bIns="0" anchor="t">
            <a:spAutoFit/>
          </a:bodyPr>
          <a:lstStyle/>
          <a:p>
            <a:pPr algn="l"/>
            <a:r>
              <a:rPr sz="2400" b="1" i="0">
                <a:solidFill>
                  <a:srgbClr val="27D8D8"/>
                </a:solidFill>
                <a:latin typeface="Calibri"/>
              </a:rPr>
              <a:t>46%</a:t>
            </a:r>
          </a:p>
        </p:txBody>
      </p:sp>
      <p:sp>
        <p:nvSpPr>
          <p:cNvPr id="66" name="TextBox 65"/>
          <p:cNvSpPr txBox="1"/>
          <p:nvPr/>
        </p:nvSpPr>
        <p:spPr>
          <a:xfrm>
            <a:off x="8577072" y="4032504"/>
            <a:ext cx="3063240" cy="201168"/>
          </a:xfrm>
          <a:prstGeom prst="rect">
            <a:avLst/>
          </a:prstGeom>
          <a:noFill/>
        </p:spPr>
        <p:txBody>
          <a:bodyPr wrap="square" lIns="0" tIns="0" rIns="0" bIns="0" anchor="t">
            <a:spAutoFit/>
          </a:bodyPr>
          <a:lstStyle/>
          <a:p>
            <a:pPr algn="l"/>
            <a:r>
              <a:rPr sz="950" b="1" i="0">
                <a:solidFill>
                  <a:srgbClr val="9CC6FF"/>
                </a:solidFill>
                <a:latin typeface="Calibri"/>
              </a:rPr>
              <a:t>Y3 FROM B2B DATA</a:t>
            </a:r>
          </a:p>
        </p:txBody>
      </p:sp>
      <p:sp>
        <p:nvSpPr>
          <p:cNvPr id="67" name="TextBox 66"/>
          <p:cNvSpPr txBox="1"/>
          <p:nvPr/>
        </p:nvSpPr>
        <p:spPr>
          <a:xfrm>
            <a:off x="8577072" y="4215384"/>
            <a:ext cx="3063240" cy="256032"/>
          </a:xfrm>
          <a:prstGeom prst="rect">
            <a:avLst/>
          </a:prstGeom>
          <a:noFill/>
        </p:spPr>
        <p:txBody>
          <a:bodyPr wrap="square" lIns="0" tIns="0" rIns="0" bIns="0" anchor="t">
            <a:spAutoFit/>
          </a:bodyPr>
          <a:lstStyle/>
          <a:p>
            <a:pPr algn="l"/>
            <a:r>
              <a:rPr sz="900" b="0" i="0">
                <a:solidFill>
                  <a:srgbClr val="B8C8E0"/>
                </a:solidFill>
                <a:latin typeface="Calibri"/>
              </a:rPr>
              <a:t>API / partner subscriptions become the largest stream.</a:t>
            </a:r>
          </a:p>
        </p:txBody>
      </p:sp>
      <p:sp>
        <p:nvSpPr>
          <p:cNvPr id="68" name="Rounded Rectangle 67"/>
          <p:cNvSpPr/>
          <p:nvPr/>
        </p:nvSpPr>
        <p:spPr>
          <a:xfrm>
            <a:off x="8412480" y="4581144"/>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577072" y="4672584"/>
            <a:ext cx="1828800" cy="502920"/>
          </a:xfrm>
          <a:prstGeom prst="rect">
            <a:avLst/>
          </a:prstGeom>
          <a:noFill/>
        </p:spPr>
        <p:txBody>
          <a:bodyPr wrap="square" lIns="0" tIns="0" rIns="0" bIns="0" anchor="t">
            <a:spAutoFit/>
          </a:bodyPr>
          <a:lstStyle/>
          <a:p>
            <a:pPr algn="l"/>
            <a:r>
              <a:rPr sz="2400" b="1" i="0">
                <a:solidFill>
                  <a:srgbClr val="27D8D8"/>
                </a:solidFill>
                <a:latin typeface="Calibri"/>
              </a:rPr>
              <a:t>0.2%</a:t>
            </a:r>
          </a:p>
        </p:txBody>
      </p:sp>
      <p:sp>
        <p:nvSpPr>
          <p:cNvPr id="70" name="TextBox 69"/>
          <p:cNvSpPr txBox="1"/>
          <p:nvPr/>
        </p:nvSpPr>
        <p:spPr>
          <a:xfrm>
            <a:off x="8577072" y="5202936"/>
            <a:ext cx="3063240" cy="201168"/>
          </a:xfrm>
          <a:prstGeom prst="rect">
            <a:avLst/>
          </a:prstGeom>
          <a:noFill/>
        </p:spPr>
        <p:txBody>
          <a:bodyPr wrap="square" lIns="0" tIns="0" rIns="0" bIns="0" anchor="t">
            <a:spAutoFit/>
          </a:bodyPr>
          <a:lstStyle/>
          <a:p>
            <a:pPr algn="l"/>
            <a:r>
              <a:rPr sz="950" b="1" i="0">
                <a:solidFill>
                  <a:srgbClr val="9CC6FF"/>
                </a:solidFill>
                <a:latin typeface="Calibri"/>
              </a:rPr>
              <a:t>OF KOREAN FLEET</a:t>
            </a:r>
          </a:p>
        </p:txBody>
      </p:sp>
      <p:sp>
        <p:nvSpPr>
          <p:cNvPr id="71" name="TextBox 70"/>
          <p:cNvSpPr txBox="1"/>
          <p:nvPr/>
        </p:nvSpPr>
        <p:spPr>
          <a:xfrm>
            <a:off x="8577072" y="5385816"/>
            <a:ext cx="3063240" cy="256032"/>
          </a:xfrm>
          <a:prstGeom prst="rect">
            <a:avLst/>
          </a:prstGeom>
          <a:noFill/>
        </p:spPr>
        <p:txBody>
          <a:bodyPr wrap="square" lIns="0" tIns="0" rIns="0" bIns="0" anchor="t">
            <a:spAutoFit/>
          </a:bodyPr>
          <a:lstStyle/>
          <a:p>
            <a:pPr algn="l"/>
            <a:r>
              <a:rPr sz="900" b="0" i="0">
                <a:solidFill>
                  <a:srgbClr val="B8C8E0"/>
                </a:solidFill>
                <a:latin typeface="Calibri"/>
              </a:rPr>
              <a:t>Y3 still only 100K of ~2.3M registered motorcycles.</a:t>
            </a:r>
          </a:p>
        </p:txBody>
      </p:sp>
      <p:sp>
        <p:nvSpPr>
          <p:cNvPr id="72" name="Rounded Rectangle 71"/>
          <p:cNvSpPr/>
          <p:nvPr/>
        </p:nvSpPr>
        <p:spPr>
          <a:xfrm>
            <a:off x="502920" y="5669280"/>
            <a:ext cx="11183112" cy="77724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02920" y="5779008"/>
            <a:ext cx="54864" cy="557784"/>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85800" y="5760720"/>
            <a:ext cx="10515600" cy="201168"/>
          </a:xfrm>
          <a:prstGeom prst="rect">
            <a:avLst/>
          </a:prstGeom>
          <a:noFill/>
        </p:spPr>
        <p:txBody>
          <a:bodyPr wrap="square" lIns="0" tIns="0" rIns="0" bIns="0" anchor="t">
            <a:spAutoFit/>
          </a:bodyPr>
          <a:lstStyle/>
          <a:p>
            <a:pPr algn="l"/>
            <a:r>
              <a:rPr sz="1000" b="1" i="0">
                <a:solidFill>
                  <a:srgbClr val="FFBF56"/>
                </a:solidFill>
                <a:latin typeface="Calibri"/>
              </a:rPr>
              <a:t>KEY ASSUMPTIONS BEHIND THE GROWTH PATH</a:t>
            </a:r>
          </a:p>
        </p:txBody>
      </p:sp>
      <p:sp>
        <p:nvSpPr>
          <p:cNvPr id="75" name="TextBox 74"/>
          <p:cNvSpPr txBox="1"/>
          <p:nvPr/>
        </p:nvSpPr>
        <p:spPr>
          <a:xfrm>
            <a:off x="685800" y="5961888"/>
            <a:ext cx="10789920" cy="457200"/>
          </a:xfrm>
          <a:prstGeom prst="rect">
            <a:avLst/>
          </a:prstGeom>
          <a:noFill/>
        </p:spPr>
        <p:txBody>
          <a:bodyPr wrap="square" lIns="0" tIns="0" rIns="0" bIns="0" anchor="t">
            <a:spAutoFit/>
          </a:bodyPr>
          <a:lstStyle/>
          <a:p>
            <a:pPr algn="l"/>
            <a:r>
              <a:rPr sz="950" b="0" i="0">
                <a:solidFill>
                  <a:srgbClr val="B8C8E0"/>
                </a:solidFill>
                <a:latin typeface="Calibri"/>
              </a:rPr>
              <a:t>Bike count grows from 5K → 100K (20× via dealer-led acquisition).  Riders track at 40–50% of registered bikes.  B2B partners scale 3 → 10 → 30 as data network coverage compounds.  Fees and rates held constant — growth comes from volume, not price.</a:t>
            </a:r>
          </a:p>
        </p:txBody>
      </p:sp>
      <p:sp>
        <p:nvSpPr>
          <p:cNvPr id="76" name="Rectangle 75"/>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KMIA · KIDI · KOSTAT · FSS · Statista 2024 · Industry interviews and dealer benchmarks</a:t>
            </a:r>
          </a:p>
        </p:txBody>
      </p:sp>
      <p:sp>
        <p:nvSpPr>
          <p:cNvPr id="78" name="TextBox 77"/>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MONEY FLOWS</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Where the Money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What comes in · What goes out · Year 1 (realistic model from Section 5.9)</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531620"/>
            <a:ext cx="2606040" cy="274320"/>
          </a:xfrm>
          <a:prstGeom prst="rect">
            <a:avLst/>
          </a:prstGeom>
          <a:noFill/>
        </p:spPr>
        <p:txBody>
          <a:bodyPr wrap="square" lIns="0" tIns="0" rIns="0" bIns="0" anchor="t">
            <a:spAutoFit/>
          </a:bodyPr>
          <a:lstStyle/>
          <a:p>
            <a:pPr algn="l"/>
            <a:r>
              <a:rPr sz="1100" b="1" i="0">
                <a:solidFill>
                  <a:srgbClr val="9CC6FF"/>
                </a:solidFill>
                <a:latin typeface="Calibri"/>
              </a:rPr>
              <a:t>MONEY IN</a:t>
            </a:r>
          </a:p>
        </p:txBody>
      </p:sp>
      <p:sp>
        <p:nvSpPr>
          <p:cNvPr id="11" name="Rectangle 10"/>
          <p:cNvSpPr/>
          <p:nvPr/>
        </p:nvSpPr>
        <p:spPr>
          <a:xfrm>
            <a:off x="640080" y="180594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42832" y="1531620"/>
            <a:ext cx="2606040" cy="274320"/>
          </a:xfrm>
          <a:prstGeom prst="rect">
            <a:avLst/>
          </a:prstGeom>
          <a:noFill/>
        </p:spPr>
        <p:txBody>
          <a:bodyPr wrap="square" lIns="0" tIns="0" rIns="0" bIns="0" anchor="t">
            <a:spAutoFit/>
          </a:bodyPr>
          <a:lstStyle/>
          <a:p>
            <a:pPr algn="l"/>
            <a:r>
              <a:rPr sz="1100" b="1" i="0">
                <a:solidFill>
                  <a:srgbClr val="9CC6FF"/>
                </a:solidFill>
                <a:latin typeface="Calibri"/>
              </a:rPr>
              <a:t>MONEY OUT</a:t>
            </a:r>
          </a:p>
        </p:txBody>
      </p:sp>
      <p:sp>
        <p:nvSpPr>
          <p:cNvPr id="13" name="Rectangle 12"/>
          <p:cNvSpPr/>
          <p:nvPr/>
        </p:nvSpPr>
        <p:spPr>
          <a:xfrm>
            <a:off x="8942832" y="180594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663440" y="1760220"/>
            <a:ext cx="2834640" cy="2788920"/>
          </a:xfrm>
          <a:prstGeom prst="roundRect">
            <a:avLst/>
          </a:prstGeom>
          <a:noFill/>
          <a:ln w="12700">
            <a:solidFill>
              <a:srgbClr val="9CC6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00600" y="1897380"/>
            <a:ext cx="2560320" cy="2514600"/>
          </a:xfrm>
          <a:prstGeom prst="roundRect">
            <a:avLst/>
          </a:prstGeom>
          <a:solidFill>
            <a:srgbClr val="1A3F70"/>
          </a:solidFill>
          <a:ln w="317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37160" tIns="228600" rIns="137160" bIns="182880" rtlCol="0" anchor="ctr"/>
          <a:lstStyle/>
          <a:p>
            <a:pPr algn="ctr"/>
            <a:r>
              <a:rPr sz="1600" b="1" i="0">
                <a:solidFill>
                  <a:srgbClr val="EDF4FF"/>
                </a:solidFill>
                <a:latin typeface="Calibri"/>
              </a:rPr>
              <a:t>RIDETRUE</a:t>
            </a:r>
          </a:p>
          <a:p>
            <a:pPr algn="ctr"/>
            <a:r>
              <a:rPr sz="1100" b="1" i="0">
                <a:solidFill>
                  <a:srgbClr val="9CC6FF"/>
                </a:solidFill>
                <a:latin typeface="Calibri"/>
              </a:rPr>
              <a:t>INSURANCE POOL</a:t>
            </a:r>
          </a:p>
          <a:p>
            <a:pPr algn="ctr"/>
            <a:r>
              <a:rPr sz="600" b="0" i="0">
                <a:solidFill>
                  <a:srgbClr val="EDF4FF"/>
                </a:solidFill>
                <a:latin typeface="Calibri"/>
              </a:rPr>
              <a:t> </a:t>
            </a:r>
          </a:p>
          <a:p>
            <a:pPr algn="ctr"/>
            <a:r>
              <a:rPr sz="900" b="0" i="1">
                <a:solidFill>
                  <a:srgbClr val="B8C8E0"/>
                </a:solidFill>
                <a:latin typeface="Calibri"/>
              </a:rPr>
              <a:t>Year 1 total flow</a:t>
            </a:r>
          </a:p>
          <a:p>
            <a:pPr algn="ctr"/>
            <a:r>
              <a:rPr sz="2200" b="1" i="0">
                <a:solidFill>
                  <a:srgbClr val="27D8D8"/>
                </a:solidFill>
                <a:latin typeface="Calibri"/>
              </a:rPr>
              <a:t>₩5.25B</a:t>
            </a:r>
          </a:p>
          <a:p>
            <a:pPr algn="ctr"/>
            <a:r>
              <a:rPr sz="900" b="0" i="1">
                <a:solidFill>
                  <a:srgbClr val="B8C8E0"/>
                </a:solidFill>
                <a:latin typeface="Calibri"/>
              </a:rPr>
              <a:t>processed</a:t>
            </a:r>
          </a:p>
        </p:txBody>
      </p:sp>
      <p:sp>
        <p:nvSpPr>
          <p:cNvPr id="16" name="Rounded Rectangle 15"/>
          <p:cNvSpPr/>
          <p:nvPr/>
        </p:nvSpPr>
        <p:spPr>
          <a:xfrm>
            <a:off x="640080" y="194310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RIDER PREMIUMS</a:t>
            </a:r>
          </a:p>
          <a:p>
            <a:pPr algn="l"/>
            <a:r>
              <a:rPr sz="900">
                <a:solidFill>
                  <a:srgbClr val="C8DCFF"/>
                </a:solidFill>
                <a:latin typeface="Calibri"/>
              </a:rPr>
              <a:t>2,000 riders × ₩90K/mo  →  ₩2.16B</a:t>
            </a:r>
          </a:p>
        </p:txBody>
      </p:sp>
      <p:sp>
        <p:nvSpPr>
          <p:cNvPr id="17" name="Rounded Rectangle 16"/>
          <p:cNvSpPr/>
          <p:nvPr/>
        </p:nvSpPr>
        <p:spPr>
          <a:xfrm>
            <a:off x="640080" y="258318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LP POOL CAPITAL</a:t>
            </a:r>
          </a:p>
          <a:p>
            <a:pPr algn="l"/>
            <a:r>
              <a:rPr sz="900">
                <a:solidFill>
                  <a:srgbClr val="C8DCFF"/>
                </a:solidFill>
                <a:latin typeface="Calibri"/>
              </a:rPr>
              <a:t>Foundation + DeFi + institutional  →  ₩3.00B</a:t>
            </a:r>
          </a:p>
        </p:txBody>
      </p:sp>
      <p:sp>
        <p:nvSpPr>
          <p:cNvPr id="18" name="Rounded Rectangle 17"/>
          <p:cNvSpPr/>
          <p:nvPr/>
        </p:nvSpPr>
        <p:spPr>
          <a:xfrm>
            <a:off x="640080" y="322326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B2B DATA FEES</a:t>
            </a:r>
          </a:p>
          <a:p>
            <a:pPr algn="l"/>
            <a:r>
              <a:rPr sz="900">
                <a:solidFill>
                  <a:srgbClr val="C8DCFF"/>
                </a:solidFill>
                <a:latin typeface="Calibri"/>
              </a:rPr>
              <a:t>Insurers, lenders, marketplaces  →  ₩60M</a:t>
            </a:r>
          </a:p>
        </p:txBody>
      </p:sp>
      <p:sp>
        <p:nvSpPr>
          <p:cNvPr id="19" name="Rounded Rectangle 18"/>
          <p:cNvSpPr/>
          <p:nvPr/>
        </p:nvSpPr>
        <p:spPr>
          <a:xfrm>
            <a:off x="640080" y="386334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DEFI YIELD</a:t>
            </a:r>
          </a:p>
          <a:p>
            <a:pPr algn="l"/>
            <a:r>
              <a:rPr sz="900">
                <a:solidFill>
                  <a:srgbClr val="C8DCFF"/>
                </a:solidFill>
                <a:latin typeface="Calibri"/>
              </a:rPr>
              <a:t>Conservative returns on reserves  →  ₩30M</a:t>
            </a:r>
          </a:p>
        </p:txBody>
      </p:sp>
      <p:cxnSp>
        <p:nvCxnSpPr>
          <p:cNvPr id="20" name="Connector 19"/>
          <p:cNvCxnSpPr/>
          <p:nvPr/>
        </p:nvCxnSpPr>
        <p:spPr>
          <a:xfrm>
            <a:off x="3291840" y="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91840" y="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291840" y="315468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91840" y="315468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42832" y="194310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CLAIMS PAID TO RIDERS</a:t>
            </a:r>
          </a:p>
          <a:p>
            <a:pPr algn="l"/>
            <a:r>
              <a:rPr sz="900">
                <a:solidFill>
                  <a:srgbClr val="C8DCFF"/>
                </a:solidFill>
                <a:latin typeface="Calibri"/>
              </a:rPr>
              <a:t>Verified claims, paid in USDC  →  ₩750M</a:t>
            </a:r>
          </a:p>
        </p:txBody>
      </p:sp>
      <p:sp>
        <p:nvSpPr>
          <p:cNvPr id="25" name="Rounded Rectangle 24"/>
          <p:cNvSpPr/>
          <p:nvPr/>
        </p:nvSpPr>
        <p:spPr>
          <a:xfrm>
            <a:off x="8942832" y="258318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SAFE-RIDER REBATES</a:t>
            </a:r>
          </a:p>
          <a:p>
            <a:pPr algn="l"/>
            <a:r>
              <a:rPr sz="900">
                <a:solidFill>
                  <a:srgbClr val="C8DCFF"/>
                </a:solidFill>
                <a:latin typeface="Calibri"/>
              </a:rPr>
              <a:t>Returned to claim-free riders  →  ₩216M</a:t>
            </a:r>
          </a:p>
        </p:txBody>
      </p:sp>
      <p:sp>
        <p:nvSpPr>
          <p:cNvPr id="26" name="Rounded Rectangle 25"/>
          <p:cNvSpPr/>
          <p:nvPr/>
        </p:nvSpPr>
        <p:spPr>
          <a:xfrm>
            <a:off x="8942832" y="322326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RESERVES &amp; REINSURANCE</a:t>
            </a:r>
          </a:p>
          <a:p>
            <a:pPr algn="l"/>
            <a:r>
              <a:rPr sz="900">
                <a:solidFill>
                  <a:srgbClr val="C8DCFF"/>
                </a:solidFill>
                <a:latin typeface="Calibri"/>
              </a:rPr>
              <a:t>Catastrophe + liquidity buffer  →  ₩1.19B</a:t>
            </a:r>
          </a:p>
        </p:txBody>
      </p:sp>
      <p:sp>
        <p:nvSpPr>
          <p:cNvPr id="27" name="Rounded Rectangle 26"/>
          <p:cNvSpPr/>
          <p:nvPr/>
        </p:nvSpPr>
        <p:spPr>
          <a:xfrm>
            <a:off x="8942832" y="386334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TEAM &amp; OPERATIONS</a:t>
            </a:r>
          </a:p>
          <a:p>
            <a:pPr algn="l"/>
            <a:r>
              <a:rPr sz="900">
                <a:solidFill>
                  <a:srgbClr val="C8DCFF"/>
                </a:solidFill>
                <a:latin typeface="Calibri"/>
              </a:rPr>
              <a:t>Engineering, audits, BD, security  →  ₩1.80B</a:t>
            </a:r>
          </a:p>
        </p:txBody>
      </p:sp>
      <p:cxnSp>
        <p:nvCxnSpPr>
          <p:cNvPr id="28" name="Connector 27"/>
          <p:cNvCxnSpPr/>
          <p:nvPr/>
        </p:nvCxnSpPr>
        <p:spPr>
          <a:xfrm flipV="1">
            <a:off x="0" y="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0" y="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315468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5468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40080" y="4937760"/>
            <a:ext cx="10908792" cy="1691640"/>
          </a:xfrm>
          <a:prstGeom prst="roundRect">
            <a:avLst/>
          </a:prstGeom>
          <a:solidFill>
            <a:srgbClr val="0D1625"/>
          </a:solid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5120640"/>
            <a:ext cx="54864" cy="137160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102352"/>
            <a:ext cx="4572000" cy="256032"/>
          </a:xfrm>
          <a:prstGeom prst="rect">
            <a:avLst/>
          </a:prstGeom>
          <a:noFill/>
        </p:spPr>
        <p:txBody>
          <a:bodyPr wrap="square" lIns="0" tIns="0" rIns="0" bIns="0" anchor="t">
            <a:spAutoFit/>
          </a:bodyPr>
          <a:lstStyle/>
          <a:p>
            <a:pPr algn="l"/>
            <a:r>
              <a:rPr sz="1000" b="1" i="0">
                <a:solidFill>
                  <a:srgbClr val="9CC6FF"/>
                </a:solidFill>
                <a:latin typeface="Calibri"/>
              </a:rPr>
              <a:t>EXAMPLE  ·  ONE RIDER  ·  ONE YEAR</a:t>
            </a:r>
          </a:p>
        </p:txBody>
      </p:sp>
      <p:sp>
        <p:nvSpPr>
          <p:cNvPr id="35" name="TextBox 34"/>
          <p:cNvSpPr txBox="1"/>
          <p:nvPr/>
        </p:nvSpPr>
        <p:spPr>
          <a:xfrm>
            <a:off x="914400" y="5349240"/>
            <a:ext cx="4572000" cy="292608"/>
          </a:xfrm>
          <a:prstGeom prst="rect">
            <a:avLst/>
          </a:prstGeom>
          <a:noFill/>
        </p:spPr>
        <p:txBody>
          <a:bodyPr wrap="square" lIns="0" tIns="0" rIns="0" bIns="0" anchor="t">
            <a:spAutoFit/>
          </a:bodyPr>
          <a:lstStyle/>
          <a:p>
            <a:pPr algn="l"/>
            <a:r>
              <a:rPr sz="1400" b="1" i="0">
                <a:solidFill>
                  <a:srgbClr val="EDF4FF"/>
                </a:solidFill>
                <a:latin typeface="Calibri"/>
              </a:rPr>
              <a:t>Ji-min · 28 · delivery rider · Seoul</a:t>
            </a:r>
          </a:p>
        </p:txBody>
      </p:sp>
      <p:sp>
        <p:nvSpPr>
          <p:cNvPr id="36" name="TextBox 35"/>
          <p:cNvSpPr txBox="1"/>
          <p:nvPr/>
        </p:nvSpPr>
        <p:spPr>
          <a:xfrm>
            <a:off x="914400" y="5650992"/>
            <a:ext cx="4572000" cy="274320"/>
          </a:xfrm>
          <a:prstGeom prst="rect">
            <a:avLst/>
          </a:prstGeom>
          <a:noFill/>
        </p:spPr>
        <p:txBody>
          <a:bodyPr wrap="square" lIns="0" tIns="0" rIns="0" bIns="0" anchor="t">
            <a:spAutoFit/>
          </a:bodyPr>
          <a:lstStyle/>
          <a:p>
            <a:pPr algn="l"/>
            <a:r>
              <a:rPr sz="1000" b="0" i="1">
                <a:solidFill>
                  <a:srgbClr val="B8C8E0"/>
                </a:solidFill>
                <a:latin typeface="Calibri"/>
              </a:rPr>
              <a:t>Safety score 92/100 · top quartile · zero claims Y1</a:t>
            </a:r>
          </a:p>
        </p:txBody>
      </p:sp>
      <p:sp>
        <p:nvSpPr>
          <p:cNvPr id="37" name="TextBox 36"/>
          <p:cNvSpPr txBox="1"/>
          <p:nvPr/>
        </p:nvSpPr>
        <p:spPr>
          <a:xfrm>
            <a:off x="914400" y="6108192"/>
            <a:ext cx="10058400" cy="457200"/>
          </a:xfrm>
          <a:prstGeom prst="rect">
            <a:avLst/>
          </a:prstGeom>
          <a:noFill/>
        </p:spPr>
        <p:txBody>
          <a:bodyPr wrap="square" lIns="0" tIns="0" rIns="0" bIns="0" anchor="t">
            <a:spAutoFit/>
          </a:bodyPr>
          <a:lstStyle/>
          <a:p>
            <a:pPr algn="l"/>
            <a:r>
              <a:rPr sz="1000" b="0" i="1">
                <a:solidFill>
                  <a:srgbClr val="9CC6FF"/>
                </a:solidFill>
                <a:latin typeface="Calibri"/>
              </a:rPr>
              <a:t>vs. comparable Korean motorcycle policy  ₩1.0M–₩1.4M  →  fairer pricing, portable behavior score, and claims paid on-chain in days.</a:t>
            </a:r>
          </a:p>
        </p:txBody>
      </p:sp>
      <p:sp>
        <p:nvSpPr>
          <p:cNvPr id="38" name="Rounded Rectangle 37"/>
          <p:cNvSpPr/>
          <p:nvPr/>
        </p:nvSpPr>
        <p:spPr>
          <a:xfrm>
            <a:off x="409651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3367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PAID IN</a:t>
            </a:r>
          </a:p>
        </p:txBody>
      </p:sp>
      <p:sp>
        <p:nvSpPr>
          <p:cNvPr id="40" name="TextBox 39"/>
          <p:cNvSpPr txBox="1"/>
          <p:nvPr/>
        </p:nvSpPr>
        <p:spPr>
          <a:xfrm>
            <a:off x="4233672" y="5449824"/>
            <a:ext cx="2011680" cy="411480"/>
          </a:xfrm>
          <a:prstGeom prst="rect">
            <a:avLst/>
          </a:prstGeom>
          <a:noFill/>
        </p:spPr>
        <p:txBody>
          <a:bodyPr wrap="square" lIns="0" tIns="0" rIns="0" bIns="0" anchor="t">
            <a:spAutoFit/>
          </a:bodyPr>
          <a:lstStyle/>
          <a:p>
            <a:pPr algn="l"/>
            <a:r>
              <a:rPr sz="2000" b="1" i="0">
                <a:solidFill>
                  <a:srgbClr val="EDF4FF"/>
                </a:solidFill>
                <a:latin typeface="Calibri"/>
              </a:rPr>
              <a:t>₩1,080,000</a:t>
            </a:r>
          </a:p>
        </p:txBody>
      </p:sp>
      <p:sp>
        <p:nvSpPr>
          <p:cNvPr id="41" name="TextBox 40"/>
          <p:cNvSpPr txBox="1"/>
          <p:nvPr/>
        </p:nvSpPr>
        <p:spPr>
          <a:xfrm>
            <a:off x="423367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₩90,000 × 12 months</a:t>
            </a:r>
          </a:p>
        </p:txBody>
      </p:sp>
      <p:sp>
        <p:nvSpPr>
          <p:cNvPr id="42" name="Rounded Rectangle 41"/>
          <p:cNvSpPr/>
          <p:nvPr/>
        </p:nvSpPr>
        <p:spPr>
          <a:xfrm>
            <a:off x="651967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5683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RECEIVED BACK</a:t>
            </a:r>
          </a:p>
        </p:txBody>
      </p:sp>
      <p:sp>
        <p:nvSpPr>
          <p:cNvPr id="44" name="TextBox 43"/>
          <p:cNvSpPr txBox="1"/>
          <p:nvPr/>
        </p:nvSpPr>
        <p:spPr>
          <a:xfrm>
            <a:off x="6656832" y="5449824"/>
            <a:ext cx="2011680" cy="411480"/>
          </a:xfrm>
          <a:prstGeom prst="rect">
            <a:avLst/>
          </a:prstGeom>
          <a:noFill/>
        </p:spPr>
        <p:txBody>
          <a:bodyPr wrap="square" lIns="0" tIns="0" rIns="0" bIns="0" anchor="t">
            <a:spAutoFit/>
          </a:bodyPr>
          <a:lstStyle/>
          <a:p>
            <a:pPr algn="l"/>
            <a:r>
              <a:rPr sz="2000" b="1" i="0">
                <a:solidFill>
                  <a:srgbClr val="EDF4FF"/>
                </a:solidFill>
                <a:latin typeface="Calibri"/>
              </a:rPr>
              <a:t>₩180,000</a:t>
            </a:r>
          </a:p>
        </p:txBody>
      </p:sp>
      <p:sp>
        <p:nvSpPr>
          <p:cNvPr id="45" name="TextBox 44"/>
          <p:cNvSpPr txBox="1"/>
          <p:nvPr/>
        </p:nvSpPr>
        <p:spPr>
          <a:xfrm>
            <a:off x="665683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Safe-rider rebate (top quartile)</a:t>
            </a:r>
          </a:p>
        </p:txBody>
      </p:sp>
      <p:sp>
        <p:nvSpPr>
          <p:cNvPr id="46" name="Rounded Rectangle 45"/>
          <p:cNvSpPr/>
          <p:nvPr/>
        </p:nvSpPr>
        <p:spPr>
          <a:xfrm>
            <a:off x="894283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07999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NET PREMIUM</a:t>
            </a:r>
          </a:p>
        </p:txBody>
      </p:sp>
      <p:sp>
        <p:nvSpPr>
          <p:cNvPr id="48" name="TextBox 47"/>
          <p:cNvSpPr txBox="1"/>
          <p:nvPr/>
        </p:nvSpPr>
        <p:spPr>
          <a:xfrm>
            <a:off x="9079992" y="5449824"/>
            <a:ext cx="2011680" cy="411480"/>
          </a:xfrm>
          <a:prstGeom prst="rect">
            <a:avLst/>
          </a:prstGeom>
          <a:noFill/>
        </p:spPr>
        <p:txBody>
          <a:bodyPr wrap="square" lIns="0" tIns="0" rIns="0" bIns="0" anchor="t">
            <a:spAutoFit/>
          </a:bodyPr>
          <a:lstStyle/>
          <a:p>
            <a:pPr algn="l"/>
            <a:r>
              <a:rPr sz="2000" b="1" i="0">
                <a:solidFill>
                  <a:srgbClr val="FFBF56"/>
                </a:solidFill>
                <a:latin typeface="Calibri"/>
              </a:rPr>
              <a:t>₩900,000</a:t>
            </a:r>
          </a:p>
        </p:txBody>
      </p:sp>
      <p:sp>
        <p:nvSpPr>
          <p:cNvPr id="49" name="TextBox 48"/>
          <p:cNvSpPr txBox="1"/>
          <p:nvPr/>
        </p:nvSpPr>
        <p:spPr>
          <a:xfrm>
            <a:off x="907999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for full-year coverage</a:t>
            </a:r>
          </a:p>
        </p:txBody>
      </p:sp>
      <p:sp>
        <p:nvSpPr>
          <p:cNvPr id="50" name="Rectangle 49"/>
          <p:cNvSpPr/>
          <p:nvPr/>
        </p:nvSpPr>
        <p:spPr>
          <a:xfrm>
            <a:off x="640080" y="6675120"/>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 y="6729984"/>
            <a:ext cx="7315200" cy="164592"/>
          </a:xfrm>
          <a:prstGeom prst="rect">
            <a:avLst/>
          </a:prstGeom>
          <a:noFill/>
        </p:spPr>
        <p:txBody>
          <a:bodyPr wrap="square" lIns="0" tIns="0" rIns="0" bIns="0" anchor="t">
            <a:spAutoFit/>
          </a:bodyPr>
          <a:lstStyle/>
          <a:p>
            <a:pPr algn="l"/>
            <a:r>
              <a:rPr sz="850" b="0" i="1">
                <a:solidFill>
                  <a:srgbClr val="9CC6FF"/>
                </a:solidFill>
                <a:latin typeface="Calibri"/>
              </a:rPr>
              <a:t>Stress-tested model · 15% claim frequency · ₩2.5M average severity</a:t>
            </a:r>
          </a:p>
        </p:txBody>
      </p:sp>
      <p:sp>
        <p:nvSpPr>
          <p:cNvPr id="52" name="TextBox 51"/>
          <p:cNvSpPr txBox="1"/>
          <p:nvPr/>
        </p:nvSpPr>
        <p:spPr>
          <a:xfrm>
            <a:off x="9601200" y="6729984"/>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STRESS TESTING &amp; BLACK SWAN PLAN</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Built to Survive</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Nine safeguards across three layers — what keeps the pool standing when many claims hit at once</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20240"/>
            <a:ext cx="11183112" cy="256032"/>
          </a:xfrm>
          <a:prstGeom prst="rect">
            <a:avLst/>
          </a:prstGeom>
          <a:noFill/>
        </p:spPr>
        <p:txBody>
          <a:bodyPr wrap="none" lIns="0" tIns="0" rIns="0" bIns="0" anchor="t">
            <a:spAutoFit/>
          </a:bodyPr>
          <a:lstStyle/>
          <a:p>
            <a:pPr algn="l"/>
            <a:r>
              <a:rPr sz="1100" b="1">
                <a:solidFill>
                  <a:srgbClr val="9CC6FF"/>
                </a:solidFill>
                <a:latin typeface="Calibri"/>
              </a:rPr>
              <a:t>1.  RESERVE LAYERS</a:t>
            </a:r>
            <a:r>
              <a:rPr sz="1000" i="1">
                <a:solidFill>
                  <a:srgbClr val="9CC6FF"/>
                </a:solidFill>
                <a:latin typeface="Calibri"/>
              </a:rPr>
              <a:t>    capital buffers built before anything goes wrong</a:t>
            </a:r>
          </a:p>
        </p:txBody>
      </p:sp>
      <p:sp>
        <p:nvSpPr>
          <p:cNvPr id="11" name="Rectangle 10"/>
          <p:cNvSpPr/>
          <p:nvPr/>
        </p:nvSpPr>
        <p:spPr>
          <a:xfrm>
            <a:off x="50292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67512"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01</a:t>
            </a:r>
          </a:p>
        </p:txBody>
      </p:sp>
      <p:sp>
        <p:nvSpPr>
          <p:cNvPr id="14" name="TextBox 13"/>
          <p:cNvSpPr txBox="1"/>
          <p:nvPr/>
        </p:nvSpPr>
        <p:spPr>
          <a:xfrm>
            <a:off x="1143000"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LIQUID RESERVE</a:t>
            </a:r>
          </a:p>
        </p:txBody>
      </p:sp>
      <p:sp>
        <p:nvSpPr>
          <p:cNvPr id="15" name="TextBox 14"/>
          <p:cNvSpPr txBox="1"/>
          <p:nvPr/>
        </p:nvSpPr>
        <p:spPr>
          <a:xfrm>
            <a:off x="685800"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≥25% of pool always liquid. Never deployed to DeFi yield.</a:t>
            </a:r>
          </a:p>
        </p:txBody>
      </p:sp>
      <p:sp>
        <p:nvSpPr>
          <p:cNvPr id="16" name="Rounded Rectangle 15"/>
          <p:cNvSpPr/>
          <p:nvPr/>
        </p:nvSpPr>
        <p:spPr>
          <a:xfrm>
            <a:off x="2849880"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25%</a:t>
            </a:r>
          </a:p>
        </p:txBody>
      </p:sp>
      <p:sp>
        <p:nvSpPr>
          <p:cNvPr id="17" name="Rounded Rectangle 16"/>
          <p:cNvSpPr/>
          <p:nvPr/>
        </p:nvSpPr>
        <p:spPr>
          <a:xfrm>
            <a:off x="4285488"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450080"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02</a:t>
            </a:r>
          </a:p>
        </p:txBody>
      </p:sp>
      <p:sp>
        <p:nvSpPr>
          <p:cNvPr id="19" name="TextBox 18"/>
          <p:cNvSpPr txBox="1"/>
          <p:nvPr/>
        </p:nvSpPr>
        <p:spPr>
          <a:xfrm>
            <a:off x="4925568"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CATASTROPHE RESERVE</a:t>
            </a:r>
          </a:p>
        </p:txBody>
      </p:sp>
      <p:sp>
        <p:nvSpPr>
          <p:cNvPr id="20" name="TextBox 19"/>
          <p:cNvSpPr txBox="1"/>
          <p:nvPr/>
        </p:nvSpPr>
        <p:spPr>
          <a:xfrm>
            <a:off x="4468368"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20% of every premium routed aside. Used only in extreme events.</a:t>
            </a:r>
          </a:p>
        </p:txBody>
      </p:sp>
      <p:sp>
        <p:nvSpPr>
          <p:cNvPr id="21" name="Rounded Rectangle 20"/>
          <p:cNvSpPr/>
          <p:nvPr/>
        </p:nvSpPr>
        <p:spPr>
          <a:xfrm>
            <a:off x="6632448"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20%</a:t>
            </a:r>
          </a:p>
        </p:txBody>
      </p:sp>
      <p:sp>
        <p:nvSpPr>
          <p:cNvPr id="22" name="Rounded Rectangle 21"/>
          <p:cNvSpPr/>
          <p:nvPr/>
        </p:nvSpPr>
        <p:spPr>
          <a:xfrm>
            <a:off x="8068056"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32648"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03</a:t>
            </a:r>
          </a:p>
        </p:txBody>
      </p:sp>
      <p:sp>
        <p:nvSpPr>
          <p:cNvPr id="24" name="TextBox 23"/>
          <p:cNvSpPr txBox="1"/>
          <p:nvPr/>
        </p:nvSpPr>
        <p:spPr>
          <a:xfrm>
            <a:off x="8708136"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REINSURANCE BACKSTOP</a:t>
            </a:r>
          </a:p>
        </p:txBody>
      </p:sp>
      <p:sp>
        <p:nvSpPr>
          <p:cNvPr id="25" name="TextBox 24"/>
          <p:cNvSpPr txBox="1"/>
          <p:nvPr/>
        </p:nvSpPr>
        <p:spPr>
          <a:xfrm>
            <a:off x="8250936"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External partner covers tail risk above pool capacity. Required before launch.</a:t>
            </a:r>
          </a:p>
        </p:txBody>
      </p:sp>
      <p:sp>
        <p:nvSpPr>
          <p:cNvPr id="26" name="Rounded Rectangle 25"/>
          <p:cNvSpPr/>
          <p:nvPr/>
        </p:nvSpPr>
        <p:spPr>
          <a:xfrm>
            <a:off x="10415016"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Tail risk</a:t>
            </a:r>
          </a:p>
        </p:txBody>
      </p:sp>
      <p:sp>
        <p:nvSpPr>
          <p:cNvPr id="27" name="TextBox 26"/>
          <p:cNvSpPr txBox="1"/>
          <p:nvPr/>
        </p:nvSpPr>
        <p:spPr>
          <a:xfrm>
            <a:off x="502920" y="3419856"/>
            <a:ext cx="11183112" cy="256032"/>
          </a:xfrm>
          <a:prstGeom prst="rect">
            <a:avLst/>
          </a:prstGeom>
          <a:noFill/>
        </p:spPr>
        <p:txBody>
          <a:bodyPr wrap="none" lIns="0" tIns="0" rIns="0" bIns="0" anchor="t">
            <a:spAutoFit/>
          </a:bodyPr>
          <a:lstStyle/>
          <a:p>
            <a:pPr algn="l"/>
            <a:r>
              <a:rPr sz="1100" b="1">
                <a:solidFill>
                  <a:srgbClr val="9CC6FF"/>
                </a:solidFill>
                <a:latin typeface="Calibri"/>
              </a:rPr>
              <a:t>2.  AUTOMATIC SAFEGUARDS</a:t>
            </a:r>
            <a:r>
              <a:rPr sz="1000" i="1">
                <a:solidFill>
                  <a:srgbClr val="9CC6FF"/>
                </a:solidFill>
                <a:latin typeface="Calibri"/>
              </a:rPr>
              <a:t>    always-on rules baked into the smart contracts</a:t>
            </a:r>
          </a:p>
        </p:txBody>
      </p:sp>
      <p:sp>
        <p:nvSpPr>
          <p:cNvPr id="28" name="Rectangle 27"/>
          <p:cNvSpPr/>
          <p:nvPr/>
        </p:nvSpPr>
        <p:spPr>
          <a:xfrm>
            <a:off x="502920" y="3621024"/>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02920"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67512"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04</a:t>
            </a:r>
          </a:p>
        </p:txBody>
      </p:sp>
      <p:sp>
        <p:nvSpPr>
          <p:cNvPr id="31" name="TextBox 30"/>
          <p:cNvSpPr txBox="1"/>
          <p:nvPr/>
        </p:nvSpPr>
        <p:spPr>
          <a:xfrm>
            <a:off x="1143000"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CIRCUIT BREAKER</a:t>
            </a:r>
          </a:p>
        </p:txBody>
      </p:sp>
      <p:sp>
        <p:nvSpPr>
          <p:cNvPr id="32" name="TextBox 31"/>
          <p:cNvSpPr txBox="1"/>
          <p:nvPr/>
        </p:nvSpPr>
        <p:spPr>
          <a:xfrm>
            <a:off x="685800"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Auto-triggers emergency mode on claim spikes, low reserves, disaster zones, or 3× volume.</a:t>
            </a:r>
          </a:p>
        </p:txBody>
      </p:sp>
      <p:sp>
        <p:nvSpPr>
          <p:cNvPr id="33" name="Rounded Rectangle 32"/>
          <p:cNvSpPr/>
          <p:nvPr/>
        </p:nvSpPr>
        <p:spPr>
          <a:xfrm>
            <a:off x="2849880"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4 triggers</a:t>
            </a:r>
          </a:p>
        </p:txBody>
      </p:sp>
      <p:sp>
        <p:nvSpPr>
          <p:cNvPr id="34" name="Rounded Rectangle 33"/>
          <p:cNvSpPr/>
          <p:nvPr/>
        </p:nvSpPr>
        <p:spPr>
          <a:xfrm>
            <a:off x="4285488"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450080"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05</a:t>
            </a:r>
          </a:p>
        </p:txBody>
      </p:sp>
      <p:sp>
        <p:nvSpPr>
          <p:cNvPr id="36" name="TextBox 35"/>
          <p:cNvSpPr txBox="1"/>
          <p:nvPr/>
        </p:nvSpPr>
        <p:spPr>
          <a:xfrm>
            <a:off x="4925568"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COVERAGE CAPS</a:t>
            </a:r>
          </a:p>
        </p:txBody>
      </p:sp>
      <p:sp>
        <p:nvSpPr>
          <p:cNvPr id="37" name="TextBox 36"/>
          <p:cNvSpPr txBox="1"/>
          <p:nvPr/>
        </p:nvSpPr>
        <p:spPr>
          <a:xfrm>
            <a:off x="4468368"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Max ₩5M for normal claims, ₩3M for catastrophes. Clear exclusions on force majeure.</a:t>
            </a:r>
          </a:p>
        </p:txBody>
      </p:sp>
      <p:sp>
        <p:nvSpPr>
          <p:cNvPr id="38" name="Rounded Rectangle 37"/>
          <p:cNvSpPr/>
          <p:nvPr/>
        </p:nvSpPr>
        <p:spPr>
          <a:xfrm>
            <a:off x="6632448"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₩5M / ₩3M</a:t>
            </a:r>
          </a:p>
        </p:txBody>
      </p:sp>
      <p:sp>
        <p:nvSpPr>
          <p:cNvPr id="39" name="Rounded Rectangle 38"/>
          <p:cNvSpPr/>
          <p:nvPr/>
        </p:nvSpPr>
        <p:spPr>
          <a:xfrm>
            <a:off x="8068056"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232648"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06</a:t>
            </a:r>
          </a:p>
        </p:txBody>
      </p:sp>
      <p:sp>
        <p:nvSpPr>
          <p:cNvPr id="41" name="TextBox 40"/>
          <p:cNvSpPr txBox="1"/>
          <p:nvPr/>
        </p:nvSpPr>
        <p:spPr>
          <a:xfrm>
            <a:off x="8708136"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CONSERVATIVE YIELD</a:t>
            </a:r>
          </a:p>
        </p:txBody>
      </p:sp>
      <p:sp>
        <p:nvSpPr>
          <p:cNvPr id="42" name="TextBox 41"/>
          <p:cNvSpPr txBox="1"/>
          <p:nvPr/>
        </p:nvSpPr>
        <p:spPr>
          <a:xfrm>
            <a:off x="8250936"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Max 10–15% of pool deployed to DeFi. Blue-chip protocols only. Always withdrawable.</a:t>
            </a:r>
          </a:p>
        </p:txBody>
      </p:sp>
      <p:sp>
        <p:nvSpPr>
          <p:cNvPr id="43" name="Rounded Rectangle 42"/>
          <p:cNvSpPr/>
          <p:nvPr/>
        </p:nvSpPr>
        <p:spPr>
          <a:xfrm>
            <a:off x="10415016"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10–15%</a:t>
            </a:r>
          </a:p>
        </p:txBody>
      </p:sp>
      <p:sp>
        <p:nvSpPr>
          <p:cNvPr id="44" name="TextBox 43"/>
          <p:cNvSpPr txBox="1"/>
          <p:nvPr/>
        </p:nvSpPr>
        <p:spPr>
          <a:xfrm>
            <a:off x="502920" y="4919472"/>
            <a:ext cx="11183112" cy="256032"/>
          </a:xfrm>
          <a:prstGeom prst="rect">
            <a:avLst/>
          </a:prstGeom>
          <a:noFill/>
        </p:spPr>
        <p:txBody>
          <a:bodyPr wrap="none" lIns="0" tIns="0" rIns="0" bIns="0" anchor="t">
            <a:spAutoFit/>
          </a:bodyPr>
          <a:lstStyle/>
          <a:p>
            <a:pPr algn="l"/>
            <a:r>
              <a:rPr sz="1100" b="1">
                <a:solidFill>
                  <a:srgbClr val="9CC6FF"/>
                </a:solidFill>
                <a:latin typeface="Calibri"/>
              </a:rPr>
              <a:t>3.  CRISIS PLAYBOOK</a:t>
            </a:r>
            <a:r>
              <a:rPr sz="1000" i="1">
                <a:solidFill>
                  <a:srgbClr val="9CC6FF"/>
                </a:solidFill>
                <a:latin typeface="Calibri"/>
              </a:rPr>
              <a:t>    what happens when a black swan actually hits</a:t>
            </a:r>
          </a:p>
        </p:txBody>
      </p:sp>
      <p:sp>
        <p:nvSpPr>
          <p:cNvPr id="45" name="Rectangle 44"/>
          <p:cNvSpPr/>
          <p:nvPr/>
        </p:nvSpPr>
        <p:spPr>
          <a:xfrm>
            <a:off x="502920" y="5120640"/>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02920"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67512"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07</a:t>
            </a:r>
          </a:p>
        </p:txBody>
      </p:sp>
      <p:sp>
        <p:nvSpPr>
          <p:cNvPr id="48" name="TextBox 47"/>
          <p:cNvSpPr txBox="1"/>
          <p:nvPr/>
        </p:nvSpPr>
        <p:spPr>
          <a:xfrm>
            <a:off x="1143000"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STAGED PAYOUTS</a:t>
            </a:r>
          </a:p>
        </p:txBody>
      </p:sp>
      <p:sp>
        <p:nvSpPr>
          <p:cNvPr id="49" name="TextBox 48"/>
          <p:cNvSpPr txBox="1"/>
          <p:nvPr/>
        </p:nvSpPr>
        <p:spPr>
          <a:xfrm>
            <a:off x="685800"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Emergency mode: 50% paid immediately, 50% over 3–6 months as liquidity returns.</a:t>
            </a:r>
          </a:p>
        </p:txBody>
      </p:sp>
      <p:sp>
        <p:nvSpPr>
          <p:cNvPr id="50" name="Rounded Rectangle 49"/>
          <p:cNvSpPr/>
          <p:nvPr/>
        </p:nvSpPr>
        <p:spPr>
          <a:xfrm>
            <a:off x="2849880"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50% / 50%</a:t>
            </a:r>
          </a:p>
        </p:txBody>
      </p:sp>
      <p:sp>
        <p:nvSpPr>
          <p:cNvPr id="51" name="Rounded Rectangle 50"/>
          <p:cNvSpPr/>
          <p:nvPr/>
        </p:nvSpPr>
        <p:spPr>
          <a:xfrm>
            <a:off x="4285488"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450080"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08</a:t>
            </a:r>
          </a:p>
        </p:txBody>
      </p:sp>
      <p:sp>
        <p:nvSpPr>
          <p:cNvPr id="53" name="TextBox 52"/>
          <p:cNvSpPr txBox="1"/>
          <p:nvPr/>
        </p:nvSpPr>
        <p:spPr>
          <a:xfrm>
            <a:off x="4925568"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PRO-RATA SHARING</a:t>
            </a:r>
          </a:p>
        </p:txBody>
      </p:sp>
      <p:sp>
        <p:nvSpPr>
          <p:cNvPr id="54" name="TextBox 53"/>
          <p:cNvSpPr txBox="1"/>
          <p:nvPr/>
        </p:nvSpPr>
        <p:spPr>
          <a:xfrm>
            <a:off x="4468368"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If pool is short, everyone receives a proportional share. Fair and transparent.</a:t>
            </a:r>
          </a:p>
        </p:txBody>
      </p:sp>
      <p:sp>
        <p:nvSpPr>
          <p:cNvPr id="55" name="Rounded Rectangle 54"/>
          <p:cNvSpPr/>
          <p:nvPr/>
        </p:nvSpPr>
        <p:spPr>
          <a:xfrm>
            <a:off x="6632448"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Fair share</a:t>
            </a:r>
          </a:p>
        </p:txBody>
      </p:sp>
      <p:sp>
        <p:nvSpPr>
          <p:cNvPr id="56" name="Rounded Rectangle 55"/>
          <p:cNvSpPr/>
          <p:nvPr/>
        </p:nvSpPr>
        <p:spPr>
          <a:xfrm>
            <a:off x="8068056"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8232648"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09</a:t>
            </a:r>
          </a:p>
        </p:txBody>
      </p:sp>
      <p:sp>
        <p:nvSpPr>
          <p:cNvPr id="58" name="TextBox 57"/>
          <p:cNvSpPr txBox="1"/>
          <p:nvPr/>
        </p:nvSpPr>
        <p:spPr>
          <a:xfrm>
            <a:off x="8708136"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PREMIUM ADJUSTMENT</a:t>
            </a:r>
          </a:p>
        </p:txBody>
      </p:sp>
      <p:sp>
        <p:nvSpPr>
          <p:cNvPr id="59" name="TextBox 58"/>
          <p:cNvSpPr txBox="1"/>
          <p:nvPr/>
        </p:nvSpPr>
        <p:spPr>
          <a:xfrm>
            <a:off x="8250936"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Post-shock: 10–20% temporary increase to rebuild reserves. Capped to protect riders.</a:t>
            </a:r>
          </a:p>
        </p:txBody>
      </p:sp>
      <p:sp>
        <p:nvSpPr>
          <p:cNvPr id="60" name="Rounded Rectangle 59"/>
          <p:cNvSpPr/>
          <p:nvPr/>
        </p:nvSpPr>
        <p:spPr>
          <a:xfrm>
            <a:off x="10415016"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+10–20%</a:t>
            </a:r>
          </a:p>
        </p:txBody>
      </p:sp>
      <p:sp>
        <p:nvSpPr>
          <p:cNvPr id="61" name="Rectangle 60"/>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6656832"/>
            <a:ext cx="8229600" cy="182880"/>
          </a:xfrm>
          <a:prstGeom prst="rect">
            <a:avLst/>
          </a:prstGeom>
          <a:noFill/>
        </p:spPr>
        <p:txBody>
          <a:bodyPr wrap="square" lIns="0" tIns="0" rIns="0" bIns="0" anchor="t">
            <a:spAutoFit/>
          </a:bodyPr>
          <a:lstStyle/>
          <a:p>
            <a:pPr algn="l"/>
            <a:r>
              <a:rPr sz="900" b="0" i="1">
                <a:solidFill>
                  <a:srgbClr val="9CC6FF"/>
                </a:solidFill>
                <a:latin typeface="Calibri"/>
              </a:rPr>
              <a:t>Korean typhoons are base-case events, not tail events — calibrated accordingly</a:t>
            </a:r>
          </a:p>
        </p:txBody>
      </p:sp>
      <p:sp>
        <p:nvSpPr>
          <p:cNvPr id="63" name="TextBox 62"/>
          <p:cNvSpPr txBox="1"/>
          <p:nvPr/>
        </p:nvSpPr>
        <p:spPr>
          <a:xfrm>
            <a:off x="9601200" y="6656832"/>
            <a:ext cx="2286000" cy="182880"/>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TOKEN DESIGN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$MOTO Token Specs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Four core parameters — and why each one was chosen</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to_logo.png"/>
          <p:cNvPicPr>
            <a:picLocks noChangeAspect="1"/>
          </p:cNvPicPr>
          <p:nvPr/>
        </p:nvPicPr>
        <p:blipFill>
          <a:blip r:embed="rId2"/>
          <a:stretch>
            <a:fillRect/>
          </a:stretch>
        </p:blipFill>
        <p:spPr>
          <a:xfrm>
            <a:off x="10561320" y="411480"/>
            <a:ext cx="960120" cy="960120"/>
          </a:xfrm>
          <a:prstGeom prst="rect">
            <a:avLst/>
          </a:prstGeom>
        </p:spPr>
      </p:pic>
      <p:sp>
        <p:nvSpPr>
          <p:cNvPr id="11" name="Rounded Rectangle 10"/>
          <p:cNvSpPr/>
          <p:nvPr/>
        </p:nvSpPr>
        <p:spPr>
          <a:xfrm>
            <a:off x="502920" y="1874519"/>
            <a:ext cx="5577840" cy="210312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039111"/>
            <a:ext cx="54864" cy="177393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039111"/>
            <a:ext cx="5212080" cy="201168"/>
          </a:xfrm>
          <a:prstGeom prst="rect">
            <a:avLst/>
          </a:prstGeom>
          <a:noFill/>
        </p:spPr>
        <p:txBody>
          <a:bodyPr wrap="square" lIns="0" tIns="0" rIns="0" bIns="0" anchor="t">
            <a:spAutoFit/>
          </a:bodyPr>
          <a:lstStyle/>
          <a:p>
            <a:pPr algn="l"/>
            <a:r>
              <a:rPr sz="1000" b="1" i="0">
                <a:solidFill>
                  <a:srgbClr val="9CC6FF"/>
                </a:solidFill>
                <a:latin typeface="Calibri"/>
              </a:rPr>
              <a:t>WORKING NAME</a:t>
            </a:r>
          </a:p>
        </p:txBody>
      </p:sp>
      <p:sp>
        <p:nvSpPr>
          <p:cNvPr id="14" name="TextBox 13"/>
          <p:cNvSpPr txBox="1"/>
          <p:nvPr/>
        </p:nvSpPr>
        <p:spPr>
          <a:xfrm>
            <a:off x="685800" y="2258567"/>
            <a:ext cx="5212080" cy="502920"/>
          </a:xfrm>
          <a:prstGeom prst="rect">
            <a:avLst/>
          </a:prstGeom>
          <a:noFill/>
        </p:spPr>
        <p:txBody>
          <a:bodyPr wrap="square" lIns="0" tIns="0" rIns="0" bIns="0" anchor="t">
            <a:spAutoFit/>
          </a:bodyPr>
          <a:lstStyle/>
          <a:p>
            <a:pPr algn="l"/>
            <a:r>
              <a:rPr sz="2600" b="1" i="0">
                <a:solidFill>
                  <a:srgbClr val="EDF4FF"/>
                </a:solidFill>
                <a:latin typeface="Calibri"/>
              </a:rPr>
              <a:t>$MOTO</a:t>
            </a:r>
          </a:p>
        </p:txBody>
      </p:sp>
      <p:sp>
        <p:nvSpPr>
          <p:cNvPr id="15" name="TextBox 14"/>
          <p:cNvSpPr txBox="1"/>
          <p:nvPr/>
        </p:nvSpPr>
        <p:spPr>
          <a:xfrm>
            <a:off x="685800" y="2807207"/>
            <a:ext cx="5212080" cy="201168"/>
          </a:xfrm>
          <a:prstGeom prst="rect">
            <a:avLst/>
          </a:prstGeom>
          <a:noFill/>
        </p:spPr>
        <p:txBody>
          <a:bodyPr wrap="square" lIns="0" tIns="0" rIns="0" bIns="0" anchor="t">
            <a:spAutoFit/>
          </a:bodyPr>
          <a:lstStyle/>
          <a:p>
            <a:pPr algn="l"/>
            <a:r>
              <a:rPr sz="1000" b="0" i="1">
                <a:solidFill>
                  <a:srgbClr val="C8DCFF"/>
                </a:solidFill>
                <a:latin typeface="Calibri"/>
              </a:rPr>
              <a:t>Placeholder · final brand TBD</a:t>
            </a:r>
          </a:p>
        </p:txBody>
      </p:sp>
      <p:sp>
        <p:nvSpPr>
          <p:cNvPr id="16" name="Rectangle 15"/>
          <p:cNvSpPr/>
          <p:nvPr/>
        </p:nvSpPr>
        <p:spPr>
          <a:xfrm>
            <a:off x="685800" y="308152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172967"/>
            <a:ext cx="548640" cy="201168"/>
          </a:xfrm>
          <a:prstGeom prst="rect">
            <a:avLst/>
          </a:prstGeom>
          <a:noFill/>
        </p:spPr>
        <p:txBody>
          <a:bodyPr wrap="square" lIns="0" tIns="0" rIns="0" bIns="0" anchor="t">
            <a:spAutoFit/>
          </a:bodyPr>
          <a:lstStyle/>
          <a:p>
            <a:pPr algn="l"/>
            <a:r>
              <a:rPr sz="900" b="1" i="0">
                <a:solidFill>
                  <a:srgbClr val="4AA3FF"/>
                </a:solidFill>
                <a:latin typeface="Calibri"/>
              </a:rPr>
              <a:t>WHY</a:t>
            </a:r>
          </a:p>
        </p:txBody>
      </p:sp>
      <p:sp>
        <p:nvSpPr>
          <p:cNvPr id="18" name="TextBox 17"/>
          <p:cNvSpPr txBox="1"/>
          <p:nvPr/>
        </p:nvSpPr>
        <p:spPr>
          <a:xfrm>
            <a:off x="685800" y="3383279"/>
            <a:ext cx="5212080" cy="548640"/>
          </a:xfrm>
          <a:prstGeom prst="rect">
            <a:avLst/>
          </a:prstGeom>
          <a:noFill/>
        </p:spPr>
        <p:txBody>
          <a:bodyPr wrap="square" lIns="0" tIns="0" rIns="0" bIns="0" anchor="t">
            <a:spAutoFit/>
          </a:bodyPr>
          <a:lstStyle/>
          <a:p>
            <a:pPr algn="l"/>
            <a:r>
              <a:rPr sz="950" b="0" i="0">
                <a:solidFill>
                  <a:srgbClr val="B8C8E0"/>
                </a:solidFill>
                <a:latin typeface="Calibri"/>
              </a:rPr>
              <a:t>Names matter. Final brand will go through trademark clearance, domain availability, and audience testing before token generation event.</a:t>
            </a:r>
          </a:p>
        </p:txBody>
      </p:sp>
      <p:sp>
        <p:nvSpPr>
          <p:cNvPr id="19" name="Rounded Rectangle 18"/>
          <p:cNvSpPr/>
          <p:nvPr/>
        </p:nvSpPr>
        <p:spPr>
          <a:xfrm>
            <a:off x="6217920" y="1874519"/>
            <a:ext cx="5577840" cy="210312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6208" y="2039111"/>
            <a:ext cx="54864" cy="1773936"/>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2039111"/>
            <a:ext cx="5212080" cy="201168"/>
          </a:xfrm>
          <a:prstGeom prst="rect">
            <a:avLst/>
          </a:prstGeom>
          <a:noFill/>
        </p:spPr>
        <p:txBody>
          <a:bodyPr wrap="square" lIns="0" tIns="0" rIns="0" bIns="0" anchor="t">
            <a:spAutoFit/>
          </a:bodyPr>
          <a:lstStyle/>
          <a:p>
            <a:pPr algn="l"/>
            <a:r>
              <a:rPr sz="1000" b="1" i="0">
                <a:solidFill>
                  <a:srgbClr val="9CC6FF"/>
                </a:solidFill>
                <a:latin typeface="Calibri"/>
              </a:rPr>
              <a:t>NETWORK</a:t>
            </a:r>
          </a:p>
        </p:txBody>
      </p:sp>
      <p:sp>
        <p:nvSpPr>
          <p:cNvPr id="22" name="TextBox 21"/>
          <p:cNvSpPr txBox="1"/>
          <p:nvPr/>
        </p:nvSpPr>
        <p:spPr>
          <a:xfrm>
            <a:off x="6400800" y="2258567"/>
            <a:ext cx="5212080" cy="502920"/>
          </a:xfrm>
          <a:prstGeom prst="rect">
            <a:avLst/>
          </a:prstGeom>
          <a:noFill/>
        </p:spPr>
        <p:txBody>
          <a:bodyPr wrap="square" lIns="0" tIns="0" rIns="0" bIns="0" anchor="t">
            <a:spAutoFit/>
          </a:bodyPr>
          <a:lstStyle/>
          <a:p>
            <a:pPr algn="l"/>
            <a:r>
              <a:rPr sz="2600" b="1" i="0">
                <a:solidFill>
                  <a:srgbClr val="EDF4FF"/>
                </a:solidFill>
                <a:latin typeface="Calibri"/>
              </a:rPr>
              <a:t>Base</a:t>
            </a:r>
          </a:p>
        </p:txBody>
      </p:sp>
      <p:sp>
        <p:nvSpPr>
          <p:cNvPr id="23" name="TextBox 22"/>
          <p:cNvSpPr txBox="1"/>
          <p:nvPr/>
        </p:nvSpPr>
        <p:spPr>
          <a:xfrm>
            <a:off x="6400800" y="2807207"/>
            <a:ext cx="5212080" cy="201168"/>
          </a:xfrm>
          <a:prstGeom prst="rect">
            <a:avLst/>
          </a:prstGeom>
          <a:noFill/>
        </p:spPr>
        <p:txBody>
          <a:bodyPr wrap="square" lIns="0" tIns="0" rIns="0" bIns="0" anchor="t">
            <a:spAutoFit/>
          </a:bodyPr>
          <a:lstStyle/>
          <a:p>
            <a:pPr algn="l"/>
            <a:r>
              <a:rPr sz="1000" b="0" i="1">
                <a:solidFill>
                  <a:srgbClr val="C8DCFF"/>
                </a:solidFill>
                <a:latin typeface="Calibri"/>
              </a:rPr>
              <a:t>Ethereum Layer 2 · EVM-compatible</a:t>
            </a:r>
          </a:p>
        </p:txBody>
      </p:sp>
      <p:sp>
        <p:nvSpPr>
          <p:cNvPr id="24" name="Rectangle 23"/>
          <p:cNvSpPr/>
          <p:nvPr/>
        </p:nvSpPr>
        <p:spPr>
          <a:xfrm>
            <a:off x="6400800" y="308152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172967"/>
            <a:ext cx="548640" cy="201168"/>
          </a:xfrm>
          <a:prstGeom prst="rect">
            <a:avLst/>
          </a:prstGeom>
          <a:noFill/>
        </p:spPr>
        <p:txBody>
          <a:bodyPr wrap="square" lIns="0" tIns="0" rIns="0" bIns="0" anchor="t">
            <a:spAutoFit/>
          </a:bodyPr>
          <a:lstStyle/>
          <a:p>
            <a:pPr algn="l"/>
            <a:r>
              <a:rPr sz="900" b="1" i="0">
                <a:solidFill>
                  <a:srgbClr val="27D8D8"/>
                </a:solidFill>
                <a:latin typeface="Calibri"/>
              </a:rPr>
              <a:t>WHY</a:t>
            </a:r>
          </a:p>
        </p:txBody>
      </p:sp>
      <p:sp>
        <p:nvSpPr>
          <p:cNvPr id="26" name="TextBox 25"/>
          <p:cNvSpPr txBox="1"/>
          <p:nvPr/>
        </p:nvSpPr>
        <p:spPr>
          <a:xfrm>
            <a:off x="6400800" y="3383279"/>
            <a:ext cx="5212080" cy="548640"/>
          </a:xfrm>
          <a:prstGeom prst="rect">
            <a:avLst/>
          </a:prstGeom>
          <a:noFill/>
        </p:spPr>
        <p:txBody>
          <a:bodyPr wrap="square" lIns="0" tIns="0" rIns="0" bIns="0" anchor="t">
            <a:spAutoFit/>
          </a:bodyPr>
          <a:lstStyle/>
          <a:p>
            <a:pPr algn="l"/>
            <a:r>
              <a:rPr sz="950" b="0" i="0">
                <a:solidFill>
                  <a:srgbClr val="B8C8E0"/>
                </a:solidFill>
                <a:latin typeface="Calibri"/>
              </a:rPr>
              <a:t>Avg transaction cost under $0.05 vs $5+ on Ethereum mainnet. Inherits Ethereum security via the Optimism stack. Best fit for high-frequency writes like service logs.</a:t>
            </a:r>
          </a:p>
        </p:txBody>
      </p:sp>
      <p:sp>
        <p:nvSpPr>
          <p:cNvPr id="27" name="Rounded Rectangle 26"/>
          <p:cNvSpPr/>
          <p:nvPr/>
        </p:nvSpPr>
        <p:spPr>
          <a:xfrm>
            <a:off x="502920" y="4114799"/>
            <a:ext cx="5577840" cy="210312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21208" y="4279391"/>
            <a:ext cx="54864" cy="17739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4279391"/>
            <a:ext cx="5212080" cy="201168"/>
          </a:xfrm>
          <a:prstGeom prst="rect">
            <a:avLst/>
          </a:prstGeom>
          <a:noFill/>
        </p:spPr>
        <p:txBody>
          <a:bodyPr wrap="square" lIns="0" tIns="0" rIns="0" bIns="0" anchor="t">
            <a:spAutoFit/>
          </a:bodyPr>
          <a:lstStyle/>
          <a:p>
            <a:pPr algn="l"/>
            <a:r>
              <a:rPr sz="1000" b="1" i="0">
                <a:solidFill>
                  <a:srgbClr val="9CC6FF"/>
                </a:solidFill>
                <a:latin typeface="Calibri"/>
              </a:rPr>
              <a:t>TOTAL SUPPLY</a:t>
            </a:r>
          </a:p>
        </p:txBody>
      </p:sp>
      <p:sp>
        <p:nvSpPr>
          <p:cNvPr id="30" name="TextBox 29"/>
          <p:cNvSpPr txBox="1"/>
          <p:nvPr/>
        </p:nvSpPr>
        <p:spPr>
          <a:xfrm>
            <a:off x="685800" y="4498847"/>
            <a:ext cx="5212080" cy="502920"/>
          </a:xfrm>
          <a:prstGeom prst="rect">
            <a:avLst/>
          </a:prstGeom>
          <a:noFill/>
        </p:spPr>
        <p:txBody>
          <a:bodyPr wrap="square" lIns="0" tIns="0" rIns="0" bIns="0" anchor="t">
            <a:spAutoFit/>
          </a:bodyPr>
          <a:lstStyle/>
          <a:p>
            <a:pPr algn="l"/>
            <a:r>
              <a:rPr sz="2600" b="1" i="0">
                <a:solidFill>
                  <a:srgbClr val="EDF4FF"/>
                </a:solidFill>
                <a:latin typeface="Calibri"/>
              </a:rPr>
              <a:t>1,000,000,000</a:t>
            </a:r>
          </a:p>
        </p:txBody>
      </p:sp>
      <p:sp>
        <p:nvSpPr>
          <p:cNvPr id="31" name="TextBox 30"/>
          <p:cNvSpPr txBox="1"/>
          <p:nvPr/>
        </p:nvSpPr>
        <p:spPr>
          <a:xfrm>
            <a:off x="685800" y="5047487"/>
            <a:ext cx="5212080" cy="201168"/>
          </a:xfrm>
          <a:prstGeom prst="rect">
            <a:avLst/>
          </a:prstGeom>
          <a:noFill/>
        </p:spPr>
        <p:txBody>
          <a:bodyPr wrap="square" lIns="0" tIns="0" rIns="0" bIns="0" anchor="t">
            <a:spAutoFit/>
          </a:bodyPr>
          <a:lstStyle/>
          <a:p>
            <a:pPr algn="l"/>
            <a:r>
              <a:rPr sz="1000" b="0" i="1">
                <a:solidFill>
                  <a:srgbClr val="C8DCFF"/>
                </a:solidFill>
                <a:latin typeface="Calibri"/>
              </a:rPr>
              <a:t>Fixed cap · no protocol inflation post-TGE</a:t>
            </a:r>
          </a:p>
        </p:txBody>
      </p:sp>
      <p:sp>
        <p:nvSpPr>
          <p:cNvPr id="32" name="Rectangle 31"/>
          <p:cNvSpPr/>
          <p:nvPr/>
        </p:nvSpPr>
        <p:spPr>
          <a:xfrm>
            <a:off x="685800" y="532180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5413247"/>
            <a:ext cx="548640" cy="201168"/>
          </a:xfrm>
          <a:prstGeom prst="rect">
            <a:avLst/>
          </a:prstGeom>
          <a:noFill/>
        </p:spPr>
        <p:txBody>
          <a:bodyPr wrap="square" lIns="0" tIns="0" rIns="0" bIns="0" anchor="t">
            <a:spAutoFit/>
          </a:bodyPr>
          <a:lstStyle/>
          <a:p>
            <a:pPr algn="l"/>
            <a:r>
              <a:rPr sz="900" b="1" i="0">
                <a:solidFill>
                  <a:srgbClr val="4EE59A"/>
                </a:solidFill>
                <a:latin typeface="Calibri"/>
              </a:rPr>
              <a:t>WHY</a:t>
            </a:r>
          </a:p>
        </p:txBody>
      </p:sp>
      <p:sp>
        <p:nvSpPr>
          <p:cNvPr id="34" name="TextBox 33"/>
          <p:cNvSpPr txBox="1"/>
          <p:nvPr/>
        </p:nvSpPr>
        <p:spPr>
          <a:xfrm>
            <a:off x="685800" y="5623559"/>
            <a:ext cx="5212080" cy="548640"/>
          </a:xfrm>
          <a:prstGeom prst="rect">
            <a:avLst/>
          </a:prstGeom>
          <a:noFill/>
        </p:spPr>
        <p:txBody>
          <a:bodyPr wrap="square" lIns="0" tIns="0" rIns="0" bIns="0" anchor="t">
            <a:spAutoFit/>
          </a:bodyPr>
          <a:lstStyle/>
          <a:p>
            <a:pPr algn="l"/>
            <a:r>
              <a:rPr sz="950" b="0" i="0">
                <a:solidFill>
                  <a:srgbClr val="B8C8E0"/>
                </a:solidFill>
                <a:latin typeface="Calibri"/>
              </a:rPr>
              <a:t>A fixed cap prevents dilution and makes long-term value predictable. 1B is the standard scale for utility tokens — large enough for granular incentives, small enough that each token feels meaningful.</a:t>
            </a:r>
          </a:p>
        </p:txBody>
      </p:sp>
      <p:sp>
        <p:nvSpPr>
          <p:cNvPr id="35" name="Rounded Rectangle 34"/>
          <p:cNvSpPr/>
          <p:nvPr/>
        </p:nvSpPr>
        <p:spPr>
          <a:xfrm>
            <a:off x="6217920" y="4114799"/>
            <a:ext cx="5577840" cy="210312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36208" y="4279391"/>
            <a:ext cx="54864" cy="1773936"/>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279391"/>
            <a:ext cx="5212080" cy="201168"/>
          </a:xfrm>
          <a:prstGeom prst="rect">
            <a:avLst/>
          </a:prstGeom>
          <a:noFill/>
        </p:spPr>
        <p:txBody>
          <a:bodyPr wrap="square" lIns="0" tIns="0" rIns="0" bIns="0" anchor="t">
            <a:spAutoFit/>
          </a:bodyPr>
          <a:lstStyle/>
          <a:p>
            <a:pPr algn="l"/>
            <a:r>
              <a:rPr sz="1000" b="1" i="0">
                <a:solidFill>
                  <a:srgbClr val="9CC6FF"/>
                </a:solidFill>
                <a:latin typeface="Calibri"/>
              </a:rPr>
              <a:t>STANDARD</a:t>
            </a:r>
          </a:p>
        </p:txBody>
      </p:sp>
      <p:sp>
        <p:nvSpPr>
          <p:cNvPr id="38" name="TextBox 37"/>
          <p:cNvSpPr txBox="1"/>
          <p:nvPr/>
        </p:nvSpPr>
        <p:spPr>
          <a:xfrm>
            <a:off x="6400800" y="4498847"/>
            <a:ext cx="5212080" cy="502920"/>
          </a:xfrm>
          <a:prstGeom prst="rect">
            <a:avLst/>
          </a:prstGeom>
          <a:noFill/>
        </p:spPr>
        <p:txBody>
          <a:bodyPr wrap="square" lIns="0" tIns="0" rIns="0" bIns="0" anchor="t">
            <a:spAutoFit/>
          </a:bodyPr>
          <a:lstStyle/>
          <a:p>
            <a:pPr algn="l"/>
            <a:r>
              <a:rPr sz="2600" b="1" i="0">
                <a:solidFill>
                  <a:srgbClr val="EDF4FF"/>
                </a:solidFill>
                <a:latin typeface="Calibri"/>
              </a:rPr>
              <a:t>ERC-20</a:t>
            </a:r>
          </a:p>
        </p:txBody>
      </p:sp>
      <p:sp>
        <p:nvSpPr>
          <p:cNvPr id="39" name="TextBox 38"/>
          <p:cNvSpPr txBox="1"/>
          <p:nvPr/>
        </p:nvSpPr>
        <p:spPr>
          <a:xfrm>
            <a:off x="6400800" y="5047487"/>
            <a:ext cx="5212080" cy="201168"/>
          </a:xfrm>
          <a:prstGeom prst="rect">
            <a:avLst/>
          </a:prstGeom>
          <a:noFill/>
        </p:spPr>
        <p:txBody>
          <a:bodyPr wrap="square" lIns="0" tIns="0" rIns="0" bIns="0" anchor="t">
            <a:spAutoFit/>
          </a:bodyPr>
          <a:lstStyle/>
          <a:p>
            <a:pPr algn="l"/>
            <a:r>
              <a:rPr sz="1000" b="0" i="1">
                <a:solidFill>
                  <a:srgbClr val="C8DCFF"/>
                </a:solidFill>
                <a:latin typeface="Calibri"/>
              </a:rPr>
              <a:t>+ governance and staking modules</a:t>
            </a:r>
          </a:p>
        </p:txBody>
      </p:sp>
      <p:sp>
        <p:nvSpPr>
          <p:cNvPr id="40" name="Rectangle 39"/>
          <p:cNvSpPr/>
          <p:nvPr/>
        </p:nvSpPr>
        <p:spPr>
          <a:xfrm>
            <a:off x="6400800" y="532180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413247"/>
            <a:ext cx="548640" cy="201168"/>
          </a:xfrm>
          <a:prstGeom prst="rect">
            <a:avLst/>
          </a:prstGeom>
          <a:noFill/>
        </p:spPr>
        <p:txBody>
          <a:bodyPr wrap="square" lIns="0" tIns="0" rIns="0" bIns="0" anchor="t">
            <a:spAutoFit/>
          </a:bodyPr>
          <a:lstStyle/>
          <a:p>
            <a:pPr algn="l"/>
            <a:r>
              <a:rPr sz="900" b="1" i="0">
                <a:solidFill>
                  <a:srgbClr val="FFBF56"/>
                </a:solidFill>
                <a:latin typeface="Calibri"/>
              </a:rPr>
              <a:t>WHY</a:t>
            </a:r>
          </a:p>
        </p:txBody>
      </p:sp>
      <p:sp>
        <p:nvSpPr>
          <p:cNvPr id="42" name="TextBox 41"/>
          <p:cNvSpPr txBox="1"/>
          <p:nvPr/>
        </p:nvSpPr>
        <p:spPr>
          <a:xfrm>
            <a:off x="6400800" y="5623559"/>
            <a:ext cx="5212080" cy="548640"/>
          </a:xfrm>
          <a:prstGeom prst="rect">
            <a:avLst/>
          </a:prstGeom>
          <a:noFill/>
        </p:spPr>
        <p:txBody>
          <a:bodyPr wrap="square" lIns="0" tIns="0" rIns="0" bIns="0" anchor="t">
            <a:spAutoFit/>
          </a:bodyPr>
          <a:lstStyle/>
          <a:p>
            <a:pPr algn="l"/>
            <a:r>
              <a:rPr sz="950" b="0" i="0">
                <a:solidFill>
                  <a:srgbClr val="B8C8E0"/>
                </a:solidFill>
                <a:latin typeface="Calibri"/>
              </a:rPr>
              <a:t>Maximum compatibility — every wallet, DEX, and custodian on Ethereum or any EVM chain supports ERC-20. Governance and staking modules layer on top without breaking the base standard.</a:t>
            </a:r>
          </a:p>
        </p:txBody>
      </p:sp>
      <p:sp>
        <p:nvSpPr>
          <p:cNvPr id="43" name="Rectangle 4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Draft assumptions · final parameters subject to legal and token-design advisor review</a:t>
            </a:r>
          </a:p>
        </p:txBody>
      </p:sp>
      <p:sp>
        <p:nvSpPr>
          <p:cNvPr id="45" name="TextBox 4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TOKEN ALLOCATION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Where the 1B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Seven buckets · seven reasons · every percentage chosen on purpose</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to_logo.png"/>
          <p:cNvPicPr>
            <a:picLocks noChangeAspect="1"/>
          </p:cNvPicPr>
          <p:nvPr/>
        </p:nvPicPr>
        <p:blipFill>
          <a:blip r:embed="rId2"/>
          <a:stretch>
            <a:fillRect/>
          </a:stretch>
        </p:blipFill>
        <p:spPr>
          <a:xfrm>
            <a:off x="10835640" y="411480"/>
            <a:ext cx="731520" cy="731520"/>
          </a:xfrm>
          <a:prstGeom prst="rect">
            <a:avLst/>
          </a:prstGeom>
        </p:spPr>
      </p:pic>
      <p:sp>
        <p:nvSpPr>
          <p:cNvPr id="11" name="TextBox 10"/>
          <p:cNvSpPr txBox="1"/>
          <p:nvPr/>
        </p:nvSpPr>
        <p:spPr>
          <a:xfrm>
            <a:off x="50292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01  ·  ALLOCATION AT A GLANCE</a:t>
            </a:r>
          </a:p>
        </p:txBody>
      </p:sp>
      <p:sp>
        <p:nvSpPr>
          <p:cNvPr id="12" name="Rectangle 11"/>
          <p:cNvSpPr/>
          <p:nvPr/>
        </p:nvSpPr>
        <p:spPr>
          <a:xfrm>
            <a:off x="50292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llocation_donut.png"/>
          <p:cNvPicPr>
            <a:picLocks noChangeAspect="1"/>
          </p:cNvPicPr>
          <p:nvPr/>
        </p:nvPicPr>
        <p:blipFill>
          <a:blip r:embed="rId3"/>
          <a:stretch>
            <a:fillRect/>
          </a:stretch>
        </p:blipFill>
        <p:spPr>
          <a:xfrm>
            <a:off x="777239" y="2179015"/>
            <a:ext cx="3170225" cy="3170225"/>
          </a:xfrm>
          <a:prstGeom prst="rect">
            <a:avLst/>
          </a:prstGeom>
        </p:spPr>
      </p:pic>
      <p:sp>
        <p:nvSpPr>
          <p:cNvPr id="14" name="Oval 13"/>
          <p:cNvSpPr/>
          <p:nvPr/>
        </p:nvSpPr>
        <p:spPr>
          <a:xfrm>
            <a:off x="548640" y="5468112"/>
            <a:ext cx="91440" cy="91440"/>
          </a:xfrm>
          <a:prstGeom prst="ellips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 y="5440680"/>
            <a:ext cx="1371599" cy="164592"/>
          </a:xfrm>
          <a:prstGeom prst="rect">
            <a:avLst/>
          </a:prstGeom>
          <a:noFill/>
        </p:spPr>
        <p:txBody>
          <a:bodyPr wrap="square" lIns="0" tIns="0" rIns="0" bIns="0" anchor="t">
            <a:spAutoFit/>
          </a:bodyPr>
          <a:lstStyle/>
          <a:p>
            <a:pPr algn="l"/>
            <a:r>
              <a:rPr sz="850" b="0" i="0">
                <a:solidFill>
                  <a:srgbClr val="B8C8E0"/>
                </a:solidFill>
                <a:latin typeface="Calibri"/>
              </a:rPr>
              <a:t>Community &amp; Ecosystem</a:t>
            </a:r>
          </a:p>
        </p:txBody>
      </p:sp>
      <p:sp>
        <p:nvSpPr>
          <p:cNvPr id="16" name="TextBox 15"/>
          <p:cNvSpPr txBox="1"/>
          <p:nvPr/>
        </p:nvSpPr>
        <p:spPr>
          <a:xfrm>
            <a:off x="2011679" y="5440680"/>
            <a:ext cx="320040" cy="164592"/>
          </a:xfrm>
          <a:prstGeom prst="rect">
            <a:avLst/>
          </a:prstGeom>
          <a:noFill/>
        </p:spPr>
        <p:txBody>
          <a:bodyPr wrap="square" lIns="0" tIns="0" rIns="0" bIns="0" anchor="t">
            <a:spAutoFit/>
          </a:bodyPr>
          <a:lstStyle/>
          <a:p>
            <a:pPr algn="r"/>
            <a:r>
              <a:rPr sz="850" b="1" i="0">
                <a:solidFill>
                  <a:srgbClr val="9CC6FF"/>
                </a:solidFill>
                <a:latin typeface="Calibri"/>
              </a:rPr>
              <a:t>30%</a:t>
            </a:r>
          </a:p>
        </p:txBody>
      </p:sp>
      <p:sp>
        <p:nvSpPr>
          <p:cNvPr id="17" name="Oval 16"/>
          <p:cNvSpPr/>
          <p:nvPr/>
        </p:nvSpPr>
        <p:spPr>
          <a:xfrm>
            <a:off x="2423159" y="5468112"/>
            <a:ext cx="91440" cy="91440"/>
          </a:xfrm>
          <a:prstGeom prst="ellipse">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78607" y="5440680"/>
            <a:ext cx="1371599" cy="164592"/>
          </a:xfrm>
          <a:prstGeom prst="rect">
            <a:avLst/>
          </a:prstGeom>
          <a:noFill/>
        </p:spPr>
        <p:txBody>
          <a:bodyPr wrap="square" lIns="0" tIns="0" rIns="0" bIns="0" anchor="t">
            <a:spAutoFit/>
          </a:bodyPr>
          <a:lstStyle/>
          <a:p>
            <a:pPr algn="l"/>
            <a:r>
              <a:rPr sz="850" b="0" i="0">
                <a:solidFill>
                  <a:srgbClr val="B8C8E0"/>
                </a:solidFill>
                <a:latin typeface="Calibri"/>
              </a:rPr>
              <a:t>Team &amp; Founders</a:t>
            </a:r>
          </a:p>
        </p:txBody>
      </p:sp>
      <p:sp>
        <p:nvSpPr>
          <p:cNvPr id="19" name="TextBox 18"/>
          <p:cNvSpPr txBox="1"/>
          <p:nvPr/>
        </p:nvSpPr>
        <p:spPr>
          <a:xfrm>
            <a:off x="3886198" y="5440680"/>
            <a:ext cx="320040" cy="164592"/>
          </a:xfrm>
          <a:prstGeom prst="rect">
            <a:avLst/>
          </a:prstGeom>
          <a:noFill/>
        </p:spPr>
        <p:txBody>
          <a:bodyPr wrap="square" lIns="0" tIns="0" rIns="0" bIns="0" anchor="t">
            <a:spAutoFit/>
          </a:bodyPr>
          <a:lstStyle/>
          <a:p>
            <a:pPr algn="r"/>
            <a:r>
              <a:rPr sz="850" b="1" i="0">
                <a:solidFill>
                  <a:srgbClr val="9CC6FF"/>
                </a:solidFill>
                <a:latin typeface="Calibri"/>
              </a:rPr>
              <a:t>18%</a:t>
            </a:r>
          </a:p>
        </p:txBody>
      </p:sp>
      <p:sp>
        <p:nvSpPr>
          <p:cNvPr id="20" name="Oval 19"/>
          <p:cNvSpPr/>
          <p:nvPr/>
        </p:nvSpPr>
        <p:spPr>
          <a:xfrm>
            <a:off x="548640" y="5632704"/>
            <a:ext cx="91440" cy="91440"/>
          </a:xfrm>
          <a:prstGeom prst="ellipse">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5605272"/>
            <a:ext cx="1371599" cy="164592"/>
          </a:xfrm>
          <a:prstGeom prst="rect">
            <a:avLst/>
          </a:prstGeom>
          <a:noFill/>
        </p:spPr>
        <p:txBody>
          <a:bodyPr wrap="square" lIns="0" tIns="0" rIns="0" bIns="0" anchor="t">
            <a:spAutoFit/>
          </a:bodyPr>
          <a:lstStyle/>
          <a:p>
            <a:pPr algn="l"/>
            <a:r>
              <a:rPr sz="850" b="0" i="0">
                <a:solidFill>
                  <a:srgbClr val="B8C8E0"/>
                </a:solidFill>
                <a:latin typeface="Calibri"/>
              </a:rPr>
              <a:t>Treasury / DAO</a:t>
            </a:r>
          </a:p>
        </p:txBody>
      </p:sp>
      <p:sp>
        <p:nvSpPr>
          <p:cNvPr id="22" name="TextBox 21"/>
          <p:cNvSpPr txBox="1"/>
          <p:nvPr/>
        </p:nvSpPr>
        <p:spPr>
          <a:xfrm>
            <a:off x="2011679" y="5605272"/>
            <a:ext cx="320040" cy="164592"/>
          </a:xfrm>
          <a:prstGeom prst="rect">
            <a:avLst/>
          </a:prstGeom>
          <a:noFill/>
        </p:spPr>
        <p:txBody>
          <a:bodyPr wrap="square" lIns="0" tIns="0" rIns="0" bIns="0" anchor="t">
            <a:spAutoFit/>
          </a:bodyPr>
          <a:lstStyle/>
          <a:p>
            <a:pPr algn="r"/>
            <a:r>
              <a:rPr sz="850" b="1" i="0">
                <a:solidFill>
                  <a:srgbClr val="9CC6FF"/>
                </a:solidFill>
                <a:latin typeface="Calibri"/>
              </a:rPr>
              <a:t>15%</a:t>
            </a:r>
          </a:p>
        </p:txBody>
      </p:sp>
      <p:sp>
        <p:nvSpPr>
          <p:cNvPr id="23" name="Oval 22"/>
          <p:cNvSpPr/>
          <p:nvPr/>
        </p:nvSpPr>
        <p:spPr>
          <a:xfrm>
            <a:off x="2423159" y="5632704"/>
            <a:ext cx="91440" cy="91440"/>
          </a:xfrm>
          <a:prstGeom prst="ellipse">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7" y="5605272"/>
            <a:ext cx="1371599" cy="164592"/>
          </a:xfrm>
          <a:prstGeom prst="rect">
            <a:avLst/>
          </a:prstGeom>
          <a:noFill/>
        </p:spPr>
        <p:txBody>
          <a:bodyPr wrap="square" lIns="0" tIns="0" rIns="0" bIns="0" anchor="t">
            <a:spAutoFit/>
          </a:bodyPr>
          <a:lstStyle/>
          <a:p>
            <a:pPr algn="l"/>
            <a:r>
              <a:rPr sz="850" b="0" i="0">
                <a:solidFill>
                  <a:srgbClr val="B8C8E0"/>
                </a:solidFill>
                <a:latin typeface="Calibri"/>
              </a:rPr>
              <a:t>Pool Subsidy</a:t>
            </a:r>
          </a:p>
        </p:txBody>
      </p:sp>
      <p:sp>
        <p:nvSpPr>
          <p:cNvPr id="25" name="TextBox 24"/>
          <p:cNvSpPr txBox="1"/>
          <p:nvPr/>
        </p:nvSpPr>
        <p:spPr>
          <a:xfrm>
            <a:off x="3886198" y="5605272"/>
            <a:ext cx="320040" cy="164592"/>
          </a:xfrm>
          <a:prstGeom prst="rect">
            <a:avLst/>
          </a:prstGeom>
          <a:noFill/>
        </p:spPr>
        <p:txBody>
          <a:bodyPr wrap="square" lIns="0" tIns="0" rIns="0" bIns="0" anchor="t">
            <a:spAutoFit/>
          </a:bodyPr>
          <a:lstStyle/>
          <a:p>
            <a:pPr algn="r"/>
            <a:r>
              <a:rPr sz="850" b="1" i="0">
                <a:solidFill>
                  <a:srgbClr val="9CC6FF"/>
                </a:solidFill>
                <a:latin typeface="Calibri"/>
              </a:rPr>
              <a:t>15%</a:t>
            </a:r>
          </a:p>
        </p:txBody>
      </p:sp>
      <p:sp>
        <p:nvSpPr>
          <p:cNvPr id="26" name="Oval 25"/>
          <p:cNvSpPr/>
          <p:nvPr/>
        </p:nvSpPr>
        <p:spPr>
          <a:xfrm>
            <a:off x="548640" y="5797296"/>
            <a:ext cx="91440" cy="91440"/>
          </a:xfrm>
          <a:prstGeom prst="ellipse">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 y="5769864"/>
            <a:ext cx="1371599" cy="164592"/>
          </a:xfrm>
          <a:prstGeom prst="rect">
            <a:avLst/>
          </a:prstGeom>
          <a:noFill/>
        </p:spPr>
        <p:txBody>
          <a:bodyPr wrap="square" lIns="0" tIns="0" rIns="0" bIns="0" anchor="t">
            <a:spAutoFit/>
          </a:bodyPr>
          <a:lstStyle/>
          <a:p>
            <a:pPr algn="l"/>
            <a:r>
              <a:rPr sz="850" b="0" i="0">
                <a:solidFill>
                  <a:srgbClr val="B8C8E0"/>
                </a:solidFill>
                <a:latin typeface="Calibri"/>
              </a:rPr>
              <a:t>Investors — Private</a:t>
            </a:r>
          </a:p>
        </p:txBody>
      </p:sp>
      <p:sp>
        <p:nvSpPr>
          <p:cNvPr id="28" name="TextBox 27"/>
          <p:cNvSpPr txBox="1"/>
          <p:nvPr/>
        </p:nvSpPr>
        <p:spPr>
          <a:xfrm>
            <a:off x="2011679" y="5769864"/>
            <a:ext cx="320040" cy="164592"/>
          </a:xfrm>
          <a:prstGeom prst="rect">
            <a:avLst/>
          </a:prstGeom>
          <a:noFill/>
        </p:spPr>
        <p:txBody>
          <a:bodyPr wrap="square" lIns="0" tIns="0" rIns="0" bIns="0" anchor="t">
            <a:spAutoFit/>
          </a:bodyPr>
          <a:lstStyle/>
          <a:p>
            <a:pPr algn="r"/>
            <a:r>
              <a:rPr sz="850" b="1" i="0">
                <a:solidFill>
                  <a:srgbClr val="9CC6FF"/>
                </a:solidFill>
                <a:latin typeface="Calibri"/>
              </a:rPr>
              <a:t>9%</a:t>
            </a:r>
          </a:p>
        </p:txBody>
      </p:sp>
      <p:sp>
        <p:nvSpPr>
          <p:cNvPr id="29" name="Oval 28"/>
          <p:cNvSpPr/>
          <p:nvPr/>
        </p:nvSpPr>
        <p:spPr>
          <a:xfrm>
            <a:off x="2423159" y="5797296"/>
            <a:ext cx="91440" cy="91440"/>
          </a:xfrm>
          <a:prstGeom prst="ellipse">
            <a:avLst/>
          </a:prstGeom>
          <a:solidFill>
            <a:srgbClr val="E09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78607" y="5769864"/>
            <a:ext cx="1371599" cy="164592"/>
          </a:xfrm>
          <a:prstGeom prst="rect">
            <a:avLst/>
          </a:prstGeom>
          <a:noFill/>
        </p:spPr>
        <p:txBody>
          <a:bodyPr wrap="square" lIns="0" tIns="0" rIns="0" bIns="0" anchor="t">
            <a:spAutoFit/>
          </a:bodyPr>
          <a:lstStyle/>
          <a:p>
            <a:pPr algn="l"/>
            <a:r>
              <a:rPr sz="850" b="0" i="0">
                <a:solidFill>
                  <a:srgbClr val="B8C8E0"/>
                </a:solidFill>
                <a:latin typeface="Calibri"/>
              </a:rPr>
              <a:t>Investors — Seed</a:t>
            </a:r>
          </a:p>
        </p:txBody>
      </p:sp>
      <p:sp>
        <p:nvSpPr>
          <p:cNvPr id="31" name="TextBox 30"/>
          <p:cNvSpPr txBox="1"/>
          <p:nvPr/>
        </p:nvSpPr>
        <p:spPr>
          <a:xfrm>
            <a:off x="3886198" y="5769864"/>
            <a:ext cx="320040" cy="164592"/>
          </a:xfrm>
          <a:prstGeom prst="rect">
            <a:avLst/>
          </a:prstGeom>
          <a:noFill/>
        </p:spPr>
        <p:txBody>
          <a:bodyPr wrap="square" lIns="0" tIns="0" rIns="0" bIns="0" anchor="t">
            <a:spAutoFit/>
          </a:bodyPr>
          <a:lstStyle/>
          <a:p>
            <a:pPr algn="r"/>
            <a:r>
              <a:rPr sz="850" b="1" i="0">
                <a:solidFill>
                  <a:srgbClr val="9CC6FF"/>
                </a:solidFill>
                <a:latin typeface="Calibri"/>
              </a:rPr>
              <a:t>8%</a:t>
            </a:r>
          </a:p>
        </p:txBody>
      </p:sp>
      <p:sp>
        <p:nvSpPr>
          <p:cNvPr id="32" name="Oval 31"/>
          <p:cNvSpPr/>
          <p:nvPr/>
        </p:nvSpPr>
        <p:spPr>
          <a:xfrm>
            <a:off x="548640" y="5961888"/>
            <a:ext cx="91440" cy="91440"/>
          </a:xfrm>
          <a:prstGeom prst="ellipse">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5934456"/>
            <a:ext cx="1371599" cy="164592"/>
          </a:xfrm>
          <a:prstGeom prst="rect">
            <a:avLst/>
          </a:prstGeom>
          <a:noFill/>
        </p:spPr>
        <p:txBody>
          <a:bodyPr wrap="square" lIns="0" tIns="0" rIns="0" bIns="0" anchor="t">
            <a:spAutoFit/>
          </a:bodyPr>
          <a:lstStyle/>
          <a:p>
            <a:pPr algn="l"/>
            <a:r>
              <a:rPr sz="850" b="0" i="0">
                <a:solidFill>
                  <a:srgbClr val="B8C8E0"/>
                </a:solidFill>
                <a:latin typeface="Calibri"/>
              </a:rPr>
              <a:t>Liquidity</a:t>
            </a:r>
          </a:p>
        </p:txBody>
      </p:sp>
      <p:sp>
        <p:nvSpPr>
          <p:cNvPr id="34" name="TextBox 33"/>
          <p:cNvSpPr txBox="1"/>
          <p:nvPr/>
        </p:nvSpPr>
        <p:spPr>
          <a:xfrm>
            <a:off x="2011679" y="5934456"/>
            <a:ext cx="320040" cy="164592"/>
          </a:xfrm>
          <a:prstGeom prst="rect">
            <a:avLst/>
          </a:prstGeom>
          <a:noFill/>
        </p:spPr>
        <p:txBody>
          <a:bodyPr wrap="square" lIns="0" tIns="0" rIns="0" bIns="0" anchor="t">
            <a:spAutoFit/>
          </a:bodyPr>
          <a:lstStyle/>
          <a:p>
            <a:pPr algn="r"/>
            <a:r>
              <a:rPr sz="850" b="1" i="0">
                <a:solidFill>
                  <a:srgbClr val="9CC6FF"/>
                </a:solidFill>
                <a:latin typeface="Calibri"/>
              </a:rPr>
              <a:t>5%</a:t>
            </a:r>
          </a:p>
        </p:txBody>
      </p:sp>
      <p:sp>
        <p:nvSpPr>
          <p:cNvPr id="35" name="TextBox 34"/>
          <p:cNvSpPr txBox="1"/>
          <p:nvPr/>
        </p:nvSpPr>
        <p:spPr>
          <a:xfrm>
            <a:off x="443484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02  ·  WHY THESE PERCENTAGES</a:t>
            </a:r>
          </a:p>
        </p:txBody>
      </p:sp>
      <p:sp>
        <p:nvSpPr>
          <p:cNvPr id="36" name="Rectangle 35"/>
          <p:cNvSpPr/>
          <p:nvPr/>
        </p:nvSpPr>
        <p:spPr>
          <a:xfrm>
            <a:off x="443484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434840" y="2286000"/>
            <a:ext cx="7269480" cy="3813048"/>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434840" y="2286000"/>
            <a:ext cx="7269480"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62856" y="2340864"/>
            <a:ext cx="1847088" cy="182880"/>
          </a:xfrm>
          <a:prstGeom prst="rect">
            <a:avLst/>
          </a:prstGeom>
          <a:noFill/>
        </p:spPr>
        <p:txBody>
          <a:bodyPr wrap="square" lIns="0" tIns="0" rIns="0" bIns="0" anchor="t">
            <a:spAutoFit/>
          </a:bodyPr>
          <a:lstStyle/>
          <a:p>
            <a:pPr algn="l"/>
            <a:r>
              <a:rPr sz="950" b="1" i="0">
                <a:solidFill>
                  <a:srgbClr val="9CC6FF"/>
                </a:solidFill>
                <a:latin typeface="Calibri"/>
              </a:rPr>
              <a:t>BUCKET</a:t>
            </a:r>
          </a:p>
        </p:txBody>
      </p:sp>
      <p:sp>
        <p:nvSpPr>
          <p:cNvPr id="40" name="TextBox 39"/>
          <p:cNvSpPr txBox="1"/>
          <p:nvPr/>
        </p:nvSpPr>
        <p:spPr>
          <a:xfrm>
            <a:off x="6665976" y="2340864"/>
            <a:ext cx="246888" cy="182880"/>
          </a:xfrm>
          <a:prstGeom prst="rect">
            <a:avLst/>
          </a:prstGeom>
          <a:noFill/>
        </p:spPr>
        <p:txBody>
          <a:bodyPr wrap="square" lIns="0" tIns="0" rIns="0" bIns="0" anchor="t">
            <a:spAutoFit/>
          </a:bodyPr>
          <a:lstStyle/>
          <a:p>
            <a:pPr algn="l"/>
            <a:r>
              <a:rPr sz="950" b="1" i="0">
                <a:solidFill>
                  <a:srgbClr val="9CC6FF"/>
                </a:solidFill>
                <a:latin typeface="Calibri"/>
              </a:rPr>
              <a:t>%</a:t>
            </a:r>
          </a:p>
        </p:txBody>
      </p:sp>
      <p:sp>
        <p:nvSpPr>
          <p:cNvPr id="41" name="TextBox 40"/>
          <p:cNvSpPr txBox="1"/>
          <p:nvPr/>
        </p:nvSpPr>
        <p:spPr>
          <a:xfrm>
            <a:off x="7168896" y="2340864"/>
            <a:ext cx="1161288" cy="182880"/>
          </a:xfrm>
          <a:prstGeom prst="rect">
            <a:avLst/>
          </a:prstGeom>
          <a:noFill/>
        </p:spPr>
        <p:txBody>
          <a:bodyPr wrap="square" lIns="0" tIns="0" rIns="0" bIns="0" anchor="t">
            <a:spAutoFit/>
          </a:bodyPr>
          <a:lstStyle/>
          <a:p>
            <a:pPr algn="l"/>
            <a:r>
              <a:rPr sz="950" b="1" i="0">
                <a:solidFill>
                  <a:srgbClr val="9CC6FF"/>
                </a:solidFill>
                <a:latin typeface="Calibri"/>
              </a:rPr>
              <a:t>VESTING</a:t>
            </a:r>
          </a:p>
        </p:txBody>
      </p:sp>
      <p:sp>
        <p:nvSpPr>
          <p:cNvPr id="42" name="TextBox 41"/>
          <p:cNvSpPr txBox="1"/>
          <p:nvPr/>
        </p:nvSpPr>
        <p:spPr>
          <a:xfrm>
            <a:off x="8586216" y="2340864"/>
            <a:ext cx="2990088" cy="182880"/>
          </a:xfrm>
          <a:prstGeom prst="rect">
            <a:avLst/>
          </a:prstGeom>
          <a:noFill/>
        </p:spPr>
        <p:txBody>
          <a:bodyPr wrap="square" lIns="0" tIns="0" rIns="0" bIns="0" anchor="t">
            <a:spAutoFit/>
          </a:bodyPr>
          <a:lstStyle/>
          <a:p>
            <a:pPr algn="l"/>
            <a:r>
              <a:rPr sz="950" b="1" i="0">
                <a:solidFill>
                  <a:srgbClr val="9CC6FF"/>
                </a:solidFill>
                <a:latin typeface="Calibri"/>
              </a:rPr>
              <a:t>WHY</a:t>
            </a:r>
          </a:p>
        </p:txBody>
      </p:sp>
      <p:sp>
        <p:nvSpPr>
          <p:cNvPr id="43" name="Rectangle 42"/>
          <p:cNvSpPr/>
          <p:nvPr/>
        </p:nvSpPr>
        <p:spPr>
          <a:xfrm>
            <a:off x="4434840" y="2564892"/>
            <a:ext cx="726948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434840" y="257860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26280" y="2743200"/>
            <a:ext cx="54864" cy="17373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36008" y="2729484"/>
            <a:ext cx="1792224" cy="201168"/>
          </a:xfrm>
          <a:prstGeom prst="rect">
            <a:avLst/>
          </a:prstGeom>
          <a:noFill/>
        </p:spPr>
        <p:txBody>
          <a:bodyPr wrap="square" lIns="0" tIns="0" rIns="0" bIns="0" anchor="t">
            <a:spAutoFit/>
          </a:bodyPr>
          <a:lstStyle/>
          <a:p>
            <a:pPr algn="l"/>
            <a:r>
              <a:rPr sz="1000" b="1" i="0">
                <a:solidFill>
                  <a:srgbClr val="EDF4FF"/>
                </a:solidFill>
                <a:latin typeface="Calibri"/>
              </a:rPr>
              <a:t>Community &amp; Ecosystem</a:t>
            </a:r>
          </a:p>
        </p:txBody>
      </p:sp>
      <p:sp>
        <p:nvSpPr>
          <p:cNvPr id="47" name="TextBox 46"/>
          <p:cNvSpPr txBox="1"/>
          <p:nvPr/>
        </p:nvSpPr>
        <p:spPr>
          <a:xfrm>
            <a:off x="6629400" y="2715768"/>
            <a:ext cx="320040" cy="228600"/>
          </a:xfrm>
          <a:prstGeom prst="rect">
            <a:avLst/>
          </a:prstGeom>
          <a:noFill/>
        </p:spPr>
        <p:txBody>
          <a:bodyPr wrap="square" lIns="0" tIns="0" rIns="0" bIns="0" anchor="t">
            <a:spAutoFit/>
          </a:bodyPr>
          <a:lstStyle/>
          <a:p>
            <a:pPr algn="r"/>
            <a:r>
              <a:rPr sz="1200" b="1" i="0">
                <a:solidFill>
                  <a:srgbClr val="4AA3FF"/>
                </a:solidFill>
                <a:latin typeface="Calibri"/>
              </a:rPr>
              <a:t>30%</a:t>
            </a:r>
          </a:p>
        </p:txBody>
      </p:sp>
      <p:sp>
        <p:nvSpPr>
          <p:cNvPr id="48" name="TextBox 47"/>
          <p:cNvSpPr txBox="1"/>
          <p:nvPr/>
        </p:nvSpPr>
        <p:spPr>
          <a:xfrm>
            <a:off x="7150608" y="2729484"/>
            <a:ext cx="1234440" cy="201168"/>
          </a:xfrm>
          <a:prstGeom prst="rect">
            <a:avLst/>
          </a:prstGeom>
          <a:noFill/>
        </p:spPr>
        <p:txBody>
          <a:bodyPr wrap="square" lIns="0" tIns="0" rIns="0" bIns="0" anchor="t">
            <a:spAutoFit/>
          </a:bodyPr>
          <a:lstStyle/>
          <a:p>
            <a:pPr algn="l"/>
            <a:r>
              <a:rPr sz="950" b="0" i="0">
                <a:solidFill>
                  <a:srgbClr val="C8DCFF"/>
                </a:solidFill>
                <a:latin typeface="Calibri"/>
              </a:rPr>
              <a:t>4-yr progressive</a:t>
            </a:r>
          </a:p>
        </p:txBody>
      </p:sp>
      <p:sp>
        <p:nvSpPr>
          <p:cNvPr id="49" name="TextBox 48"/>
          <p:cNvSpPr txBox="1"/>
          <p:nvPr/>
        </p:nvSpPr>
        <p:spPr>
          <a:xfrm>
            <a:off x="8567928" y="2651760"/>
            <a:ext cx="3063240" cy="356616"/>
          </a:xfrm>
          <a:prstGeom prst="rect">
            <a:avLst/>
          </a:prstGeom>
          <a:noFill/>
        </p:spPr>
        <p:txBody>
          <a:bodyPr wrap="square" lIns="0" tIns="0" rIns="0" bIns="0" anchor="t">
            <a:spAutoFit/>
          </a:bodyPr>
          <a:lstStyle/>
          <a:p>
            <a:pPr algn="l"/>
            <a:r>
              <a:rPr sz="900" b="0" i="0">
                <a:solidFill>
                  <a:srgbClr val="B8C8E0"/>
                </a:solidFill>
                <a:latin typeface="Calibri"/>
              </a:rPr>
              <a:t>Largest bucket — funds dealer, mechanic, and rider acquisition. Heavy real-world cost.</a:t>
            </a:r>
          </a:p>
        </p:txBody>
      </p:sp>
      <p:sp>
        <p:nvSpPr>
          <p:cNvPr id="50" name="Rectangle 49"/>
          <p:cNvSpPr/>
          <p:nvPr/>
        </p:nvSpPr>
        <p:spPr>
          <a:xfrm>
            <a:off x="4434840" y="307695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26280" y="3246120"/>
            <a:ext cx="54864" cy="173736"/>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36008" y="3232404"/>
            <a:ext cx="1792224" cy="201168"/>
          </a:xfrm>
          <a:prstGeom prst="rect">
            <a:avLst/>
          </a:prstGeom>
          <a:noFill/>
        </p:spPr>
        <p:txBody>
          <a:bodyPr wrap="square" lIns="0" tIns="0" rIns="0" bIns="0" anchor="t">
            <a:spAutoFit/>
          </a:bodyPr>
          <a:lstStyle/>
          <a:p>
            <a:pPr algn="l"/>
            <a:r>
              <a:rPr sz="1000" b="1" i="0">
                <a:solidFill>
                  <a:srgbClr val="EDF4FF"/>
                </a:solidFill>
                <a:latin typeface="Calibri"/>
              </a:rPr>
              <a:t>Insurance Pool Subsidy</a:t>
            </a:r>
          </a:p>
        </p:txBody>
      </p:sp>
      <p:sp>
        <p:nvSpPr>
          <p:cNvPr id="53" name="TextBox 52"/>
          <p:cNvSpPr txBox="1"/>
          <p:nvPr/>
        </p:nvSpPr>
        <p:spPr>
          <a:xfrm>
            <a:off x="6629400" y="3218688"/>
            <a:ext cx="320040" cy="228600"/>
          </a:xfrm>
          <a:prstGeom prst="rect">
            <a:avLst/>
          </a:prstGeom>
          <a:noFill/>
        </p:spPr>
        <p:txBody>
          <a:bodyPr wrap="square" lIns="0" tIns="0" rIns="0" bIns="0" anchor="t">
            <a:spAutoFit/>
          </a:bodyPr>
          <a:lstStyle/>
          <a:p>
            <a:pPr algn="r"/>
            <a:r>
              <a:rPr sz="1200" b="1" i="0">
                <a:solidFill>
                  <a:srgbClr val="C8DCFF"/>
                </a:solidFill>
                <a:latin typeface="Calibri"/>
              </a:rPr>
              <a:t>15%</a:t>
            </a:r>
          </a:p>
        </p:txBody>
      </p:sp>
      <p:sp>
        <p:nvSpPr>
          <p:cNvPr id="54" name="TextBox 53"/>
          <p:cNvSpPr txBox="1"/>
          <p:nvPr/>
        </p:nvSpPr>
        <p:spPr>
          <a:xfrm>
            <a:off x="7150608" y="3232404"/>
            <a:ext cx="1234440" cy="201168"/>
          </a:xfrm>
          <a:prstGeom prst="rect">
            <a:avLst/>
          </a:prstGeom>
          <a:noFill/>
        </p:spPr>
        <p:txBody>
          <a:bodyPr wrap="square" lIns="0" tIns="0" rIns="0" bIns="0" anchor="t">
            <a:spAutoFit/>
          </a:bodyPr>
          <a:lstStyle/>
          <a:p>
            <a:pPr algn="l"/>
            <a:r>
              <a:rPr sz="950" b="0" i="0">
                <a:solidFill>
                  <a:srgbClr val="C8DCFF"/>
                </a:solidFill>
                <a:latin typeface="Calibri"/>
              </a:rPr>
              <a:t>Tapered Y1–3</a:t>
            </a:r>
          </a:p>
        </p:txBody>
      </p:sp>
      <p:sp>
        <p:nvSpPr>
          <p:cNvPr id="55" name="TextBox 54"/>
          <p:cNvSpPr txBox="1"/>
          <p:nvPr/>
        </p:nvSpPr>
        <p:spPr>
          <a:xfrm>
            <a:off x="8567928" y="3154680"/>
            <a:ext cx="3063240" cy="356616"/>
          </a:xfrm>
          <a:prstGeom prst="rect">
            <a:avLst/>
          </a:prstGeom>
          <a:noFill/>
        </p:spPr>
        <p:txBody>
          <a:bodyPr wrap="square" lIns="0" tIns="0" rIns="0" bIns="0" anchor="t">
            <a:spAutoFit/>
          </a:bodyPr>
          <a:lstStyle/>
          <a:p>
            <a:pPr algn="l"/>
            <a:r>
              <a:rPr sz="900" b="0" i="0">
                <a:solidFill>
                  <a:srgbClr val="B8C8E0"/>
                </a:solidFill>
                <a:latin typeface="Calibri"/>
              </a:rPr>
              <a:t>Bootstraps safe-rider rebates until premium revenue scales. Then tapers out.</a:t>
            </a:r>
          </a:p>
        </p:txBody>
      </p:sp>
      <p:sp>
        <p:nvSpPr>
          <p:cNvPr id="56" name="Rectangle 55"/>
          <p:cNvSpPr/>
          <p:nvPr/>
        </p:nvSpPr>
        <p:spPr>
          <a:xfrm>
            <a:off x="4434840" y="357987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434840" y="358444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26280" y="3749040"/>
            <a:ext cx="54864" cy="173736"/>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636008" y="3735324"/>
            <a:ext cx="1792224" cy="201168"/>
          </a:xfrm>
          <a:prstGeom prst="rect">
            <a:avLst/>
          </a:prstGeom>
          <a:noFill/>
        </p:spPr>
        <p:txBody>
          <a:bodyPr wrap="square" lIns="0" tIns="0" rIns="0" bIns="0" anchor="t">
            <a:spAutoFit/>
          </a:bodyPr>
          <a:lstStyle/>
          <a:p>
            <a:pPr algn="l"/>
            <a:r>
              <a:rPr sz="1000" b="1" i="0">
                <a:solidFill>
                  <a:srgbClr val="EDF4FF"/>
                </a:solidFill>
                <a:latin typeface="Calibri"/>
              </a:rPr>
              <a:t>Team &amp; Founders</a:t>
            </a:r>
          </a:p>
        </p:txBody>
      </p:sp>
      <p:sp>
        <p:nvSpPr>
          <p:cNvPr id="60" name="TextBox 59"/>
          <p:cNvSpPr txBox="1"/>
          <p:nvPr/>
        </p:nvSpPr>
        <p:spPr>
          <a:xfrm>
            <a:off x="6629400" y="3721608"/>
            <a:ext cx="320040" cy="228600"/>
          </a:xfrm>
          <a:prstGeom prst="rect">
            <a:avLst/>
          </a:prstGeom>
          <a:noFill/>
        </p:spPr>
        <p:txBody>
          <a:bodyPr wrap="square" lIns="0" tIns="0" rIns="0" bIns="0" anchor="t">
            <a:spAutoFit/>
          </a:bodyPr>
          <a:lstStyle/>
          <a:p>
            <a:pPr algn="r"/>
            <a:r>
              <a:rPr sz="1200" b="1" i="0">
                <a:solidFill>
                  <a:srgbClr val="27D8D8"/>
                </a:solidFill>
                <a:latin typeface="Calibri"/>
              </a:rPr>
              <a:t>18%</a:t>
            </a:r>
          </a:p>
        </p:txBody>
      </p:sp>
      <p:sp>
        <p:nvSpPr>
          <p:cNvPr id="61" name="TextBox 60"/>
          <p:cNvSpPr txBox="1"/>
          <p:nvPr/>
        </p:nvSpPr>
        <p:spPr>
          <a:xfrm>
            <a:off x="7150608" y="3735324"/>
            <a:ext cx="1234440" cy="201168"/>
          </a:xfrm>
          <a:prstGeom prst="rect">
            <a:avLst/>
          </a:prstGeom>
          <a:noFill/>
        </p:spPr>
        <p:txBody>
          <a:bodyPr wrap="square" lIns="0" tIns="0" rIns="0" bIns="0" anchor="t">
            <a:spAutoFit/>
          </a:bodyPr>
          <a:lstStyle/>
          <a:p>
            <a:pPr algn="l"/>
            <a:r>
              <a:rPr sz="950" b="0" i="0">
                <a:solidFill>
                  <a:srgbClr val="C8DCFF"/>
                </a:solidFill>
                <a:latin typeface="Calibri"/>
              </a:rPr>
              <a:t>4-yr · 1-yr cliff</a:t>
            </a:r>
          </a:p>
        </p:txBody>
      </p:sp>
      <p:sp>
        <p:nvSpPr>
          <p:cNvPr id="62" name="TextBox 61"/>
          <p:cNvSpPr txBox="1"/>
          <p:nvPr/>
        </p:nvSpPr>
        <p:spPr>
          <a:xfrm>
            <a:off x="8567928" y="3657600"/>
            <a:ext cx="3063240" cy="356616"/>
          </a:xfrm>
          <a:prstGeom prst="rect">
            <a:avLst/>
          </a:prstGeom>
          <a:noFill/>
        </p:spPr>
        <p:txBody>
          <a:bodyPr wrap="square" lIns="0" tIns="0" rIns="0" bIns="0" anchor="t">
            <a:spAutoFit/>
          </a:bodyPr>
          <a:lstStyle/>
          <a:p>
            <a:pPr algn="l"/>
            <a:r>
              <a:rPr sz="900" b="0" i="0">
                <a:solidFill>
                  <a:srgbClr val="B8C8E0"/>
                </a:solidFill>
                <a:latin typeface="Calibri"/>
              </a:rPr>
              <a:t>Below the 20–25% industry norm. Signals alignment with users over founder enrichment.</a:t>
            </a:r>
          </a:p>
        </p:txBody>
      </p:sp>
      <p:sp>
        <p:nvSpPr>
          <p:cNvPr id="63" name="Rectangle 62"/>
          <p:cNvSpPr/>
          <p:nvPr/>
        </p:nvSpPr>
        <p:spPr>
          <a:xfrm>
            <a:off x="4434840" y="408279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526280" y="4251960"/>
            <a:ext cx="54864" cy="173736"/>
          </a:xfrm>
          <a:prstGeom prst="rect">
            <a:avLst/>
          </a:prstGeom>
          <a:solidFill>
            <a:srgbClr val="E09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36008" y="4238244"/>
            <a:ext cx="1792224" cy="201168"/>
          </a:xfrm>
          <a:prstGeom prst="rect">
            <a:avLst/>
          </a:prstGeom>
          <a:noFill/>
        </p:spPr>
        <p:txBody>
          <a:bodyPr wrap="square" lIns="0" tIns="0" rIns="0" bIns="0" anchor="t">
            <a:spAutoFit/>
          </a:bodyPr>
          <a:lstStyle/>
          <a:p>
            <a:pPr algn="l"/>
            <a:r>
              <a:rPr sz="1000" b="1" i="0">
                <a:solidFill>
                  <a:srgbClr val="EDF4FF"/>
                </a:solidFill>
                <a:latin typeface="Calibri"/>
              </a:rPr>
              <a:t>Investors — Seed</a:t>
            </a:r>
          </a:p>
        </p:txBody>
      </p:sp>
      <p:sp>
        <p:nvSpPr>
          <p:cNvPr id="66" name="TextBox 65"/>
          <p:cNvSpPr txBox="1"/>
          <p:nvPr/>
        </p:nvSpPr>
        <p:spPr>
          <a:xfrm>
            <a:off x="6629400" y="4224528"/>
            <a:ext cx="320040" cy="228600"/>
          </a:xfrm>
          <a:prstGeom prst="rect">
            <a:avLst/>
          </a:prstGeom>
          <a:noFill/>
        </p:spPr>
        <p:txBody>
          <a:bodyPr wrap="square" lIns="0" tIns="0" rIns="0" bIns="0" anchor="t">
            <a:spAutoFit/>
          </a:bodyPr>
          <a:lstStyle/>
          <a:p>
            <a:pPr algn="r"/>
            <a:r>
              <a:rPr sz="1200" b="1" i="0">
                <a:solidFill>
                  <a:srgbClr val="E0993D"/>
                </a:solidFill>
                <a:latin typeface="Calibri"/>
              </a:rPr>
              <a:t>8%</a:t>
            </a:r>
          </a:p>
        </p:txBody>
      </p:sp>
      <p:sp>
        <p:nvSpPr>
          <p:cNvPr id="67" name="TextBox 66"/>
          <p:cNvSpPr txBox="1"/>
          <p:nvPr/>
        </p:nvSpPr>
        <p:spPr>
          <a:xfrm>
            <a:off x="7150608" y="4238244"/>
            <a:ext cx="1234440" cy="201168"/>
          </a:xfrm>
          <a:prstGeom prst="rect">
            <a:avLst/>
          </a:prstGeom>
          <a:noFill/>
        </p:spPr>
        <p:txBody>
          <a:bodyPr wrap="square" lIns="0" tIns="0" rIns="0" bIns="0" anchor="t">
            <a:spAutoFit/>
          </a:bodyPr>
          <a:lstStyle/>
          <a:p>
            <a:pPr algn="l"/>
            <a:r>
              <a:rPr sz="950" b="0" i="0">
                <a:solidFill>
                  <a:srgbClr val="C8DCFF"/>
                </a:solidFill>
                <a:latin typeface="Calibri"/>
              </a:rPr>
              <a:t>2-yr · 6-mo cliff</a:t>
            </a:r>
          </a:p>
        </p:txBody>
      </p:sp>
      <p:sp>
        <p:nvSpPr>
          <p:cNvPr id="68" name="TextBox 67"/>
          <p:cNvSpPr txBox="1"/>
          <p:nvPr/>
        </p:nvSpPr>
        <p:spPr>
          <a:xfrm>
            <a:off x="8567928" y="4160520"/>
            <a:ext cx="3063240" cy="356616"/>
          </a:xfrm>
          <a:prstGeom prst="rect">
            <a:avLst/>
          </a:prstGeom>
          <a:noFill/>
        </p:spPr>
        <p:txBody>
          <a:bodyPr wrap="square" lIns="0" tIns="0" rIns="0" bIns="0" anchor="t">
            <a:spAutoFit/>
          </a:bodyPr>
          <a:lstStyle/>
          <a:p>
            <a:pPr algn="l"/>
            <a:r>
              <a:rPr sz="900" b="0" i="0">
                <a:solidFill>
                  <a:srgbClr val="B8C8E0"/>
                </a:solidFill>
                <a:latin typeface="Calibri"/>
              </a:rPr>
              <a:t>Compensates highest-risk early backers. Shorter vest reflects earlier conviction.</a:t>
            </a:r>
          </a:p>
        </p:txBody>
      </p:sp>
      <p:sp>
        <p:nvSpPr>
          <p:cNvPr id="69" name="Rectangle 68"/>
          <p:cNvSpPr/>
          <p:nvPr/>
        </p:nvSpPr>
        <p:spPr>
          <a:xfrm>
            <a:off x="4434840" y="458571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434840" y="459028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4526280" y="4754880"/>
            <a:ext cx="54864" cy="173736"/>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636008" y="4741164"/>
            <a:ext cx="1792224" cy="201168"/>
          </a:xfrm>
          <a:prstGeom prst="rect">
            <a:avLst/>
          </a:prstGeom>
          <a:noFill/>
        </p:spPr>
        <p:txBody>
          <a:bodyPr wrap="square" lIns="0" tIns="0" rIns="0" bIns="0" anchor="t">
            <a:spAutoFit/>
          </a:bodyPr>
          <a:lstStyle/>
          <a:p>
            <a:pPr algn="l"/>
            <a:r>
              <a:rPr sz="1000" b="1" i="0">
                <a:solidFill>
                  <a:srgbClr val="EDF4FF"/>
                </a:solidFill>
                <a:latin typeface="Calibri"/>
              </a:rPr>
              <a:t>Investors — Private</a:t>
            </a:r>
          </a:p>
        </p:txBody>
      </p:sp>
      <p:sp>
        <p:nvSpPr>
          <p:cNvPr id="73" name="TextBox 72"/>
          <p:cNvSpPr txBox="1"/>
          <p:nvPr/>
        </p:nvSpPr>
        <p:spPr>
          <a:xfrm>
            <a:off x="6629400" y="4727448"/>
            <a:ext cx="320040" cy="228600"/>
          </a:xfrm>
          <a:prstGeom prst="rect">
            <a:avLst/>
          </a:prstGeom>
          <a:noFill/>
        </p:spPr>
        <p:txBody>
          <a:bodyPr wrap="square" lIns="0" tIns="0" rIns="0" bIns="0" anchor="t">
            <a:spAutoFit/>
          </a:bodyPr>
          <a:lstStyle/>
          <a:p>
            <a:pPr algn="r"/>
            <a:r>
              <a:rPr sz="1200" b="1" i="0">
                <a:solidFill>
                  <a:srgbClr val="FFBF56"/>
                </a:solidFill>
                <a:latin typeface="Calibri"/>
              </a:rPr>
              <a:t>9%</a:t>
            </a:r>
          </a:p>
        </p:txBody>
      </p:sp>
      <p:sp>
        <p:nvSpPr>
          <p:cNvPr id="74" name="TextBox 73"/>
          <p:cNvSpPr txBox="1"/>
          <p:nvPr/>
        </p:nvSpPr>
        <p:spPr>
          <a:xfrm>
            <a:off x="7150608" y="4741164"/>
            <a:ext cx="1234440" cy="201168"/>
          </a:xfrm>
          <a:prstGeom prst="rect">
            <a:avLst/>
          </a:prstGeom>
          <a:noFill/>
        </p:spPr>
        <p:txBody>
          <a:bodyPr wrap="square" lIns="0" tIns="0" rIns="0" bIns="0" anchor="t">
            <a:spAutoFit/>
          </a:bodyPr>
          <a:lstStyle/>
          <a:p>
            <a:pPr algn="l"/>
            <a:r>
              <a:rPr sz="950" b="0" i="0">
                <a:solidFill>
                  <a:srgbClr val="C8DCFF"/>
                </a:solidFill>
                <a:latin typeface="Calibri"/>
              </a:rPr>
              <a:t>18-mo · 3-mo cliff</a:t>
            </a:r>
          </a:p>
        </p:txBody>
      </p:sp>
      <p:sp>
        <p:nvSpPr>
          <p:cNvPr id="75" name="TextBox 74"/>
          <p:cNvSpPr txBox="1"/>
          <p:nvPr/>
        </p:nvSpPr>
        <p:spPr>
          <a:xfrm>
            <a:off x="8567928" y="4663440"/>
            <a:ext cx="3063240" cy="356616"/>
          </a:xfrm>
          <a:prstGeom prst="rect">
            <a:avLst/>
          </a:prstGeom>
          <a:noFill/>
        </p:spPr>
        <p:txBody>
          <a:bodyPr wrap="square" lIns="0" tIns="0" rIns="0" bIns="0" anchor="t">
            <a:spAutoFit/>
          </a:bodyPr>
          <a:lstStyle/>
          <a:p>
            <a:pPr algn="l"/>
            <a:r>
              <a:rPr sz="900" b="0" i="0">
                <a:solidFill>
                  <a:srgbClr val="B8C8E0"/>
                </a:solidFill>
                <a:latin typeface="Calibri"/>
              </a:rPr>
              <a:t>Larger checks, later entry. Slightly bigger allocation, shorter lockup.</a:t>
            </a:r>
          </a:p>
        </p:txBody>
      </p:sp>
      <p:sp>
        <p:nvSpPr>
          <p:cNvPr id="76" name="Rectangle 75"/>
          <p:cNvSpPr/>
          <p:nvPr/>
        </p:nvSpPr>
        <p:spPr>
          <a:xfrm>
            <a:off x="4434840" y="508863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26280" y="5257800"/>
            <a:ext cx="54864" cy="1737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636008" y="5244084"/>
            <a:ext cx="1792224" cy="201168"/>
          </a:xfrm>
          <a:prstGeom prst="rect">
            <a:avLst/>
          </a:prstGeom>
          <a:noFill/>
        </p:spPr>
        <p:txBody>
          <a:bodyPr wrap="square" lIns="0" tIns="0" rIns="0" bIns="0" anchor="t">
            <a:spAutoFit/>
          </a:bodyPr>
          <a:lstStyle/>
          <a:p>
            <a:pPr algn="l"/>
            <a:r>
              <a:rPr sz="1000" b="1" i="0">
                <a:solidFill>
                  <a:srgbClr val="EDF4FF"/>
                </a:solidFill>
                <a:latin typeface="Calibri"/>
              </a:rPr>
              <a:t>Treasury / DAO Reserve</a:t>
            </a:r>
          </a:p>
        </p:txBody>
      </p:sp>
      <p:sp>
        <p:nvSpPr>
          <p:cNvPr id="79" name="TextBox 78"/>
          <p:cNvSpPr txBox="1"/>
          <p:nvPr/>
        </p:nvSpPr>
        <p:spPr>
          <a:xfrm>
            <a:off x="6629400" y="5230368"/>
            <a:ext cx="320040" cy="228600"/>
          </a:xfrm>
          <a:prstGeom prst="rect">
            <a:avLst/>
          </a:prstGeom>
          <a:noFill/>
        </p:spPr>
        <p:txBody>
          <a:bodyPr wrap="square" lIns="0" tIns="0" rIns="0" bIns="0" anchor="t">
            <a:spAutoFit/>
          </a:bodyPr>
          <a:lstStyle/>
          <a:p>
            <a:pPr algn="r"/>
            <a:r>
              <a:rPr sz="1200" b="1" i="0">
                <a:solidFill>
                  <a:srgbClr val="4EE59A"/>
                </a:solidFill>
                <a:latin typeface="Calibri"/>
              </a:rPr>
              <a:t>15%</a:t>
            </a:r>
          </a:p>
        </p:txBody>
      </p:sp>
      <p:sp>
        <p:nvSpPr>
          <p:cNvPr id="80" name="TextBox 79"/>
          <p:cNvSpPr txBox="1"/>
          <p:nvPr/>
        </p:nvSpPr>
        <p:spPr>
          <a:xfrm>
            <a:off x="7150608" y="5244084"/>
            <a:ext cx="1234440" cy="201168"/>
          </a:xfrm>
          <a:prstGeom prst="rect">
            <a:avLst/>
          </a:prstGeom>
          <a:noFill/>
        </p:spPr>
        <p:txBody>
          <a:bodyPr wrap="square" lIns="0" tIns="0" rIns="0" bIns="0" anchor="t">
            <a:spAutoFit/>
          </a:bodyPr>
          <a:lstStyle/>
          <a:p>
            <a:pPr algn="l"/>
            <a:r>
              <a:rPr sz="950" b="0" i="0">
                <a:solidFill>
                  <a:srgbClr val="C8DCFF"/>
                </a:solidFill>
                <a:latin typeface="Calibri"/>
              </a:rPr>
              <a:t>Governance-gated</a:t>
            </a:r>
          </a:p>
        </p:txBody>
      </p:sp>
      <p:sp>
        <p:nvSpPr>
          <p:cNvPr id="81" name="TextBox 80"/>
          <p:cNvSpPr txBox="1"/>
          <p:nvPr/>
        </p:nvSpPr>
        <p:spPr>
          <a:xfrm>
            <a:off x="8567928" y="5166360"/>
            <a:ext cx="3063240" cy="356616"/>
          </a:xfrm>
          <a:prstGeom prst="rect">
            <a:avLst/>
          </a:prstGeom>
          <a:noFill/>
        </p:spPr>
        <p:txBody>
          <a:bodyPr wrap="square" lIns="0" tIns="0" rIns="0" bIns="0" anchor="t">
            <a:spAutoFit/>
          </a:bodyPr>
          <a:lstStyle/>
          <a:p>
            <a:pPr algn="l"/>
            <a:r>
              <a:rPr sz="900" b="0" i="0">
                <a:solidFill>
                  <a:srgbClr val="B8C8E0"/>
                </a:solidFill>
                <a:latin typeface="Calibri"/>
              </a:rPr>
              <a:t>Future runway, audits, opportunistic moves. Community decides how it's spent.</a:t>
            </a:r>
          </a:p>
        </p:txBody>
      </p:sp>
      <p:sp>
        <p:nvSpPr>
          <p:cNvPr id="82" name="Rectangle 81"/>
          <p:cNvSpPr/>
          <p:nvPr/>
        </p:nvSpPr>
        <p:spPr>
          <a:xfrm>
            <a:off x="4434840" y="559155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4434840" y="559612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526280" y="5760720"/>
            <a:ext cx="54864" cy="1737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636008" y="5747004"/>
            <a:ext cx="1792224" cy="201168"/>
          </a:xfrm>
          <a:prstGeom prst="rect">
            <a:avLst/>
          </a:prstGeom>
          <a:noFill/>
        </p:spPr>
        <p:txBody>
          <a:bodyPr wrap="square" lIns="0" tIns="0" rIns="0" bIns="0" anchor="t">
            <a:spAutoFit/>
          </a:bodyPr>
          <a:lstStyle/>
          <a:p>
            <a:pPr algn="l"/>
            <a:r>
              <a:rPr sz="1000" b="1" i="0">
                <a:solidFill>
                  <a:srgbClr val="EDF4FF"/>
                </a:solidFill>
                <a:latin typeface="Calibri"/>
              </a:rPr>
              <a:t>Liquidity Provision</a:t>
            </a:r>
          </a:p>
        </p:txBody>
      </p:sp>
      <p:sp>
        <p:nvSpPr>
          <p:cNvPr id="86" name="TextBox 85"/>
          <p:cNvSpPr txBox="1"/>
          <p:nvPr/>
        </p:nvSpPr>
        <p:spPr>
          <a:xfrm>
            <a:off x="6629400" y="5733288"/>
            <a:ext cx="320040" cy="228600"/>
          </a:xfrm>
          <a:prstGeom prst="rect">
            <a:avLst/>
          </a:prstGeom>
          <a:noFill/>
        </p:spPr>
        <p:txBody>
          <a:bodyPr wrap="square" lIns="0" tIns="0" rIns="0" bIns="0" anchor="t">
            <a:spAutoFit/>
          </a:bodyPr>
          <a:lstStyle/>
          <a:p>
            <a:pPr algn="r"/>
            <a:r>
              <a:rPr sz="1200" b="1" i="0">
                <a:solidFill>
                  <a:srgbClr val="4EE59A"/>
                </a:solidFill>
                <a:latin typeface="Calibri"/>
              </a:rPr>
              <a:t>5%</a:t>
            </a:r>
          </a:p>
        </p:txBody>
      </p:sp>
      <p:sp>
        <p:nvSpPr>
          <p:cNvPr id="87" name="TextBox 86"/>
          <p:cNvSpPr txBox="1"/>
          <p:nvPr/>
        </p:nvSpPr>
        <p:spPr>
          <a:xfrm>
            <a:off x="7150608" y="5747004"/>
            <a:ext cx="1234440" cy="201168"/>
          </a:xfrm>
          <a:prstGeom prst="rect">
            <a:avLst/>
          </a:prstGeom>
          <a:noFill/>
        </p:spPr>
        <p:txBody>
          <a:bodyPr wrap="square" lIns="0" tIns="0" rIns="0" bIns="0" anchor="t">
            <a:spAutoFit/>
          </a:bodyPr>
          <a:lstStyle/>
          <a:p>
            <a:pPr algn="l"/>
            <a:r>
              <a:rPr sz="950" b="0" i="0">
                <a:solidFill>
                  <a:srgbClr val="C8DCFF"/>
                </a:solidFill>
                <a:latin typeface="Calibri"/>
              </a:rPr>
              <a:t>Unlocked at TGE</a:t>
            </a:r>
          </a:p>
        </p:txBody>
      </p:sp>
      <p:sp>
        <p:nvSpPr>
          <p:cNvPr id="88" name="TextBox 87"/>
          <p:cNvSpPr txBox="1"/>
          <p:nvPr/>
        </p:nvSpPr>
        <p:spPr>
          <a:xfrm>
            <a:off x="8567928" y="5669280"/>
            <a:ext cx="3063240" cy="356616"/>
          </a:xfrm>
          <a:prstGeom prst="rect">
            <a:avLst/>
          </a:prstGeom>
          <a:noFill/>
        </p:spPr>
        <p:txBody>
          <a:bodyPr wrap="square" lIns="0" tIns="0" rIns="0" bIns="0" anchor="t">
            <a:spAutoFit/>
          </a:bodyPr>
          <a:lstStyle/>
          <a:p>
            <a:pPr algn="l"/>
            <a:r>
              <a:rPr sz="900" b="0" i="0">
                <a:solidFill>
                  <a:srgbClr val="B8C8E0"/>
                </a:solidFill>
                <a:latin typeface="Calibri"/>
              </a:rPr>
              <a:t>Market-making capital must be liquid from day one to function on DEXes and CEXes.</a:t>
            </a:r>
          </a:p>
        </p:txBody>
      </p:sp>
      <p:sp>
        <p:nvSpPr>
          <p:cNvPr id="89" name="Rounded Rectangle 88"/>
          <p:cNvSpPr/>
          <p:nvPr/>
        </p:nvSpPr>
        <p:spPr>
          <a:xfrm>
            <a:off x="502920" y="6080760"/>
            <a:ext cx="11183112" cy="45720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502920" y="6172200"/>
            <a:ext cx="54864" cy="2743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85800" y="6153912"/>
            <a:ext cx="2743200" cy="182880"/>
          </a:xfrm>
          <a:prstGeom prst="rect">
            <a:avLst/>
          </a:prstGeom>
          <a:noFill/>
        </p:spPr>
        <p:txBody>
          <a:bodyPr wrap="square" lIns="0" tIns="0" rIns="0" bIns="0" anchor="t">
            <a:spAutoFit/>
          </a:bodyPr>
          <a:lstStyle/>
          <a:p>
            <a:pPr algn="l"/>
            <a:r>
              <a:rPr sz="950" b="1" i="0">
                <a:solidFill>
                  <a:srgbClr val="FFBF56"/>
                </a:solidFill>
                <a:latin typeface="Calibri"/>
              </a:rPr>
              <a:t>KEY ASSUMPTIONS</a:t>
            </a:r>
          </a:p>
        </p:txBody>
      </p:sp>
      <p:sp>
        <p:nvSpPr>
          <p:cNvPr id="92" name="TextBox 91"/>
          <p:cNvSpPr txBox="1"/>
          <p:nvPr/>
        </p:nvSpPr>
        <p:spPr>
          <a:xfrm>
            <a:off x="2286000" y="6153912"/>
            <a:ext cx="9144000" cy="365760"/>
          </a:xfrm>
          <a:prstGeom prst="rect">
            <a:avLst/>
          </a:prstGeom>
          <a:noFill/>
        </p:spPr>
        <p:txBody>
          <a:bodyPr wrap="square" lIns="0" tIns="0" rIns="0" bIns="0" anchor="t">
            <a:spAutoFit/>
          </a:bodyPr>
          <a:lstStyle/>
          <a:p>
            <a:pPr algn="l"/>
            <a:r>
              <a:rPr sz="900" b="0" i="1">
                <a:solidFill>
                  <a:srgbClr val="B8C8E0"/>
                </a:solidFill>
                <a:latin typeface="Calibri"/>
              </a:rPr>
              <a:t>Insider supply (team + investors) capped at 35% · industry norm 40–50%.  All vesting starts at TGE.  Rebates and revenue paid in stablecoins, never in $MOTO — token has utility only.</a:t>
            </a:r>
          </a:p>
        </p:txBody>
      </p:sp>
      <p:sp>
        <p:nvSpPr>
          <p:cNvPr id="93" name="Rectangle 9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token-design benchmarks from comparable DeFi RWA protocols · subject to advisor review</a:t>
            </a:r>
          </a:p>
        </p:txBody>
      </p:sp>
      <p:sp>
        <p:nvSpPr>
          <p:cNvPr id="95" name="TextBox 9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PREMIUM POOL ALLOCATION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Where Every Premium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Of every ₩100 a rider pays, here's how it's split — and why each percentage is what it is</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6344" y="1837943"/>
            <a:ext cx="11256264" cy="512064"/>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874519"/>
            <a:ext cx="1341973" cy="43891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984247"/>
            <a:ext cx="1341973" cy="256032"/>
          </a:xfrm>
          <a:prstGeom prst="rect">
            <a:avLst/>
          </a:prstGeom>
          <a:noFill/>
        </p:spPr>
        <p:txBody>
          <a:bodyPr wrap="square" lIns="0" tIns="0" rIns="0" bIns="0" anchor="t">
            <a:spAutoFit/>
          </a:bodyPr>
          <a:lstStyle/>
          <a:p>
            <a:pPr algn="ctr"/>
            <a:r>
              <a:rPr sz="1100" b="1" i="0">
                <a:solidFill>
                  <a:srgbClr val="050A12"/>
                </a:solidFill>
                <a:latin typeface="Calibri"/>
              </a:rPr>
              <a:t>12%</a:t>
            </a:r>
          </a:p>
        </p:txBody>
      </p:sp>
      <p:sp>
        <p:nvSpPr>
          <p:cNvPr id="13" name="Rectangle 12"/>
          <p:cNvSpPr/>
          <p:nvPr/>
        </p:nvSpPr>
        <p:spPr>
          <a:xfrm>
            <a:off x="1844893" y="1874519"/>
            <a:ext cx="2795778" cy="438912"/>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44893" y="1984247"/>
            <a:ext cx="2795778" cy="256032"/>
          </a:xfrm>
          <a:prstGeom prst="rect">
            <a:avLst/>
          </a:prstGeom>
          <a:noFill/>
        </p:spPr>
        <p:txBody>
          <a:bodyPr wrap="square" lIns="0" tIns="0" rIns="0" bIns="0" anchor="t">
            <a:spAutoFit/>
          </a:bodyPr>
          <a:lstStyle/>
          <a:p>
            <a:pPr algn="ctr"/>
            <a:r>
              <a:rPr sz="1100" b="1" i="0">
                <a:solidFill>
                  <a:srgbClr val="050A12"/>
                </a:solidFill>
                <a:latin typeface="Calibri"/>
              </a:rPr>
              <a:t>25%</a:t>
            </a:r>
          </a:p>
        </p:txBody>
      </p:sp>
      <p:sp>
        <p:nvSpPr>
          <p:cNvPr id="15" name="Rectangle 14"/>
          <p:cNvSpPr/>
          <p:nvPr/>
        </p:nvSpPr>
        <p:spPr>
          <a:xfrm>
            <a:off x="4640671" y="1874519"/>
            <a:ext cx="2236622" cy="438912"/>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40671" y="1984247"/>
            <a:ext cx="2236622" cy="256032"/>
          </a:xfrm>
          <a:prstGeom prst="rect">
            <a:avLst/>
          </a:prstGeom>
          <a:noFill/>
        </p:spPr>
        <p:txBody>
          <a:bodyPr wrap="square" lIns="0" tIns="0" rIns="0" bIns="0" anchor="t">
            <a:spAutoFit/>
          </a:bodyPr>
          <a:lstStyle/>
          <a:p>
            <a:pPr algn="ctr"/>
            <a:r>
              <a:rPr sz="1100" b="1" i="0">
                <a:solidFill>
                  <a:srgbClr val="050A12"/>
                </a:solidFill>
                <a:latin typeface="Calibri"/>
              </a:rPr>
              <a:t>20%</a:t>
            </a:r>
          </a:p>
        </p:txBody>
      </p:sp>
      <p:sp>
        <p:nvSpPr>
          <p:cNvPr id="17" name="Rectangle 16"/>
          <p:cNvSpPr/>
          <p:nvPr/>
        </p:nvSpPr>
        <p:spPr>
          <a:xfrm>
            <a:off x="6877293" y="1874519"/>
            <a:ext cx="1118311" cy="438912"/>
          </a:xfrm>
          <a:prstGeom prst="rect">
            <a:avLst/>
          </a:prstGeom>
          <a:solidFill>
            <a:srgbClr val="5B7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77293" y="1984247"/>
            <a:ext cx="1118311" cy="256032"/>
          </a:xfrm>
          <a:prstGeom prst="rect">
            <a:avLst/>
          </a:prstGeom>
          <a:noFill/>
        </p:spPr>
        <p:txBody>
          <a:bodyPr wrap="square" lIns="0" tIns="0" rIns="0" bIns="0" anchor="t">
            <a:spAutoFit/>
          </a:bodyPr>
          <a:lstStyle/>
          <a:p>
            <a:pPr algn="ctr"/>
            <a:r>
              <a:rPr sz="1100" b="1" i="0">
                <a:solidFill>
                  <a:srgbClr val="050A12"/>
                </a:solidFill>
                <a:latin typeface="Calibri"/>
              </a:rPr>
              <a:t>10%</a:t>
            </a:r>
          </a:p>
        </p:txBody>
      </p:sp>
      <p:sp>
        <p:nvSpPr>
          <p:cNvPr id="19" name="Rectangle 18"/>
          <p:cNvSpPr/>
          <p:nvPr/>
        </p:nvSpPr>
        <p:spPr>
          <a:xfrm>
            <a:off x="7995605" y="1874519"/>
            <a:ext cx="2012960" cy="438912"/>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95605" y="1984247"/>
            <a:ext cx="2012960" cy="256032"/>
          </a:xfrm>
          <a:prstGeom prst="rect">
            <a:avLst/>
          </a:prstGeom>
          <a:noFill/>
        </p:spPr>
        <p:txBody>
          <a:bodyPr wrap="square" lIns="0" tIns="0" rIns="0" bIns="0" anchor="t">
            <a:spAutoFit/>
          </a:bodyPr>
          <a:lstStyle/>
          <a:p>
            <a:pPr algn="ctr"/>
            <a:r>
              <a:rPr sz="1100" b="1" i="0">
                <a:solidFill>
                  <a:srgbClr val="050A12"/>
                </a:solidFill>
                <a:latin typeface="Calibri"/>
              </a:rPr>
              <a:t>18%</a:t>
            </a:r>
          </a:p>
        </p:txBody>
      </p:sp>
      <p:sp>
        <p:nvSpPr>
          <p:cNvPr id="21" name="Rectangle 20"/>
          <p:cNvSpPr/>
          <p:nvPr/>
        </p:nvSpPr>
        <p:spPr>
          <a:xfrm>
            <a:off x="10008565" y="1874519"/>
            <a:ext cx="559155" cy="43891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08565" y="1984247"/>
            <a:ext cx="559155" cy="256032"/>
          </a:xfrm>
          <a:prstGeom prst="rect">
            <a:avLst/>
          </a:prstGeom>
          <a:noFill/>
        </p:spPr>
        <p:txBody>
          <a:bodyPr wrap="square" lIns="0" tIns="0" rIns="0" bIns="0" anchor="t">
            <a:spAutoFit/>
          </a:bodyPr>
          <a:lstStyle/>
          <a:p>
            <a:pPr algn="ctr"/>
            <a:r>
              <a:rPr sz="900" b="1" i="0">
                <a:solidFill>
                  <a:srgbClr val="050A12"/>
                </a:solidFill>
                <a:latin typeface="Calibri"/>
              </a:rPr>
              <a:t>5%</a:t>
            </a:r>
          </a:p>
        </p:txBody>
      </p:sp>
      <p:sp>
        <p:nvSpPr>
          <p:cNvPr id="23" name="Rectangle 22"/>
          <p:cNvSpPr/>
          <p:nvPr/>
        </p:nvSpPr>
        <p:spPr>
          <a:xfrm>
            <a:off x="10567720" y="1874519"/>
            <a:ext cx="1118311" cy="438912"/>
          </a:xfrm>
          <a:prstGeom prst="rect">
            <a:avLst/>
          </a:prstGeom>
          <a:solidFill>
            <a:srgbClr val="4F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567720" y="1984247"/>
            <a:ext cx="1118311" cy="256032"/>
          </a:xfrm>
          <a:prstGeom prst="rect">
            <a:avLst/>
          </a:prstGeom>
          <a:noFill/>
        </p:spPr>
        <p:txBody>
          <a:bodyPr wrap="square" lIns="0" tIns="0" rIns="0" bIns="0" anchor="t">
            <a:spAutoFit/>
          </a:bodyPr>
          <a:lstStyle/>
          <a:p>
            <a:pPr algn="ctr"/>
            <a:r>
              <a:rPr sz="1100" b="1" i="0">
                <a:solidFill>
                  <a:srgbClr val="050A12"/>
                </a:solidFill>
                <a:latin typeface="Calibri"/>
              </a:rPr>
              <a:t>10%</a:t>
            </a:r>
          </a:p>
        </p:txBody>
      </p:sp>
      <p:sp>
        <p:nvSpPr>
          <p:cNvPr id="25" name="TextBox 24"/>
          <p:cNvSpPr txBox="1"/>
          <p:nvPr/>
        </p:nvSpPr>
        <p:spPr>
          <a:xfrm>
            <a:off x="502920" y="2368295"/>
            <a:ext cx="6400800" cy="182880"/>
          </a:xfrm>
          <a:prstGeom prst="rect">
            <a:avLst/>
          </a:prstGeom>
          <a:noFill/>
        </p:spPr>
        <p:txBody>
          <a:bodyPr wrap="square" lIns="0" tIns="0" rIns="0" bIns="0" anchor="t">
            <a:spAutoFit/>
          </a:bodyPr>
          <a:lstStyle/>
          <a:p>
            <a:pPr algn="l"/>
            <a:r>
              <a:rPr sz="900" b="0" i="1">
                <a:solidFill>
                  <a:srgbClr val="B8C8E0"/>
                </a:solidFill>
                <a:latin typeface="Calibri"/>
              </a:rPr>
              <a:t>100% of every premium ₩  →  split across 7 buckets</a:t>
            </a:r>
          </a:p>
        </p:txBody>
      </p:sp>
      <p:sp>
        <p:nvSpPr>
          <p:cNvPr id="26" name="TextBox 25"/>
          <p:cNvSpPr txBox="1"/>
          <p:nvPr/>
        </p:nvSpPr>
        <p:spPr>
          <a:xfrm>
            <a:off x="7818120" y="2368295"/>
            <a:ext cx="3867912" cy="182880"/>
          </a:xfrm>
          <a:prstGeom prst="rect">
            <a:avLst/>
          </a:prstGeom>
          <a:noFill/>
        </p:spPr>
        <p:txBody>
          <a:bodyPr wrap="square" lIns="0" tIns="0" rIns="0" bIns="0" anchor="t">
            <a:spAutoFit/>
          </a:bodyPr>
          <a:lstStyle/>
          <a:p>
            <a:pPr algn="r"/>
            <a:r>
              <a:rPr sz="900" b="0" i="1">
                <a:solidFill>
                  <a:srgbClr val="FFBF56"/>
                </a:solidFill>
                <a:latin typeface="Calibri"/>
              </a:rPr>
              <a:t>DeFi yield cap (see below) is separate, not in the 100%</a:t>
            </a:r>
          </a:p>
        </p:txBody>
      </p:sp>
      <p:sp>
        <p:nvSpPr>
          <p:cNvPr id="27" name="TextBox 26"/>
          <p:cNvSpPr txBox="1"/>
          <p:nvPr/>
        </p:nvSpPr>
        <p:spPr>
          <a:xfrm>
            <a:off x="502920" y="2670048"/>
            <a:ext cx="7315200" cy="201168"/>
          </a:xfrm>
          <a:prstGeom prst="rect">
            <a:avLst/>
          </a:prstGeom>
          <a:noFill/>
        </p:spPr>
        <p:txBody>
          <a:bodyPr wrap="square" lIns="0" tIns="0" rIns="0" bIns="0" anchor="t">
            <a:spAutoFit/>
          </a:bodyPr>
          <a:lstStyle/>
          <a:p>
            <a:pPr algn="l"/>
            <a:r>
              <a:rPr sz="1050" b="1" i="0">
                <a:solidFill>
                  <a:srgbClr val="9CC6FF"/>
                </a:solidFill>
                <a:latin typeface="Calibri"/>
              </a:rPr>
              <a:t>WHY EACH PERCENTAGE</a:t>
            </a:r>
          </a:p>
        </p:txBody>
      </p:sp>
      <p:sp>
        <p:nvSpPr>
          <p:cNvPr id="28" name="Rectangle 27"/>
          <p:cNvSpPr/>
          <p:nvPr/>
        </p:nvSpPr>
        <p:spPr>
          <a:xfrm>
            <a:off x="502920" y="2889504"/>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02920" y="2971800"/>
            <a:ext cx="11183112" cy="2852928"/>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2971800"/>
            <a:ext cx="11183112"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26664"/>
            <a:ext cx="2505456" cy="182880"/>
          </a:xfrm>
          <a:prstGeom prst="rect">
            <a:avLst/>
          </a:prstGeom>
          <a:noFill/>
        </p:spPr>
        <p:txBody>
          <a:bodyPr wrap="square" lIns="0" tIns="0" rIns="0" bIns="0" anchor="t">
            <a:spAutoFit/>
          </a:bodyPr>
          <a:lstStyle/>
          <a:p>
            <a:pPr algn="l"/>
            <a:r>
              <a:rPr sz="950" b="1" i="0">
                <a:solidFill>
                  <a:srgbClr val="9CC6FF"/>
                </a:solidFill>
                <a:latin typeface="Calibri"/>
              </a:rPr>
              <a:t>ALLOCATION</a:t>
            </a:r>
          </a:p>
        </p:txBody>
      </p:sp>
      <p:sp>
        <p:nvSpPr>
          <p:cNvPr id="32" name="TextBox 31"/>
          <p:cNvSpPr txBox="1"/>
          <p:nvPr/>
        </p:nvSpPr>
        <p:spPr>
          <a:xfrm>
            <a:off x="3520440" y="3026664"/>
            <a:ext cx="310896" cy="182880"/>
          </a:xfrm>
          <a:prstGeom prst="rect">
            <a:avLst/>
          </a:prstGeom>
          <a:noFill/>
        </p:spPr>
        <p:txBody>
          <a:bodyPr wrap="square" lIns="0" tIns="0" rIns="0" bIns="0" anchor="t">
            <a:spAutoFit/>
          </a:bodyPr>
          <a:lstStyle/>
          <a:p>
            <a:pPr algn="r"/>
            <a:r>
              <a:rPr sz="950" b="1" i="0">
                <a:solidFill>
                  <a:srgbClr val="9CC6FF"/>
                </a:solidFill>
                <a:latin typeface="Calibri"/>
              </a:rPr>
              <a:t>%</a:t>
            </a:r>
          </a:p>
        </p:txBody>
      </p:sp>
      <p:sp>
        <p:nvSpPr>
          <p:cNvPr id="33" name="TextBox 32"/>
          <p:cNvSpPr txBox="1"/>
          <p:nvPr/>
        </p:nvSpPr>
        <p:spPr>
          <a:xfrm>
            <a:off x="4160520" y="3026664"/>
            <a:ext cx="2002536" cy="182880"/>
          </a:xfrm>
          <a:prstGeom prst="rect">
            <a:avLst/>
          </a:prstGeom>
          <a:noFill/>
        </p:spPr>
        <p:txBody>
          <a:bodyPr wrap="square" lIns="0" tIns="0" rIns="0" bIns="0" anchor="t">
            <a:spAutoFit/>
          </a:bodyPr>
          <a:lstStyle/>
          <a:p>
            <a:pPr algn="l"/>
            <a:r>
              <a:rPr sz="950" b="1" i="0">
                <a:solidFill>
                  <a:srgbClr val="9CC6FF"/>
                </a:solidFill>
                <a:latin typeface="Calibri"/>
              </a:rPr>
              <a:t>PURPOSE</a:t>
            </a:r>
          </a:p>
        </p:txBody>
      </p:sp>
      <p:sp>
        <p:nvSpPr>
          <p:cNvPr id="34" name="TextBox 33"/>
          <p:cNvSpPr txBox="1"/>
          <p:nvPr/>
        </p:nvSpPr>
        <p:spPr>
          <a:xfrm>
            <a:off x="6492240" y="3026664"/>
            <a:ext cx="5047488" cy="182880"/>
          </a:xfrm>
          <a:prstGeom prst="rect">
            <a:avLst/>
          </a:prstGeom>
          <a:noFill/>
        </p:spPr>
        <p:txBody>
          <a:bodyPr wrap="square" lIns="0" tIns="0" rIns="0" bIns="0" anchor="t">
            <a:spAutoFit/>
          </a:bodyPr>
          <a:lstStyle/>
          <a:p>
            <a:pPr algn="l"/>
            <a:r>
              <a:rPr sz="950" b="1" i="0">
                <a:solidFill>
                  <a:srgbClr val="9CC6FF"/>
                </a:solidFill>
                <a:latin typeface="Calibri"/>
              </a:rPr>
              <a:t>WHY THIS PERCENTAGE</a:t>
            </a:r>
          </a:p>
        </p:txBody>
      </p:sp>
      <p:sp>
        <p:nvSpPr>
          <p:cNvPr id="35" name="Rectangle 34"/>
          <p:cNvSpPr/>
          <p:nvPr/>
        </p:nvSpPr>
        <p:spPr>
          <a:xfrm>
            <a:off x="502920" y="3250692"/>
            <a:ext cx="11183112"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2920" y="326440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 y="3355848"/>
            <a:ext cx="54864" cy="18288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04088" y="3346704"/>
            <a:ext cx="2523744" cy="201168"/>
          </a:xfrm>
          <a:prstGeom prst="rect">
            <a:avLst/>
          </a:prstGeom>
          <a:noFill/>
        </p:spPr>
        <p:txBody>
          <a:bodyPr wrap="square" lIns="0" tIns="0" rIns="0" bIns="0" anchor="t">
            <a:spAutoFit/>
          </a:bodyPr>
          <a:lstStyle/>
          <a:p>
            <a:pPr algn="l"/>
            <a:r>
              <a:rPr sz="1050" b="1" i="0">
                <a:solidFill>
                  <a:srgbClr val="EDF4FF"/>
                </a:solidFill>
                <a:latin typeface="Calibri"/>
              </a:rPr>
              <a:t>Expected claims (loss + buffer)</a:t>
            </a:r>
          </a:p>
        </p:txBody>
      </p:sp>
      <p:sp>
        <p:nvSpPr>
          <p:cNvPr id="39" name="TextBox 38"/>
          <p:cNvSpPr txBox="1"/>
          <p:nvPr/>
        </p:nvSpPr>
        <p:spPr>
          <a:xfrm>
            <a:off x="3429000" y="3310128"/>
            <a:ext cx="457200" cy="274320"/>
          </a:xfrm>
          <a:prstGeom prst="rect">
            <a:avLst/>
          </a:prstGeom>
          <a:noFill/>
        </p:spPr>
        <p:txBody>
          <a:bodyPr wrap="square" lIns="0" tIns="0" rIns="0" bIns="0" anchor="t">
            <a:spAutoFit/>
          </a:bodyPr>
          <a:lstStyle/>
          <a:p>
            <a:pPr algn="r"/>
            <a:r>
              <a:rPr sz="1500" b="1" i="0">
                <a:solidFill>
                  <a:srgbClr val="4AA3FF"/>
                </a:solidFill>
                <a:latin typeface="Calibri"/>
              </a:rPr>
              <a:t>12%</a:t>
            </a:r>
          </a:p>
        </p:txBody>
      </p:sp>
      <p:sp>
        <p:nvSpPr>
          <p:cNvPr id="40" name="TextBox 39"/>
          <p:cNvSpPr txBox="1"/>
          <p:nvPr/>
        </p:nvSpPr>
        <p:spPr>
          <a:xfrm>
            <a:off x="4105656" y="3346704"/>
            <a:ext cx="2148840" cy="201168"/>
          </a:xfrm>
          <a:prstGeom prst="rect">
            <a:avLst/>
          </a:prstGeom>
          <a:noFill/>
        </p:spPr>
        <p:txBody>
          <a:bodyPr wrap="square" lIns="0" tIns="0" rIns="0" bIns="0" anchor="t">
            <a:spAutoFit/>
          </a:bodyPr>
          <a:lstStyle/>
          <a:p>
            <a:pPr algn="l"/>
            <a:r>
              <a:rPr sz="950" b="0" i="1">
                <a:solidFill>
                  <a:srgbClr val="C8DCFF"/>
                </a:solidFill>
                <a:latin typeface="Calibri"/>
              </a:rPr>
              <a:t>Pays approved claims</a:t>
            </a:r>
          </a:p>
        </p:txBody>
      </p:sp>
      <p:sp>
        <p:nvSpPr>
          <p:cNvPr id="41" name="TextBox 40"/>
          <p:cNvSpPr txBox="1"/>
          <p:nvPr/>
        </p:nvSpPr>
        <p:spPr>
          <a:xfrm>
            <a:off x="6437376" y="3337560"/>
            <a:ext cx="5193792" cy="219456"/>
          </a:xfrm>
          <a:prstGeom prst="rect">
            <a:avLst/>
          </a:prstGeom>
          <a:noFill/>
        </p:spPr>
        <p:txBody>
          <a:bodyPr wrap="square" lIns="0" tIns="0" rIns="0" bIns="0" anchor="t">
            <a:spAutoFit/>
          </a:bodyPr>
          <a:lstStyle/>
          <a:p>
            <a:pPr algn="l"/>
            <a:r>
              <a:rPr sz="950" b="0" i="0">
                <a:solidFill>
                  <a:srgbClr val="B8C8E0"/>
                </a:solidFill>
                <a:latin typeface="Calibri"/>
              </a:rPr>
              <a:t>Modeled loss ratio is ~8.9% (8% × ₩1.2M). The extra ~3% is a safety buffer for actuarial drift.</a:t>
            </a:r>
          </a:p>
        </p:txBody>
      </p:sp>
      <p:sp>
        <p:nvSpPr>
          <p:cNvPr id="42" name="Rectangle 41"/>
          <p:cNvSpPr/>
          <p:nvPr/>
        </p:nvSpPr>
        <p:spPr>
          <a:xfrm>
            <a:off x="502920" y="362559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94360" y="3721608"/>
            <a:ext cx="54864" cy="18288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04088" y="3712464"/>
            <a:ext cx="2523744" cy="201168"/>
          </a:xfrm>
          <a:prstGeom prst="rect">
            <a:avLst/>
          </a:prstGeom>
          <a:noFill/>
        </p:spPr>
        <p:txBody>
          <a:bodyPr wrap="square" lIns="0" tIns="0" rIns="0" bIns="0" anchor="t">
            <a:spAutoFit/>
          </a:bodyPr>
          <a:lstStyle/>
          <a:p>
            <a:pPr algn="l"/>
            <a:r>
              <a:rPr sz="1050" b="1" i="0">
                <a:solidFill>
                  <a:srgbClr val="EDF4FF"/>
                </a:solidFill>
                <a:latin typeface="Calibri"/>
              </a:rPr>
              <a:t>Liquidity reserve</a:t>
            </a:r>
          </a:p>
        </p:txBody>
      </p:sp>
      <p:sp>
        <p:nvSpPr>
          <p:cNvPr id="45" name="TextBox 44"/>
          <p:cNvSpPr txBox="1"/>
          <p:nvPr/>
        </p:nvSpPr>
        <p:spPr>
          <a:xfrm>
            <a:off x="3429000" y="3675888"/>
            <a:ext cx="457200" cy="274320"/>
          </a:xfrm>
          <a:prstGeom prst="rect">
            <a:avLst/>
          </a:prstGeom>
          <a:noFill/>
        </p:spPr>
        <p:txBody>
          <a:bodyPr wrap="square" lIns="0" tIns="0" rIns="0" bIns="0" anchor="t">
            <a:spAutoFit/>
          </a:bodyPr>
          <a:lstStyle/>
          <a:p>
            <a:pPr algn="r"/>
            <a:r>
              <a:rPr sz="1500" b="1" i="0">
                <a:solidFill>
                  <a:srgbClr val="9CC6FF"/>
                </a:solidFill>
                <a:latin typeface="Calibri"/>
              </a:rPr>
              <a:t>25%</a:t>
            </a:r>
          </a:p>
        </p:txBody>
      </p:sp>
      <p:sp>
        <p:nvSpPr>
          <p:cNvPr id="46" name="TextBox 45"/>
          <p:cNvSpPr txBox="1"/>
          <p:nvPr/>
        </p:nvSpPr>
        <p:spPr>
          <a:xfrm>
            <a:off x="4105656" y="3712464"/>
            <a:ext cx="2148840" cy="201168"/>
          </a:xfrm>
          <a:prstGeom prst="rect">
            <a:avLst/>
          </a:prstGeom>
          <a:noFill/>
        </p:spPr>
        <p:txBody>
          <a:bodyPr wrap="square" lIns="0" tIns="0" rIns="0" bIns="0" anchor="t">
            <a:spAutoFit/>
          </a:bodyPr>
          <a:lstStyle/>
          <a:p>
            <a:pPr algn="l"/>
            <a:r>
              <a:rPr sz="950" b="0" i="1">
                <a:solidFill>
                  <a:srgbClr val="C8DCFF"/>
                </a:solidFill>
                <a:latin typeface="Calibri"/>
              </a:rPr>
              <a:t>Always-liquid claim coverage</a:t>
            </a:r>
          </a:p>
        </p:txBody>
      </p:sp>
      <p:sp>
        <p:nvSpPr>
          <p:cNvPr id="47" name="TextBox 46"/>
          <p:cNvSpPr txBox="1"/>
          <p:nvPr/>
        </p:nvSpPr>
        <p:spPr>
          <a:xfrm>
            <a:off x="6437376" y="3703320"/>
            <a:ext cx="5193792" cy="219456"/>
          </a:xfrm>
          <a:prstGeom prst="rect">
            <a:avLst/>
          </a:prstGeom>
          <a:noFill/>
        </p:spPr>
        <p:txBody>
          <a:bodyPr wrap="square" lIns="0" tIns="0" rIns="0" bIns="0" anchor="t">
            <a:spAutoFit/>
          </a:bodyPr>
          <a:lstStyle/>
          <a:p>
            <a:pPr algn="l"/>
            <a:r>
              <a:rPr sz="950" b="0" i="0">
                <a:solidFill>
                  <a:srgbClr val="B8C8E0"/>
                </a:solidFill>
                <a:latin typeface="Calibri"/>
              </a:rPr>
              <a:t>USDC kept immediately accessible. Above the industry 15–20% norm — no track record yet, extra caution.</a:t>
            </a:r>
          </a:p>
        </p:txBody>
      </p:sp>
      <p:sp>
        <p:nvSpPr>
          <p:cNvPr id="48" name="Rectangle 47"/>
          <p:cNvSpPr/>
          <p:nvPr/>
        </p:nvSpPr>
        <p:spPr>
          <a:xfrm>
            <a:off x="502920" y="399135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2920" y="399592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94360" y="4087368"/>
            <a:ext cx="54864" cy="18288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04088" y="4078224"/>
            <a:ext cx="2523744" cy="201168"/>
          </a:xfrm>
          <a:prstGeom prst="rect">
            <a:avLst/>
          </a:prstGeom>
          <a:noFill/>
        </p:spPr>
        <p:txBody>
          <a:bodyPr wrap="square" lIns="0" tIns="0" rIns="0" bIns="0" anchor="t">
            <a:spAutoFit/>
          </a:bodyPr>
          <a:lstStyle/>
          <a:p>
            <a:pPr algn="l"/>
            <a:r>
              <a:rPr sz="1050" b="1" i="0">
                <a:solidFill>
                  <a:srgbClr val="EDF4FF"/>
                </a:solidFill>
                <a:latin typeface="Calibri"/>
              </a:rPr>
              <a:t>Catastrophe reserve</a:t>
            </a:r>
          </a:p>
        </p:txBody>
      </p:sp>
      <p:sp>
        <p:nvSpPr>
          <p:cNvPr id="52" name="TextBox 51"/>
          <p:cNvSpPr txBox="1"/>
          <p:nvPr/>
        </p:nvSpPr>
        <p:spPr>
          <a:xfrm>
            <a:off x="3429000" y="4041648"/>
            <a:ext cx="457200" cy="274320"/>
          </a:xfrm>
          <a:prstGeom prst="rect">
            <a:avLst/>
          </a:prstGeom>
          <a:noFill/>
        </p:spPr>
        <p:txBody>
          <a:bodyPr wrap="square" lIns="0" tIns="0" rIns="0" bIns="0" anchor="t">
            <a:spAutoFit/>
          </a:bodyPr>
          <a:lstStyle/>
          <a:p>
            <a:pPr algn="r"/>
            <a:r>
              <a:rPr sz="1500" b="1" i="0">
                <a:solidFill>
                  <a:srgbClr val="27D8D8"/>
                </a:solidFill>
                <a:latin typeface="Calibri"/>
              </a:rPr>
              <a:t>20%</a:t>
            </a:r>
          </a:p>
        </p:txBody>
      </p:sp>
      <p:sp>
        <p:nvSpPr>
          <p:cNvPr id="53" name="TextBox 52"/>
          <p:cNvSpPr txBox="1"/>
          <p:nvPr/>
        </p:nvSpPr>
        <p:spPr>
          <a:xfrm>
            <a:off x="4105656" y="4078224"/>
            <a:ext cx="2148840" cy="201168"/>
          </a:xfrm>
          <a:prstGeom prst="rect">
            <a:avLst/>
          </a:prstGeom>
          <a:noFill/>
        </p:spPr>
        <p:txBody>
          <a:bodyPr wrap="square" lIns="0" tIns="0" rIns="0" bIns="0" anchor="t">
            <a:spAutoFit/>
          </a:bodyPr>
          <a:lstStyle/>
          <a:p>
            <a:pPr algn="l"/>
            <a:r>
              <a:rPr sz="950" b="0" i="1">
                <a:solidFill>
                  <a:srgbClr val="C8DCFF"/>
                </a:solidFill>
                <a:latin typeface="Calibri"/>
              </a:rPr>
              <a:t>Typhoon / mass-event buffer</a:t>
            </a:r>
          </a:p>
        </p:txBody>
      </p:sp>
      <p:sp>
        <p:nvSpPr>
          <p:cNvPr id="54" name="TextBox 53"/>
          <p:cNvSpPr txBox="1"/>
          <p:nvPr/>
        </p:nvSpPr>
        <p:spPr>
          <a:xfrm>
            <a:off x="6437376" y="4069080"/>
            <a:ext cx="5193792" cy="219456"/>
          </a:xfrm>
          <a:prstGeom prst="rect">
            <a:avLst/>
          </a:prstGeom>
          <a:noFill/>
        </p:spPr>
        <p:txBody>
          <a:bodyPr wrap="square" lIns="0" tIns="0" rIns="0" bIns="0" anchor="t">
            <a:spAutoFit/>
          </a:bodyPr>
          <a:lstStyle/>
          <a:p>
            <a:pPr algn="l"/>
            <a:r>
              <a:rPr sz="950" b="0" i="0">
                <a:solidFill>
                  <a:srgbClr val="B8C8E0"/>
                </a:solidFill>
                <a:latin typeface="Calibri"/>
              </a:rPr>
              <a:t>Korean typhoons hit every year. We treat them as base-case events, not tail events — bigger reserve.</a:t>
            </a:r>
          </a:p>
        </p:txBody>
      </p:sp>
      <p:sp>
        <p:nvSpPr>
          <p:cNvPr id="55" name="Rectangle 54"/>
          <p:cNvSpPr/>
          <p:nvPr/>
        </p:nvSpPr>
        <p:spPr>
          <a:xfrm>
            <a:off x="502920" y="435711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94360" y="4453128"/>
            <a:ext cx="54864" cy="182880"/>
          </a:xfrm>
          <a:prstGeom prst="rect">
            <a:avLst/>
          </a:prstGeom>
          <a:solidFill>
            <a:srgbClr val="5B7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4088" y="4443984"/>
            <a:ext cx="2523744" cy="201168"/>
          </a:xfrm>
          <a:prstGeom prst="rect">
            <a:avLst/>
          </a:prstGeom>
          <a:noFill/>
        </p:spPr>
        <p:txBody>
          <a:bodyPr wrap="square" lIns="0" tIns="0" rIns="0" bIns="0" anchor="t">
            <a:spAutoFit/>
          </a:bodyPr>
          <a:lstStyle/>
          <a:p>
            <a:pPr algn="l"/>
            <a:r>
              <a:rPr sz="1050" b="1" i="0">
                <a:solidFill>
                  <a:srgbClr val="EDF4FF"/>
                </a:solidFill>
                <a:latin typeface="Calibri"/>
              </a:rPr>
              <a:t>Reinsurance premium budget</a:t>
            </a:r>
          </a:p>
        </p:txBody>
      </p:sp>
      <p:sp>
        <p:nvSpPr>
          <p:cNvPr id="58" name="TextBox 57"/>
          <p:cNvSpPr txBox="1"/>
          <p:nvPr/>
        </p:nvSpPr>
        <p:spPr>
          <a:xfrm>
            <a:off x="3429000" y="4407408"/>
            <a:ext cx="457200" cy="274320"/>
          </a:xfrm>
          <a:prstGeom prst="rect">
            <a:avLst/>
          </a:prstGeom>
          <a:noFill/>
        </p:spPr>
        <p:txBody>
          <a:bodyPr wrap="square" lIns="0" tIns="0" rIns="0" bIns="0" anchor="t">
            <a:spAutoFit/>
          </a:bodyPr>
          <a:lstStyle/>
          <a:p>
            <a:pPr algn="r"/>
            <a:r>
              <a:rPr sz="1500" b="1" i="0">
                <a:solidFill>
                  <a:srgbClr val="5B7FCC"/>
                </a:solidFill>
                <a:latin typeface="Calibri"/>
              </a:rPr>
              <a:t>10%</a:t>
            </a:r>
          </a:p>
        </p:txBody>
      </p:sp>
      <p:sp>
        <p:nvSpPr>
          <p:cNvPr id="59" name="TextBox 58"/>
          <p:cNvSpPr txBox="1"/>
          <p:nvPr/>
        </p:nvSpPr>
        <p:spPr>
          <a:xfrm>
            <a:off x="4105656" y="4443984"/>
            <a:ext cx="2148840" cy="201168"/>
          </a:xfrm>
          <a:prstGeom prst="rect">
            <a:avLst/>
          </a:prstGeom>
          <a:noFill/>
        </p:spPr>
        <p:txBody>
          <a:bodyPr wrap="square" lIns="0" tIns="0" rIns="0" bIns="0" anchor="t">
            <a:spAutoFit/>
          </a:bodyPr>
          <a:lstStyle/>
          <a:p>
            <a:pPr algn="l"/>
            <a:r>
              <a:rPr sz="950" b="0" i="1">
                <a:solidFill>
                  <a:srgbClr val="C8DCFF"/>
                </a:solidFill>
                <a:latin typeface="Calibri"/>
              </a:rPr>
              <a:t>External backstop premium</a:t>
            </a:r>
          </a:p>
        </p:txBody>
      </p:sp>
      <p:sp>
        <p:nvSpPr>
          <p:cNvPr id="60" name="TextBox 59"/>
          <p:cNvSpPr txBox="1"/>
          <p:nvPr/>
        </p:nvSpPr>
        <p:spPr>
          <a:xfrm>
            <a:off x="6437376" y="4434840"/>
            <a:ext cx="5193792" cy="219456"/>
          </a:xfrm>
          <a:prstGeom prst="rect">
            <a:avLst/>
          </a:prstGeom>
          <a:noFill/>
        </p:spPr>
        <p:txBody>
          <a:bodyPr wrap="square" lIns="0" tIns="0" rIns="0" bIns="0" anchor="t">
            <a:spAutoFit/>
          </a:bodyPr>
          <a:lstStyle/>
          <a:p>
            <a:pPr algn="l"/>
            <a:r>
              <a:rPr sz="950" b="0" i="0">
                <a:solidFill>
                  <a:srgbClr val="B8C8E0"/>
                </a:solidFill>
                <a:latin typeface="Calibri"/>
              </a:rPr>
              <a:t>Pays a reinsurance counterparty (TBD) for losses above pool capacity. Industry norm 8–12%.</a:t>
            </a:r>
          </a:p>
        </p:txBody>
      </p:sp>
      <p:sp>
        <p:nvSpPr>
          <p:cNvPr id="61" name="Rectangle 60"/>
          <p:cNvSpPr/>
          <p:nvPr/>
        </p:nvSpPr>
        <p:spPr>
          <a:xfrm>
            <a:off x="502920" y="472287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02920" y="472744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94360" y="4818888"/>
            <a:ext cx="54864" cy="18288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4088" y="4809744"/>
            <a:ext cx="2523744" cy="201168"/>
          </a:xfrm>
          <a:prstGeom prst="rect">
            <a:avLst/>
          </a:prstGeom>
          <a:noFill/>
        </p:spPr>
        <p:txBody>
          <a:bodyPr wrap="square" lIns="0" tIns="0" rIns="0" bIns="0" anchor="t">
            <a:spAutoFit/>
          </a:bodyPr>
          <a:lstStyle/>
          <a:p>
            <a:pPr algn="l"/>
            <a:r>
              <a:rPr sz="1050" b="1" i="0">
                <a:solidFill>
                  <a:srgbClr val="EDF4FF"/>
                </a:solidFill>
                <a:latin typeface="Calibri"/>
              </a:rPr>
              <a:t>Safe-rider rebates</a:t>
            </a:r>
          </a:p>
        </p:txBody>
      </p:sp>
      <p:sp>
        <p:nvSpPr>
          <p:cNvPr id="65" name="TextBox 64"/>
          <p:cNvSpPr txBox="1"/>
          <p:nvPr/>
        </p:nvSpPr>
        <p:spPr>
          <a:xfrm>
            <a:off x="3429000" y="4773168"/>
            <a:ext cx="457200" cy="274320"/>
          </a:xfrm>
          <a:prstGeom prst="rect">
            <a:avLst/>
          </a:prstGeom>
          <a:noFill/>
        </p:spPr>
        <p:txBody>
          <a:bodyPr wrap="square" lIns="0" tIns="0" rIns="0" bIns="0" anchor="t">
            <a:spAutoFit/>
          </a:bodyPr>
          <a:lstStyle/>
          <a:p>
            <a:pPr algn="r"/>
            <a:r>
              <a:rPr sz="1500" b="1" i="0">
                <a:solidFill>
                  <a:srgbClr val="4EE59A"/>
                </a:solidFill>
                <a:latin typeface="Calibri"/>
              </a:rPr>
              <a:t>18%</a:t>
            </a:r>
          </a:p>
        </p:txBody>
      </p:sp>
      <p:sp>
        <p:nvSpPr>
          <p:cNvPr id="66" name="TextBox 65"/>
          <p:cNvSpPr txBox="1"/>
          <p:nvPr/>
        </p:nvSpPr>
        <p:spPr>
          <a:xfrm>
            <a:off x="4105656" y="4809744"/>
            <a:ext cx="2148840" cy="201168"/>
          </a:xfrm>
          <a:prstGeom prst="rect">
            <a:avLst/>
          </a:prstGeom>
          <a:noFill/>
        </p:spPr>
        <p:txBody>
          <a:bodyPr wrap="square" lIns="0" tIns="0" rIns="0" bIns="0" anchor="t">
            <a:spAutoFit/>
          </a:bodyPr>
          <a:lstStyle/>
          <a:p>
            <a:pPr algn="l"/>
            <a:r>
              <a:rPr sz="950" b="0" i="1">
                <a:solidFill>
                  <a:srgbClr val="C8DCFF"/>
                </a:solidFill>
                <a:latin typeface="Calibri"/>
              </a:rPr>
              <a:t>Returned to claim-free riders</a:t>
            </a:r>
          </a:p>
        </p:txBody>
      </p:sp>
      <p:sp>
        <p:nvSpPr>
          <p:cNvPr id="67" name="TextBox 66"/>
          <p:cNvSpPr txBox="1"/>
          <p:nvPr/>
        </p:nvSpPr>
        <p:spPr>
          <a:xfrm>
            <a:off x="6437376" y="4800600"/>
            <a:ext cx="5193792" cy="219456"/>
          </a:xfrm>
          <a:prstGeom prst="rect">
            <a:avLst/>
          </a:prstGeom>
          <a:noFill/>
        </p:spPr>
        <p:txBody>
          <a:bodyPr wrap="square" lIns="0" tIns="0" rIns="0" bIns="0" anchor="t">
            <a:spAutoFit/>
          </a:bodyPr>
          <a:lstStyle/>
          <a:p>
            <a:pPr algn="l"/>
            <a:r>
              <a:rPr sz="950" b="0" i="0">
                <a:solidFill>
                  <a:srgbClr val="B8C8E0"/>
                </a:solidFill>
                <a:latin typeface="Calibri"/>
              </a:rPr>
              <a:t>Quarterly or annual rebates. Generous because our modeled losses are low — surplus goes back to users.</a:t>
            </a:r>
          </a:p>
        </p:txBody>
      </p:sp>
      <p:sp>
        <p:nvSpPr>
          <p:cNvPr id="68" name="Rectangle 67"/>
          <p:cNvSpPr/>
          <p:nvPr/>
        </p:nvSpPr>
        <p:spPr>
          <a:xfrm>
            <a:off x="502920" y="508863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594360" y="5184648"/>
            <a:ext cx="54864" cy="18288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04088" y="5175504"/>
            <a:ext cx="2523744" cy="201168"/>
          </a:xfrm>
          <a:prstGeom prst="rect">
            <a:avLst/>
          </a:prstGeom>
          <a:noFill/>
        </p:spPr>
        <p:txBody>
          <a:bodyPr wrap="square" lIns="0" tIns="0" rIns="0" bIns="0" anchor="t">
            <a:spAutoFit/>
          </a:bodyPr>
          <a:lstStyle/>
          <a:p>
            <a:pPr algn="l"/>
            <a:r>
              <a:rPr sz="1050" b="1" i="0">
                <a:solidFill>
                  <a:srgbClr val="EDF4FF"/>
                </a:solidFill>
                <a:latin typeface="Calibri"/>
              </a:rPr>
              <a:t>Protocol fee</a:t>
            </a:r>
          </a:p>
        </p:txBody>
      </p:sp>
      <p:sp>
        <p:nvSpPr>
          <p:cNvPr id="71" name="TextBox 70"/>
          <p:cNvSpPr txBox="1"/>
          <p:nvPr/>
        </p:nvSpPr>
        <p:spPr>
          <a:xfrm>
            <a:off x="3429000" y="5138928"/>
            <a:ext cx="457200" cy="274320"/>
          </a:xfrm>
          <a:prstGeom prst="rect">
            <a:avLst/>
          </a:prstGeom>
          <a:noFill/>
        </p:spPr>
        <p:txBody>
          <a:bodyPr wrap="square" lIns="0" tIns="0" rIns="0" bIns="0" anchor="t">
            <a:spAutoFit/>
          </a:bodyPr>
          <a:lstStyle/>
          <a:p>
            <a:pPr algn="r"/>
            <a:r>
              <a:rPr sz="1500" b="1" i="0">
                <a:solidFill>
                  <a:srgbClr val="FFBF56"/>
                </a:solidFill>
                <a:latin typeface="Calibri"/>
              </a:rPr>
              <a:t>5%</a:t>
            </a:r>
          </a:p>
        </p:txBody>
      </p:sp>
      <p:sp>
        <p:nvSpPr>
          <p:cNvPr id="72" name="TextBox 71"/>
          <p:cNvSpPr txBox="1"/>
          <p:nvPr/>
        </p:nvSpPr>
        <p:spPr>
          <a:xfrm>
            <a:off x="4105656" y="5175504"/>
            <a:ext cx="2148840" cy="201168"/>
          </a:xfrm>
          <a:prstGeom prst="rect">
            <a:avLst/>
          </a:prstGeom>
          <a:noFill/>
        </p:spPr>
        <p:txBody>
          <a:bodyPr wrap="square" lIns="0" tIns="0" rIns="0" bIns="0" anchor="t">
            <a:spAutoFit/>
          </a:bodyPr>
          <a:lstStyle/>
          <a:p>
            <a:pPr algn="l"/>
            <a:r>
              <a:rPr sz="950" b="0" i="1">
                <a:solidFill>
                  <a:srgbClr val="C8DCFF"/>
                </a:solidFill>
                <a:latin typeface="Calibri"/>
              </a:rPr>
              <a:t>Operating revenue</a:t>
            </a:r>
          </a:p>
        </p:txBody>
      </p:sp>
      <p:sp>
        <p:nvSpPr>
          <p:cNvPr id="73" name="TextBox 72"/>
          <p:cNvSpPr txBox="1"/>
          <p:nvPr/>
        </p:nvSpPr>
        <p:spPr>
          <a:xfrm>
            <a:off x="6437376" y="5166360"/>
            <a:ext cx="5193792" cy="219456"/>
          </a:xfrm>
          <a:prstGeom prst="rect">
            <a:avLst/>
          </a:prstGeom>
          <a:noFill/>
        </p:spPr>
        <p:txBody>
          <a:bodyPr wrap="square" lIns="0" tIns="0" rIns="0" bIns="0" anchor="t">
            <a:spAutoFit/>
          </a:bodyPr>
          <a:lstStyle/>
          <a:p>
            <a:pPr algn="l"/>
            <a:r>
              <a:rPr sz="950" b="0" i="0">
                <a:solidFill>
                  <a:srgbClr val="B8C8E0"/>
                </a:solidFill>
                <a:latin typeface="Calibri"/>
              </a:rPr>
              <a:t>Aligned with Nexus Mutual (5%) and similar DeFi mutual fees. Small and predictable.</a:t>
            </a:r>
          </a:p>
        </p:txBody>
      </p:sp>
      <p:sp>
        <p:nvSpPr>
          <p:cNvPr id="74" name="Rectangle 73"/>
          <p:cNvSpPr/>
          <p:nvPr/>
        </p:nvSpPr>
        <p:spPr>
          <a:xfrm>
            <a:off x="502920" y="545439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502920" y="545896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94360" y="5550408"/>
            <a:ext cx="54864" cy="182880"/>
          </a:xfrm>
          <a:prstGeom prst="rect">
            <a:avLst/>
          </a:prstGeom>
          <a:solidFill>
            <a:srgbClr val="4F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04088" y="5541264"/>
            <a:ext cx="2523744" cy="201168"/>
          </a:xfrm>
          <a:prstGeom prst="rect">
            <a:avLst/>
          </a:prstGeom>
          <a:noFill/>
        </p:spPr>
        <p:txBody>
          <a:bodyPr wrap="square" lIns="0" tIns="0" rIns="0" bIns="0" anchor="t">
            <a:spAutoFit/>
          </a:bodyPr>
          <a:lstStyle/>
          <a:p>
            <a:pPr algn="l"/>
            <a:r>
              <a:rPr sz="1050" b="1" i="0">
                <a:solidFill>
                  <a:srgbClr val="EDF4FF"/>
                </a:solidFill>
                <a:latin typeface="Calibri"/>
              </a:rPr>
              <a:t>Treasury reserve</a:t>
            </a:r>
          </a:p>
        </p:txBody>
      </p:sp>
      <p:sp>
        <p:nvSpPr>
          <p:cNvPr id="78" name="TextBox 77"/>
          <p:cNvSpPr txBox="1"/>
          <p:nvPr/>
        </p:nvSpPr>
        <p:spPr>
          <a:xfrm>
            <a:off x="3429000" y="5504688"/>
            <a:ext cx="457200" cy="274320"/>
          </a:xfrm>
          <a:prstGeom prst="rect">
            <a:avLst/>
          </a:prstGeom>
          <a:noFill/>
        </p:spPr>
        <p:txBody>
          <a:bodyPr wrap="square" lIns="0" tIns="0" rIns="0" bIns="0" anchor="t">
            <a:spAutoFit/>
          </a:bodyPr>
          <a:lstStyle/>
          <a:p>
            <a:pPr algn="r"/>
            <a:r>
              <a:rPr sz="1500" b="1" i="0">
                <a:solidFill>
                  <a:srgbClr val="4F6E9E"/>
                </a:solidFill>
                <a:latin typeface="Calibri"/>
              </a:rPr>
              <a:t>10%</a:t>
            </a:r>
          </a:p>
        </p:txBody>
      </p:sp>
      <p:sp>
        <p:nvSpPr>
          <p:cNvPr id="79" name="TextBox 78"/>
          <p:cNvSpPr txBox="1"/>
          <p:nvPr/>
        </p:nvSpPr>
        <p:spPr>
          <a:xfrm>
            <a:off x="4105656" y="5541264"/>
            <a:ext cx="2148840" cy="201168"/>
          </a:xfrm>
          <a:prstGeom prst="rect">
            <a:avLst/>
          </a:prstGeom>
          <a:noFill/>
        </p:spPr>
        <p:txBody>
          <a:bodyPr wrap="square" lIns="0" tIns="0" rIns="0" bIns="0" anchor="t">
            <a:spAutoFit/>
          </a:bodyPr>
          <a:lstStyle/>
          <a:p>
            <a:pPr algn="l"/>
            <a:r>
              <a:rPr sz="950" b="0" i="1">
                <a:solidFill>
                  <a:srgbClr val="C8DCFF"/>
                </a:solidFill>
                <a:latin typeface="Calibri"/>
              </a:rPr>
              <a:t>Governance discretion</a:t>
            </a:r>
          </a:p>
        </p:txBody>
      </p:sp>
      <p:sp>
        <p:nvSpPr>
          <p:cNvPr id="80" name="TextBox 79"/>
          <p:cNvSpPr txBox="1"/>
          <p:nvPr/>
        </p:nvSpPr>
        <p:spPr>
          <a:xfrm>
            <a:off x="6437376" y="5532120"/>
            <a:ext cx="5193792" cy="219456"/>
          </a:xfrm>
          <a:prstGeom prst="rect">
            <a:avLst/>
          </a:prstGeom>
          <a:noFill/>
        </p:spPr>
        <p:txBody>
          <a:bodyPr wrap="square" lIns="0" tIns="0" rIns="0" bIns="0" anchor="t">
            <a:spAutoFit/>
          </a:bodyPr>
          <a:lstStyle/>
          <a:p>
            <a:pPr algn="l"/>
            <a:r>
              <a:rPr sz="950" b="0" i="0">
                <a:solidFill>
                  <a:srgbClr val="B8C8E0"/>
                </a:solidFill>
                <a:latin typeface="Calibri"/>
              </a:rPr>
              <a:t>War chest for audits, integrations, and opportunistic moves. Separate from protocol fee.</a:t>
            </a:r>
          </a:p>
        </p:txBody>
      </p:sp>
      <p:sp>
        <p:nvSpPr>
          <p:cNvPr id="81" name="Rounded Rectangle 80"/>
          <p:cNvSpPr/>
          <p:nvPr/>
        </p:nvSpPr>
        <p:spPr>
          <a:xfrm>
            <a:off x="502920" y="5897880"/>
            <a:ext cx="11183112" cy="59436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02920" y="6007608"/>
            <a:ext cx="54864" cy="36576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85800" y="5989320"/>
            <a:ext cx="4572000" cy="201168"/>
          </a:xfrm>
          <a:prstGeom prst="rect">
            <a:avLst/>
          </a:prstGeom>
          <a:noFill/>
        </p:spPr>
        <p:txBody>
          <a:bodyPr wrap="square" lIns="0" tIns="0" rIns="0" bIns="0" anchor="t">
            <a:spAutoFit/>
          </a:bodyPr>
          <a:lstStyle/>
          <a:p>
            <a:pPr algn="l"/>
            <a:r>
              <a:rPr sz="950" b="1" i="0">
                <a:solidFill>
                  <a:srgbClr val="FFBF56"/>
                </a:solidFill>
                <a:latin typeface="Calibri"/>
              </a:rPr>
              <a:t>DEFI YIELD CAP  ·  ceiling, not allocation</a:t>
            </a:r>
          </a:p>
        </p:txBody>
      </p:sp>
      <p:sp>
        <p:nvSpPr>
          <p:cNvPr id="84" name="TextBox 83"/>
          <p:cNvSpPr txBox="1"/>
          <p:nvPr/>
        </p:nvSpPr>
        <p:spPr>
          <a:xfrm>
            <a:off x="685800" y="6208776"/>
            <a:ext cx="10789920" cy="256032"/>
          </a:xfrm>
          <a:prstGeom prst="rect">
            <a:avLst/>
          </a:prstGeom>
          <a:noFill/>
        </p:spPr>
        <p:txBody>
          <a:bodyPr wrap="square" lIns="0" tIns="0" rIns="0" bIns="0" anchor="t">
            <a:spAutoFit/>
          </a:bodyPr>
          <a:lstStyle/>
          <a:p>
            <a:pPr algn="l"/>
            <a:r>
              <a:rPr sz="900" b="0" i="1">
                <a:solidFill>
                  <a:srgbClr val="B8C8E0"/>
                </a:solidFill>
                <a:latin typeface="Calibri"/>
              </a:rPr>
              <a:t>Up to 10% of excess reserves (above liquidity + catastrophe floors) may be deployed to Aave / Compound for conservative yield. Insurance capital is not speculative — solvency comes first.</a:t>
            </a:r>
          </a:p>
        </p:txBody>
      </p:sp>
      <p:sp>
        <p:nvSpPr>
          <p:cNvPr id="85" name="Rectangle 8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Total of 7 buckets = 100% · governance can re-tune ratios as claim data matures · sources: KIDI motor reports, DeFi mutual benchmarks (Nexus Mutual et al.)</a:t>
            </a:r>
          </a:p>
        </p:txBody>
      </p:sp>
      <p:sp>
        <p:nvSpPr>
          <p:cNvPr id="87" name="TextBox 8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STRESS SENSITIVITY</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What Could Break the Model</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Seven known failure modes — the threshold for each, and what happens if we hit it</a:t>
            </a:r>
          </a:p>
        </p:txBody>
      </p:sp>
      <p:sp>
        <p:nvSpPr>
          <p:cNvPr id="9" name="Rectangle 8"/>
          <p:cNvSpPr/>
          <p:nvPr/>
        </p:nvSpPr>
        <p:spPr>
          <a:xfrm>
            <a:off x="640080" y="1664208"/>
            <a:ext cx="1097280" cy="54864"/>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74519"/>
            <a:ext cx="11183112" cy="365760"/>
          </a:xfrm>
          <a:prstGeom prst="rect">
            <a:avLst/>
          </a:prstGeom>
          <a:noFill/>
        </p:spPr>
        <p:txBody>
          <a:bodyPr wrap="square" lIns="0" tIns="0" rIns="0" bIns="0" anchor="t">
            <a:spAutoFit/>
          </a:bodyPr>
          <a:lstStyle/>
          <a:p>
            <a:pPr algn="l"/>
            <a:r>
              <a:rPr sz="1100" b="0" i="1">
                <a:solidFill>
                  <a:srgbClr val="B8C8E0"/>
                </a:solidFill>
                <a:latin typeface="Calibri"/>
              </a:rPr>
              <a:t>Every model has breaking points. Naming them up front is more credible than pretending they don't exist. Each row below is a stressor we've thought about, the level at which it breaks the plan, and what we'd do.</a:t>
            </a:r>
          </a:p>
        </p:txBody>
      </p:sp>
      <p:sp>
        <p:nvSpPr>
          <p:cNvPr id="11" name="Rounded Rectangle 10"/>
          <p:cNvSpPr/>
          <p:nvPr/>
        </p:nvSpPr>
        <p:spPr>
          <a:xfrm>
            <a:off x="502920" y="2331720"/>
            <a:ext cx="219456"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C</a:t>
            </a:r>
          </a:p>
        </p:txBody>
      </p:sp>
      <p:sp>
        <p:nvSpPr>
          <p:cNvPr id="13" name="TextBox 12"/>
          <p:cNvSpPr txBox="1"/>
          <p:nvPr/>
        </p:nvSpPr>
        <p:spPr>
          <a:xfrm>
            <a:off x="813816"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CRITICAL — project-existential</a:t>
            </a:r>
          </a:p>
        </p:txBody>
      </p:sp>
      <p:sp>
        <p:nvSpPr>
          <p:cNvPr id="14" name="Rounded Rectangle 13"/>
          <p:cNvSpPr/>
          <p:nvPr/>
        </p:nvSpPr>
        <p:spPr>
          <a:xfrm>
            <a:off x="4251959" y="2331720"/>
            <a:ext cx="219456"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H</a:t>
            </a:r>
          </a:p>
        </p:txBody>
      </p:sp>
      <p:sp>
        <p:nvSpPr>
          <p:cNvPr id="16" name="TextBox 15"/>
          <p:cNvSpPr txBox="1"/>
          <p:nvPr/>
        </p:nvSpPr>
        <p:spPr>
          <a:xfrm>
            <a:off x="4562855"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HIGH — forces major adjustment</a:t>
            </a:r>
          </a:p>
        </p:txBody>
      </p:sp>
      <p:sp>
        <p:nvSpPr>
          <p:cNvPr id="17" name="Rounded Rectangle 16"/>
          <p:cNvSpPr/>
          <p:nvPr/>
        </p:nvSpPr>
        <p:spPr>
          <a:xfrm>
            <a:off x="8000998" y="2331720"/>
            <a:ext cx="219456"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0998"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M</a:t>
            </a:r>
          </a:p>
        </p:txBody>
      </p:sp>
      <p:sp>
        <p:nvSpPr>
          <p:cNvPr id="19" name="TextBox 18"/>
          <p:cNvSpPr txBox="1"/>
          <p:nvPr/>
        </p:nvSpPr>
        <p:spPr>
          <a:xfrm>
            <a:off x="8311894"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MEDIUM — recoverable with plan</a:t>
            </a:r>
          </a:p>
        </p:txBody>
      </p:sp>
      <p:sp>
        <p:nvSpPr>
          <p:cNvPr id="20" name="Rounded Rectangle 19"/>
          <p:cNvSpPr/>
          <p:nvPr/>
        </p:nvSpPr>
        <p:spPr>
          <a:xfrm>
            <a:off x="502920" y="2743200"/>
            <a:ext cx="11183112" cy="310896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2743200"/>
            <a:ext cx="11183112"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70432" y="2798064"/>
            <a:ext cx="2276856" cy="182880"/>
          </a:xfrm>
          <a:prstGeom prst="rect">
            <a:avLst/>
          </a:prstGeom>
          <a:noFill/>
        </p:spPr>
        <p:txBody>
          <a:bodyPr wrap="square" lIns="0" tIns="0" rIns="0" bIns="0" anchor="t">
            <a:spAutoFit/>
          </a:bodyPr>
          <a:lstStyle/>
          <a:p>
            <a:pPr algn="l"/>
            <a:r>
              <a:rPr sz="950" b="1" i="0">
                <a:solidFill>
                  <a:srgbClr val="9CC6FF"/>
                </a:solidFill>
                <a:latin typeface="Calibri"/>
              </a:rPr>
              <a:t>WHAT COULD GO WRONG</a:t>
            </a:r>
          </a:p>
        </p:txBody>
      </p:sp>
      <p:sp>
        <p:nvSpPr>
          <p:cNvPr id="23" name="TextBox 22"/>
          <p:cNvSpPr txBox="1"/>
          <p:nvPr/>
        </p:nvSpPr>
        <p:spPr>
          <a:xfrm>
            <a:off x="3776472" y="2798064"/>
            <a:ext cx="1956816" cy="182880"/>
          </a:xfrm>
          <a:prstGeom prst="rect">
            <a:avLst/>
          </a:prstGeom>
          <a:noFill/>
        </p:spPr>
        <p:txBody>
          <a:bodyPr wrap="square" lIns="0" tIns="0" rIns="0" bIns="0" anchor="t">
            <a:spAutoFit/>
          </a:bodyPr>
          <a:lstStyle/>
          <a:p>
            <a:pPr algn="l"/>
            <a:r>
              <a:rPr sz="950" b="1" i="0">
                <a:solidFill>
                  <a:srgbClr val="9CC6FF"/>
                </a:solidFill>
                <a:latin typeface="Calibri"/>
              </a:rPr>
              <a:t>BREAKING THRESHOLD</a:t>
            </a:r>
          </a:p>
        </p:txBody>
      </p:sp>
      <p:sp>
        <p:nvSpPr>
          <p:cNvPr id="24" name="TextBox 23"/>
          <p:cNvSpPr txBox="1"/>
          <p:nvPr/>
        </p:nvSpPr>
        <p:spPr>
          <a:xfrm>
            <a:off x="6062472" y="2798064"/>
            <a:ext cx="5458968" cy="182880"/>
          </a:xfrm>
          <a:prstGeom prst="rect">
            <a:avLst/>
          </a:prstGeom>
          <a:noFill/>
        </p:spPr>
        <p:txBody>
          <a:bodyPr wrap="square" lIns="0" tIns="0" rIns="0" bIns="0" anchor="t">
            <a:spAutoFit/>
          </a:bodyPr>
          <a:lstStyle/>
          <a:p>
            <a:pPr algn="l"/>
            <a:r>
              <a:rPr sz="950" b="1" i="0">
                <a:solidFill>
                  <a:srgbClr val="9CC6FF"/>
                </a:solidFill>
                <a:latin typeface="Calibri"/>
              </a:rPr>
              <a:t>WHAT HAPPENS THEN</a:t>
            </a:r>
          </a:p>
        </p:txBody>
      </p:sp>
      <p:sp>
        <p:nvSpPr>
          <p:cNvPr id="25" name="Rectangle 24"/>
          <p:cNvSpPr/>
          <p:nvPr/>
        </p:nvSpPr>
        <p:spPr>
          <a:xfrm>
            <a:off x="502920" y="3022092"/>
            <a:ext cx="11183112" cy="2286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035808"/>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94360" y="3127248"/>
            <a:ext cx="411480"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3127248"/>
            <a:ext cx="411480" cy="219456"/>
          </a:xfrm>
          <a:prstGeom prst="rect">
            <a:avLst/>
          </a:prstGeom>
          <a:noFill/>
        </p:spPr>
        <p:txBody>
          <a:bodyPr wrap="square" lIns="0" tIns="0" rIns="0" bIns="0" anchor="ctr">
            <a:spAutoFit/>
          </a:bodyPr>
          <a:lstStyle/>
          <a:p>
            <a:pPr algn="ctr"/>
            <a:r>
              <a:rPr sz="1400" b="1" i="0">
                <a:solidFill>
                  <a:srgbClr val="050A12"/>
                </a:solidFill>
                <a:latin typeface="Calibri"/>
              </a:rPr>
              <a:t>H</a:t>
            </a:r>
          </a:p>
        </p:txBody>
      </p:sp>
      <p:sp>
        <p:nvSpPr>
          <p:cNvPr id="29" name="TextBox 28"/>
          <p:cNvSpPr txBox="1"/>
          <p:nvPr/>
        </p:nvSpPr>
        <p:spPr>
          <a:xfrm>
            <a:off x="1170432" y="3136392"/>
            <a:ext cx="2331720" cy="201168"/>
          </a:xfrm>
          <a:prstGeom prst="rect">
            <a:avLst/>
          </a:prstGeom>
          <a:noFill/>
        </p:spPr>
        <p:txBody>
          <a:bodyPr wrap="square" lIns="0" tIns="0" rIns="0" bIns="0" anchor="t">
            <a:spAutoFit/>
          </a:bodyPr>
          <a:lstStyle/>
          <a:p>
            <a:pPr algn="l"/>
            <a:r>
              <a:rPr sz="1100" b="1" i="0">
                <a:solidFill>
                  <a:srgbClr val="EDF4FF"/>
                </a:solidFill>
                <a:latin typeface="Calibri"/>
              </a:rPr>
              <a:t>Too many claims</a:t>
            </a:r>
          </a:p>
        </p:txBody>
      </p:sp>
      <p:sp>
        <p:nvSpPr>
          <p:cNvPr id="30" name="TextBox 29"/>
          <p:cNvSpPr txBox="1"/>
          <p:nvPr/>
        </p:nvSpPr>
        <p:spPr>
          <a:xfrm>
            <a:off x="3739896" y="3136392"/>
            <a:ext cx="2103120" cy="201168"/>
          </a:xfrm>
          <a:prstGeom prst="rect">
            <a:avLst/>
          </a:prstGeom>
          <a:noFill/>
        </p:spPr>
        <p:txBody>
          <a:bodyPr wrap="square" lIns="0" tIns="0" rIns="0" bIns="0" anchor="t">
            <a:spAutoFit/>
          </a:bodyPr>
          <a:lstStyle/>
          <a:p>
            <a:pPr algn="l"/>
            <a:r>
              <a:rPr sz="1000" b="1" i="0">
                <a:solidFill>
                  <a:srgbClr val="FFBF56"/>
                </a:solidFill>
                <a:latin typeface="Calibri"/>
              </a:rPr>
              <a:t>More than 25% of riders crash per year</a:t>
            </a:r>
          </a:p>
        </p:txBody>
      </p:sp>
      <p:sp>
        <p:nvSpPr>
          <p:cNvPr id="31" name="TextBox 30"/>
          <p:cNvSpPr txBox="1"/>
          <p:nvPr/>
        </p:nvSpPr>
        <p:spPr>
          <a:xfrm>
            <a:off x="6025896" y="3108960"/>
            <a:ext cx="5605272" cy="256032"/>
          </a:xfrm>
          <a:prstGeom prst="rect">
            <a:avLst/>
          </a:prstGeom>
          <a:noFill/>
        </p:spPr>
        <p:txBody>
          <a:bodyPr wrap="square" lIns="0" tIns="0" rIns="0" bIns="0" anchor="t">
            <a:spAutoFit/>
          </a:bodyPr>
          <a:lstStyle/>
          <a:p>
            <a:pPr algn="l"/>
            <a:r>
              <a:rPr sz="950" b="0" i="0">
                <a:solidFill>
                  <a:srgbClr val="B8C8E0"/>
                </a:solidFill>
                <a:latin typeface="Calibri"/>
              </a:rPr>
              <a:t>Loss ratio jumps above 60%. We'd have to cut safe-rider rebates and raise premiums.</a:t>
            </a:r>
          </a:p>
        </p:txBody>
      </p:sp>
      <p:sp>
        <p:nvSpPr>
          <p:cNvPr id="32" name="Rectangle 31"/>
          <p:cNvSpPr/>
          <p:nvPr/>
        </p:nvSpPr>
        <p:spPr>
          <a:xfrm>
            <a:off x="502920" y="3433572"/>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94360" y="3529584"/>
            <a:ext cx="411480"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3529584"/>
            <a:ext cx="411480" cy="219456"/>
          </a:xfrm>
          <a:prstGeom prst="rect">
            <a:avLst/>
          </a:prstGeom>
          <a:noFill/>
        </p:spPr>
        <p:txBody>
          <a:bodyPr wrap="square" lIns="0" tIns="0" rIns="0" bIns="0" anchor="ctr">
            <a:spAutoFit/>
          </a:bodyPr>
          <a:lstStyle/>
          <a:p>
            <a:pPr algn="ctr"/>
            <a:r>
              <a:rPr sz="1400" b="1" i="0">
                <a:solidFill>
                  <a:srgbClr val="050A12"/>
                </a:solidFill>
                <a:latin typeface="Calibri"/>
              </a:rPr>
              <a:t>H</a:t>
            </a:r>
          </a:p>
        </p:txBody>
      </p:sp>
      <p:sp>
        <p:nvSpPr>
          <p:cNvPr id="35" name="TextBox 34"/>
          <p:cNvSpPr txBox="1"/>
          <p:nvPr/>
        </p:nvSpPr>
        <p:spPr>
          <a:xfrm>
            <a:off x="1170432" y="3538728"/>
            <a:ext cx="2331720" cy="201168"/>
          </a:xfrm>
          <a:prstGeom prst="rect">
            <a:avLst/>
          </a:prstGeom>
          <a:noFill/>
        </p:spPr>
        <p:txBody>
          <a:bodyPr wrap="square" lIns="0" tIns="0" rIns="0" bIns="0" anchor="t">
            <a:spAutoFit/>
          </a:bodyPr>
          <a:lstStyle/>
          <a:p>
            <a:pPr algn="l"/>
            <a:r>
              <a:rPr sz="1100" b="1" i="0">
                <a:solidFill>
                  <a:srgbClr val="EDF4FF"/>
                </a:solidFill>
                <a:latin typeface="Calibri"/>
              </a:rPr>
              <a:t>Crashes get expensive</a:t>
            </a:r>
          </a:p>
        </p:txBody>
      </p:sp>
      <p:sp>
        <p:nvSpPr>
          <p:cNvPr id="36" name="TextBox 35"/>
          <p:cNvSpPr txBox="1"/>
          <p:nvPr/>
        </p:nvSpPr>
        <p:spPr>
          <a:xfrm>
            <a:off x="3739896" y="3538728"/>
            <a:ext cx="2103120" cy="201168"/>
          </a:xfrm>
          <a:prstGeom prst="rect">
            <a:avLst/>
          </a:prstGeom>
          <a:noFill/>
        </p:spPr>
        <p:txBody>
          <a:bodyPr wrap="square" lIns="0" tIns="0" rIns="0" bIns="0" anchor="t">
            <a:spAutoFit/>
          </a:bodyPr>
          <a:lstStyle/>
          <a:p>
            <a:pPr algn="l"/>
            <a:r>
              <a:rPr sz="1000" b="1" i="0">
                <a:solidFill>
                  <a:srgbClr val="FFBF56"/>
                </a:solidFill>
                <a:latin typeface="Calibri"/>
              </a:rPr>
              <a:t>Average claim above ₩4M</a:t>
            </a:r>
          </a:p>
        </p:txBody>
      </p:sp>
      <p:sp>
        <p:nvSpPr>
          <p:cNvPr id="37" name="TextBox 36"/>
          <p:cNvSpPr txBox="1"/>
          <p:nvPr/>
        </p:nvSpPr>
        <p:spPr>
          <a:xfrm>
            <a:off x="6025896" y="3511296"/>
            <a:ext cx="5605272" cy="256032"/>
          </a:xfrm>
          <a:prstGeom prst="rect">
            <a:avLst/>
          </a:prstGeom>
          <a:noFill/>
        </p:spPr>
        <p:txBody>
          <a:bodyPr wrap="square" lIns="0" tIns="0" rIns="0" bIns="0" anchor="t">
            <a:spAutoFit/>
          </a:bodyPr>
          <a:lstStyle/>
          <a:p>
            <a:pPr algn="l"/>
            <a:r>
              <a:rPr sz="950" b="0" i="0">
                <a:solidFill>
                  <a:srgbClr val="B8C8E0"/>
                </a:solidFill>
                <a:latin typeface="Calibri"/>
              </a:rPr>
              <a:t>Loss ratio approaches 75%. LP backstop has to absorb the gap; coverage caps tighten.</a:t>
            </a:r>
          </a:p>
        </p:txBody>
      </p:sp>
      <p:sp>
        <p:nvSpPr>
          <p:cNvPr id="38" name="Rectangle 37"/>
          <p:cNvSpPr/>
          <p:nvPr/>
        </p:nvSpPr>
        <p:spPr>
          <a:xfrm>
            <a:off x="502920" y="3835908"/>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02920" y="3840480"/>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94360" y="3931920"/>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4360" y="3931920"/>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42" name="TextBox 41"/>
          <p:cNvSpPr txBox="1"/>
          <p:nvPr/>
        </p:nvSpPr>
        <p:spPr>
          <a:xfrm>
            <a:off x="1170432" y="3941064"/>
            <a:ext cx="2331720" cy="201168"/>
          </a:xfrm>
          <a:prstGeom prst="rect">
            <a:avLst/>
          </a:prstGeom>
          <a:noFill/>
        </p:spPr>
        <p:txBody>
          <a:bodyPr wrap="square" lIns="0" tIns="0" rIns="0" bIns="0" anchor="t">
            <a:spAutoFit/>
          </a:bodyPr>
          <a:lstStyle/>
          <a:p>
            <a:pPr algn="l"/>
            <a:r>
              <a:rPr sz="1100" b="1" i="0">
                <a:solidFill>
                  <a:srgbClr val="EDF4FF"/>
                </a:solidFill>
                <a:latin typeface="Calibri"/>
              </a:rPr>
              <a:t>Not enough riders</a:t>
            </a:r>
          </a:p>
        </p:txBody>
      </p:sp>
      <p:sp>
        <p:nvSpPr>
          <p:cNvPr id="43" name="TextBox 42"/>
          <p:cNvSpPr txBox="1"/>
          <p:nvPr/>
        </p:nvSpPr>
        <p:spPr>
          <a:xfrm>
            <a:off x="3739896" y="3941064"/>
            <a:ext cx="2103120" cy="201168"/>
          </a:xfrm>
          <a:prstGeom prst="rect">
            <a:avLst/>
          </a:prstGeom>
          <a:noFill/>
        </p:spPr>
        <p:txBody>
          <a:bodyPr wrap="square" lIns="0" tIns="0" rIns="0" bIns="0" anchor="t">
            <a:spAutoFit/>
          </a:bodyPr>
          <a:lstStyle/>
          <a:p>
            <a:pPr algn="l"/>
            <a:r>
              <a:rPr sz="1000" b="1" i="0">
                <a:solidFill>
                  <a:srgbClr val="FFBF56"/>
                </a:solidFill>
                <a:latin typeface="Calibri"/>
              </a:rPr>
              <a:t>Fewer than 1,500 active riders in Year 1</a:t>
            </a:r>
          </a:p>
        </p:txBody>
      </p:sp>
      <p:sp>
        <p:nvSpPr>
          <p:cNvPr id="44" name="TextBox 43"/>
          <p:cNvSpPr txBox="1"/>
          <p:nvPr/>
        </p:nvSpPr>
        <p:spPr>
          <a:xfrm>
            <a:off x="6025896" y="3913632"/>
            <a:ext cx="5605272" cy="256032"/>
          </a:xfrm>
          <a:prstGeom prst="rect">
            <a:avLst/>
          </a:prstGeom>
          <a:noFill/>
        </p:spPr>
        <p:txBody>
          <a:bodyPr wrap="square" lIns="0" tIns="0" rIns="0" bIns="0" anchor="t">
            <a:spAutoFit/>
          </a:bodyPr>
          <a:lstStyle/>
          <a:p>
            <a:pPr algn="l"/>
            <a:r>
              <a:rPr sz="950" b="0" i="0">
                <a:solidFill>
                  <a:srgbClr val="B8C8E0"/>
                </a:solidFill>
                <a:latin typeface="Calibri"/>
              </a:rPr>
              <a:t>Revenue can't cover engineering and operations. Runway shrinks to about 6 months.</a:t>
            </a:r>
          </a:p>
        </p:txBody>
      </p:sp>
      <p:sp>
        <p:nvSpPr>
          <p:cNvPr id="45" name="Rectangle 44"/>
          <p:cNvSpPr/>
          <p:nvPr/>
        </p:nvSpPr>
        <p:spPr>
          <a:xfrm>
            <a:off x="502920" y="4238244"/>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94360" y="4334256"/>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334256"/>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48" name="TextBox 47"/>
          <p:cNvSpPr txBox="1"/>
          <p:nvPr/>
        </p:nvSpPr>
        <p:spPr>
          <a:xfrm>
            <a:off x="1170432" y="4343400"/>
            <a:ext cx="2331720" cy="201168"/>
          </a:xfrm>
          <a:prstGeom prst="rect">
            <a:avLst/>
          </a:prstGeom>
          <a:noFill/>
        </p:spPr>
        <p:txBody>
          <a:bodyPr wrap="square" lIns="0" tIns="0" rIns="0" bIns="0" anchor="t">
            <a:spAutoFit/>
          </a:bodyPr>
          <a:lstStyle/>
          <a:p>
            <a:pPr algn="l"/>
            <a:r>
              <a:rPr sz="1100" b="1" i="0">
                <a:solidFill>
                  <a:srgbClr val="EDF4FF"/>
                </a:solidFill>
                <a:latin typeface="Calibri"/>
              </a:rPr>
              <a:t>LP capital shortfall</a:t>
            </a:r>
          </a:p>
        </p:txBody>
      </p:sp>
      <p:sp>
        <p:nvSpPr>
          <p:cNvPr id="49" name="TextBox 48"/>
          <p:cNvSpPr txBox="1"/>
          <p:nvPr/>
        </p:nvSpPr>
        <p:spPr>
          <a:xfrm>
            <a:off x="3739896" y="4343400"/>
            <a:ext cx="2103120" cy="201168"/>
          </a:xfrm>
          <a:prstGeom prst="rect">
            <a:avLst/>
          </a:prstGeom>
          <a:noFill/>
        </p:spPr>
        <p:txBody>
          <a:bodyPr wrap="square" lIns="0" tIns="0" rIns="0" bIns="0" anchor="t">
            <a:spAutoFit/>
          </a:bodyPr>
          <a:lstStyle/>
          <a:p>
            <a:pPr algn="l"/>
            <a:r>
              <a:rPr sz="1000" b="1" i="0">
                <a:solidFill>
                  <a:srgbClr val="FFBF56"/>
                </a:solidFill>
                <a:latin typeface="Calibri"/>
              </a:rPr>
              <a:t>Less than 50% of target raised</a:t>
            </a:r>
          </a:p>
        </p:txBody>
      </p:sp>
      <p:sp>
        <p:nvSpPr>
          <p:cNvPr id="50" name="TextBox 49"/>
          <p:cNvSpPr txBox="1"/>
          <p:nvPr/>
        </p:nvSpPr>
        <p:spPr>
          <a:xfrm>
            <a:off x="6025896" y="4315968"/>
            <a:ext cx="5605272" cy="256032"/>
          </a:xfrm>
          <a:prstGeom prst="rect">
            <a:avLst/>
          </a:prstGeom>
          <a:noFill/>
        </p:spPr>
        <p:txBody>
          <a:bodyPr wrap="square" lIns="0" tIns="0" rIns="0" bIns="0" anchor="t">
            <a:spAutoFit/>
          </a:bodyPr>
          <a:lstStyle/>
          <a:p>
            <a:pPr algn="l"/>
            <a:r>
              <a:rPr sz="950" b="0" i="0">
                <a:solidFill>
                  <a:srgbClr val="B8C8E0"/>
                </a:solidFill>
                <a:latin typeface="Calibri"/>
              </a:rPr>
              <a:t>Pool runs thin. We'd shrink coverage limits or stop accepting new riders until capital arrives.</a:t>
            </a:r>
          </a:p>
        </p:txBody>
      </p:sp>
      <p:sp>
        <p:nvSpPr>
          <p:cNvPr id="51" name="Rectangle 50"/>
          <p:cNvSpPr/>
          <p:nvPr/>
        </p:nvSpPr>
        <p:spPr>
          <a:xfrm>
            <a:off x="502920" y="4640580"/>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02920" y="4645152"/>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94360" y="4736592"/>
            <a:ext cx="411480"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4360" y="4736592"/>
            <a:ext cx="411480" cy="219456"/>
          </a:xfrm>
          <a:prstGeom prst="rect">
            <a:avLst/>
          </a:prstGeom>
          <a:noFill/>
        </p:spPr>
        <p:txBody>
          <a:bodyPr wrap="square" lIns="0" tIns="0" rIns="0" bIns="0" anchor="ctr">
            <a:spAutoFit/>
          </a:bodyPr>
          <a:lstStyle/>
          <a:p>
            <a:pPr algn="ctr"/>
            <a:r>
              <a:rPr sz="1400" b="1" i="0">
                <a:solidFill>
                  <a:srgbClr val="050A12"/>
                </a:solidFill>
                <a:latin typeface="Calibri"/>
              </a:rPr>
              <a:t>M</a:t>
            </a:r>
          </a:p>
        </p:txBody>
      </p:sp>
      <p:sp>
        <p:nvSpPr>
          <p:cNvPr id="55" name="TextBox 54"/>
          <p:cNvSpPr txBox="1"/>
          <p:nvPr/>
        </p:nvSpPr>
        <p:spPr>
          <a:xfrm>
            <a:off x="1170432" y="4745736"/>
            <a:ext cx="2331720" cy="201168"/>
          </a:xfrm>
          <a:prstGeom prst="rect">
            <a:avLst/>
          </a:prstGeom>
          <a:noFill/>
        </p:spPr>
        <p:txBody>
          <a:bodyPr wrap="square" lIns="0" tIns="0" rIns="0" bIns="0" anchor="t">
            <a:spAutoFit/>
          </a:bodyPr>
          <a:lstStyle/>
          <a:p>
            <a:pPr algn="l"/>
            <a:r>
              <a:rPr sz="1100" b="1" i="0">
                <a:solidFill>
                  <a:srgbClr val="EDF4FF"/>
                </a:solidFill>
                <a:latin typeface="Calibri"/>
              </a:rPr>
              <a:t>No B2B partners</a:t>
            </a:r>
          </a:p>
        </p:txBody>
      </p:sp>
      <p:sp>
        <p:nvSpPr>
          <p:cNvPr id="56" name="TextBox 55"/>
          <p:cNvSpPr txBox="1"/>
          <p:nvPr/>
        </p:nvSpPr>
        <p:spPr>
          <a:xfrm>
            <a:off x="3739896" y="4745736"/>
            <a:ext cx="2103120" cy="201168"/>
          </a:xfrm>
          <a:prstGeom prst="rect">
            <a:avLst/>
          </a:prstGeom>
          <a:noFill/>
        </p:spPr>
        <p:txBody>
          <a:bodyPr wrap="square" lIns="0" tIns="0" rIns="0" bIns="0" anchor="t">
            <a:spAutoFit/>
          </a:bodyPr>
          <a:lstStyle/>
          <a:p>
            <a:pPr algn="l"/>
            <a:r>
              <a:rPr sz="1000" b="1" i="0">
                <a:solidFill>
                  <a:srgbClr val="FFBF56"/>
                </a:solidFill>
                <a:latin typeface="Calibri"/>
              </a:rPr>
              <a:t>Fewer than 2 signed by Year 2</a:t>
            </a:r>
          </a:p>
        </p:txBody>
      </p:sp>
      <p:sp>
        <p:nvSpPr>
          <p:cNvPr id="57" name="TextBox 56"/>
          <p:cNvSpPr txBox="1"/>
          <p:nvPr/>
        </p:nvSpPr>
        <p:spPr>
          <a:xfrm>
            <a:off x="6025896" y="4718304"/>
            <a:ext cx="5605272" cy="256032"/>
          </a:xfrm>
          <a:prstGeom prst="rect">
            <a:avLst/>
          </a:prstGeom>
          <a:noFill/>
        </p:spPr>
        <p:txBody>
          <a:bodyPr wrap="square" lIns="0" tIns="0" rIns="0" bIns="0" anchor="t">
            <a:spAutoFit/>
          </a:bodyPr>
          <a:lstStyle/>
          <a:p>
            <a:pPr algn="l"/>
            <a:r>
              <a:rPr sz="950" b="0" i="0">
                <a:solidFill>
                  <a:srgbClr val="B8C8E0"/>
                </a:solidFill>
                <a:latin typeface="Calibri"/>
              </a:rPr>
              <a:t>The biggest projected revenue stream collapses. Profitability slips to Year 4.</a:t>
            </a:r>
          </a:p>
        </p:txBody>
      </p:sp>
      <p:sp>
        <p:nvSpPr>
          <p:cNvPr id="58" name="Rectangle 57"/>
          <p:cNvSpPr/>
          <p:nvPr/>
        </p:nvSpPr>
        <p:spPr>
          <a:xfrm>
            <a:off x="502920" y="504291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594360" y="5138928"/>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4360" y="5138928"/>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61" name="TextBox 60"/>
          <p:cNvSpPr txBox="1"/>
          <p:nvPr/>
        </p:nvSpPr>
        <p:spPr>
          <a:xfrm>
            <a:off x="1170432" y="5148072"/>
            <a:ext cx="2331720" cy="201168"/>
          </a:xfrm>
          <a:prstGeom prst="rect">
            <a:avLst/>
          </a:prstGeom>
          <a:noFill/>
        </p:spPr>
        <p:txBody>
          <a:bodyPr wrap="square" lIns="0" tIns="0" rIns="0" bIns="0" anchor="t">
            <a:spAutoFit/>
          </a:bodyPr>
          <a:lstStyle/>
          <a:p>
            <a:pPr algn="l"/>
            <a:r>
              <a:rPr sz="1100" b="1" i="0">
                <a:solidFill>
                  <a:srgbClr val="EDF4FF"/>
                </a:solidFill>
                <a:latin typeface="Calibri"/>
              </a:rPr>
              <a:t>Small seed/Series A</a:t>
            </a:r>
          </a:p>
        </p:txBody>
      </p:sp>
      <p:sp>
        <p:nvSpPr>
          <p:cNvPr id="62" name="TextBox 61"/>
          <p:cNvSpPr txBox="1"/>
          <p:nvPr/>
        </p:nvSpPr>
        <p:spPr>
          <a:xfrm>
            <a:off x="3739896" y="5148072"/>
            <a:ext cx="2103120" cy="201168"/>
          </a:xfrm>
          <a:prstGeom prst="rect">
            <a:avLst/>
          </a:prstGeom>
          <a:noFill/>
        </p:spPr>
        <p:txBody>
          <a:bodyPr wrap="square" lIns="0" tIns="0" rIns="0" bIns="0" anchor="t">
            <a:spAutoFit/>
          </a:bodyPr>
          <a:lstStyle/>
          <a:p>
            <a:pPr algn="l"/>
            <a:r>
              <a:rPr sz="1000" b="1" i="0">
                <a:solidFill>
                  <a:srgbClr val="FFBF56"/>
                </a:solidFill>
                <a:latin typeface="Calibri"/>
              </a:rPr>
              <a:t>Raise under ₩4B</a:t>
            </a:r>
          </a:p>
        </p:txBody>
      </p:sp>
      <p:sp>
        <p:nvSpPr>
          <p:cNvPr id="63" name="TextBox 62"/>
          <p:cNvSpPr txBox="1"/>
          <p:nvPr/>
        </p:nvSpPr>
        <p:spPr>
          <a:xfrm>
            <a:off x="6025896" y="5120640"/>
            <a:ext cx="5605272" cy="256032"/>
          </a:xfrm>
          <a:prstGeom prst="rect">
            <a:avLst/>
          </a:prstGeom>
          <a:noFill/>
        </p:spPr>
        <p:txBody>
          <a:bodyPr wrap="square" lIns="0" tIns="0" rIns="0" bIns="0" anchor="t">
            <a:spAutoFit/>
          </a:bodyPr>
          <a:lstStyle/>
          <a:p>
            <a:pPr algn="l"/>
            <a:r>
              <a:rPr sz="950" b="0" i="0">
                <a:solidFill>
                  <a:srgbClr val="B8C8E0"/>
                </a:solidFill>
                <a:latin typeface="Calibri"/>
              </a:rPr>
              <a:t>Year 2 burns through the bank. Requires a bridge round or significant scope reduction.</a:t>
            </a:r>
          </a:p>
        </p:txBody>
      </p:sp>
      <p:sp>
        <p:nvSpPr>
          <p:cNvPr id="64" name="Rectangle 63"/>
          <p:cNvSpPr/>
          <p:nvPr/>
        </p:nvSpPr>
        <p:spPr>
          <a:xfrm>
            <a:off x="502920" y="5445252"/>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449824"/>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94360" y="5541264"/>
            <a:ext cx="411480"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94360" y="5541264"/>
            <a:ext cx="411480" cy="219456"/>
          </a:xfrm>
          <a:prstGeom prst="rect">
            <a:avLst/>
          </a:prstGeom>
          <a:noFill/>
        </p:spPr>
        <p:txBody>
          <a:bodyPr wrap="square" lIns="0" tIns="0" rIns="0" bIns="0" anchor="ctr">
            <a:spAutoFit/>
          </a:bodyPr>
          <a:lstStyle/>
          <a:p>
            <a:pPr algn="ctr"/>
            <a:r>
              <a:rPr sz="1400" b="1" i="0">
                <a:solidFill>
                  <a:srgbClr val="050A12"/>
                </a:solidFill>
                <a:latin typeface="Calibri"/>
              </a:rPr>
              <a:t>M</a:t>
            </a:r>
          </a:p>
        </p:txBody>
      </p:sp>
      <p:sp>
        <p:nvSpPr>
          <p:cNvPr id="68" name="TextBox 67"/>
          <p:cNvSpPr txBox="1"/>
          <p:nvPr/>
        </p:nvSpPr>
        <p:spPr>
          <a:xfrm>
            <a:off x="1170432" y="5550408"/>
            <a:ext cx="2331720" cy="201168"/>
          </a:xfrm>
          <a:prstGeom prst="rect">
            <a:avLst/>
          </a:prstGeom>
          <a:noFill/>
        </p:spPr>
        <p:txBody>
          <a:bodyPr wrap="square" lIns="0" tIns="0" rIns="0" bIns="0" anchor="t">
            <a:spAutoFit/>
          </a:bodyPr>
          <a:lstStyle/>
          <a:p>
            <a:pPr algn="l"/>
            <a:r>
              <a:rPr sz="1100" b="1" i="0">
                <a:solidFill>
                  <a:srgbClr val="EDF4FF"/>
                </a:solidFill>
                <a:latin typeface="Calibri"/>
              </a:rPr>
              <a:t>Single catastrophic event</a:t>
            </a:r>
          </a:p>
        </p:txBody>
      </p:sp>
      <p:sp>
        <p:nvSpPr>
          <p:cNvPr id="69" name="TextBox 68"/>
          <p:cNvSpPr txBox="1"/>
          <p:nvPr/>
        </p:nvSpPr>
        <p:spPr>
          <a:xfrm>
            <a:off x="3739896" y="5550408"/>
            <a:ext cx="2103120" cy="201168"/>
          </a:xfrm>
          <a:prstGeom prst="rect">
            <a:avLst/>
          </a:prstGeom>
          <a:noFill/>
        </p:spPr>
        <p:txBody>
          <a:bodyPr wrap="square" lIns="0" tIns="0" rIns="0" bIns="0" anchor="t">
            <a:spAutoFit/>
          </a:bodyPr>
          <a:lstStyle/>
          <a:p>
            <a:pPr algn="l"/>
            <a:r>
              <a:rPr sz="1000" b="1" i="0">
                <a:solidFill>
                  <a:srgbClr val="FFBF56"/>
                </a:solidFill>
                <a:latin typeface="Calibri"/>
              </a:rPr>
              <a:t>One event causing &gt;₩1B in claims in a week</a:t>
            </a:r>
          </a:p>
        </p:txBody>
      </p:sp>
      <p:sp>
        <p:nvSpPr>
          <p:cNvPr id="70" name="TextBox 69"/>
          <p:cNvSpPr txBox="1"/>
          <p:nvPr/>
        </p:nvSpPr>
        <p:spPr>
          <a:xfrm>
            <a:off x="6025896" y="5522976"/>
            <a:ext cx="5605272" cy="256032"/>
          </a:xfrm>
          <a:prstGeom prst="rect">
            <a:avLst/>
          </a:prstGeom>
          <a:noFill/>
        </p:spPr>
        <p:txBody>
          <a:bodyPr wrap="square" lIns="0" tIns="0" rIns="0" bIns="0" anchor="t">
            <a:spAutoFit/>
          </a:bodyPr>
          <a:lstStyle/>
          <a:p>
            <a:pPr algn="l"/>
            <a:r>
              <a:rPr sz="950" b="0" i="0">
                <a:solidFill>
                  <a:srgbClr val="B8C8E0"/>
                </a:solidFill>
                <a:latin typeface="Calibri"/>
              </a:rPr>
              <a:t>Emergency mode triggers — staged payouts, reinsurance call, catastrophe reserve drains.</a:t>
            </a:r>
          </a:p>
        </p:txBody>
      </p:sp>
      <p:sp>
        <p:nvSpPr>
          <p:cNvPr id="71" name="Rounded Rectangle 70"/>
          <p:cNvSpPr/>
          <p:nvPr/>
        </p:nvSpPr>
        <p:spPr>
          <a:xfrm>
            <a:off x="502920" y="5870448"/>
            <a:ext cx="11183112" cy="594360"/>
          </a:xfrm>
          <a:prstGeom prst="roundRect">
            <a:avLst/>
          </a:prstGeom>
          <a:solidFill>
            <a:srgbClr val="121E32"/>
          </a:solidFill>
          <a:ln w="1270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02920" y="5980176"/>
            <a:ext cx="54864" cy="374904"/>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85800" y="5961888"/>
            <a:ext cx="3657600" cy="201168"/>
          </a:xfrm>
          <a:prstGeom prst="rect">
            <a:avLst/>
          </a:prstGeom>
          <a:noFill/>
        </p:spPr>
        <p:txBody>
          <a:bodyPr wrap="square" lIns="0" tIns="0" rIns="0" bIns="0" anchor="t">
            <a:spAutoFit/>
          </a:bodyPr>
          <a:lstStyle/>
          <a:p>
            <a:pPr algn="l"/>
            <a:r>
              <a:rPr sz="1000" b="1" i="0">
                <a:solidFill>
                  <a:srgbClr val="4EE59A"/>
                </a:solidFill>
                <a:latin typeface="Calibri"/>
              </a:rPr>
              <a:t>MITIGATIONS EXIST FOR EACH</a:t>
            </a:r>
          </a:p>
        </p:txBody>
      </p:sp>
      <p:sp>
        <p:nvSpPr>
          <p:cNvPr id="74" name="TextBox 73"/>
          <p:cNvSpPr txBox="1"/>
          <p:nvPr/>
        </p:nvSpPr>
        <p:spPr>
          <a:xfrm>
            <a:off x="685800" y="6181344"/>
            <a:ext cx="10789920" cy="256032"/>
          </a:xfrm>
          <a:prstGeom prst="rect">
            <a:avLst/>
          </a:prstGeom>
          <a:noFill/>
        </p:spPr>
        <p:txBody>
          <a:bodyPr wrap="square" lIns="0" tIns="0" rIns="0" bIns="0" anchor="t">
            <a:spAutoFit/>
          </a:bodyPr>
          <a:lstStyle/>
          <a:p>
            <a:pPr algn="l"/>
            <a:r>
              <a:rPr sz="950" b="0" i="1">
                <a:solidFill>
                  <a:srgbClr val="B8C8E0"/>
                </a:solidFill>
                <a:latin typeface="Calibri"/>
              </a:rPr>
              <a:t>Each failure mode has a specific response — pricing adjustment, LP backstop, scope reduction, emergency mode, bridge funding. See Section 6.3 for the full black-swan playbook.</a:t>
            </a:r>
          </a:p>
        </p:txBody>
      </p:sp>
      <p:sp>
        <p:nvSpPr>
          <p:cNvPr id="75" name="Rectangle 7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Sensitivity analysis from Section 5.9 · monitored continuously via on-chain metrics and quarterly reviews</a:t>
            </a:r>
          </a:p>
        </p:txBody>
      </p:sp>
      <p:sp>
        <p:nvSpPr>
          <p:cNvPr id="77" name="TextBox 7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COMPETITIVE LANDSCAPE</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Who We're Up Against</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Three competitor types — what they're good at, and where they break</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2"/>
          <a:stretch>
            <a:fillRect/>
          </a:stretch>
        </p:blipFill>
        <p:spPr>
          <a:xfrm>
            <a:off x="2011680" y="2039111"/>
            <a:ext cx="640080" cy="640080"/>
          </a:xfrm>
          <a:prstGeom prst="rect">
            <a:avLst/>
          </a:prstGeom>
        </p:spPr>
      </p:pic>
      <p:sp>
        <p:nvSpPr>
          <p:cNvPr id="12" name="TextBox 11"/>
          <p:cNvSpPr txBox="1"/>
          <p:nvPr/>
        </p:nvSpPr>
        <p:spPr>
          <a:xfrm>
            <a:off x="68580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CENTRALIZED HISTORY</a:t>
            </a:r>
          </a:p>
        </p:txBody>
      </p:sp>
      <p:sp>
        <p:nvSpPr>
          <p:cNvPr id="13" name="TextBox 12"/>
          <p:cNvSpPr txBox="1"/>
          <p:nvPr/>
        </p:nvSpPr>
        <p:spPr>
          <a:xfrm>
            <a:off x="68580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CARFAX  ·  Korea Auto Inspection  ·  AutoCheck</a:t>
            </a:r>
          </a:p>
        </p:txBody>
      </p:sp>
      <p:sp>
        <p:nvSpPr>
          <p:cNvPr id="14" name="Rectangle 13"/>
          <p:cNvSpPr/>
          <p:nvPr/>
        </p:nvSpPr>
        <p:spPr>
          <a:xfrm>
            <a:off x="100584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16" name="TextBox 15"/>
          <p:cNvSpPr txBox="1"/>
          <p:nvPr/>
        </p:nvSpPr>
        <p:spPr>
          <a:xfrm>
            <a:off x="68580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Data is owned by them, not you. You can't take your history if you switch. There's no real penalty for fake records.</a:t>
            </a:r>
          </a:p>
        </p:txBody>
      </p:sp>
      <p:sp>
        <p:nvSpPr>
          <p:cNvPr id="17" name="Rounded Rectangle 16"/>
          <p:cNvSpPr/>
          <p:nvPr/>
        </p:nvSpPr>
        <p:spPr>
          <a:xfrm>
            <a:off x="68580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18" name="TextBox 17"/>
          <p:cNvSpPr txBox="1"/>
          <p:nvPr/>
        </p:nvSpPr>
        <p:spPr>
          <a:xfrm>
            <a:off x="68580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Records are user-owned, signed, and economically staked. Fraud is automatically slashed — accuracy has skin in the game.</a:t>
            </a:r>
          </a:p>
        </p:txBody>
      </p:sp>
      <p:sp>
        <p:nvSpPr>
          <p:cNvPr id="19" name="Rounded Rectangle 18"/>
          <p:cNvSpPr/>
          <p:nvPr/>
        </p:nvSpPr>
        <p:spPr>
          <a:xfrm>
            <a:off x="429768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3"/>
          <a:stretch>
            <a:fillRect/>
          </a:stretch>
        </p:blipFill>
        <p:spPr>
          <a:xfrm>
            <a:off x="5806440" y="2039111"/>
            <a:ext cx="640080" cy="640080"/>
          </a:xfrm>
          <a:prstGeom prst="rect">
            <a:avLst/>
          </a:prstGeom>
        </p:spPr>
      </p:pic>
      <p:sp>
        <p:nvSpPr>
          <p:cNvPr id="21" name="TextBox 20"/>
          <p:cNvSpPr txBox="1"/>
          <p:nvPr/>
        </p:nvSpPr>
        <p:spPr>
          <a:xfrm>
            <a:off x="448056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TRADITIONAL INSURERS</a:t>
            </a:r>
          </a:p>
        </p:txBody>
      </p:sp>
      <p:sp>
        <p:nvSpPr>
          <p:cNvPr id="22" name="TextBox 21"/>
          <p:cNvSpPr txBox="1"/>
          <p:nvPr/>
        </p:nvSpPr>
        <p:spPr>
          <a:xfrm>
            <a:off x="448056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Samsung F&amp;M  ·  Hyundai M&amp;F  ·  DB Insurance</a:t>
            </a:r>
          </a:p>
        </p:txBody>
      </p:sp>
      <p:sp>
        <p:nvSpPr>
          <p:cNvPr id="23" name="Rectangle 22"/>
          <p:cNvSpPr/>
          <p:nvPr/>
        </p:nvSpPr>
        <p:spPr>
          <a:xfrm>
            <a:off x="480060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48056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25" name="TextBox 24"/>
          <p:cNvSpPr txBox="1"/>
          <p:nvPr/>
        </p:nvSpPr>
        <p:spPr>
          <a:xfrm>
            <a:off x="448056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Behavior data is locked to one insurer. Pricing still relies on age and demographics. Innovation is slow.</a:t>
            </a:r>
          </a:p>
        </p:txBody>
      </p:sp>
      <p:sp>
        <p:nvSpPr>
          <p:cNvPr id="26" name="Rounded Rectangle 25"/>
          <p:cNvSpPr/>
          <p:nvPr/>
        </p:nvSpPr>
        <p:spPr>
          <a:xfrm>
            <a:off x="448056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27" name="TextBox 26"/>
          <p:cNvSpPr txBox="1"/>
          <p:nvPr/>
        </p:nvSpPr>
        <p:spPr>
          <a:xfrm>
            <a:off x="448056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Behavior score follows the rider across providers. Pricing reflects actual riding. Claims settle on-chain in days.</a:t>
            </a:r>
          </a:p>
        </p:txBody>
      </p:sp>
      <p:sp>
        <p:nvSpPr>
          <p:cNvPr id="28" name="Rounded Rectangle 27"/>
          <p:cNvSpPr/>
          <p:nvPr/>
        </p:nvSpPr>
        <p:spPr>
          <a:xfrm>
            <a:off x="809244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image.png"/>
          <p:cNvPicPr>
            <a:picLocks noChangeAspect="1"/>
          </p:cNvPicPr>
          <p:nvPr/>
        </p:nvPicPr>
        <p:blipFill>
          <a:blip r:embed="rId4"/>
          <a:stretch>
            <a:fillRect/>
          </a:stretch>
        </p:blipFill>
        <p:spPr>
          <a:xfrm>
            <a:off x="9601200" y="2039111"/>
            <a:ext cx="640080" cy="640080"/>
          </a:xfrm>
          <a:prstGeom prst="rect">
            <a:avLst/>
          </a:prstGeom>
        </p:spPr>
      </p:pic>
      <p:sp>
        <p:nvSpPr>
          <p:cNvPr id="30" name="TextBox 29"/>
          <p:cNvSpPr txBox="1"/>
          <p:nvPr/>
        </p:nvSpPr>
        <p:spPr>
          <a:xfrm>
            <a:off x="827532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DEFI INSURANCE</a:t>
            </a:r>
          </a:p>
        </p:txBody>
      </p:sp>
      <p:sp>
        <p:nvSpPr>
          <p:cNvPr id="31" name="TextBox 30"/>
          <p:cNvSpPr txBox="1"/>
          <p:nvPr/>
        </p:nvSpPr>
        <p:spPr>
          <a:xfrm>
            <a:off x="827532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Nexus Mutual  ·  InsurAce  ·  Cover Protocol</a:t>
            </a:r>
          </a:p>
        </p:txBody>
      </p:sp>
      <p:sp>
        <p:nvSpPr>
          <p:cNvPr id="32" name="Rectangle 31"/>
          <p:cNvSpPr/>
          <p:nvPr/>
        </p:nvSpPr>
        <p:spPr>
          <a:xfrm>
            <a:off x="859536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27532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34" name="TextBox 33"/>
          <p:cNvSpPr txBox="1"/>
          <p:nvPr/>
        </p:nvSpPr>
        <p:spPr>
          <a:xfrm>
            <a:off x="827532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Built for crypto-native risks like smart-contract bugs. No real-world data moat. Almost zero consumer reach.</a:t>
            </a:r>
          </a:p>
        </p:txBody>
      </p:sp>
      <p:sp>
        <p:nvSpPr>
          <p:cNvPr id="35" name="Rounded Rectangle 34"/>
          <p:cNvSpPr/>
          <p:nvPr/>
        </p:nvSpPr>
        <p:spPr>
          <a:xfrm>
            <a:off x="827532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36" name="TextBox 35"/>
          <p:cNvSpPr txBox="1"/>
          <p:nvPr/>
        </p:nvSpPr>
        <p:spPr>
          <a:xfrm>
            <a:off x="827532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Real-world motorcycle data. Identity + behavior in one stack. Consumer-grade UX via account abstraction.</a:t>
            </a:r>
          </a:p>
        </p:txBody>
      </p:sp>
      <p:sp>
        <p:nvSpPr>
          <p:cNvPr id="37" name="Rounded Rectangle 36"/>
          <p:cNvSpPr/>
          <p:nvPr/>
        </p:nvSpPr>
        <p:spPr>
          <a:xfrm>
            <a:off x="502920" y="5212080"/>
            <a:ext cx="11183112" cy="1371600"/>
          </a:xfrm>
          <a:prstGeom prst="roundRect">
            <a:avLst/>
          </a:prstGeom>
          <a:solidFill>
            <a:srgbClr val="0D1625"/>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2920" y="5376672"/>
            <a:ext cx="73152" cy="104241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mage.png"/>
          <p:cNvPicPr>
            <a:picLocks noChangeAspect="1"/>
          </p:cNvPicPr>
          <p:nvPr/>
        </p:nvPicPr>
        <p:blipFill>
          <a:blip r:embed="rId5"/>
          <a:stretch>
            <a:fillRect/>
          </a:stretch>
        </p:blipFill>
        <p:spPr>
          <a:xfrm>
            <a:off x="731520" y="5463540"/>
            <a:ext cx="868680" cy="868680"/>
          </a:xfrm>
          <a:prstGeom prst="rect">
            <a:avLst/>
          </a:prstGeom>
        </p:spPr>
      </p:pic>
      <p:sp>
        <p:nvSpPr>
          <p:cNvPr id="40" name="TextBox 39"/>
          <p:cNvSpPr txBox="1"/>
          <p:nvPr/>
        </p:nvSpPr>
        <p:spPr>
          <a:xfrm>
            <a:off x="1783080" y="5394960"/>
            <a:ext cx="5029200" cy="256032"/>
          </a:xfrm>
          <a:prstGeom prst="rect">
            <a:avLst/>
          </a:prstGeom>
          <a:noFill/>
        </p:spPr>
        <p:txBody>
          <a:bodyPr wrap="square" lIns="0" tIns="0" rIns="0" bIns="0" anchor="t">
            <a:spAutoFit/>
          </a:bodyPr>
          <a:lstStyle/>
          <a:p>
            <a:pPr algn="l"/>
            <a:r>
              <a:rPr sz="1100" b="1" i="0">
                <a:solidFill>
                  <a:srgbClr val="9CC6FF"/>
                </a:solidFill>
                <a:latin typeface="Calibri"/>
              </a:rPr>
              <a:t>OUR MOAT</a:t>
            </a:r>
          </a:p>
        </p:txBody>
      </p:sp>
      <p:sp>
        <p:nvSpPr>
          <p:cNvPr id="41" name="TextBox 40"/>
          <p:cNvSpPr txBox="1"/>
          <p:nvPr/>
        </p:nvSpPr>
        <p:spPr>
          <a:xfrm>
            <a:off x="1783080" y="5650992"/>
            <a:ext cx="5029200" cy="365760"/>
          </a:xfrm>
          <a:prstGeom prst="rect">
            <a:avLst/>
          </a:prstGeom>
          <a:noFill/>
        </p:spPr>
        <p:txBody>
          <a:bodyPr wrap="square" lIns="0" tIns="0" rIns="0" bIns="0" anchor="t">
            <a:spAutoFit/>
          </a:bodyPr>
          <a:lstStyle/>
          <a:p>
            <a:pPr algn="l"/>
            <a:r>
              <a:rPr sz="1800" b="1" i="0">
                <a:solidFill>
                  <a:srgbClr val="EDF4FF"/>
                </a:solidFill>
                <a:latin typeface="Calibri"/>
              </a:rPr>
              <a:t>Vertical data network effect</a:t>
            </a:r>
          </a:p>
        </p:txBody>
      </p:sp>
      <p:sp>
        <p:nvSpPr>
          <p:cNvPr id="42" name="TextBox 41"/>
          <p:cNvSpPr txBox="1"/>
          <p:nvPr/>
        </p:nvSpPr>
        <p:spPr>
          <a:xfrm>
            <a:off x="1783080" y="6053328"/>
            <a:ext cx="5029200" cy="502920"/>
          </a:xfrm>
          <a:prstGeom prst="rect">
            <a:avLst/>
          </a:prstGeom>
          <a:noFill/>
        </p:spPr>
        <p:txBody>
          <a:bodyPr wrap="square" lIns="0" tIns="0" rIns="0" bIns="0" anchor="t">
            <a:spAutoFit/>
          </a:bodyPr>
          <a:lstStyle/>
          <a:p>
            <a:pPr algn="l"/>
            <a:r>
              <a:rPr sz="1000" b="0" i="1">
                <a:solidFill>
                  <a:srgbClr val="B8C8E0"/>
                </a:solidFill>
                <a:latin typeface="Calibri"/>
              </a:rPr>
              <a:t>Every new bike, rider, mechanic, dealer, and partner makes the dataset more valuable — and harder for anyone to copy from scratch.</a:t>
            </a:r>
          </a:p>
        </p:txBody>
      </p:sp>
      <p:sp>
        <p:nvSpPr>
          <p:cNvPr id="43" name="Rounded Rectangle 42"/>
          <p:cNvSpPr/>
          <p:nvPr/>
        </p:nvSpPr>
        <p:spPr>
          <a:xfrm>
            <a:off x="717804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image.png"/>
          <p:cNvPicPr>
            <a:picLocks noChangeAspect="1"/>
          </p:cNvPicPr>
          <p:nvPr/>
        </p:nvPicPr>
        <p:blipFill>
          <a:blip r:embed="rId6"/>
          <a:stretch>
            <a:fillRect/>
          </a:stretch>
        </p:blipFill>
        <p:spPr>
          <a:xfrm>
            <a:off x="7635240" y="5468112"/>
            <a:ext cx="502920" cy="502920"/>
          </a:xfrm>
          <a:prstGeom prst="rect">
            <a:avLst/>
          </a:prstGeom>
        </p:spPr>
      </p:pic>
      <p:sp>
        <p:nvSpPr>
          <p:cNvPr id="45" name="TextBox 44"/>
          <p:cNvSpPr txBox="1"/>
          <p:nvPr/>
        </p:nvSpPr>
        <p:spPr>
          <a:xfrm>
            <a:off x="722376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Two-wheelers only</a:t>
            </a:r>
          </a:p>
        </p:txBody>
      </p:sp>
      <p:sp>
        <p:nvSpPr>
          <p:cNvPr id="46" name="TextBox 45"/>
          <p:cNvSpPr txBox="1"/>
          <p:nvPr/>
        </p:nvSpPr>
        <p:spPr>
          <a:xfrm>
            <a:off x="725119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Specialized data, not generic insurance</a:t>
            </a:r>
          </a:p>
        </p:txBody>
      </p:sp>
      <p:sp>
        <p:nvSpPr>
          <p:cNvPr id="47" name="Rounded Rectangle 46"/>
          <p:cNvSpPr/>
          <p:nvPr/>
        </p:nvSpPr>
        <p:spPr>
          <a:xfrm>
            <a:off x="868680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image.png"/>
          <p:cNvPicPr>
            <a:picLocks noChangeAspect="1"/>
          </p:cNvPicPr>
          <p:nvPr/>
        </p:nvPicPr>
        <p:blipFill>
          <a:blip r:embed="rId7"/>
          <a:stretch>
            <a:fillRect/>
          </a:stretch>
        </p:blipFill>
        <p:spPr>
          <a:xfrm>
            <a:off x="9144000" y="5468112"/>
            <a:ext cx="502920" cy="502920"/>
          </a:xfrm>
          <a:prstGeom prst="rect">
            <a:avLst/>
          </a:prstGeom>
        </p:spPr>
      </p:pic>
      <p:sp>
        <p:nvSpPr>
          <p:cNvPr id="49" name="TextBox 48"/>
          <p:cNvSpPr txBox="1"/>
          <p:nvPr/>
        </p:nvSpPr>
        <p:spPr>
          <a:xfrm>
            <a:off x="873252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Identity + Behavior</a:t>
            </a:r>
          </a:p>
        </p:txBody>
      </p:sp>
      <p:sp>
        <p:nvSpPr>
          <p:cNvPr id="50" name="TextBox 49"/>
          <p:cNvSpPr txBox="1"/>
          <p:nvPr/>
        </p:nvSpPr>
        <p:spPr>
          <a:xfrm>
            <a:off x="875995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Two protocols, one stack — each reinforces the other</a:t>
            </a:r>
          </a:p>
        </p:txBody>
      </p:sp>
      <p:sp>
        <p:nvSpPr>
          <p:cNvPr id="51" name="Rounded Rectangle 50"/>
          <p:cNvSpPr/>
          <p:nvPr/>
        </p:nvSpPr>
        <p:spPr>
          <a:xfrm>
            <a:off x="1019556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mage.png"/>
          <p:cNvPicPr>
            <a:picLocks noChangeAspect="1"/>
          </p:cNvPicPr>
          <p:nvPr/>
        </p:nvPicPr>
        <p:blipFill>
          <a:blip r:embed="rId8"/>
          <a:stretch>
            <a:fillRect/>
          </a:stretch>
        </p:blipFill>
        <p:spPr>
          <a:xfrm>
            <a:off x="10652760" y="5468112"/>
            <a:ext cx="502920" cy="502920"/>
          </a:xfrm>
          <a:prstGeom prst="rect">
            <a:avLst/>
          </a:prstGeom>
        </p:spPr>
      </p:pic>
      <p:sp>
        <p:nvSpPr>
          <p:cNvPr id="53" name="TextBox 52"/>
          <p:cNvSpPr txBox="1"/>
          <p:nvPr/>
        </p:nvSpPr>
        <p:spPr>
          <a:xfrm>
            <a:off x="1024128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Korea-first wedge</a:t>
            </a:r>
          </a:p>
        </p:txBody>
      </p:sp>
      <p:sp>
        <p:nvSpPr>
          <p:cNvPr id="54" name="TextBox 53"/>
          <p:cNvSpPr txBox="1"/>
          <p:nvPr/>
        </p:nvSpPr>
        <p:spPr>
          <a:xfrm>
            <a:off x="1026871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Dense urban motorcycle market, expandable across Asia</a:t>
            </a:r>
          </a:p>
        </p:txBody>
      </p:sp>
      <p:sp>
        <p:nvSpPr>
          <p:cNvPr id="55" name="Rectangle 54"/>
          <p:cNvSpPr/>
          <p:nvPr/>
        </p:nvSpPr>
        <p:spPr>
          <a:xfrm>
            <a:off x="640080" y="664768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6702552"/>
            <a:ext cx="8229600" cy="164592"/>
          </a:xfrm>
          <a:prstGeom prst="rect">
            <a:avLst/>
          </a:prstGeom>
          <a:noFill/>
        </p:spPr>
        <p:txBody>
          <a:bodyPr wrap="square" lIns="0" tIns="0" rIns="0" bIns="0" anchor="t">
            <a:spAutoFit/>
          </a:bodyPr>
          <a:lstStyle/>
          <a:p>
            <a:pPr algn="l"/>
            <a:r>
              <a:rPr sz="900" b="0" i="1">
                <a:solidFill>
                  <a:srgbClr val="9CC6FF"/>
                </a:solidFill>
                <a:latin typeface="Calibri"/>
              </a:rPr>
              <a:t>We don't beat any one competitor head-on — we own the intersection none of them can occupy alone</a:t>
            </a:r>
          </a:p>
        </p:txBody>
      </p:sp>
      <p:sp>
        <p:nvSpPr>
          <p:cNvPr id="57" name="TextBox 56"/>
          <p:cNvSpPr txBox="1"/>
          <p:nvPr/>
        </p:nvSpPr>
        <p:spPr>
          <a:xfrm>
            <a:off x="9601200" y="6702552"/>
            <a:ext cx="2286000" cy="164592"/>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SECURITY ROADMAP</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How We Keep It Safe</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Five waypoints — from first commit to year-five operations</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20240"/>
            <a:ext cx="5486400" cy="228600"/>
          </a:xfrm>
          <a:prstGeom prst="rect">
            <a:avLst/>
          </a:prstGeom>
          <a:noFill/>
        </p:spPr>
        <p:txBody>
          <a:bodyPr wrap="square" lIns="0" tIns="0" rIns="0" bIns="0" anchor="t">
            <a:spAutoFit/>
          </a:bodyPr>
          <a:lstStyle/>
          <a:p>
            <a:pPr algn="l"/>
            <a:r>
              <a:rPr sz="1000" b="1" i="0">
                <a:solidFill>
                  <a:srgbClr val="FFBF56"/>
                </a:solidFill>
                <a:latin typeface="Calibri"/>
              </a:rPr>
              <a:t>← PRE-LAUNCH</a:t>
            </a:r>
          </a:p>
        </p:txBody>
      </p:sp>
      <p:sp>
        <p:nvSpPr>
          <p:cNvPr id="11" name="TextBox 10"/>
          <p:cNvSpPr txBox="1"/>
          <p:nvPr/>
        </p:nvSpPr>
        <p:spPr>
          <a:xfrm>
            <a:off x="502920" y="2167128"/>
            <a:ext cx="5486400" cy="182880"/>
          </a:xfrm>
          <a:prstGeom prst="rect">
            <a:avLst/>
          </a:prstGeom>
          <a:noFill/>
        </p:spPr>
        <p:txBody>
          <a:bodyPr wrap="square" lIns="0" tIns="0" rIns="0" bIns="0" anchor="t">
            <a:spAutoFit/>
          </a:bodyPr>
          <a:lstStyle/>
          <a:p>
            <a:pPr algn="l"/>
            <a:r>
              <a:rPr sz="900" b="0" i="1">
                <a:solidFill>
                  <a:srgbClr val="B8C8E0"/>
                </a:solidFill>
                <a:latin typeface="Calibri"/>
              </a:rPr>
              <a:t>Stress-test before anyone risks money</a:t>
            </a:r>
          </a:p>
        </p:txBody>
      </p:sp>
      <p:sp>
        <p:nvSpPr>
          <p:cNvPr id="12" name="TextBox 11"/>
          <p:cNvSpPr txBox="1"/>
          <p:nvPr/>
        </p:nvSpPr>
        <p:spPr>
          <a:xfrm>
            <a:off x="6903720" y="1920240"/>
            <a:ext cx="5029200" cy="228600"/>
          </a:xfrm>
          <a:prstGeom prst="rect">
            <a:avLst/>
          </a:prstGeom>
          <a:noFill/>
        </p:spPr>
        <p:txBody>
          <a:bodyPr wrap="square" lIns="0" tIns="0" rIns="0" bIns="0" anchor="t">
            <a:spAutoFit/>
          </a:bodyPr>
          <a:lstStyle/>
          <a:p>
            <a:pPr algn="r"/>
            <a:r>
              <a:rPr sz="1000" b="1" i="0">
                <a:solidFill>
                  <a:srgbClr val="4EE59A"/>
                </a:solidFill>
                <a:latin typeface="Calibri"/>
              </a:rPr>
              <a:t>POST-LAUNCH  ·  FOREVER →</a:t>
            </a:r>
          </a:p>
        </p:txBody>
      </p:sp>
      <p:sp>
        <p:nvSpPr>
          <p:cNvPr id="13" name="TextBox 12"/>
          <p:cNvSpPr txBox="1"/>
          <p:nvPr/>
        </p:nvSpPr>
        <p:spPr>
          <a:xfrm>
            <a:off x="6903720" y="2167128"/>
            <a:ext cx="5029200" cy="182880"/>
          </a:xfrm>
          <a:prstGeom prst="rect">
            <a:avLst/>
          </a:prstGeom>
          <a:noFill/>
        </p:spPr>
        <p:txBody>
          <a:bodyPr wrap="square" lIns="0" tIns="0" rIns="0" bIns="0" anchor="t">
            <a:spAutoFit/>
          </a:bodyPr>
          <a:lstStyle/>
          <a:p>
            <a:pPr algn="r"/>
            <a:r>
              <a:rPr sz="900" b="0" i="1">
                <a:solidFill>
                  <a:srgbClr val="B8C8E0"/>
                </a:solidFill>
                <a:latin typeface="Calibri"/>
              </a:rPr>
              <a:t>Continuous defense for the protocol's lifetime</a:t>
            </a:r>
          </a:p>
        </p:txBody>
      </p:sp>
      <p:sp>
        <p:nvSpPr>
          <p:cNvPr id="14" name="Rectangle 13"/>
          <p:cNvSpPr/>
          <p:nvPr/>
        </p:nvSpPr>
        <p:spPr>
          <a:xfrm>
            <a:off x="1097280" y="2743200"/>
            <a:ext cx="9994392" cy="411480"/>
          </a:xfrm>
          <a:prstGeom prst="rect">
            <a:avLst/>
          </a:prstGeom>
          <a:solidFill>
            <a:srgbClr val="1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2743200"/>
            <a:ext cx="9994392" cy="18288"/>
          </a:xfrm>
          <a:prstGeom prst="rect">
            <a:avLst/>
          </a:prstGeom>
          <a:solidFill>
            <a:srgbClr val="26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97280" y="3136392"/>
            <a:ext cx="9994392" cy="18288"/>
          </a:xfrm>
          <a:prstGeom prst="rect">
            <a:avLst/>
          </a:prstGeom>
          <a:solidFill>
            <a:srgbClr val="26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210852"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66514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1943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7372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2801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82305"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936595"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90886"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845177"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299467"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53758"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048"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662339"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116629"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570920"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25210"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479501"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933791"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388082"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84237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29666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75095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ight Arrow 38"/>
          <p:cNvSpPr/>
          <p:nvPr/>
        </p:nvSpPr>
        <p:spPr>
          <a:xfrm>
            <a:off x="11137392" y="2697480"/>
            <a:ext cx="365760" cy="502920"/>
          </a:xfrm>
          <a:prstGeom prst="rightArrow">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85800" y="2537460"/>
            <a:ext cx="822960" cy="822960"/>
          </a:xfrm>
          <a:prstGeom prst="ellipse">
            <a:avLst/>
          </a:prstGeom>
          <a:solidFill>
            <a:srgbClr val="1A3F70"/>
          </a:solidFill>
          <a:ln w="317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5800"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01</a:t>
            </a:r>
          </a:p>
        </p:txBody>
      </p:sp>
      <p:sp>
        <p:nvSpPr>
          <p:cNvPr id="42" name="Rectangle 41"/>
          <p:cNvSpPr/>
          <p:nvPr/>
        </p:nvSpPr>
        <p:spPr>
          <a:xfrm>
            <a:off x="1078992" y="3360420"/>
            <a:ext cx="36576" cy="43434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8580" y="3794760"/>
            <a:ext cx="2057400" cy="233172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580" y="4032504"/>
            <a:ext cx="45719" cy="178308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3172" y="3922776"/>
            <a:ext cx="1783080" cy="201168"/>
          </a:xfrm>
          <a:prstGeom prst="rect">
            <a:avLst/>
          </a:prstGeom>
          <a:noFill/>
        </p:spPr>
        <p:txBody>
          <a:bodyPr wrap="square" lIns="0" tIns="0" rIns="0" bIns="0" anchor="t">
            <a:spAutoFit/>
          </a:bodyPr>
          <a:lstStyle/>
          <a:p>
            <a:pPr algn="l"/>
            <a:r>
              <a:rPr sz="850" b="1" i="0">
                <a:solidFill>
                  <a:srgbClr val="4AA3FF"/>
                </a:solidFill>
                <a:latin typeface="Calibri"/>
              </a:rPr>
              <a:t>PRE-LAUNCH · INTERNAL</a:t>
            </a:r>
          </a:p>
        </p:txBody>
      </p:sp>
      <p:sp>
        <p:nvSpPr>
          <p:cNvPr id="46" name="TextBox 45"/>
          <p:cNvSpPr txBox="1"/>
          <p:nvPr/>
        </p:nvSpPr>
        <p:spPr>
          <a:xfrm>
            <a:off x="233172"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Test Like Hackers</a:t>
            </a:r>
          </a:p>
        </p:txBody>
      </p:sp>
      <p:sp>
        <p:nvSpPr>
          <p:cNvPr id="47" name="Rectangle 46"/>
          <p:cNvSpPr/>
          <p:nvPr/>
        </p:nvSpPr>
        <p:spPr>
          <a:xfrm>
            <a:off x="233172"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3172"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Cover every line that touches money. Use fuzzers and invariant tests to break our own contracts before anyone else does.</a:t>
            </a:r>
          </a:p>
        </p:txBody>
      </p:sp>
      <p:sp>
        <p:nvSpPr>
          <p:cNvPr id="49" name="Oval 48"/>
          <p:cNvSpPr/>
          <p:nvPr/>
        </p:nvSpPr>
        <p:spPr>
          <a:xfrm>
            <a:off x="3184398" y="2537460"/>
            <a:ext cx="822960" cy="822960"/>
          </a:xfrm>
          <a:prstGeom prst="ellipse">
            <a:avLst/>
          </a:prstGeom>
          <a:solidFill>
            <a:srgbClr val="1A3F70"/>
          </a:solidFill>
          <a:ln w="317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184398"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02</a:t>
            </a:r>
          </a:p>
        </p:txBody>
      </p:sp>
      <p:sp>
        <p:nvSpPr>
          <p:cNvPr id="51" name="Rectangle 50"/>
          <p:cNvSpPr/>
          <p:nvPr/>
        </p:nvSpPr>
        <p:spPr>
          <a:xfrm>
            <a:off x="3577590" y="3360420"/>
            <a:ext cx="36576" cy="43434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2567178" y="3794760"/>
            <a:ext cx="2057400" cy="233172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567178" y="4032504"/>
            <a:ext cx="45719" cy="178308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31770" y="3922776"/>
            <a:ext cx="1783080" cy="201168"/>
          </a:xfrm>
          <a:prstGeom prst="rect">
            <a:avLst/>
          </a:prstGeom>
          <a:noFill/>
        </p:spPr>
        <p:txBody>
          <a:bodyPr wrap="square" lIns="0" tIns="0" rIns="0" bIns="0" anchor="t">
            <a:spAutoFit/>
          </a:bodyPr>
          <a:lstStyle/>
          <a:p>
            <a:pPr algn="l"/>
            <a:r>
              <a:rPr sz="850" b="1" i="0">
                <a:solidFill>
                  <a:srgbClr val="27D8D8"/>
                </a:solidFill>
                <a:latin typeface="Calibri"/>
              </a:rPr>
              <a:t>PRE-LAUNCH · EXTERNAL</a:t>
            </a:r>
          </a:p>
        </p:txBody>
      </p:sp>
      <p:sp>
        <p:nvSpPr>
          <p:cNvPr id="55" name="TextBox 54"/>
          <p:cNvSpPr txBox="1"/>
          <p:nvPr/>
        </p:nvSpPr>
        <p:spPr>
          <a:xfrm>
            <a:off x="2731770"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Outside Eyes</a:t>
            </a:r>
          </a:p>
        </p:txBody>
      </p:sp>
      <p:sp>
        <p:nvSpPr>
          <p:cNvPr id="56" name="Rectangle 55"/>
          <p:cNvSpPr/>
          <p:nvPr/>
        </p:nvSpPr>
        <p:spPr>
          <a:xfrm>
            <a:off x="2731770"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31770"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Two independent expert teams (OpenZeppelin, Trail of Bits) review the code. Every finding published in full.</a:t>
            </a:r>
          </a:p>
        </p:txBody>
      </p:sp>
      <p:sp>
        <p:nvSpPr>
          <p:cNvPr id="58" name="Oval 57"/>
          <p:cNvSpPr/>
          <p:nvPr/>
        </p:nvSpPr>
        <p:spPr>
          <a:xfrm>
            <a:off x="5454396" y="2308860"/>
            <a:ext cx="1280160" cy="1280160"/>
          </a:xfrm>
          <a:prstGeom prst="ellipse">
            <a:avLst/>
          </a:prstGeom>
          <a:noFill/>
          <a:ln w="12700">
            <a:solidFill>
              <a:srgbClr val="4EE59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5591556" y="2446020"/>
            <a:ext cx="1005840" cy="1005840"/>
          </a:xfrm>
          <a:prstGeom prst="ellipse">
            <a:avLst/>
          </a:prstGeom>
          <a:solidFill>
            <a:srgbClr val="1A3F70"/>
          </a:solidFill>
          <a:ln w="317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591556" y="2446020"/>
            <a:ext cx="1005840" cy="1005840"/>
          </a:xfrm>
          <a:prstGeom prst="rect">
            <a:avLst/>
          </a:prstGeom>
          <a:noFill/>
        </p:spPr>
        <p:txBody>
          <a:bodyPr wrap="square" lIns="0" tIns="0" rIns="0" bIns="0" anchor="ctr">
            <a:spAutoFit/>
          </a:bodyPr>
          <a:lstStyle/>
          <a:p>
            <a:pPr algn="ctr"/>
            <a:r>
              <a:rPr sz="1600" b="1" i="0">
                <a:solidFill>
                  <a:srgbClr val="EDF4FF"/>
                </a:solidFill>
                <a:latin typeface="Calibri"/>
              </a:rPr>
              <a:t>03</a:t>
            </a:r>
          </a:p>
        </p:txBody>
      </p:sp>
      <p:sp>
        <p:nvSpPr>
          <p:cNvPr id="61" name="Rectangle 60"/>
          <p:cNvSpPr/>
          <p:nvPr/>
        </p:nvSpPr>
        <p:spPr>
          <a:xfrm>
            <a:off x="6076188" y="3451860"/>
            <a:ext cx="36576" cy="34290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5065776" y="3794760"/>
            <a:ext cx="2057400" cy="233172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065776" y="4032504"/>
            <a:ext cx="45719" cy="178308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230368" y="3922776"/>
            <a:ext cx="1783080" cy="201168"/>
          </a:xfrm>
          <a:prstGeom prst="rect">
            <a:avLst/>
          </a:prstGeom>
          <a:noFill/>
        </p:spPr>
        <p:txBody>
          <a:bodyPr wrap="square" lIns="0" tIns="0" rIns="0" bIns="0" anchor="t">
            <a:spAutoFit/>
          </a:bodyPr>
          <a:lstStyle/>
          <a:p>
            <a:pPr algn="l"/>
            <a:r>
              <a:rPr sz="850" b="1" i="0">
                <a:solidFill>
                  <a:srgbClr val="4EE59A"/>
                </a:solidFill>
                <a:latin typeface="Calibri"/>
              </a:rPr>
              <a:t>MAINNET · DAY 0</a:t>
            </a:r>
          </a:p>
        </p:txBody>
      </p:sp>
      <p:sp>
        <p:nvSpPr>
          <p:cNvPr id="65" name="TextBox 64"/>
          <p:cNvSpPr txBox="1"/>
          <p:nvPr/>
        </p:nvSpPr>
        <p:spPr>
          <a:xfrm>
            <a:off x="5230368"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Launch · Lock It Down</a:t>
            </a:r>
          </a:p>
        </p:txBody>
      </p:sp>
      <p:sp>
        <p:nvSpPr>
          <p:cNvPr id="66" name="Rectangle 65"/>
          <p:cNvSpPr/>
          <p:nvPr/>
        </p:nvSpPr>
        <p:spPr>
          <a:xfrm>
            <a:off x="5230368"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30368"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5-of-9 multisig on treasury. 48-hour timelock on upgrades. Emergency pause narrowly scoped to a security council.</a:t>
            </a:r>
          </a:p>
        </p:txBody>
      </p:sp>
      <p:sp>
        <p:nvSpPr>
          <p:cNvPr id="68" name="Oval 67"/>
          <p:cNvSpPr/>
          <p:nvPr/>
        </p:nvSpPr>
        <p:spPr>
          <a:xfrm>
            <a:off x="8181594" y="2537460"/>
            <a:ext cx="822960" cy="822960"/>
          </a:xfrm>
          <a:prstGeom prst="ellipse">
            <a:avLst/>
          </a:prstGeom>
          <a:solidFill>
            <a:srgbClr val="1A3F70"/>
          </a:solidFill>
          <a:ln w="317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181594"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04</a:t>
            </a:r>
          </a:p>
        </p:txBody>
      </p:sp>
      <p:sp>
        <p:nvSpPr>
          <p:cNvPr id="70" name="Rectangle 69"/>
          <p:cNvSpPr/>
          <p:nvPr/>
        </p:nvSpPr>
        <p:spPr>
          <a:xfrm>
            <a:off x="8574786" y="3360420"/>
            <a:ext cx="36576" cy="43434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7564374" y="3794760"/>
            <a:ext cx="2057400" cy="233172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564374" y="4032504"/>
            <a:ext cx="45719" cy="178308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728966" y="3922776"/>
            <a:ext cx="1783080" cy="201168"/>
          </a:xfrm>
          <a:prstGeom prst="rect">
            <a:avLst/>
          </a:prstGeom>
          <a:noFill/>
        </p:spPr>
        <p:txBody>
          <a:bodyPr wrap="square" lIns="0" tIns="0" rIns="0" bIns="0" anchor="t">
            <a:spAutoFit/>
          </a:bodyPr>
          <a:lstStyle/>
          <a:p>
            <a:pPr algn="l"/>
            <a:r>
              <a:rPr sz="850" b="1" i="0">
                <a:solidFill>
                  <a:srgbClr val="FFBF56"/>
                </a:solidFill>
                <a:latin typeface="Calibri"/>
              </a:rPr>
              <a:t>POST-LAUNCH · FOREVER</a:t>
            </a:r>
          </a:p>
        </p:txBody>
      </p:sp>
      <p:sp>
        <p:nvSpPr>
          <p:cNvPr id="74" name="TextBox 73"/>
          <p:cNvSpPr txBox="1"/>
          <p:nvPr/>
        </p:nvSpPr>
        <p:spPr>
          <a:xfrm>
            <a:off x="7728966"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Pay Hackers</a:t>
            </a:r>
          </a:p>
        </p:txBody>
      </p:sp>
      <p:sp>
        <p:nvSpPr>
          <p:cNvPr id="75" name="Rectangle 74"/>
          <p:cNvSpPr/>
          <p:nvPr/>
        </p:nvSpPr>
        <p:spPr>
          <a:xfrm>
            <a:off x="7728966"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728966"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Up to $250K for critical bugs · $75K high · $15K medium. Hosted on Immunefi, live for the protocol's lifetime.</a:t>
            </a:r>
          </a:p>
        </p:txBody>
      </p:sp>
      <p:sp>
        <p:nvSpPr>
          <p:cNvPr id="77" name="Oval 76"/>
          <p:cNvSpPr/>
          <p:nvPr/>
        </p:nvSpPr>
        <p:spPr>
          <a:xfrm>
            <a:off x="10680192" y="2537460"/>
            <a:ext cx="822960" cy="822960"/>
          </a:xfrm>
          <a:prstGeom prst="ellipse">
            <a:avLst/>
          </a:prstGeom>
          <a:solidFill>
            <a:srgbClr val="1A3F70"/>
          </a:solidFill>
          <a:ln w="31750">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680192"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05</a:t>
            </a:r>
          </a:p>
        </p:txBody>
      </p:sp>
      <p:sp>
        <p:nvSpPr>
          <p:cNvPr id="79" name="Rectangle 78"/>
          <p:cNvSpPr/>
          <p:nvPr/>
        </p:nvSpPr>
        <p:spPr>
          <a:xfrm>
            <a:off x="11073384" y="3360420"/>
            <a:ext cx="36576" cy="43434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10062972" y="3794760"/>
            <a:ext cx="2057400" cy="2331720"/>
          </a:xfrm>
          <a:prstGeom prst="roundRect">
            <a:avLst/>
          </a:prstGeom>
          <a:solidFill>
            <a:srgbClr val="122038"/>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062972" y="4032504"/>
            <a:ext cx="45719" cy="178308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227564" y="3922776"/>
            <a:ext cx="1783080" cy="201168"/>
          </a:xfrm>
          <a:prstGeom prst="rect">
            <a:avLst/>
          </a:prstGeom>
          <a:noFill/>
        </p:spPr>
        <p:txBody>
          <a:bodyPr wrap="square" lIns="0" tIns="0" rIns="0" bIns="0" anchor="t">
            <a:spAutoFit/>
          </a:bodyPr>
          <a:lstStyle/>
          <a:p>
            <a:pPr algn="l"/>
            <a:r>
              <a:rPr sz="850" b="1" i="0">
                <a:solidFill>
                  <a:srgbClr val="9CC6FF"/>
                </a:solidFill>
                <a:latin typeface="Calibri"/>
              </a:rPr>
              <a:t>CONTINUOUS · ANNUAL</a:t>
            </a:r>
          </a:p>
        </p:txBody>
      </p:sp>
      <p:sp>
        <p:nvSpPr>
          <p:cNvPr id="83" name="TextBox 82"/>
          <p:cNvSpPr txBox="1"/>
          <p:nvPr/>
        </p:nvSpPr>
        <p:spPr>
          <a:xfrm>
            <a:off x="10227564"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Never Stop Watching</a:t>
            </a:r>
          </a:p>
        </p:txBody>
      </p:sp>
      <p:sp>
        <p:nvSpPr>
          <p:cNvPr id="84" name="Rectangle 83"/>
          <p:cNvSpPr/>
          <p:nvPr/>
        </p:nvSpPr>
        <p:spPr>
          <a:xfrm>
            <a:off x="10227564"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227564"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Audit every major upgrade. Annual penetration tests. Public incident playbook. Quarterly drills.</a:t>
            </a:r>
          </a:p>
        </p:txBody>
      </p:sp>
      <p:sp>
        <p:nvSpPr>
          <p:cNvPr id="86" name="Rectangle 85"/>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Audit reports and bug bounty findings will be published publicly · target audit firms named in Section 6.2</a:t>
            </a:r>
          </a:p>
        </p:txBody>
      </p:sp>
      <p:sp>
        <p:nvSpPr>
          <p:cNvPr id="88" name="TextBox 87"/>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LIQUIDITY SAFEGUARDS</a:t>
            </a:r>
          </a:p>
        </p:txBody>
      </p:sp>
      <p:sp>
        <p:nvSpPr>
          <p:cNvPr id="7" name="TextBox 6"/>
          <p:cNvSpPr txBox="1"/>
          <p:nvPr/>
        </p:nvSpPr>
        <p:spPr>
          <a:xfrm>
            <a:off x="640080" y="658368"/>
            <a:ext cx="9601200" cy="731520"/>
          </a:xfrm>
          <a:prstGeom prst="rect">
            <a:avLst/>
          </a:prstGeom>
          <a:noFill/>
        </p:spPr>
        <p:txBody>
          <a:bodyPr wrap="square" lIns="0" tIns="0" rIns="0" bIns="0" anchor="t">
            <a:spAutoFit/>
          </a:bodyPr>
          <a:lstStyle/>
          <a:p>
            <a:pPr algn="l"/>
            <a:r>
              <a:rPr sz="3600" b="1" i="0">
                <a:solidFill>
                  <a:srgbClr val="EDF4FF"/>
                </a:solidFill>
                <a:latin typeface="Calibri"/>
              </a:rPr>
              <a:t>Keeping the Pool Solvent</a:t>
            </a:r>
          </a:p>
        </p:txBody>
      </p:sp>
      <p:sp>
        <p:nvSpPr>
          <p:cNvPr id="8" name="TextBox 7"/>
          <p:cNvSpPr txBox="1"/>
          <p:nvPr/>
        </p:nvSpPr>
        <p:spPr>
          <a:xfrm>
            <a:off x="640080" y="1298448"/>
            <a:ext cx="10058400" cy="320040"/>
          </a:xfrm>
          <a:prstGeom prst="rect">
            <a:avLst/>
          </a:prstGeom>
          <a:noFill/>
        </p:spPr>
        <p:txBody>
          <a:bodyPr wrap="square" lIns="0" tIns="0" rIns="0" bIns="0" anchor="t">
            <a:spAutoFit/>
          </a:bodyPr>
          <a:lstStyle/>
          <a:p>
            <a:pPr algn="l"/>
            <a:r>
              <a:rPr sz="1300" b="0" i="1">
                <a:solidFill>
                  <a:srgbClr val="B8C8E0"/>
                </a:solidFill>
                <a:latin typeface="Calibri"/>
              </a:rPr>
              <a:t>Seven layers of defense — money is always available when it's needed</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vault_lock.png"/>
          <p:cNvPicPr>
            <a:picLocks noChangeAspect="1"/>
          </p:cNvPicPr>
          <p:nvPr/>
        </p:nvPicPr>
        <p:blipFill>
          <a:blip r:embed="rId2"/>
          <a:stretch>
            <a:fillRect/>
          </a:stretch>
        </p:blipFill>
        <p:spPr>
          <a:xfrm>
            <a:off x="10424160" y="384048"/>
            <a:ext cx="1280160" cy="1280160"/>
          </a:xfrm>
          <a:prstGeom prst="rect">
            <a:avLst/>
          </a:prstGeom>
        </p:spPr>
      </p:pic>
      <p:sp>
        <p:nvSpPr>
          <p:cNvPr id="11" name="Rounded Rectangle 10"/>
          <p:cNvSpPr/>
          <p:nvPr/>
        </p:nvSpPr>
        <p:spPr>
          <a:xfrm>
            <a:off x="502920" y="1874519"/>
            <a:ext cx="2670048" cy="20116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020823"/>
            <a:ext cx="54864" cy="171907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mini_lock.png"/>
          <p:cNvPicPr>
            <a:picLocks noChangeAspect="1"/>
          </p:cNvPicPr>
          <p:nvPr/>
        </p:nvPicPr>
        <p:blipFill>
          <a:blip r:embed="rId3"/>
          <a:stretch>
            <a:fillRect/>
          </a:stretch>
        </p:blipFill>
        <p:spPr>
          <a:xfrm>
            <a:off x="2706624" y="1984247"/>
            <a:ext cx="329184" cy="329184"/>
          </a:xfrm>
          <a:prstGeom prst="rect">
            <a:avLst/>
          </a:prstGeom>
        </p:spPr>
      </p:pic>
      <p:sp>
        <p:nvSpPr>
          <p:cNvPr id="14" name="Oval 13"/>
          <p:cNvSpPr/>
          <p:nvPr/>
        </p:nvSpPr>
        <p:spPr>
          <a:xfrm>
            <a:off x="685800" y="2002535"/>
            <a:ext cx="310896" cy="310896"/>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01</a:t>
            </a:r>
          </a:p>
        </p:txBody>
      </p:sp>
      <p:sp>
        <p:nvSpPr>
          <p:cNvPr id="16" name="TextBox 15"/>
          <p:cNvSpPr txBox="1"/>
          <p:nvPr/>
        </p:nvSpPr>
        <p:spPr>
          <a:xfrm>
            <a:off x="1097280"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LIQUID RESERVE FLOOR</a:t>
            </a:r>
          </a:p>
        </p:txBody>
      </p:sp>
      <p:sp>
        <p:nvSpPr>
          <p:cNvPr id="17" name="Rectangle 16"/>
          <p:cNvSpPr/>
          <p:nvPr/>
        </p:nvSpPr>
        <p:spPr>
          <a:xfrm>
            <a:off x="685800"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A quarter of the pool always sits in USDC. Untouchable. Available for any claim, any day.</a:t>
            </a:r>
          </a:p>
        </p:txBody>
      </p:sp>
      <p:sp>
        <p:nvSpPr>
          <p:cNvPr id="19" name="Rounded Rectangle 18"/>
          <p:cNvSpPr/>
          <p:nvPr/>
        </p:nvSpPr>
        <p:spPr>
          <a:xfrm>
            <a:off x="1911096" y="3502151"/>
            <a:ext cx="1097280" cy="274320"/>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11096" y="3502151"/>
            <a:ext cx="1097280" cy="274320"/>
          </a:xfrm>
          <a:prstGeom prst="rect">
            <a:avLst/>
          </a:prstGeom>
          <a:noFill/>
        </p:spPr>
        <p:txBody>
          <a:bodyPr wrap="square" lIns="0" tIns="0" rIns="0" bIns="0" anchor="ctr">
            <a:spAutoFit/>
          </a:bodyPr>
          <a:lstStyle/>
          <a:p>
            <a:pPr algn="ctr"/>
            <a:r>
              <a:rPr sz="1100" b="1" i="0">
                <a:solidFill>
                  <a:srgbClr val="4AA3FF"/>
                </a:solidFill>
                <a:latin typeface="Calibri"/>
              </a:rPr>
              <a:t>≥ 25%</a:t>
            </a:r>
          </a:p>
        </p:txBody>
      </p:sp>
      <p:sp>
        <p:nvSpPr>
          <p:cNvPr id="21" name="Rounded Rectangle 20"/>
          <p:cNvSpPr/>
          <p:nvPr/>
        </p:nvSpPr>
        <p:spPr>
          <a:xfrm>
            <a:off x="3328416" y="1874519"/>
            <a:ext cx="2670048" cy="201168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346704" y="2020823"/>
            <a:ext cx="54864" cy="1719072"/>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ini_lock.png"/>
          <p:cNvPicPr>
            <a:picLocks noChangeAspect="1"/>
          </p:cNvPicPr>
          <p:nvPr/>
        </p:nvPicPr>
        <p:blipFill>
          <a:blip r:embed="rId3"/>
          <a:stretch>
            <a:fillRect/>
          </a:stretch>
        </p:blipFill>
        <p:spPr>
          <a:xfrm>
            <a:off x="5532120" y="1984247"/>
            <a:ext cx="329184" cy="329184"/>
          </a:xfrm>
          <a:prstGeom prst="rect">
            <a:avLst/>
          </a:prstGeom>
        </p:spPr>
      </p:pic>
      <p:sp>
        <p:nvSpPr>
          <p:cNvPr id="24" name="Oval 23"/>
          <p:cNvSpPr/>
          <p:nvPr/>
        </p:nvSpPr>
        <p:spPr>
          <a:xfrm>
            <a:off x="3511296" y="2002535"/>
            <a:ext cx="310896" cy="310896"/>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11296"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02</a:t>
            </a:r>
          </a:p>
        </p:txBody>
      </p:sp>
      <p:sp>
        <p:nvSpPr>
          <p:cNvPr id="26" name="TextBox 25"/>
          <p:cNvSpPr txBox="1"/>
          <p:nvPr/>
        </p:nvSpPr>
        <p:spPr>
          <a:xfrm>
            <a:off x="3922776"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DEFI DEPLOYMENT CAP</a:t>
            </a:r>
          </a:p>
        </p:txBody>
      </p:sp>
      <p:sp>
        <p:nvSpPr>
          <p:cNvPr id="27" name="Rectangle 26"/>
          <p:cNvSpPr/>
          <p:nvPr/>
        </p:nvSpPr>
        <p:spPr>
          <a:xfrm>
            <a:off x="3511296"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29584"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Only excess reserves can earn yield. Capped tight, blue-chip protocols only (Aave, Compound).</a:t>
            </a:r>
          </a:p>
        </p:txBody>
      </p:sp>
      <p:sp>
        <p:nvSpPr>
          <p:cNvPr id="29" name="Rounded Rectangle 28"/>
          <p:cNvSpPr/>
          <p:nvPr/>
        </p:nvSpPr>
        <p:spPr>
          <a:xfrm>
            <a:off x="4736592" y="3502151"/>
            <a:ext cx="1097280" cy="274320"/>
          </a:xfrm>
          <a:prstGeom prst="roundRect">
            <a:avLst/>
          </a:prstGeom>
          <a:solidFill>
            <a:srgbClr val="0D1625"/>
          </a:solidFill>
          <a:ln w="952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36592" y="3502151"/>
            <a:ext cx="1097280" cy="274320"/>
          </a:xfrm>
          <a:prstGeom prst="rect">
            <a:avLst/>
          </a:prstGeom>
          <a:noFill/>
        </p:spPr>
        <p:txBody>
          <a:bodyPr wrap="square" lIns="0" tIns="0" rIns="0" bIns="0" anchor="ctr">
            <a:spAutoFit/>
          </a:bodyPr>
          <a:lstStyle/>
          <a:p>
            <a:pPr algn="ctr"/>
            <a:r>
              <a:rPr sz="1100" b="1" i="0">
                <a:solidFill>
                  <a:srgbClr val="27D8D8"/>
                </a:solidFill>
                <a:latin typeface="Calibri"/>
              </a:rPr>
              <a:t>10–15%</a:t>
            </a:r>
          </a:p>
        </p:txBody>
      </p:sp>
      <p:sp>
        <p:nvSpPr>
          <p:cNvPr id="31" name="Rounded Rectangle 30"/>
          <p:cNvSpPr/>
          <p:nvPr/>
        </p:nvSpPr>
        <p:spPr>
          <a:xfrm>
            <a:off x="6153912" y="1874519"/>
            <a:ext cx="2670048" cy="201168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2200" y="2020823"/>
            <a:ext cx="54864" cy="171907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mini_lock.png"/>
          <p:cNvPicPr>
            <a:picLocks noChangeAspect="1"/>
          </p:cNvPicPr>
          <p:nvPr/>
        </p:nvPicPr>
        <p:blipFill>
          <a:blip r:embed="rId3"/>
          <a:stretch>
            <a:fillRect/>
          </a:stretch>
        </p:blipFill>
        <p:spPr>
          <a:xfrm>
            <a:off x="8357616" y="1984247"/>
            <a:ext cx="329184" cy="329184"/>
          </a:xfrm>
          <a:prstGeom prst="rect">
            <a:avLst/>
          </a:prstGeom>
        </p:spPr>
      </p:pic>
      <p:sp>
        <p:nvSpPr>
          <p:cNvPr id="34" name="Oval 33"/>
          <p:cNvSpPr/>
          <p:nvPr/>
        </p:nvSpPr>
        <p:spPr>
          <a:xfrm>
            <a:off x="6336792" y="2002535"/>
            <a:ext cx="310896" cy="310896"/>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36792"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03</a:t>
            </a:r>
          </a:p>
        </p:txBody>
      </p:sp>
      <p:sp>
        <p:nvSpPr>
          <p:cNvPr id="36" name="TextBox 35"/>
          <p:cNvSpPr txBox="1"/>
          <p:nvPr/>
        </p:nvSpPr>
        <p:spPr>
          <a:xfrm>
            <a:off x="6748272"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LP WITHDRAWAL NOTICE</a:t>
            </a:r>
          </a:p>
        </p:txBody>
      </p:sp>
      <p:sp>
        <p:nvSpPr>
          <p:cNvPr id="37" name="Rectangle 36"/>
          <p:cNvSpPr/>
          <p:nvPr/>
        </p:nvSpPr>
        <p:spPr>
          <a:xfrm>
            <a:off x="6336792"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Large LP redemptions (&gt;5% of LP pool) require 30 days notice. Prevents bank-run dynamics.</a:t>
            </a:r>
          </a:p>
        </p:txBody>
      </p:sp>
      <p:sp>
        <p:nvSpPr>
          <p:cNvPr id="39" name="Rounded Rectangle 38"/>
          <p:cNvSpPr/>
          <p:nvPr/>
        </p:nvSpPr>
        <p:spPr>
          <a:xfrm>
            <a:off x="7562088" y="3502151"/>
            <a:ext cx="1097280" cy="274320"/>
          </a:xfrm>
          <a:prstGeom prst="roundRect">
            <a:avLst/>
          </a:prstGeom>
          <a:solidFill>
            <a:srgbClr val="0D1625"/>
          </a:solidFill>
          <a:ln w="952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62088" y="3502151"/>
            <a:ext cx="1097280" cy="274320"/>
          </a:xfrm>
          <a:prstGeom prst="rect">
            <a:avLst/>
          </a:prstGeom>
          <a:noFill/>
        </p:spPr>
        <p:txBody>
          <a:bodyPr wrap="square" lIns="0" tIns="0" rIns="0" bIns="0" anchor="ctr">
            <a:spAutoFit/>
          </a:bodyPr>
          <a:lstStyle/>
          <a:p>
            <a:pPr algn="ctr"/>
            <a:r>
              <a:rPr sz="1100" b="1" i="0">
                <a:solidFill>
                  <a:srgbClr val="FFBF56"/>
                </a:solidFill>
                <a:latin typeface="Calibri"/>
              </a:rPr>
              <a:t>30 days</a:t>
            </a:r>
          </a:p>
        </p:txBody>
      </p:sp>
      <p:sp>
        <p:nvSpPr>
          <p:cNvPr id="41" name="Rounded Rectangle 40"/>
          <p:cNvSpPr/>
          <p:nvPr/>
        </p:nvSpPr>
        <p:spPr>
          <a:xfrm>
            <a:off x="8979408" y="1874519"/>
            <a:ext cx="2670048" cy="201168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97696" y="2020823"/>
            <a:ext cx="54864" cy="171907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mini_lock.png"/>
          <p:cNvPicPr>
            <a:picLocks noChangeAspect="1"/>
          </p:cNvPicPr>
          <p:nvPr/>
        </p:nvPicPr>
        <p:blipFill>
          <a:blip r:embed="rId3"/>
          <a:stretch>
            <a:fillRect/>
          </a:stretch>
        </p:blipFill>
        <p:spPr>
          <a:xfrm>
            <a:off x="11183112" y="1984247"/>
            <a:ext cx="329184" cy="329184"/>
          </a:xfrm>
          <a:prstGeom prst="rect">
            <a:avLst/>
          </a:prstGeom>
        </p:spPr>
      </p:pic>
      <p:sp>
        <p:nvSpPr>
          <p:cNvPr id="44" name="Oval 43"/>
          <p:cNvSpPr/>
          <p:nvPr/>
        </p:nvSpPr>
        <p:spPr>
          <a:xfrm>
            <a:off x="9162288" y="2002535"/>
            <a:ext cx="310896" cy="310896"/>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62288"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04</a:t>
            </a:r>
          </a:p>
        </p:txBody>
      </p:sp>
      <p:sp>
        <p:nvSpPr>
          <p:cNvPr id="46" name="TextBox 45"/>
          <p:cNvSpPr txBox="1"/>
          <p:nvPr/>
        </p:nvSpPr>
        <p:spPr>
          <a:xfrm>
            <a:off x="9573768"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POOL EXIT QUEUE</a:t>
            </a:r>
          </a:p>
        </p:txBody>
      </p:sp>
      <p:sp>
        <p:nvSpPr>
          <p:cNvPr id="47" name="Rectangle 46"/>
          <p:cNvSpPr/>
          <p:nvPr/>
        </p:nvSpPr>
        <p:spPr>
          <a:xfrm>
            <a:off x="9162288"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80576"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In emergency mode, withdrawals queue up and pay out proportionally. First isn't first-served.</a:t>
            </a:r>
          </a:p>
        </p:txBody>
      </p:sp>
      <p:sp>
        <p:nvSpPr>
          <p:cNvPr id="49" name="Rounded Rectangle 48"/>
          <p:cNvSpPr/>
          <p:nvPr/>
        </p:nvSpPr>
        <p:spPr>
          <a:xfrm>
            <a:off x="10387584" y="3502151"/>
            <a:ext cx="1097280" cy="274320"/>
          </a:xfrm>
          <a:prstGeom prst="roundRect">
            <a:avLst/>
          </a:prstGeom>
          <a:solidFill>
            <a:srgbClr val="0D1625"/>
          </a:solidFill>
          <a:ln w="952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387584" y="3502151"/>
            <a:ext cx="1097280" cy="274320"/>
          </a:xfrm>
          <a:prstGeom prst="rect">
            <a:avLst/>
          </a:prstGeom>
          <a:noFill/>
        </p:spPr>
        <p:txBody>
          <a:bodyPr wrap="square" lIns="0" tIns="0" rIns="0" bIns="0" anchor="ctr">
            <a:spAutoFit/>
          </a:bodyPr>
          <a:lstStyle/>
          <a:p>
            <a:pPr algn="ctr"/>
            <a:r>
              <a:rPr sz="1100" b="1" i="0">
                <a:solidFill>
                  <a:srgbClr val="FFBF56"/>
                </a:solidFill>
                <a:latin typeface="Calibri"/>
              </a:rPr>
              <a:t>Pro-rata</a:t>
            </a:r>
          </a:p>
        </p:txBody>
      </p:sp>
      <p:sp>
        <p:nvSpPr>
          <p:cNvPr id="51" name="Rounded Rectangle 50"/>
          <p:cNvSpPr/>
          <p:nvPr/>
        </p:nvSpPr>
        <p:spPr>
          <a:xfrm>
            <a:off x="1933956" y="4050791"/>
            <a:ext cx="2670048" cy="201168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52244" y="4197095"/>
            <a:ext cx="54864" cy="1719072"/>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Picture 52" descr="mini_lock.png"/>
          <p:cNvPicPr>
            <a:picLocks noChangeAspect="1"/>
          </p:cNvPicPr>
          <p:nvPr/>
        </p:nvPicPr>
        <p:blipFill>
          <a:blip r:embed="rId3"/>
          <a:stretch>
            <a:fillRect/>
          </a:stretch>
        </p:blipFill>
        <p:spPr>
          <a:xfrm>
            <a:off x="4137660" y="4160519"/>
            <a:ext cx="329184" cy="329184"/>
          </a:xfrm>
          <a:prstGeom prst="rect">
            <a:avLst/>
          </a:prstGeom>
        </p:spPr>
      </p:pic>
      <p:sp>
        <p:nvSpPr>
          <p:cNvPr id="54" name="Oval 53"/>
          <p:cNvSpPr/>
          <p:nvPr/>
        </p:nvSpPr>
        <p:spPr>
          <a:xfrm>
            <a:off x="2116836" y="4178807"/>
            <a:ext cx="310896" cy="310896"/>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116836"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05</a:t>
            </a:r>
          </a:p>
        </p:txBody>
      </p:sp>
      <p:sp>
        <p:nvSpPr>
          <p:cNvPr id="56" name="TextBox 55"/>
          <p:cNvSpPr txBox="1"/>
          <p:nvPr/>
        </p:nvSpPr>
        <p:spPr>
          <a:xfrm>
            <a:off x="2528316"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REINSURANCE BACKSTOP</a:t>
            </a:r>
          </a:p>
        </p:txBody>
      </p:sp>
      <p:sp>
        <p:nvSpPr>
          <p:cNvPr id="57" name="Rectangle 56"/>
          <p:cNvSpPr/>
          <p:nvPr/>
        </p:nvSpPr>
        <p:spPr>
          <a:xfrm>
            <a:off x="2116836"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135124"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External partner covers catastrophic losses above pool capacity. Required before launch.</a:t>
            </a:r>
          </a:p>
        </p:txBody>
      </p:sp>
      <p:sp>
        <p:nvSpPr>
          <p:cNvPr id="59" name="Rounded Rectangle 58"/>
          <p:cNvSpPr/>
          <p:nvPr/>
        </p:nvSpPr>
        <p:spPr>
          <a:xfrm>
            <a:off x="3342132" y="5678423"/>
            <a:ext cx="1097280" cy="274320"/>
          </a:xfrm>
          <a:prstGeom prst="roundRect">
            <a:avLst/>
          </a:prstGeom>
          <a:solidFill>
            <a:srgbClr val="0D1625"/>
          </a:solidFill>
          <a:ln w="952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342132" y="5678423"/>
            <a:ext cx="1097280" cy="274320"/>
          </a:xfrm>
          <a:prstGeom prst="rect">
            <a:avLst/>
          </a:prstGeom>
          <a:noFill/>
        </p:spPr>
        <p:txBody>
          <a:bodyPr wrap="square" lIns="0" tIns="0" rIns="0" bIns="0" anchor="ctr">
            <a:spAutoFit/>
          </a:bodyPr>
          <a:lstStyle/>
          <a:p>
            <a:pPr algn="ctr"/>
            <a:r>
              <a:rPr sz="1100" b="1" i="0">
                <a:solidFill>
                  <a:srgbClr val="4EE59A"/>
                </a:solidFill>
                <a:latin typeface="Calibri"/>
              </a:rPr>
              <a:t>Tail risk</a:t>
            </a:r>
          </a:p>
        </p:txBody>
      </p:sp>
      <p:sp>
        <p:nvSpPr>
          <p:cNvPr id="61" name="Rounded Rectangle 60"/>
          <p:cNvSpPr/>
          <p:nvPr/>
        </p:nvSpPr>
        <p:spPr>
          <a:xfrm>
            <a:off x="4759452" y="4050791"/>
            <a:ext cx="2670048" cy="2011680"/>
          </a:xfrm>
          <a:prstGeom prst="roundRect">
            <a:avLst/>
          </a:prstGeom>
          <a:solidFill>
            <a:srgbClr val="122038"/>
          </a:solidFill>
          <a:ln w="15875">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777740" y="4197095"/>
            <a:ext cx="54864" cy="1719072"/>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mini_lock.png"/>
          <p:cNvPicPr>
            <a:picLocks noChangeAspect="1"/>
          </p:cNvPicPr>
          <p:nvPr/>
        </p:nvPicPr>
        <p:blipFill>
          <a:blip r:embed="rId3"/>
          <a:stretch>
            <a:fillRect/>
          </a:stretch>
        </p:blipFill>
        <p:spPr>
          <a:xfrm>
            <a:off x="6963156" y="4160519"/>
            <a:ext cx="329184" cy="329184"/>
          </a:xfrm>
          <a:prstGeom prst="rect">
            <a:avLst/>
          </a:prstGeom>
        </p:spPr>
      </p:pic>
      <p:sp>
        <p:nvSpPr>
          <p:cNvPr id="64" name="Oval 63"/>
          <p:cNvSpPr/>
          <p:nvPr/>
        </p:nvSpPr>
        <p:spPr>
          <a:xfrm>
            <a:off x="4942332" y="4178807"/>
            <a:ext cx="310896" cy="310896"/>
          </a:xfrm>
          <a:prstGeom prst="ellipse">
            <a:avLst/>
          </a:prstGeom>
          <a:solidFill>
            <a:srgbClr val="1A3F70"/>
          </a:solidFill>
          <a:ln w="19050">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42332"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06</a:t>
            </a:r>
          </a:p>
        </p:txBody>
      </p:sp>
      <p:sp>
        <p:nvSpPr>
          <p:cNvPr id="66" name="TextBox 65"/>
          <p:cNvSpPr txBox="1"/>
          <p:nvPr/>
        </p:nvSpPr>
        <p:spPr>
          <a:xfrm>
            <a:off x="5353812"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STABLECOIN DIVERSIFICATION</a:t>
            </a:r>
          </a:p>
        </p:txBody>
      </p:sp>
      <p:sp>
        <p:nvSpPr>
          <p:cNvPr id="67" name="Rectangle 66"/>
          <p:cNvSpPr/>
          <p:nvPr/>
        </p:nvSpPr>
        <p:spPr>
          <a:xfrm>
            <a:off x="4942332"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960620"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Capital held across at least two regulated stablecoin issuers. No single point of failure.</a:t>
            </a:r>
          </a:p>
        </p:txBody>
      </p:sp>
      <p:sp>
        <p:nvSpPr>
          <p:cNvPr id="69" name="Rounded Rectangle 68"/>
          <p:cNvSpPr/>
          <p:nvPr/>
        </p:nvSpPr>
        <p:spPr>
          <a:xfrm>
            <a:off x="6167628" y="5678423"/>
            <a:ext cx="1097280" cy="274320"/>
          </a:xfrm>
          <a:prstGeom prst="roundRect">
            <a:avLst/>
          </a:prstGeom>
          <a:solidFill>
            <a:srgbClr val="0D1625"/>
          </a:solidFill>
          <a:ln w="9525">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167628" y="5678423"/>
            <a:ext cx="1097280" cy="274320"/>
          </a:xfrm>
          <a:prstGeom prst="rect">
            <a:avLst/>
          </a:prstGeom>
          <a:noFill/>
        </p:spPr>
        <p:txBody>
          <a:bodyPr wrap="square" lIns="0" tIns="0" rIns="0" bIns="0" anchor="ctr">
            <a:spAutoFit/>
          </a:bodyPr>
          <a:lstStyle/>
          <a:p>
            <a:pPr algn="ctr"/>
            <a:r>
              <a:rPr sz="1100" b="1" i="0">
                <a:solidFill>
                  <a:srgbClr val="C8DCFF"/>
                </a:solidFill>
                <a:latin typeface="Calibri"/>
              </a:rPr>
              <a:t>≥ 2 issuers</a:t>
            </a:r>
          </a:p>
        </p:txBody>
      </p:sp>
      <p:sp>
        <p:nvSpPr>
          <p:cNvPr id="71" name="Rounded Rectangle 70"/>
          <p:cNvSpPr/>
          <p:nvPr/>
        </p:nvSpPr>
        <p:spPr>
          <a:xfrm>
            <a:off x="7584948" y="4050791"/>
            <a:ext cx="2670048" cy="2011680"/>
          </a:xfrm>
          <a:prstGeom prst="roundRect">
            <a:avLst/>
          </a:prstGeom>
          <a:solidFill>
            <a:srgbClr val="122038"/>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603236" y="4197095"/>
            <a:ext cx="54864" cy="1719072"/>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Picture 72" descr="mini_lock.png"/>
          <p:cNvPicPr>
            <a:picLocks noChangeAspect="1"/>
          </p:cNvPicPr>
          <p:nvPr/>
        </p:nvPicPr>
        <p:blipFill>
          <a:blip r:embed="rId3"/>
          <a:stretch>
            <a:fillRect/>
          </a:stretch>
        </p:blipFill>
        <p:spPr>
          <a:xfrm>
            <a:off x="9788652" y="4160519"/>
            <a:ext cx="329184" cy="329184"/>
          </a:xfrm>
          <a:prstGeom prst="rect">
            <a:avLst/>
          </a:prstGeom>
        </p:spPr>
      </p:pic>
      <p:sp>
        <p:nvSpPr>
          <p:cNvPr id="74" name="Oval 73"/>
          <p:cNvSpPr/>
          <p:nvPr/>
        </p:nvSpPr>
        <p:spPr>
          <a:xfrm>
            <a:off x="7767828" y="4178807"/>
            <a:ext cx="310896" cy="310896"/>
          </a:xfrm>
          <a:prstGeom prst="ellipse">
            <a:avLst/>
          </a:prstGeom>
          <a:solidFill>
            <a:srgbClr val="1A3F70"/>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67828"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07</a:t>
            </a:r>
          </a:p>
        </p:txBody>
      </p:sp>
      <p:sp>
        <p:nvSpPr>
          <p:cNvPr id="76" name="TextBox 75"/>
          <p:cNvSpPr txBox="1"/>
          <p:nvPr/>
        </p:nvSpPr>
        <p:spPr>
          <a:xfrm>
            <a:off x="8179308"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REAL-TIME DASHBOARD</a:t>
            </a:r>
          </a:p>
        </p:txBody>
      </p:sp>
      <p:sp>
        <p:nvSpPr>
          <p:cNvPr id="77" name="Rectangle 76"/>
          <p:cNvSpPr/>
          <p:nvPr/>
        </p:nvSpPr>
        <p:spPr>
          <a:xfrm>
            <a:off x="7767828"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786116"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Pool reserves, deployment ratios, claim queue, exit queue — all on-chain and public.</a:t>
            </a:r>
          </a:p>
        </p:txBody>
      </p:sp>
      <p:sp>
        <p:nvSpPr>
          <p:cNvPr id="79" name="Rounded Rectangle 78"/>
          <p:cNvSpPr/>
          <p:nvPr/>
        </p:nvSpPr>
        <p:spPr>
          <a:xfrm>
            <a:off x="8993124" y="5678423"/>
            <a:ext cx="1097280" cy="274320"/>
          </a:xfrm>
          <a:prstGeom prst="roundRect">
            <a:avLst/>
          </a:prstGeom>
          <a:solidFill>
            <a:srgbClr val="0D1625"/>
          </a:solidFill>
          <a:ln w="952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993124" y="5678423"/>
            <a:ext cx="1097280" cy="274320"/>
          </a:xfrm>
          <a:prstGeom prst="rect">
            <a:avLst/>
          </a:prstGeom>
          <a:noFill/>
        </p:spPr>
        <p:txBody>
          <a:bodyPr wrap="square" lIns="0" tIns="0" rIns="0" bIns="0" anchor="ctr">
            <a:spAutoFit/>
          </a:bodyPr>
          <a:lstStyle/>
          <a:p>
            <a:pPr algn="ctr"/>
            <a:r>
              <a:rPr sz="1100" b="1" i="0">
                <a:solidFill>
                  <a:srgbClr val="9CC6FF"/>
                </a:solidFill>
                <a:latin typeface="Calibri"/>
              </a:rPr>
              <a:t>On-chain</a:t>
            </a:r>
          </a:p>
        </p:txBody>
      </p:sp>
      <p:sp>
        <p:nvSpPr>
          <p:cNvPr id="81" name="Rounded Rectangle 80"/>
          <p:cNvSpPr/>
          <p:nvPr/>
        </p:nvSpPr>
        <p:spPr>
          <a:xfrm>
            <a:off x="502920" y="6080760"/>
            <a:ext cx="11183112" cy="457200"/>
          </a:xfrm>
          <a:prstGeom prst="roundRect">
            <a:avLst/>
          </a:prstGeom>
          <a:solidFill>
            <a:srgbClr val="121E32"/>
          </a:solidFill>
          <a:ln w="1270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02920" y="6172200"/>
            <a:ext cx="54864" cy="27432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85800" y="6153912"/>
            <a:ext cx="3200400" cy="201168"/>
          </a:xfrm>
          <a:prstGeom prst="rect">
            <a:avLst/>
          </a:prstGeom>
          <a:noFill/>
        </p:spPr>
        <p:txBody>
          <a:bodyPr wrap="square" lIns="0" tIns="0" rIns="0" bIns="0" anchor="t">
            <a:spAutoFit/>
          </a:bodyPr>
          <a:lstStyle/>
          <a:p>
            <a:pPr algn="l"/>
            <a:r>
              <a:rPr sz="1000" b="1" i="0">
                <a:solidFill>
                  <a:srgbClr val="4EE59A"/>
                </a:solidFill>
                <a:latin typeface="Calibri"/>
              </a:rPr>
              <a:t>THE PROMISE</a:t>
            </a:r>
          </a:p>
        </p:txBody>
      </p:sp>
      <p:sp>
        <p:nvSpPr>
          <p:cNvPr id="84" name="TextBox 83"/>
          <p:cNvSpPr txBox="1"/>
          <p:nvPr/>
        </p:nvSpPr>
        <p:spPr>
          <a:xfrm>
            <a:off x="2103120" y="6153912"/>
            <a:ext cx="9601200" cy="310896"/>
          </a:xfrm>
          <a:prstGeom prst="rect">
            <a:avLst/>
          </a:prstGeom>
          <a:noFill/>
        </p:spPr>
        <p:txBody>
          <a:bodyPr wrap="square" lIns="0" tIns="0" rIns="0" bIns="0" anchor="ctr">
            <a:spAutoFit/>
          </a:bodyPr>
          <a:lstStyle/>
          <a:p>
            <a:pPr algn="l"/>
            <a:r>
              <a:rPr sz="950" b="0" i="1">
                <a:solidFill>
                  <a:srgbClr val="B8C8E0"/>
                </a:solidFill>
                <a:latin typeface="Calibri"/>
              </a:rPr>
              <a:t>Riders can withdraw approved claims under normal conditions; LPs and riders are protected proportionally during stress. Solvency is non-negotiable.</a:t>
            </a:r>
          </a:p>
        </p:txBody>
      </p:sp>
      <p:sp>
        <p:nvSpPr>
          <p:cNvPr id="85" name="Rectangle 8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Reserves, deployment ratios, and queue depth visible on a public dashboard at all times</a:t>
            </a:r>
          </a:p>
        </p:txBody>
      </p:sp>
      <p:sp>
        <p:nvSpPr>
          <p:cNvPr id="87" name="TextBox 8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ORACLE RISK &amp; DATA INTEGRITY</a:t>
            </a:r>
          </a:p>
        </p:txBody>
      </p:sp>
      <p:sp>
        <p:nvSpPr>
          <p:cNvPr id="7" name="TextBox 6"/>
          <p:cNvSpPr txBox="1"/>
          <p:nvPr/>
        </p:nvSpPr>
        <p:spPr>
          <a:xfrm>
            <a:off x="640080" y="658368"/>
            <a:ext cx="9601200" cy="731520"/>
          </a:xfrm>
          <a:prstGeom prst="rect">
            <a:avLst/>
          </a:prstGeom>
          <a:noFill/>
        </p:spPr>
        <p:txBody>
          <a:bodyPr wrap="square" lIns="0" tIns="0" rIns="0" bIns="0" anchor="t">
            <a:spAutoFit/>
          </a:bodyPr>
          <a:lstStyle/>
          <a:p>
            <a:pPr algn="l"/>
            <a:r>
              <a:rPr sz="3600" b="1" i="0">
                <a:solidFill>
                  <a:srgbClr val="EDF4FF"/>
                </a:solidFill>
                <a:latin typeface="Calibri"/>
              </a:rPr>
              <a:t>How the Oracle Sees Truth</a:t>
            </a:r>
          </a:p>
        </p:txBody>
      </p:sp>
      <p:sp>
        <p:nvSpPr>
          <p:cNvPr id="8" name="TextBox 7"/>
          <p:cNvSpPr txBox="1"/>
          <p:nvPr/>
        </p:nvSpPr>
        <p:spPr>
          <a:xfrm>
            <a:off x="640080" y="1298448"/>
            <a:ext cx="10058400" cy="320040"/>
          </a:xfrm>
          <a:prstGeom prst="rect">
            <a:avLst/>
          </a:prstGeom>
          <a:noFill/>
        </p:spPr>
        <p:txBody>
          <a:bodyPr wrap="square" lIns="0" tIns="0" rIns="0" bIns="0" anchor="t">
            <a:spAutoFit/>
          </a:bodyPr>
          <a:lstStyle/>
          <a:p>
            <a:pPr algn="l"/>
            <a:r>
              <a:rPr sz="1300" b="0" i="1">
                <a:solidFill>
                  <a:srgbClr val="B8C8E0"/>
                </a:solidFill>
                <a:latin typeface="Calibri"/>
              </a:rPr>
              <a:t>No single source decides anything — four layers of defense around every data point</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oracle_orb.png"/>
          <p:cNvPicPr>
            <a:picLocks noChangeAspect="1"/>
          </p:cNvPicPr>
          <p:nvPr/>
        </p:nvPicPr>
        <p:blipFill>
          <a:blip r:embed="rId2"/>
          <a:stretch>
            <a:fillRect/>
          </a:stretch>
        </p:blipFill>
        <p:spPr>
          <a:xfrm>
            <a:off x="5093208" y="3154680"/>
            <a:ext cx="2011680" cy="2011680"/>
          </a:xfrm>
          <a:prstGeom prst="rect">
            <a:avLst/>
          </a:prstGeom>
        </p:spPr>
      </p:pic>
      <p:cxnSp>
        <p:nvCxnSpPr>
          <p:cNvPr id="11" name="Connector 10"/>
          <p:cNvCxnSpPr/>
          <p:nvPr/>
        </p:nvCxnSpPr>
        <p:spPr>
          <a:xfrm flipV="1">
            <a:off x="0" y="0"/>
            <a:ext cx="0" cy="0"/>
          </a:xfrm>
          <a:prstGeom prst="line">
            <a:avLst/>
          </a:prstGeom>
          <a:ln w="19050">
            <a:solidFill>
              <a:srgbClr val="4AA3FF"/>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80944" y="1819656"/>
            <a:ext cx="2743200" cy="1188720"/>
          </a:xfrm>
          <a:prstGeom prst="roundRect">
            <a:avLst/>
          </a:prstGeom>
          <a:solidFill>
            <a:srgbClr val="122038"/>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9232" y="1947672"/>
            <a:ext cx="54864" cy="932688"/>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145536" y="1947672"/>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45536" y="1947672"/>
            <a:ext cx="329184" cy="329184"/>
          </a:xfrm>
          <a:prstGeom prst="rect">
            <a:avLst/>
          </a:prstGeom>
          <a:noFill/>
        </p:spPr>
        <p:txBody>
          <a:bodyPr wrap="square" lIns="0" tIns="0" rIns="0" bIns="0" anchor="ctr">
            <a:spAutoFit/>
          </a:bodyPr>
          <a:lstStyle/>
          <a:p>
            <a:pPr algn="ctr"/>
            <a:r>
              <a:rPr sz="1100" b="1" i="0">
                <a:solidFill>
                  <a:srgbClr val="EDF4FF"/>
                </a:solidFill>
                <a:latin typeface="Calibri"/>
              </a:rPr>
              <a:t>01</a:t>
            </a:r>
          </a:p>
        </p:txBody>
      </p:sp>
      <p:sp>
        <p:nvSpPr>
          <p:cNvPr id="16" name="TextBox 15"/>
          <p:cNvSpPr txBox="1"/>
          <p:nvPr/>
        </p:nvSpPr>
        <p:spPr>
          <a:xfrm>
            <a:off x="3602736" y="1975104"/>
            <a:ext cx="1956816" cy="274320"/>
          </a:xfrm>
          <a:prstGeom prst="rect">
            <a:avLst/>
          </a:prstGeom>
          <a:noFill/>
        </p:spPr>
        <p:txBody>
          <a:bodyPr wrap="square" lIns="0" tIns="0" rIns="0" bIns="0" anchor="t">
            <a:spAutoFit/>
          </a:bodyPr>
          <a:lstStyle/>
          <a:p>
            <a:pPr algn="l"/>
            <a:r>
              <a:rPr sz="1100" b="1" i="0">
                <a:solidFill>
                  <a:srgbClr val="EDF4FF"/>
                </a:solidFill>
                <a:latin typeface="Calibri"/>
              </a:rPr>
              <a:t>MULTI-SOURCE VERIFICATION</a:t>
            </a:r>
          </a:p>
        </p:txBody>
      </p:sp>
      <p:sp>
        <p:nvSpPr>
          <p:cNvPr id="17" name="TextBox 16"/>
          <p:cNvSpPr txBox="1"/>
          <p:nvPr/>
        </p:nvSpPr>
        <p:spPr>
          <a:xfrm>
            <a:off x="3163824" y="2350008"/>
            <a:ext cx="2377440" cy="548640"/>
          </a:xfrm>
          <a:prstGeom prst="rect">
            <a:avLst/>
          </a:prstGeom>
          <a:noFill/>
        </p:spPr>
        <p:txBody>
          <a:bodyPr wrap="square" lIns="0" tIns="0" rIns="0" bIns="0" anchor="t">
            <a:spAutoFit/>
          </a:bodyPr>
          <a:lstStyle/>
          <a:p>
            <a:pPr algn="l"/>
            <a:r>
              <a:rPr sz="950" b="0" i="0">
                <a:solidFill>
                  <a:srgbClr val="B8C8E0"/>
                </a:solidFill>
                <a:latin typeface="Calibri"/>
              </a:rPr>
              <a:t>Claims require police records, repair-shop confirmation, AND insurer data. Never one source alone.</a:t>
            </a:r>
          </a:p>
        </p:txBody>
      </p:sp>
      <p:cxnSp>
        <p:nvCxnSpPr>
          <p:cNvPr id="18" name="Connector 17"/>
          <p:cNvCxnSpPr/>
          <p:nvPr/>
        </p:nvCxnSpPr>
        <p:spPr>
          <a:xfrm flipH="1" flipV="1">
            <a:off x="0" y="0"/>
            <a:ext cx="0" cy="0"/>
          </a:xfrm>
          <a:prstGeom prst="line">
            <a:avLst/>
          </a:prstGeom>
          <a:ln w="19050">
            <a:solidFill>
              <a:srgbClr val="27D8D8"/>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73952" y="1819656"/>
            <a:ext cx="2743200" cy="1188720"/>
          </a:xfrm>
          <a:prstGeom prst="roundRect">
            <a:avLst/>
          </a:prstGeom>
          <a:solidFill>
            <a:srgbClr val="122038"/>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947672"/>
            <a:ext cx="54864" cy="932688"/>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38544" y="1947672"/>
            <a:ext cx="329184" cy="329184"/>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38544" y="1947672"/>
            <a:ext cx="329184" cy="329184"/>
          </a:xfrm>
          <a:prstGeom prst="rect">
            <a:avLst/>
          </a:prstGeom>
          <a:noFill/>
        </p:spPr>
        <p:txBody>
          <a:bodyPr wrap="square" lIns="0" tIns="0" rIns="0" bIns="0" anchor="ctr">
            <a:spAutoFit/>
          </a:bodyPr>
          <a:lstStyle/>
          <a:p>
            <a:pPr algn="ctr"/>
            <a:r>
              <a:rPr sz="1100" b="1" i="0">
                <a:solidFill>
                  <a:srgbClr val="EDF4FF"/>
                </a:solidFill>
                <a:latin typeface="Calibri"/>
              </a:rPr>
              <a:t>02</a:t>
            </a:r>
          </a:p>
        </p:txBody>
      </p:sp>
      <p:sp>
        <p:nvSpPr>
          <p:cNvPr id="23" name="TextBox 22"/>
          <p:cNvSpPr txBox="1"/>
          <p:nvPr/>
        </p:nvSpPr>
        <p:spPr>
          <a:xfrm>
            <a:off x="7095744" y="1975104"/>
            <a:ext cx="1956816" cy="274320"/>
          </a:xfrm>
          <a:prstGeom prst="rect">
            <a:avLst/>
          </a:prstGeom>
          <a:noFill/>
        </p:spPr>
        <p:txBody>
          <a:bodyPr wrap="square" lIns="0" tIns="0" rIns="0" bIns="0" anchor="t">
            <a:spAutoFit/>
          </a:bodyPr>
          <a:lstStyle/>
          <a:p>
            <a:pPr algn="l"/>
            <a:r>
              <a:rPr sz="1100" b="1" i="0">
                <a:solidFill>
                  <a:srgbClr val="EDF4FF"/>
                </a:solidFill>
                <a:latin typeface="Calibri"/>
              </a:rPr>
              <a:t>STAKING &amp; SLASHING</a:t>
            </a:r>
          </a:p>
        </p:txBody>
      </p:sp>
      <p:sp>
        <p:nvSpPr>
          <p:cNvPr id="24" name="TextBox 23"/>
          <p:cNvSpPr txBox="1"/>
          <p:nvPr/>
        </p:nvSpPr>
        <p:spPr>
          <a:xfrm>
            <a:off x="6656832" y="2350008"/>
            <a:ext cx="2377440" cy="548640"/>
          </a:xfrm>
          <a:prstGeom prst="rect">
            <a:avLst/>
          </a:prstGeom>
          <a:noFill/>
        </p:spPr>
        <p:txBody>
          <a:bodyPr wrap="square" lIns="0" tIns="0" rIns="0" bIns="0" anchor="t">
            <a:spAutoFit/>
          </a:bodyPr>
          <a:lstStyle/>
          <a:p>
            <a:pPr algn="l"/>
            <a:r>
              <a:rPr sz="950" b="0" i="0">
                <a:solidFill>
                  <a:srgbClr val="B8C8E0"/>
                </a:solidFill>
                <a:latin typeface="Calibri"/>
              </a:rPr>
              <a:t>Oracle providers stake collateral on their data. Bad data gets slashed — accuracy has skin in the game.</a:t>
            </a:r>
          </a:p>
        </p:txBody>
      </p:sp>
      <p:cxnSp>
        <p:nvCxnSpPr>
          <p:cNvPr id="25" name="Connector 24"/>
          <p:cNvCxnSpPr/>
          <p:nvPr/>
        </p:nvCxnSpPr>
        <p:spPr>
          <a:xfrm flipH="1">
            <a:off x="0" y="0"/>
            <a:ext cx="0" cy="0"/>
          </a:xfrm>
          <a:prstGeom prst="line">
            <a:avLst/>
          </a:prstGeom>
          <a:ln w="19050">
            <a:solidFill>
              <a:srgbClr val="4EE59A"/>
            </a:solidFill>
            <a:prstDash val="dash"/>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73952" y="5312664"/>
            <a:ext cx="2743200" cy="1188720"/>
          </a:xfrm>
          <a:prstGeom prst="roundRect">
            <a:avLst/>
          </a:prstGeom>
          <a:solidFill>
            <a:srgbClr val="122038"/>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92240" y="5440680"/>
            <a:ext cx="54864" cy="932688"/>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638544" y="5440680"/>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38544" y="5440680"/>
            <a:ext cx="329184" cy="329184"/>
          </a:xfrm>
          <a:prstGeom prst="rect">
            <a:avLst/>
          </a:prstGeom>
          <a:noFill/>
        </p:spPr>
        <p:txBody>
          <a:bodyPr wrap="square" lIns="0" tIns="0" rIns="0" bIns="0" anchor="ctr">
            <a:spAutoFit/>
          </a:bodyPr>
          <a:lstStyle/>
          <a:p>
            <a:pPr algn="ctr"/>
            <a:r>
              <a:rPr sz="1100" b="1" i="0">
                <a:solidFill>
                  <a:srgbClr val="EDF4FF"/>
                </a:solidFill>
                <a:latin typeface="Calibri"/>
              </a:rPr>
              <a:t>03</a:t>
            </a:r>
          </a:p>
        </p:txBody>
      </p:sp>
      <p:sp>
        <p:nvSpPr>
          <p:cNvPr id="30" name="TextBox 29"/>
          <p:cNvSpPr txBox="1"/>
          <p:nvPr/>
        </p:nvSpPr>
        <p:spPr>
          <a:xfrm>
            <a:off x="7095744" y="5468112"/>
            <a:ext cx="1956816" cy="274320"/>
          </a:xfrm>
          <a:prstGeom prst="rect">
            <a:avLst/>
          </a:prstGeom>
          <a:noFill/>
        </p:spPr>
        <p:txBody>
          <a:bodyPr wrap="square" lIns="0" tIns="0" rIns="0" bIns="0" anchor="t">
            <a:spAutoFit/>
          </a:bodyPr>
          <a:lstStyle/>
          <a:p>
            <a:pPr algn="l"/>
            <a:r>
              <a:rPr sz="1100" b="1" i="0">
                <a:solidFill>
                  <a:srgbClr val="EDF4FF"/>
                </a:solidFill>
                <a:latin typeface="Calibri"/>
              </a:rPr>
              <a:t>TIERED CONSENSUS</a:t>
            </a:r>
          </a:p>
        </p:txBody>
      </p:sp>
      <p:sp>
        <p:nvSpPr>
          <p:cNvPr id="31" name="TextBox 30"/>
          <p:cNvSpPr txBox="1"/>
          <p:nvPr/>
        </p:nvSpPr>
        <p:spPr>
          <a:xfrm>
            <a:off x="6656832" y="5843016"/>
            <a:ext cx="2377440" cy="548640"/>
          </a:xfrm>
          <a:prstGeom prst="rect">
            <a:avLst/>
          </a:prstGeom>
          <a:noFill/>
        </p:spPr>
        <p:txBody>
          <a:bodyPr wrap="square" lIns="0" tIns="0" rIns="0" bIns="0" anchor="t">
            <a:spAutoFit/>
          </a:bodyPr>
          <a:lstStyle/>
          <a:p>
            <a:pPr algn="l"/>
            <a:r>
              <a:rPr sz="950" b="0" i="0">
                <a:solidFill>
                  <a:srgbClr val="B8C8E0"/>
                </a:solidFill>
                <a:latin typeface="Calibri"/>
              </a:rPr>
              <a:t>Big claims need a higher quorum and a longer review window. Small claims clear fast.</a:t>
            </a:r>
          </a:p>
        </p:txBody>
      </p:sp>
      <p:cxnSp>
        <p:nvCxnSpPr>
          <p:cNvPr id="32" name="Connector 31"/>
          <p:cNvCxnSpPr/>
          <p:nvPr/>
        </p:nvCxnSpPr>
        <p:spPr>
          <a:xfrm>
            <a:off x="0" y="0"/>
            <a:ext cx="0" cy="0"/>
          </a:xfrm>
          <a:prstGeom prst="line">
            <a:avLst/>
          </a:prstGeom>
          <a:ln w="19050">
            <a:solidFill>
              <a:srgbClr val="FFBF56"/>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2980944" y="5312664"/>
            <a:ext cx="2743200" cy="1188720"/>
          </a:xfrm>
          <a:prstGeom prst="roundRect">
            <a:avLst/>
          </a:prstGeom>
          <a:solidFill>
            <a:srgbClr val="122038"/>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999232" y="5440680"/>
            <a:ext cx="54864" cy="932688"/>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145536" y="5440680"/>
            <a:ext cx="329184" cy="329184"/>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45536" y="5440680"/>
            <a:ext cx="329184" cy="329184"/>
          </a:xfrm>
          <a:prstGeom prst="rect">
            <a:avLst/>
          </a:prstGeom>
          <a:noFill/>
        </p:spPr>
        <p:txBody>
          <a:bodyPr wrap="square" lIns="0" tIns="0" rIns="0" bIns="0" anchor="ctr">
            <a:spAutoFit/>
          </a:bodyPr>
          <a:lstStyle/>
          <a:p>
            <a:pPr algn="ctr"/>
            <a:r>
              <a:rPr sz="1100" b="1" i="0">
                <a:solidFill>
                  <a:srgbClr val="EDF4FF"/>
                </a:solidFill>
                <a:latin typeface="Calibri"/>
              </a:rPr>
              <a:t>04</a:t>
            </a:r>
          </a:p>
        </p:txBody>
      </p:sp>
      <p:sp>
        <p:nvSpPr>
          <p:cNvPr id="37" name="TextBox 36"/>
          <p:cNvSpPr txBox="1"/>
          <p:nvPr/>
        </p:nvSpPr>
        <p:spPr>
          <a:xfrm>
            <a:off x="3602736" y="5468112"/>
            <a:ext cx="1956816" cy="274320"/>
          </a:xfrm>
          <a:prstGeom prst="rect">
            <a:avLst/>
          </a:prstGeom>
          <a:noFill/>
        </p:spPr>
        <p:txBody>
          <a:bodyPr wrap="square" lIns="0" tIns="0" rIns="0" bIns="0" anchor="t">
            <a:spAutoFit/>
          </a:bodyPr>
          <a:lstStyle/>
          <a:p>
            <a:pPr algn="l"/>
            <a:r>
              <a:rPr sz="1100" b="1" i="0">
                <a:solidFill>
                  <a:srgbClr val="EDF4FF"/>
                </a:solidFill>
                <a:latin typeface="Calibri"/>
              </a:rPr>
              <a:t>AUTO-PAUSE ON CONFLICT</a:t>
            </a:r>
          </a:p>
        </p:txBody>
      </p:sp>
      <p:sp>
        <p:nvSpPr>
          <p:cNvPr id="38" name="TextBox 37"/>
          <p:cNvSpPr txBox="1"/>
          <p:nvPr/>
        </p:nvSpPr>
        <p:spPr>
          <a:xfrm>
            <a:off x="3163824" y="5843016"/>
            <a:ext cx="2377440" cy="548640"/>
          </a:xfrm>
          <a:prstGeom prst="rect">
            <a:avLst/>
          </a:prstGeom>
          <a:noFill/>
        </p:spPr>
        <p:txBody>
          <a:bodyPr wrap="square" lIns="0" tIns="0" rIns="0" bIns="0" anchor="t">
            <a:spAutoFit/>
          </a:bodyPr>
          <a:lstStyle/>
          <a:p>
            <a:pPr algn="l"/>
            <a:r>
              <a:rPr sz="950" b="0" i="0">
                <a:solidFill>
                  <a:srgbClr val="B8C8E0"/>
                </a:solidFill>
                <a:latin typeface="Calibri"/>
              </a:rPr>
              <a:t>If feeds go stale or disagree, smart contracts halt automatically. Disputes escalate to arbitration.</a:t>
            </a:r>
          </a:p>
        </p:txBody>
      </p:sp>
      <p:sp>
        <p:nvSpPr>
          <p:cNvPr id="39" name="Rectangle 38"/>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Oracles aggregate from Chainlink-style decentralized feeds plus protocol-specific sources · no single data provider is ever trusted in isolation</a:t>
            </a:r>
          </a:p>
        </p:txBody>
      </p:sp>
      <p:sp>
        <p:nvSpPr>
          <p:cNvPr id="41" name="TextBox 40"/>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MECHANIC TRUST</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How We Stop Fraud</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Three layers of defense — built into every service record on MotoChain</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502920" y="1901951"/>
            <a:ext cx="292608" cy="292608"/>
          </a:xfrm>
          <a:prstGeom prst="rect">
            <a:avLst/>
          </a:prstGeom>
        </p:spPr>
      </p:pic>
      <p:sp>
        <p:nvSpPr>
          <p:cNvPr id="11" name="TextBox 10"/>
          <p:cNvSpPr txBox="1"/>
          <p:nvPr/>
        </p:nvSpPr>
        <p:spPr>
          <a:xfrm>
            <a:off x="905256" y="1874519"/>
            <a:ext cx="10780776" cy="347472"/>
          </a:xfrm>
          <a:prstGeom prst="rect">
            <a:avLst/>
          </a:prstGeom>
          <a:noFill/>
        </p:spPr>
        <p:txBody>
          <a:bodyPr wrap="none" lIns="0" tIns="0" rIns="0" bIns="0" anchor="ctr">
            <a:spAutoFit/>
          </a:bodyPr>
          <a:lstStyle/>
          <a:p>
            <a:pPr algn="l"/>
            <a:r>
              <a:rPr sz="1400" b="1">
                <a:solidFill>
                  <a:srgbClr val="9CC6FF"/>
                </a:solidFill>
                <a:latin typeface="Calibri"/>
              </a:rPr>
              <a:t>PREVENTION</a:t>
            </a:r>
            <a:r>
              <a:rPr sz="1100" i="1">
                <a:solidFill>
                  <a:srgbClr val="9CC6FF"/>
                </a:solidFill>
                <a:latin typeface="Calibri"/>
              </a:rPr>
              <a:t>    Stop fraud before it can happen</a:t>
            </a:r>
          </a:p>
        </p:txBody>
      </p:sp>
      <p:sp>
        <p:nvSpPr>
          <p:cNvPr id="12" name="Rectangle 11"/>
          <p:cNvSpPr/>
          <p:nvPr/>
        </p:nvSpPr>
        <p:spPr>
          <a:xfrm>
            <a:off x="502920" y="2185415"/>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2267711"/>
            <a:ext cx="5509260" cy="100584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7512" y="2395727"/>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01</a:t>
            </a:r>
          </a:p>
        </p:txBody>
      </p:sp>
      <p:sp>
        <p:nvSpPr>
          <p:cNvPr id="15" name="TextBox 14"/>
          <p:cNvSpPr txBox="1"/>
          <p:nvPr/>
        </p:nvSpPr>
        <p:spPr>
          <a:xfrm>
            <a:off x="1124712" y="2423159"/>
            <a:ext cx="4722876" cy="274320"/>
          </a:xfrm>
          <a:prstGeom prst="rect">
            <a:avLst/>
          </a:prstGeom>
          <a:noFill/>
        </p:spPr>
        <p:txBody>
          <a:bodyPr wrap="square" lIns="0" tIns="0" rIns="0" bIns="0" anchor="t">
            <a:spAutoFit/>
          </a:bodyPr>
          <a:lstStyle/>
          <a:p>
            <a:pPr algn="l"/>
            <a:r>
              <a:rPr sz="1200" b="1" i="0">
                <a:solidFill>
                  <a:srgbClr val="EDF4FF"/>
                </a:solidFill>
                <a:latin typeface="Calibri"/>
              </a:rPr>
              <a:t>BOTH SIGN OFF</a:t>
            </a:r>
          </a:p>
        </p:txBody>
      </p:sp>
      <p:sp>
        <p:nvSpPr>
          <p:cNvPr id="16" name="TextBox 15"/>
          <p:cNvSpPr txBox="1"/>
          <p:nvPr/>
        </p:nvSpPr>
        <p:spPr>
          <a:xfrm>
            <a:off x="685800" y="2770631"/>
            <a:ext cx="5143500" cy="502920"/>
          </a:xfrm>
          <a:prstGeom prst="rect">
            <a:avLst/>
          </a:prstGeom>
          <a:noFill/>
        </p:spPr>
        <p:txBody>
          <a:bodyPr wrap="square" lIns="0" tIns="0" rIns="0" bIns="0" anchor="t">
            <a:spAutoFit/>
          </a:bodyPr>
          <a:lstStyle/>
          <a:p>
            <a:pPr algn="l"/>
            <a:r>
              <a:rPr sz="950" b="0" i="0">
                <a:solidFill>
                  <a:srgbClr val="B8C8E0"/>
                </a:solidFill>
                <a:latin typeface="Calibri"/>
              </a:rPr>
              <a:t>The mechanic AND the bike owner have to confirm every service entry. No one can fake a repair the owner didn't agree to.</a:t>
            </a:r>
          </a:p>
        </p:txBody>
      </p:sp>
      <p:sp>
        <p:nvSpPr>
          <p:cNvPr id="17" name="Rounded Rectangle 16"/>
          <p:cNvSpPr/>
          <p:nvPr/>
        </p:nvSpPr>
        <p:spPr>
          <a:xfrm>
            <a:off x="6176772" y="2267711"/>
            <a:ext cx="5509260" cy="100584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41364" y="2395727"/>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02</a:t>
            </a:r>
          </a:p>
        </p:txBody>
      </p:sp>
      <p:sp>
        <p:nvSpPr>
          <p:cNvPr id="19" name="TextBox 18"/>
          <p:cNvSpPr txBox="1"/>
          <p:nvPr/>
        </p:nvSpPr>
        <p:spPr>
          <a:xfrm>
            <a:off x="6798564" y="2423159"/>
            <a:ext cx="4722876" cy="274320"/>
          </a:xfrm>
          <a:prstGeom prst="rect">
            <a:avLst/>
          </a:prstGeom>
          <a:noFill/>
        </p:spPr>
        <p:txBody>
          <a:bodyPr wrap="square" lIns="0" tIns="0" rIns="0" bIns="0" anchor="t">
            <a:spAutoFit/>
          </a:bodyPr>
          <a:lstStyle/>
          <a:p>
            <a:pPr algn="l"/>
            <a:r>
              <a:rPr sz="1200" b="1" i="0">
                <a:solidFill>
                  <a:srgbClr val="EDF4FF"/>
                </a:solidFill>
                <a:latin typeface="Calibri"/>
              </a:rPr>
              <a:t>BUILT-IN SENSORS</a:t>
            </a:r>
          </a:p>
        </p:txBody>
      </p:sp>
      <p:sp>
        <p:nvSpPr>
          <p:cNvPr id="20" name="TextBox 19"/>
          <p:cNvSpPr txBox="1"/>
          <p:nvPr/>
        </p:nvSpPr>
        <p:spPr>
          <a:xfrm>
            <a:off x="6359652" y="2770631"/>
            <a:ext cx="5143500" cy="502920"/>
          </a:xfrm>
          <a:prstGeom prst="rect">
            <a:avLst/>
          </a:prstGeom>
          <a:noFill/>
        </p:spPr>
        <p:txBody>
          <a:bodyPr wrap="square" lIns="0" tIns="0" rIns="0" bIns="0" anchor="t">
            <a:spAutoFit/>
          </a:bodyPr>
          <a:lstStyle/>
          <a:p>
            <a:pPr algn="l"/>
            <a:r>
              <a:rPr sz="950" b="0" i="0">
                <a:solidFill>
                  <a:srgbClr val="B8C8E0"/>
                </a:solidFill>
                <a:latin typeface="Calibri"/>
              </a:rPr>
              <a:t>Hardware reads mileage and key events directly from the bike. No room to fudge the odometer.</a:t>
            </a:r>
          </a:p>
        </p:txBody>
      </p:sp>
      <p:pic>
        <p:nvPicPr>
          <p:cNvPr id="21" name="Picture 20" descr="image.png"/>
          <p:cNvPicPr>
            <a:picLocks noChangeAspect="1"/>
          </p:cNvPicPr>
          <p:nvPr/>
        </p:nvPicPr>
        <p:blipFill>
          <a:blip r:embed="rId3"/>
          <a:stretch>
            <a:fillRect/>
          </a:stretch>
        </p:blipFill>
        <p:spPr>
          <a:xfrm>
            <a:off x="502920" y="3428999"/>
            <a:ext cx="292608" cy="292608"/>
          </a:xfrm>
          <a:prstGeom prst="rect">
            <a:avLst/>
          </a:prstGeom>
        </p:spPr>
      </p:pic>
      <p:sp>
        <p:nvSpPr>
          <p:cNvPr id="22" name="TextBox 21"/>
          <p:cNvSpPr txBox="1"/>
          <p:nvPr/>
        </p:nvSpPr>
        <p:spPr>
          <a:xfrm>
            <a:off x="905256" y="3401567"/>
            <a:ext cx="10780776" cy="347472"/>
          </a:xfrm>
          <a:prstGeom prst="rect">
            <a:avLst/>
          </a:prstGeom>
          <a:noFill/>
        </p:spPr>
        <p:txBody>
          <a:bodyPr wrap="none" lIns="0" tIns="0" rIns="0" bIns="0" anchor="ctr">
            <a:spAutoFit/>
          </a:bodyPr>
          <a:lstStyle/>
          <a:p>
            <a:pPr algn="l"/>
            <a:r>
              <a:rPr sz="1400" b="1">
                <a:solidFill>
                  <a:srgbClr val="9CC6FF"/>
                </a:solidFill>
                <a:latin typeface="Calibri"/>
              </a:rPr>
              <a:t>DETECTION</a:t>
            </a:r>
            <a:r>
              <a:rPr sz="1100" i="1">
                <a:solidFill>
                  <a:srgbClr val="9CC6FF"/>
                </a:solidFill>
                <a:latin typeface="Calibri"/>
              </a:rPr>
              <a:t>    Catch fraud when it tries to happen</a:t>
            </a:r>
          </a:p>
        </p:txBody>
      </p:sp>
      <p:sp>
        <p:nvSpPr>
          <p:cNvPr id="23" name="Rectangle 22"/>
          <p:cNvSpPr/>
          <p:nvPr/>
        </p:nvSpPr>
        <p:spPr>
          <a:xfrm>
            <a:off x="502920" y="3712463"/>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2920" y="3794759"/>
            <a:ext cx="5509260" cy="100584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67512" y="3922775"/>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03</a:t>
            </a:r>
          </a:p>
        </p:txBody>
      </p:sp>
      <p:sp>
        <p:nvSpPr>
          <p:cNvPr id="26" name="TextBox 25"/>
          <p:cNvSpPr txBox="1"/>
          <p:nvPr/>
        </p:nvSpPr>
        <p:spPr>
          <a:xfrm>
            <a:off x="1124712" y="3950207"/>
            <a:ext cx="4722876" cy="274320"/>
          </a:xfrm>
          <a:prstGeom prst="rect">
            <a:avLst/>
          </a:prstGeom>
          <a:noFill/>
        </p:spPr>
        <p:txBody>
          <a:bodyPr wrap="square" lIns="0" tIns="0" rIns="0" bIns="0" anchor="t">
            <a:spAutoFit/>
          </a:bodyPr>
          <a:lstStyle/>
          <a:p>
            <a:pPr algn="l"/>
            <a:r>
              <a:rPr sz="1200" b="1" i="0">
                <a:solidFill>
                  <a:srgbClr val="EDF4FF"/>
                </a:solidFill>
                <a:latin typeface="Calibri"/>
              </a:rPr>
              <a:t>BOUNTY HUNTERS WELCOME</a:t>
            </a:r>
          </a:p>
        </p:txBody>
      </p:sp>
      <p:sp>
        <p:nvSpPr>
          <p:cNvPr id="27" name="TextBox 26"/>
          <p:cNvSpPr txBox="1"/>
          <p:nvPr/>
        </p:nvSpPr>
        <p:spPr>
          <a:xfrm>
            <a:off x="685800" y="4297679"/>
            <a:ext cx="5143500" cy="502920"/>
          </a:xfrm>
          <a:prstGeom prst="rect">
            <a:avLst/>
          </a:prstGeom>
          <a:noFill/>
        </p:spPr>
        <p:txBody>
          <a:bodyPr wrap="square" lIns="0" tIns="0" rIns="0" bIns="0" anchor="t">
            <a:spAutoFit/>
          </a:bodyPr>
          <a:lstStyle/>
          <a:p>
            <a:pPr algn="l"/>
            <a:r>
              <a:rPr sz="950" b="0" i="0">
                <a:solidFill>
                  <a:srgbClr val="B8C8E0"/>
                </a:solidFill>
                <a:latin typeface="Calibri"/>
              </a:rPr>
              <a:t>Spot a fake record and prove it — earn a share of the cheater's stake. The community becomes the watchdog.</a:t>
            </a:r>
          </a:p>
        </p:txBody>
      </p:sp>
      <p:sp>
        <p:nvSpPr>
          <p:cNvPr id="28" name="Rounded Rectangle 27"/>
          <p:cNvSpPr/>
          <p:nvPr/>
        </p:nvSpPr>
        <p:spPr>
          <a:xfrm>
            <a:off x="6176772" y="3794759"/>
            <a:ext cx="5509260" cy="100584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41364" y="3922775"/>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04</a:t>
            </a:r>
          </a:p>
        </p:txBody>
      </p:sp>
      <p:sp>
        <p:nvSpPr>
          <p:cNvPr id="30" name="TextBox 29"/>
          <p:cNvSpPr txBox="1"/>
          <p:nvPr/>
        </p:nvSpPr>
        <p:spPr>
          <a:xfrm>
            <a:off x="6798564" y="3950207"/>
            <a:ext cx="4722876" cy="274320"/>
          </a:xfrm>
          <a:prstGeom prst="rect">
            <a:avLst/>
          </a:prstGeom>
          <a:noFill/>
        </p:spPr>
        <p:txBody>
          <a:bodyPr wrap="square" lIns="0" tIns="0" rIns="0" bIns="0" anchor="t">
            <a:spAutoFit/>
          </a:bodyPr>
          <a:lstStyle/>
          <a:p>
            <a:pPr algn="l"/>
            <a:r>
              <a:rPr sz="1200" b="1" i="0">
                <a:solidFill>
                  <a:srgbClr val="EDF4FF"/>
                </a:solidFill>
                <a:latin typeface="Calibri"/>
              </a:rPr>
              <a:t>RE-CHECK AT PAYDAY</a:t>
            </a:r>
          </a:p>
        </p:txBody>
      </p:sp>
      <p:sp>
        <p:nvSpPr>
          <p:cNvPr id="31" name="TextBox 30"/>
          <p:cNvSpPr txBox="1"/>
          <p:nvPr/>
        </p:nvSpPr>
        <p:spPr>
          <a:xfrm>
            <a:off x="6359652" y="4297679"/>
            <a:ext cx="5143500" cy="502920"/>
          </a:xfrm>
          <a:prstGeom prst="rect">
            <a:avLst/>
          </a:prstGeom>
          <a:noFill/>
        </p:spPr>
        <p:txBody>
          <a:bodyPr wrap="square" lIns="0" tIns="0" rIns="0" bIns="0" anchor="t">
            <a:spAutoFit/>
          </a:bodyPr>
          <a:lstStyle/>
          <a:p>
            <a:pPr algn="l"/>
            <a:r>
              <a:rPr sz="950" b="0" i="0">
                <a:solidFill>
                  <a:srgbClr val="B8C8E0"/>
                </a:solidFill>
                <a:latin typeface="Calibri"/>
              </a:rPr>
              <a:t>When the bike is sold, financed, or insured, we re-verify the history. Fraud is caught the moment it would pay off.</a:t>
            </a:r>
          </a:p>
        </p:txBody>
      </p:sp>
      <p:pic>
        <p:nvPicPr>
          <p:cNvPr id="32" name="Picture 31" descr="image.png"/>
          <p:cNvPicPr>
            <a:picLocks noChangeAspect="1"/>
          </p:cNvPicPr>
          <p:nvPr/>
        </p:nvPicPr>
        <p:blipFill>
          <a:blip r:embed="rId4"/>
          <a:stretch>
            <a:fillRect/>
          </a:stretch>
        </p:blipFill>
        <p:spPr>
          <a:xfrm>
            <a:off x="502920" y="4956047"/>
            <a:ext cx="292608" cy="292608"/>
          </a:xfrm>
          <a:prstGeom prst="rect">
            <a:avLst/>
          </a:prstGeom>
        </p:spPr>
      </p:pic>
      <p:sp>
        <p:nvSpPr>
          <p:cNvPr id="33" name="TextBox 32"/>
          <p:cNvSpPr txBox="1"/>
          <p:nvPr/>
        </p:nvSpPr>
        <p:spPr>
          <a:xfrm>
            <a:off x="905256" y="4928615"/>
            <a:ext cx="10780776" cy="347472"/>
          </a:xfrm>
          <a:prstGeom prst="rect">
            <a:avLst/>
          </a:prstGeom>
          <a:noFill/>
        </p:spPr>
        <p:txBody>
          <a:bodyPr wrap="none" lIns="0" tIns="0" rIns="0" bIns="0" anchor="ctr">
            <a:spAutoFit/>
          </a:bodyPr>
          <a:lstStyle/>
          <a:p>
            <a:pPr algn="l"/>
            <a:r>
              <a:rPr sz="1400" b="1">
                <a:solidFill>
                  <a:srgbClr val="9CC6FF"/>
                </a:solidFill>
                <a:latin typeface="Calibri"/>
              </a:rPr>
              <a:t>ENFORCEMENT</a:t>
            </a:r>
            <a:r>
              <a:rPr sz="1100" i="1">
                <a:solidFill>
                  <a:srgbClr val="9CC6FF"/>
                </a:solidFill>
                <a:latin typeface="Calibri"/>
              </a:rPr>
              <a:t>    Make fraud expensive</a:t>
            </a:r>
          </a:p>
        </p:txBody>
      </p:sp>
      <p:sp>
        <p:nvSpPr>
          <p:cNvPr id="34" name="Rectangle 33"/>
          <p:cNvSpPr/>
          <p:nvPr/>
        </p:nvSpPr>
        <p:spPr>
          <a:xfrm>
            <a:off x="502920" y="5239511"/>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02920"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67512"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05</a:t>
            </a:r>
          </a:p>
        </p:txBody>
      </p:sp>
      <p:sp>
        <p:nvSpPr>
          <p:cNvPr id="37" name="TextBox 36"/>
          <p:cNvSpPr txBox="1"/>
          <p:nvPr/>
        </p:nvSpPr>
        <p:spPr>
          <a:xfrm>
            <a:off x="1124712"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EARN TRUST, EARN MORE</a:t>
            </a:r>
          </a:p>
        </p:txBody>
      </p:sp>
      <p:sp>
        <p:nvSpPr>
          <p:cNvPr id="38" name="TextBox 37"/>
          <p:cNvSpPr txBox="1"/>
          <p:nvPr/>
        </p:nvSpPr>
        <p:spPr>
          <a:xfrm>
            <a:off x="685800"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Start small. As reputation grows, both your rewards and your stake at risk grow with you.</a:t>
            </a:r>
          </a:p>
        </p:txBody>
      </p:sp>
      <p:sp>
        <p:nvSpPr>
          <p:cNvPr id="39" name="Rounded Rectangle 38"/>
          <p:cNvSpPr/>
          <p:nvPr/>
        </p:nvSpPr>
        <p:spPr>
          <a:xfrm>
            <a:off x="4285488"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450080"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06</a:t>
            </a:r>
          </a:p>
        </p:txBody>
      </p:sp>
      <p:sp>
        <p:nvSpPr>
          <p:cNvPr id="41" name="TextBox 40"/>
          <p:cNvSpPr txBox="1"/>
          <p:nvPr/>
        </p:nvSpPr>
        <p:spPr>
          <a:xfrm>
            <a:off x="4907280"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WAIT BEFORE YOU GET PAID</a:t>
            </a:r>
          </a:p>
        </p:txBody>
      </p:sp>
      <p:sp>
        <p:nvSpPr>
          <p:cNvPr id="42" name="TextBox 41"/>
          <p:cNvSpPr txBox="1"/>
          <p:nvPr/>
        </p:nvSpPr>
        <p:spPr>
          <a:xfrm>
            <a:off x="4468368"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Fees sit in escrow for 30–90 days. Any dispute claws the fee back and slashes part of the stake.</a:t>
            </a:r>
          </a:p>
        </p:txBody>
      </p:sp>
      <p:sp>
        <p:nvSpPr>
          <p:cNvPr id="43" name="Rounded Rectangle 42"/>
          <p:cNvSpPr/>
          <p:nvPr/>
        </p:nvSpPr>
        <p:spPr>
          <a:xfrm>
            <a:off x="8068056"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32648"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07</a:t>
            </a:r>
          </a:p>
        </p:txBody>
      </p:sp>
      <p:sp>
        <p:nvSpPr>
          <p:cNvPr id="45" name="TextBox 44"/>
          <p:cNvSpPr txBox="1"/>
          <p:nvPr/>
        </p:nvSpPr>
        <p:spPr>
          <a:xfrm>
            <a:off x="8689848"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RISK SCALES WITH ACTIVITY</a:t>
            </a:r>
          </a:p>
        </p:txBody>
      </p:sp>
      <p:sp>
        <p:nvSpPr>
          <p:cNvPr id="46" name="TextBox 45"/>
          <p:cNvSpPr txBox="1"/>
          <p:nvPr/>
        </p:nvSpPr>
        <p:spPr>
          <a:xfrm>
            <a:off x="8250936"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Each entry locks a slice of stake. Log a lot, have a lot to lose. Throwaway accounts can't profit.</a:t>
            </a:r>
          </a:p>
        </p:txBody>
      </p:sp>
      <p:sp>
        <p:nvSpPr>
          <p:cNvPr id="47" name="Rectangle 46"/>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Each layer covers what the others miss — none works alone, all three make fraud unprofitable.  ·  Registration is open: anyone can stake $MOTO and begin logging. No business licence required — your stake is your credential.</a:t>
            </a:r>
          </a:p>
        </p:txBody>
      </p:sp>
      <p:sp>
        <p:nvSpPr>
          <p:cNvPr id="49" name="TextBox 48"/>
          <p:cNvSpPr txBox="1"/>
          <p:nvPr/>
        </p:nvSpPr>
        <p:spPr>
          <a:xfrm>
            <a:off x="9601200" y="6656832"/>
            <a:ext cx="2286000" cy="164592"/>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315200" cy="292608"/>
          </a:xfrm>
          <a:prstGeom prst="rect">
            <a:avLst/>
          </a:prstGeom>
          <a:noFill/>
        </p:spPr>
        <p:txBody>
          <a:bodyPr wrap="square">
            <a:spAutoFit/>
          </a:bodyPr>
          <a:lstStyle/>
          <a:p>
            <a:pPr algn="l"/>
            <a:r>
              <a:rPr sz="1100" b="1" i="0">
                <a:solidFill>
                  <a:srgbClr val="9CC6FF"/>
                </a:solidFill>
              </a:rPr>
              <a:t>II.2  ·  PROTOCOL DESIGN</a:t>
            </a:r>
          </a:p>
        </p:txBody>
      </p:sp>
      <p:sp>
        <p:nvSpPr>
          <p:cNvPr id="3" name="TextBox 2"/>
          <p:cNvSpPr txBox="1"/>
          <p:nvPr/>
        </p:nvSpPr>
        <p:spPr>
          <a:xfrm>
            <a:off x="640080" y="676656"/>
            <a:ext cx="10972800" cy="658368"/>
          </a:xfrm>
          <a:prstGeom prst="rect">
            <a:avLst/>
          </a:prstGeom>
          <a:noFill/>
        </p:spPr>
        <p:txBody>
          <a:bodyPr wrap="square">
            <a:spAutoFit/>
          </a:bodyPr>
          <a:lstStyle/>
          <a:p>
            <a:pPr algn="l"/>
            <a:r>
              <a:rPr sz="3600" b="1" i="0">
                <a:solidFill>
                  <a:srgbClr val="EDF4FF"/>
                </a:solidFill>
              </a:rPr>
              <a:t>ONE CHAIN · TWO CONTRACTS · TWO TYPES OF TRUTH</a:t>
            </a:r>
          </a:p>
        </p:txBody>
      </p:sp>
      <p:sp>
        <p:nvSpPr>
          <p:cNvPr id="4" name="TextBox 3"/>
          <p:cNvSpPr txBox="1"/>
          <p:nvPr/>
        </p:nvSpPr>
        <p:spPr>
          <a:xfrm>
            <a:off x="640080" y="1316736"/>
            <a:ext cx="11247120" cy="329184"/>
          </a:xfrm>
          <a:prstGeom prst="rect">
            <a:avLst/>
          </a:prstGeom>
          <a:noFill/>
        </p:spPr>
        <p:txBody>
          <a:bodyPr wrap="square">
            <a:spAutoFit/>
          </a:bodyPr>
          <a:lstStyle/>
          <a:p>
            <a:pPr algn="l"/>
            <a:r>
              <a:rPr sz="1300" b="0" i="0">
                <a:solidFill>
                  <a:srgbClr val="B8C8E0"/>
                </a:solidFill>
              </a:rPr>
              <a:t>VIN follows the bike. Riding score follows the rider. That separation is the design — not an accident.</a:t>
            </a:r>
          </a:p>
        </p:txBody>
      </p:sp>
      <p:sp>
        <p:nvSpPr>
          <p:cNvPr id="5" name="TextBox 4"/>
          <p:cNvSpPr txBox="1"/>
          <p:nvPr/>
        </p:nvSpPr>
        <p:spPr>
          <a:xfrm>
            <a:off x="640080" y="1700784"/>
            <a:ext cx="1097280" cy="54864"/>
          </a:xfrm>
          <a:prstGeom prst="rect">
            <a:avLst/>
          </a:prstGeom>
          <a:noFill/>
        </p:spPr>
        <p:txBody>
          <a:bodyPr wrap="square">
            <a:spAutoFit/>
          </a:bodyPr>
          <a:lstStyle/>
          <a:p>
            <a:pPr algn="l"/>
            <a:r>
              <a:rPr sz="950" b="0" i="0">
                <a:solidFill>
                  <a:srgbClr val="9CC6FF"/>
                </a:solidFill>
              </a:rPr>
              <a:t/>
            </a:r>
          </a:p>
        </p:txBody>
      </p:sp>
      <p:sp>
        <p:nvSpPr>
          <p:cNvPr id="6" name="TextBox 5"/>
          <p:cNvSpPr txBox="1"/>
          <p:nvPr/>
        </p:nvSpPr>
        <p:spPr>
          <a:xfrm>
            <a:off x="457200" y="1874519"/>
            <a:ext cx="5394960" cy="274320"/>
          </a:xfrm>
          <a:prstGeom prst="rect">
            <a:avLst/>
          </a:prstGeom>
          <a:noFill/>
        </p:spPr>
        <p:txBody>
          <a:bodyPr wrap="square">
            <a:spAutoFit/>
          </a:bodyPr>
          <a:lstStyle/>
          <a:p>
            <a:pPr algn="l"/>
            <a:r>
              <a:rPr sz="1000" b="1" i="0">
                <a:solidFill>
                  <a:srgbClr val="27D8D8"/>
                </a:solidFill>
              </a:rPr>
              <a:t>MOTOCHAIN  ·  VIN IDENTITY TOKEN</a:t>
            </a:r>
          </a:p>
        </p:txBody>
      </p:sp>
      <p:sp>
        <p:nvSpPr>
          <p:cNvPr id="7" name="TextBox 6"/>
          <p:cNvSpPr txBox="1"/>
          <p:nvPr/>
        </p:nvSpPr>
        <p:spPr>
          <a:xfrm>
            <a:off x="457200" y="2176272"/>
            <a:ext cx="5394960" cy="457200"/>
          </a:xfrm>
          <a:prstGeom prst="rect">
            <a:avLst/>
          </a:prstGeom>
          <a:noFill/>
        </p:spPr>
        <p:txBody>
          <a:bodyPr wrap="square">
            <a:spAutoFit/>
          </a:bodyPr>
          <a:lstStyle/>
          <a:p>
            <a:pPr algn="l"/>
            <a:r>
              <a:rPr sz="2600" b="1" i="0">
                <a:solidFill>
                  <a:srgbClr val="27D8D8"/>
                </a:solidFill>
              </a:rPr>
              <a:t>TRANSFERRABLE</a:t>
            </a:r>
          </a:p>
        </p:txBody>
      </p:sp>
      <p:sp>
        <p:nvSpPr>
          <p:cNvPr id="8" name="TextBox 7"/>
          <p:cNvSpPr txBox="1"/>
          <p:nvPr/>
        </p:nvSpPr>
        <p:spPr>
          <a:xfrm>
            <a:off x="457200" y="2670048"/>
            <a:ext cx="5394960" cy="365760"/>
          </a:xfrm>
          <a:prstGeom prst="rect">
            <a:avLst/>
          </a:prstGeom>
          <a:noFill/>
        </p:spPr>
        <p:txBody>
          <a:bodyPr wrap="square">
            <a:spAutoFit/>
          </a:bodyPr>
          <a:lstStyle/>
          <a:p>
            <a:pPr algn="l"/>
            <a:r>
              <a:rPr sz="1100" b="0" i="0">
                <a:solidFill>
                  <a:srgbClr val="EDF4FF"/>
                </a:solidFill>
              </a:rPr>
              <a:t>The motorcycle's permanent identity token. Minted once, travels with the asset.</a:t>
            </a:r>
          </a:p>
        </p:txBody>
      </p:sp>
      <p:sp>
        <p:nvSpPr>
          <p:cNvPr id="9" name="TextBox 8"/>
          <p:cNvSpPr txBox="1"/>
          <p:nvPr/>
        </p:nvSpPr>
        <p:spPr>
          <a:xfrm>
            <a:off x="457200" y="3090672"/>
            <a:ext cx="5394960" cy="256032"/>
          </a:xfrm>
          <a:prstGeom prst="rect">
            <a:avLst/>
          </a:prstGeom>
          <a:noFill/>
        </p:spPr>
        <p:txBody>
          <a:bodyPr wrap="square">
            <a:spAutoFit/>
          </a:bodyPr>
          <a:lstStyle/>
          <a:p>
            <a:pPr algn="l"/>
            <a:r>
              <a:rPr sz="1050" b="0" i="0">
                <a:solidFill>
                  <a:srgbClr val="B8C8E0"/>
                </a:solidFill>
              </a:rPr>
              <a:t>  →  Service records (co-signed by mechanic + owner)</a:t>
            </a:r>
          </a:p>
        </p:txBody>
      </p:sp>
      <p:sp>
        <p:nvSpPr>
          <p:cNvPr id="10" name="TextBox 9"/>
          <p:cNvSpPr txBox="1"/>
          <p:nvPr/>
        </p:nvSpPr>
        <p:spPr>
          <a:xfrm>
            <a:off x="457200" y="3364991"/>
            <a:ext cx="5394960" cy="256032"/>
          </a:xfrm>
          <a:prstGeom prst="rect">
            <a:avLst/>
          </a:prstGeom>
          <a:noFill/>
        </p:spPr>
        <p:txBody>
          <a:bodyPr wrap="square">
            <a:spAutoFit/>
          </a:bodyPr>
          <a:lstStyle/>
          <a:p>
            <a:pPr algn="l"/>
            <a:r>
              <a:rPr sz="1050" b="0" i="0">
                <a:solidFill>
                  <a:srgbClr val="B8C8E0"/>
                </a:solidFill>
              </a:rPr>
              <a:t>  →  Full ownership chain  —  title is the wallet</a:t>
            </a:r>
          </a:p>
        </p:txBody>
      </p:sp>
      <p:sp>
        <p:nvSpPr>
          <p:cNvPr id="11" name="TextBox 10"/>
          <p:cNvSpPr txBox="1"/>
          <p:nvPr/>
        </p:nvSpPr>
        <p:spPr>
          <a:xfrm>
            <a:off x="457200" y="3639311"/>
            <a:ext cx="5394960" cy="256032"/>
          </a:xfrm>
          <a:prstGeom prst="rect">
            <a:avLst/>
          </a:prstGeom>
          <a:noFill/>
        </p:spPr>
        <p:txBody>
          <a:bodyPr wrap="square">
            <a:spAutoFit/>
          </a:bodyPr>
          <a:lstStyle/>
          <a:p>
            <a:pPr algn="l"/>
            <a:r>
              <a:rPr sz="1050" b="0" i="0">
                <a:solidFill>
                  <a:srgbClr val="B8C8E0"/>
                </a:solidFill>
              </a:rPr>
              <a:t>  →  Accident log &amp; mileage history</a:t>
            </a:r>
          </a:p>
        </p:txBody>
      </p:sp>
      <p:sp>
        <p:nvSpPr>
          <p:cNvPr id="12" name="TextBox 11"/>
          <p:cNvSpPr txBox="1"/>
          <p:nvPr/>
        </p:nvSpPr>
        <p:spPr>
          <a:xfrm>
            <a:off x="457200" y="3913631"/>
            <a:ext cx="5394960" cy="256032"/>
          </a:xfrm>
          <a:prstGeom prst="rect">
            <a:avLst/>
          </a:prstGeom>
          <a:noFill/>
        </p:spPr>
        <p:txBody>
          <a:bodyPr wrap="square">
            <a:spAutoFit/>
          </a:bodyPr>
          <a:lstStyle/>
          <a:p>
            <a:pPr algn="l"/>
            <a:r>
              <a:rPr sz="1050" b="0" i="0">
                <a:solidFill>
                  <a:srgbClr val="B8C8E0"/>
                </a:solidFill>
              </a:rPr>
              <a:t>  →  Fraud-detection flags and escrow outcomes</a:t>
            </a:r>
          </a:p>
        </p:txBody>
      </p:sp>
      <p:sp>
        <p:nvSpPr>
          <p:cNvPr id="13" name="TextBox 12"/>
          <p:cNvSpPr txBox="1"/>
          <p:nvPr/>
        </p:nvSpPr>
        <p:spPr>
          <a:xfrm>
            <a:off x="457200" y="4224528"/>
            <a:ext cx="5394960" cy="640080"/>
          </a:xfrm>
          <a:prstGeom prst="rect">
            <a:avLst/>
          </a:prstGeom>
          <a:noFill/>
        </p:spPr>
        <p:txBody>
          <a:bodyPr wrap="square">
            <a:spAutoFit/>
          </a:bodyPr>
          <a:lstStyle/>
          <a:p>
            <a:pPr algn="l"/>
            <a:r>
              <a:rPr sz="1050" b="0" i="0">
                <a:solidFill>
                  <a:srgbClr val="C8DCFF"/>
                </a:solidFill>
              </a:rPr>
              <a:t>When you sell the bike  →  the full verified history transfers to the new owner. The buyer gets everything the bike has ever accumulated.</a:t>
            </a:r>
          </a:p>
        </p:txBody>
      </p:sp>
      <p:sp>
        <p:nvSpPr>
          <p:cNvPr id="14" name="TextBox 13"/>
          <p:cNvSpPr txBox="1"/>
          <p:nvPr/>
        </p:nvSpPr>
        <p:spPr>
          <a:xfrm>
            <a:off x="457200" y="4956048"/>
            <a:ext cx="5394960" cy="256032"/>
          </a:xfrm>
          <a:prstGeom prst="rect">
            <a:avLst/>
          </a:prstGeom>
          <a:noFill/>
        </p:spPr>
        <p:txBody>
          <a:bodyPr wrap="square">
            <a:spAutoFit/>
          </a:bodyPr>
          <a:lstStyle/>
          <a:p>
            <a:pPr algn="l"/>
            <a:r>
              <a:rPr sz="900" b="1" i="0">
                <a:solidFill>
                  <a:srgbClr val="27D8D8"/>
                </a:solidFill>
              </a:rPr>
              <a:t>WHY SEPARATE?</a:t>
            </a:r>
          </a:p>
        </p:txBody>
      </p:sp>
      <p:sp>
        <p:nvSpPr>
          <p:cNvPr id="15" name="TextBox 14"/>
          <p:cNvSpPr txBox="1"/>
          <p:nvPr/>
        </p:nvSpPr>
        <p:spPr>
          <a:xfrm>
            <a:off x="457200" y="5230368"/>
            <a:ext cx="5394960" cy="457200"/>
          </a:xfrm>
          <a:prstGeom prst="rect">
            <a:avLst/>
          </a:prstGeom>
          <a:noFill/>
        </p:spPr>
        <p:txBody>
          <a:bodyPr wrap="square">
            <a:spAutoFit/>
          </a:bodyPr>
          <a:lstStyle/>
          <a:p>
            <a:pPr algn="l"/>
            <a:r>
              <a:rPr sz="1000" b="0" i="0">
                <a:solidFill>
                  <a:srgbClr val="B8C8E0"/>
                </a:solidFill>
              </a:rPr>
              <a:t>The new owner needs the bike's full history — but they build their own riding reputation from scratch on RideTrue.</a:t>
            </a:r>
          </a:p>
        </p:txBody>
      </p:sp>
      <p:sp>
        <p:nvSpPr>
          <p:cNvPr id="16" name="TextBox 15"/>
          <p:cNvSpPr txBox="1"/>
          <p:nvPr/>
        </p:nvSpPr>
        <p:spPr>
          <a:xfrm>
            <a:off x="5641848" y="3474720"/>
            <a:ext cx="960120" cy="731520"/>
          </a:xfrm>
          <a:prstGeom prst="rect">
            <a:avLst/>
          </a:prstGeom>
          <a:noFill/>
        </p:spPr>
        <p:txBody>
          <a:bodyPr wrap="square">
            <a:spAutoFit/>
          </a:bodyPr>
          <a:lstStyle/>
          <a:p>
            <a:pPr algn="ctr"/>
            <a:r>
              <a:rPr sz="850" b="1" i="0">
                <a:solidFill>
                  <a:srgbClr val="FFBF56"/>
                </a:solidFill>
              </a:rPr>
              <a:t>⟵  bike  |  rider  ⟶</a:t>
            </a:r>
          </a:p>
        </p:txBody>
      </p:sp>
      <p:sp>
        <p:nvSpPr>
          <p:cNvPr id="17" name="TextBox 16"/>
          <p:cNvSpPr txBox="1"/>
          <p:nvPr/>
        </p:nvSpPr>
        <p:spPr>
          <a:xfrm>
            <a:off x="6766560" y="1874519"/>
            <a:ext cx="5120640" cy="274320"/>
          </a:xfrm>
          <a:prstGeom prst="rect">
            <a:avLst/>
          </a:prstGeom>
          <a:noFill/>
        </p:spPr>
        <p:txBody>
          <a:bodyPr wrap="square">
            <a:spAutoFit/>
          </a:bodyPr>
          <a:lstStyle/>
          <a:p>
            <a:pPr algn="l"/>
            <a:r>
              <a:rPr sz="1000" b="1" i="0">
                <a:solidFill>
                  <a:srgbClr val="4EE59A"/>
                </a:solidFill>
              </a:rPr>
              <a:t>RIDETRUE  ·  RIDER SAFETY SCORE</a:t>
            </a:r>
          </a:p>
        </p:txBody>
      </p:sp>
      <p:sp>
        <p:nvSpPr>
          <p:cNvPr id="18" name="TextBox 17"/>
          <p:cNvSpPr txBox="1"/>
          <p:nvPr/>
        </p:nvSpPr>
        <p:spPr>
          <a:xfrm>
            <a:off x="6766560" y="2176272"/>
            <a:ext cx="5120640" cy="457200"/>
          </a:xfrm>
          <a:prstGeom prst="rect">
            <a:avLst/>
          </a:prstGeom>
          <a:noFill/>
        </p:spPr>
        <p:txBody>
          <a:bodyPr wrap="square">
            <a:spAutoFit/>
          </a:bodyPr>
          <a:lstStyle/>
          <a:p>
            <a:pPr algn="l"/>
            <a:r>
              <a:rPr sz="2600" b="1" i="0">
                <a:solidFill>
                  <a:srgbClr val="4EE59A"/>
                </a:solidFill>
              </a:rPr>
              <a:t>SOULBOUND</a:t>
            </a:r>
          </a:p>
        </p:txBody>
      </p:sp>
      <p:sp>
        <p:nvSpPr>
          <p:cNvPr id="19" name="TextBox 18"/>
          <p:cNvSpPr txBox="1"/>
          <p:nvPr/>
        </p:nvSpPr>
        <p:spPr>
          <a:xfrm>
            <a:off x="6766560" y="2670048"/>
            <a:ext cx="5120640" cy="365760"/>
          </a:xfrm>
          <a:prstGeom prst="rect">
            <a:avLst/>
          </a:prstGeom>
          <a:noFill/>
        </p:spPr>
        <p:txBody>
          <a:bodyPr wrap="square">
            <a:spAutoFit/>
          </a:bodyPr>
          <a:lstStyle/>
          <a:p>
            <a:pPr algn="l"/>
            <a:r>
              <a:rPr sz="1100" b="0" i="0">
                <a:solidFill>
                  <a:srgbClr val="EDF4FF"/>
                </a:solidFill>
              </a:rPr>
              <a:t>The rider's personal reputation. Built by real rides, attested by ZK proof. Cannot be sold, transferred, or delegated.</a:t>
            </a:r>
          </a:p>
        </p:txBody>
      </p:sp>
      <p:sp>
        <p:nvSpPr>
          <p:cNvPr id="20" name="TextBox 19"/>
          <p:cNvSpPr txBox="1"/>
          <p:nvPr/>
        </p:nvSpPr>
        <p:spPr>
          <a:xfrm>
            <a:off x="6766560" y="3090672"/>
            <a:ext cx="5120640" cy="256032"/>
          </a:xfrm>
          <a:prstGeom prst="rect">
            <a:avLst/>
          </a:prstGeom>
          <a:noFill/>
        </p:spPr>
        <p:txBody>
          <a:bodyPr wrap="square">
            <a:spAutoFit/>
          </a:bodyPr>
          <a:lstStyle/>
          <a:p>
            <a:pPr algn="l"/>
            <a:r>
              <a:rPr sz="1050" b="0" i="0">
                <a:solidFill>
                  <a:srgbClr val="B8C8E0"/>
                </a:solidFill>
              </a:rPr>
              <a:t>  →  Riding behaviour score (speed, braking, cornering)</a:t>
            </a:r>
          </a:p>
        </p:txBody>
      </p:sp>
      <p:sp>
        <p:nvSpPr>
          <p:cNvPr id="21" name="TextBox 20"/>
          <p:cNvSpPr txBox="1"/>
          <p:nvPr/>
        </p:nvSpPr>
        <p:spPr>
          <a:xfrm>
            <a:off x="6766560" y="3364991"/>
            <a:ext cx="5120640" cy="256032"/>
          </a:xfrm>
          <a:prstGeom prst="rect">
            <a:avLst/>
          </a:prstGeom>
          <a:noFill/>
        </p:spPr>
        <p:txBody>
          <a:bodyPr wrap="square">
            <a:spAutoFit/>
          </a:bodyPr>
          <a:lstStyle/>
          <a:p>
            <a:pPr algn="l"/>
            <a:r>
              <a:rPr sz="1050" b="0" i="0">
                <a:solidFill>
                  <a:srgbClr val="B8C8E0"/>
                </a:solidFill>
              </a:rPr>
              <a:t>  →  ZK-attested proof — no raw data exposed</a:t>
            </a:r>
          </a:p>
        </p:txBody>
      </p:sp>
      <p:sp>
        <p:nvSpPr>
          <p:cNvPr id="22" name="TextBox 21"/>
          <p:cNvSpPr txBox="1"/>
          <p:nvPr/>
        </p:nvSpPr>
        <p:spPr>
          <a:xfrm>
            <a:off x="6766560" y="3639311"/>
            <a:ext cx="5120640" cy="256032"/>
          </a:xfrm>
          <a:prstGeom prst="rect">
            <a:avLst/>
          </a:prstGeom>
          <a:noFill/>
        </p:spPr>
        <p:txBody>
          <a:bodyPr wrap="square">
            <a:spAutoFit/>
          </a:bodyPr>
          <a:lstStyle/>
          <a:p>
            <a:pPr algn="l"/>
            <a:r>
              <a:rPr sz="1050" b="0" i="0">
                <a:solidFill>
                  <a:srgbClr val="B8C8E0"/>
                </a:solidFill>
              </a:rPr>
              <a:t>  →  Claims history &amp; penalty flags</a:t>
            </a:r>
          </a:p>
        </p:txBody>
      </p:sp>
      <p:sp>
        <p:nvSpPr>
          <p:cNvPr id="23" name="TextBox 22"/>
          <p:cNvSpPr txBox="1"/>
          <p:nvPr/>
        </p:nvSpPr>
        <p:spPr>
          <a:xfrm>
            <a:off x="6766560" y="3913631"/>
            <a:ext cx="5120640" cy="256032"/>
          </a:xfrm>
          <a:prstGeom prst="rect">
            <a:avLst/>
          </a:prstGeom>
          <a:noFill/>
        </p:spPr>
        <p:txBody>
          <a:bodyPr wrap="square">
            <a:spAutoFit/>
          </a:bodyPr>
          <a:lstStyle/>
          <a:p>
            <a:pPr algn="l"/>
            <a:r>
              <a:rPr sz="1050" b="0" i="0">
                <a:solidFill>
                  <a:srgbClr val="B8C8E0"/>
                </a:solidFill>
              </a:rPr>
              <a:t>  →  Biometric session binding (Face ID / fingerprint)</a:t>
            </a:r>
          </a:p>
        </p:txBody>
      </p:sp>
      <p:sp>
        <p:nvSpPr>
          <p:cNvPr id="24" name="TextBox 23"/>
          <p:cNvSpPr txBox="1"/>
          <p:nvPr/>
        </p:nvSpPr>
        <p:spPr>
          <a:xfrm>
            <a:off x="6766560" y="4224528"/>
            <a:ext cx="5120640" cy="640080"/>
          </a:xfrm>
          <a:prstGeom prst="rect">
            <a:avLst/>
          </a:prstGeom>
          <a:noFill/>
        </p:spPr>
        <p:txBody>
          <a:bodyPr wrap="square">
            <a:spAutoFit/>
          </a:bodyPr>
          <a:lstStyle/>
          <a:p>
            <a:pPr algn="l"/>
            <a:r>
              <a:rPr sz="1050" b="0" i="0">
                <a:solidFill>
                  <a:srgbClr val="C8DCFF"/>
                </a:solidFill>
              </a:rPr>
              <a:t>When you sell the bike  →  you keep your score. New bike, same reputation. Any insurer on the protocol sees your portable, verified riding history.</a:t>
            </a:r>
          </a:p>
        </p:txBody>
      </p:sp>
      <p:sp>
        <p:nvSpPr>
          <p:cNvPr id="25" name="TextBox 24"/>
          <p:cNvSpPr txBox="1"/>
          <p:nvPr/>
        </p:nvSpPr>
        <p:spPr>
          <a:xfrm>
            <a:off x="6766560" y="4956048"/>
            <a:ext cx="5120640" cy="256032"/>
          </a:xfrm>
          <a:prstGeom prst="rect">
            <a:avLst/>
          </a:prstGeom>
          <a:noFill/>
        </p:spPr>
        <p:txBody>
          <a:bodyPr wrap="square">
            <a:spAutoFit/>
          </a:bodyPr>
          <a:lstStyle/>
          <a:p>
            <a:pPr algn="l"/>
            <a:r>
              <a:rPr sz="900" b="1" i="0">
                <a:solidFill>
                  <a:srgbClr val="4EE59A"/>
                </a:solidFill>
              </a:rPr>
              <a:t>WHY SEPARATE?</a:t>
            </a:r>
          </a:p>
        </p:txBody>
      </p:sp>
      <p:sp>
        <p:nvSpPr>
          <p:cNvPr id="26" name="TextBox 25"/>
          <p:cNvSpPr txBox="1"/>
          <p:nvPr/>
        </p:nvSpPr>
        <p:spPr>
          <a:xfrm>
            <a:off x="6766560" y="5230368"/>
            <a:ext cx="5120640" cy="457200"/>
          </a:xfrm>
          <a:prstGeom prst="rect">
            <a:avLst/>
          </a:prstGeom>
          <a:noFill/>
        </p:spPr>
        <p:txBody>
          <a:bodyPr wrap="square">
            <a:spAutoFit/>
          </a:bodyPr>
          <a:lstStyle/>
          <a:p>
            <a:pPr algn="l"/>
            <a:r>
              <a:rPr sz="1000" b="0" i="0">
                <a:solidFill>
                  <a:srgbClr val="B8C8E0"/>
                </a:solidFill>
              </a:rPr>
              <a:t>Rider reputation is personal — transferring it with the bike would let bad riders hide behind a 'clean' vehicle history.</a:t>
            </a:r>
          </a:p>
        </p:txBody>
      </p:sp>
      <p:sp>
        <p:nvSpPr>
          <p:cNvPr id="27" name="TextBox 26"/>
          <p:cNvSpPr txBox="1"/>
          <p:nvPr/>
        </p:nvSpPr>
        <p:spPr>
          <a:xfrm>
            <a:off x="640080" y="6629400"/>
            <a:ext cx="9052560" cy="182880"/>
          </a:xfrm>
          <a:prstGeom prst="rect">
            <a:avLst/>
          </a:prstGeom>
          <a:noFill/>
        </p:spPr>
        <p:txBody>
          <a:bodyPr wrap="square">
            <a:spAutoFit/>
          </a:bodyPr>
          <a:lstStyle/>
          <a:p>
            <a:pPr algn="l"/>
            <a:r>
              <a:rPr sz="850" b="0" i="0">
                <a:solidFill>
                  <a:srgbClr val="9CC6FF"/>
                </a:solidFill>
              </a:rPr>
              <a:t>Result: buyers get verified bike history. Riders keep a portable score that earns fair pricing from any insurer on the protocol.</a:t>
            </a:r>
          </a:p>
        </p:txBody>
      </p:sp>
      <p:sp>
        <p:nvSpPr>
          <p:cNvPr id="28" name="TextBox 27"/>
          <p:cNvSpPr txBox="1"/>
          <p:nvPr/>
        </p:nvSpPr>
        <p:spPr>
          <a:xfrm>
            <a:off x="9601200" y="6656832"/>
            <a:ext cx="2286000" cy="164592"/>
          </a:xfrm>
          <a:prstGeom prst="rect">
            <a:avLst/>
          </a:prstGeom>
          <a:noFill/>
        </p:spPr>
        <p:txBody>
          <a:bodyPr wrap="square">
            <a:spAutoFit/>
          </a:bodyPr>
          <a:lstStyle/>
          <a:p>
            <a:pPr algn="r"/>
            <a:r>
              <a:rPr sz="850" b="1" i="0">
                <a:solidFill>
                  <a:srgbClr val="9CC6FF"/>
                </a:solidFill>
              </a:rPr>
              <a:t>MotoChain &amp; RideTrue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315200" cy="292608"/>
          </a:xfrm>
          <a:prstGeom prst="rect">
            <a:avLst/>
          </a:prstGeom>
          <a:noFill/>
        </p:spPr>
        <p:txBody>
          <a:bodyPr wrap="square">
            <a:spAutoFit/>
          </a:bodyPr>
          <a:lstStyle/>
          <a:p>
            <a:pPr algn="l"/>
            <a:r>
              <a:rPr sz="1100" b="1" i="0">
                <a:solidFill>
                  <a:srgbClr val="9CC6FF"/>
                </a:solidFill>
              </a:rPr>
              <a:t>II.4  ·  ECOSYSTEM DYNAMICS</a:t>
            </a:r>
          </a:p>
        </p:txBody>
      </p:sp>
      <p:sp>
        <p:nvSpPr>
          <p:cNvPr id="3" name="TextBox 2"/>
          <p:cNvSpPr txBox="1"/>
          <p:nvPr/>
        </p:nvSpPr>
        <p:spPr>
          <a:xfrm>
            <a:off x="640080" y="676656"/>
            <a:ext cx="10972800" cy="658368"/>
          </a:xfrm>
          <a:prstGeom prst="rect">
            <a:avLst/>
          </a:prstGeom>
          <a:noFill/>
        </p:spPr>
        <p:txBody>
          <a:bodyPr wrap="square">
            <a:spAutoFit/>
          </a:bodyPr>
          <a:lstStyle/>
          <a:p>
            <a:pPr algn="l"/>
            <a:r>
              <a:rPr sz="3600" b="1" i="0">
                <a:solidFill>
                  <a:srgbClr val="EDF4FF"/>
                </a:solidFill>
              </a:rPr>
              <a:t>HOW PARTICIPANTS INTERACT</a:t>
            </a:r>
          </a:p>
        </p:txBody>
      </p:sp>
      <p:sp>
        <p:nvSpPr>
          <p:cNvPr id="4" name="TextBox 3"/>
          <p:cNvSpPr txBox="1"/>
          <p:nvPr/>
        </p:nvSpPr>
        <p:spPr>
          <a:xfrm>
            <a:off x="640080" y="1316736"/>
            <a:ext cx="11247120" cy="329184"/>
          </a:xfrm>
          <a:prstGeom prst="rect">
            <a:avLst/>
          </a:prstGeom>
          <a:noFill/>
        </p:spPr>
        <p:txBody>
          <a:bodyPr wrap="square">
            <a:spAutoFit/>
          </a:bodyPr>
          <a:lstStyle/>
          <a:p>
            <a:pPr algn="l"/>
            <a:r>
              <a:rPr sz="1300" b="0" i="0">
                <a:solidFill>
                  <a:srgbClr val="B8C8E0"/>
                </a:solidFill>
              </a:rPr>
              <a:t>Every action creates value that flows to others — that is what makes this a protocol, not a product.</a:t>
            </a:r>
          </a:p>
        </p:txBody>
      </p:sp>
      <p:sp>
        <p:nvSpPr>
          <p:cNvPr id="5" name="TextBox 4"/>
          <p:cNvSpPr txBox="1"/>
          <p:nvPr/>
        </p:nvSpPr>
        <p:spPr>
          <a:xfrm>
            <a:off x="640080" y="1700784"/>
            <a:ext cx="1097280" cy="54864"/>
          </a:xfrm>
          <a:prstGeom prst="rect">
            <a:avLst/>
          </a:prstGeom>
          <a:noFill/>
        </p:spPr>
        <p:txBody>
          <a:bodyPr wrap="square">
            <a:spAutoFit/>
          </a:bodyPr>
          <a:lstStyle/>
          <a:p>
            <a:pPr algn="l"/>
            <a:r>
              <a:rPr sz="950" b="0" i="0">
                <a:solidFill>
                  <a:srgbClr val="9CC6FF"/>
                </a:solidFill>
              </a:rPr>
              <a:t/>
            </a:r>
          </a:p>
        </p:txBody>
      </p:sp>
      <p:sp>
        <p:nvSpPr>
          <p:cNvPr id="6" name="TextBox 5"/>
          <p:cNvSpPr txBox="1"/>
          <p:nvPr/>
        </p:nvSpPr>
        <p:spPr>
          <a:xfrm>
            <a:off x="320040" y="1901952"/>
            <a:ext cx="2331720" cy="384048"/>
          </a:xfrm>
          <a:prstGeom prst="rect">
            <a:avLst/>
          </a:prstGeom>
          <a:noFill/>
        </p:spPr>
        <p:txBody>
          <a:bodyPr wrap="square">
            <a:spAutoFit/>
          </a:bodyPr>
          <a:lstStyle/>
          <a:p>
            <a:pPr algn="ctr"/>
            <a:r>
              <a:rPr sz="1000" b="1" i="0">
                <a:solidFill>
                  <a:srgbClr val="27D8D8"/>
                </a:solidFill>
              </a:rPr>
              <a:t>RIDERS</a:t>
            </a:r>
          </a:p>
        </p:txBody>
      </p:sp>
      <p:sp>
        <p:nvSpPr>
          <p:cNvPr id="7" name="TextBox 6"/>
          <p:cNvSpPr txBox="1"/>
          <p:nvPr/>
        </p:nvSpPr>
        <p:spPr>
          <a:xfrm>
            <a:off x="1234440" y="2331720"/>
            <a:ext cx="502920" cy="237744"/>
          </a:xfrm>
          <a:prstGeom prst="rect">
            <a:avLst/>
          </a:prstGeom>
          <a:noFill/>
        </p:spPr>
        <p:txBody>
          <a:bodyPr wrap="square">
            <a:spAutoFit/>
          </a:bodyPr>
          <a:lstStyle/>
          <a:p>
            <a:pPr algn="ctr"/>
            <a:r>
              <a:rPr sz="1400" b="1" i="0">
                <a:solidFill>
                  <a:srgbClr val="27D8D8"/>
                </a:solidFill>
              </a:rPr>
              <a:t>↓</a:t>
            </a:r>
          </a:p>
        </p:txBody>
      </p:sp>
      <p:sp>
        <p:nvSpPr>
          <p:cNvPr id="8" name="TextBox 7"/>
          <p:cNvSpPr txBox="1"/>
          <p:nvPr/>
        </p:nvSpPr>
        <p:spPr>
          <a:xfrm>
            <a:off x="320040" y="2578608"/>
            <a:ext cx="2331720" cy="640080"/>
          </a:xfrm>
          <a:prstGeom prst="rect">
            <a:avLst/>
          </a:prstGeom>
          <a:noFill/>
        </p:spPr>
        <p:txBody>
          <a:bodyPr wrap="square">
            <a:spAutoFit/>
          </a:bodyPr>
          <a:lstStyle/>
          <a:p>
            <a:pPr algn="ctr"/>
            <a:r>
              <a:rPr sz="950" b="0" i="0">
                <a:solidFill>
                  <a:srgbClr val="27D8D8"/>
                </a:solidFill>
              </a:rPr>
              <a:t>Premium deposits
+ ride data</a:t>
            </a:r>
          </a:p>
        </p:txBody>
      </p:sp>
      <p:sp>
        <p:nvSpPr>
          <p:cNvPr id="9" name="TextBox 8"/>
          <p:cNvSpPr txBox="1"/>
          <p:nvPr/>
        </p:nvSpPr>
        <p:spPr>
          <a:xfrm>
            <a:off x="2651760" y="1901952"/>
            <a:ext cx="2331720" cy="384048"/>
          </a:xfrm>
          <a:prstGeom prst="rect">
            <a:avLst/>
          </a:prstGeom>
          <a:noFill/>
        </p:spPr>
        <p:txBody>
          <a:bodyPr wrap="square">
            <a:spAutoFit/>
          </a:bodyPr>
          <a:lstStyle/>
          <a:p>
            <a:pPr algn="ctr"/>
            <a:r>
              <a:rPr sz="1000" b="1" i="0">
                <a:solidFill>
                  <a:srgbClr val="4EE59A"/>
                </a:solidFill>
              </a:rPr>
              <a:t>MECHANICS</a:t>
            </a:r>
          </a:p>
        </p:txBody>
      </p:sp>
      <p:sp>
        <p:nvSpPr>
          <p:cNvPr id="10" name="TextBox 9"/>
          <p:cNvSpPr txBox="1"/>
          <p:nvPr/>
        </p:nvSpPr>
        <p:spPr>
          <a:xfrm>
            <a:off x="3566160" y="2331720"/>
            <a:ext cx="502920" cy="237744"/>
          </a:xfrm>
          <a:prstGeom prst="rect">
            <a:avLst/>
          </a:prstGeom>
          <a:noFill/>
        </p:spPr>
        <p:txBody>
          <a:bodyPr wrap="square">
            <a:spAutoFit/>
          </a:bodyPr>
          <a:lstStyle/>
          <a:p>
            <a:pPr algn="ctr"/>
            <a:r>
              <a:rPr sz="1400" b="1" i="0">
                <a:solidFill>
                  <a:srgbClr val="4EE59A"/>
                </a:solidFill>
              </a:rPr>
              <a:t>↓</a:t>
            </a:r>
          </a:p>
        </p:txBody>
      </p:sp>
      <p:sp>
        <p:nvSpPr>
          <p:cNvPr id="11" name="TextBox 10"/>
          <p:cNvSpPr txBox="1"/>
          <p:nvPr/>
        </p:nvSpPr>
        <p:spPr>
          <a:xfrm>
            <a:off x="2651760" y="2578608"/>
            <a:ext cx="2331720" cy="640080"/>
          </a:xfrm>
          <a:prstGeom prst="rect">
            <a:avLst/>
          </a:prstGeom>
          <a:noFill/>
        </p:spPr>
        <p:txBody>
          <a:bodyPr wrap="square">
            <a:spAutoFit/>
          </a:bodyPr>
          <a:lstStyle/>
          <a:p>
            <a:pPr algn="ctr"/>
            <a:r>
              <a:rPr sz="950" b="0" i="0">
                <a:solidFill>
                  <a:srgbClr val="4EE59A"/>
                </a:solidFill>
              </a:rPr>
              <a:t>Service entries
+ MOTO stake</a:t>
            </a:r>
          </a:p>
        </p:txBody>
      </p:sp>
      <p:sp>
        <p:nvSpPr>
          <p:cNvPr id="12" name="TextBox 11"/>
          <p:cNvSpPr txBox="1"/>
          <p:nvPr/>
        </p:nvSpPr>
        <p:spPr>
          <a:xfrm>
            <a:off x="4983480" y="1901952"/>
            <a:ext cx="2331720" cy="384048"/>
          </a:xfrm>
          <a:prstGeom prst="rect">
            <a:avLst/>
          </a:prstGeom>
          <a:noFill/>
        </p:spPr>
        <p:txBody>
          <a:bodyPr wrap="square">
            <a:spAutoFit/>
          </a:bodyPr>
          <a:lstStyle/>
          <a:p>
            <a:pPr algn="ctr"/>
            <a:r>
              <a:rPr sz="1000" b="1" i="0">
                <a:solidFill>
                  <a:srgbClr val="FFBF56"/>
                </a:solidFill>
              </a:rPr>
              <a:t>DEALERS</a:t>
            </a:r>
          </a:p>
        </p:txBody>
      </p:sp>
      <p:sp>
        <p:nvSpPr>
          <p:cNvPr id="13" name="TextBox 12"/>
          <p:cNvSpPr txBox="1"/>
          <p:nvPr/>
        </p:nvSpPr>
        <p:spPr>
          <a:xfrm>
            <a:off x="5897880" y="2331720"/>
            <a:ext cx="502920" cy="237744"/>
          </a:xfrm>
          <a:prstGeom prst="rect">
            <a:avLst/>
          </a:prstGeom>
          <a:noFill/>
        </p:spPr>
        <p:txBody>
          <a:bodyPr wrap="square">
            <a:spAutoFit/>
          </a:bodyPr>
          <a:lstStyle/>
          <a:p>
            <a:pPr algn="ctr"/>
            <a:r>
              <a:rPr sz="1400" b="1" i="0">
                <a:solidFill>
                  <a:srgbClr val="FFBF56"/>
                </a:solidFill>
              </a:rPr>
              <a:t>↓</a:t>
            </a:r>
          </a:p>
        </p:txBody>
      </p:sp>
      <p:sp>
        <p:nvSpPr>
          <p:cNvPr id="14" name="TextBox 13"/>
          <p:cNvSpPr txBox="1"/>
          <p:nvPr/>
        </p:nvSpPr>
        <p:spPr>
          <a:xfrm>
            <a:off x="4983480" y="2578608"/>
            <a:ext cx="2331720" cy="640080"/>
          </a:xfrm>
          <a:prstGeom prst="rect">
            <a:avLst/>
          </a:prstGeom>
          <a:noFill/>
        </p:spPr>
        <p:txBody>
          <a:bodyPr wrap="square">
            <a:spAutoFit/>
          </a:bodyPr>
          <a:lstStyle/>
          <a:p>
            <a:pPr algn="ctr"/>
            <a:r>
              <a:rPr sz="950" b="0" i="0">
                <a:solidFill>
                  <a:srgbClr val="FFBF56"/>
                </a:solidFill>
              </a:rPr>
              <a:t>VIN registration
+ transfer fees</a:t>
            </a:r>
          </a:p>
        </p:txBody>
      </p:sp>
      <p:sp>
        <p:nvSpPr>
          <p:cNvPr id="15" name="TextBox 14"/>
          <p:cNvSpPr txBox="1"/>
          <p:nvPr/>
        </p:nvSpPr>
        <p:spPr>
          <a:xfrm>
            <a:off x="7269480" y="1901952"/>
            <a:ext cx="2331720" cy="384048"/>
          </a:xfrm>
          <a:prstGeom prst="rect">
            <a:avLst/>
          </a:prstGeom>
          <a:noFill/>
        </p:spPr>
        <p:txBody>
          <a:bodyPr wrap="square">
            <a:spAutoFit/>
          </a:bodyPr>
          <a:lstStyle/>
          <a:p>
            <a:pPr algn="ctr"/>
            <a:r>
              <a:rPr sz="1000" b="1" i="0">
                <a:solidFill>
                  <a:srgbClr val="4AA3FF"/>
                </a:solidFill>
              </a:rPr>
              <a:t>LPs</a:t>
            </a:r>
          </a:p>
        </p:txBody>
      </p:sp>
      <p:sp>
        <p:nvSpPr>
          <p:cNvPr id="16" name="TextBox 15"/>
          <p:cNvSpPr txBox="1"/>
          <p:nvPr/>
        </p:nvSpPr>
        <p:spPr>
          <a:xfrm>
            <a:off x="8183879" y="2331720"/>
            <a:ext cx="502920" cy="237744"/>
          </a:xfrm>
          <a:prstGeom prst="rect">
            <a:avLst/>
          </a:prstGeom>
          <a:noFill/>
        </p:spPr>
        <p:txBody>
          <a:bodyPr wrap="square">
            <a:spAutoFit/>
          </a:bodyPr>
          <a:lstStyle/>
          <a:p>
            <a:pPr algn="ctr"/>
            <a:r>
              <a:rPr sz="1400" b="1" i="0">
                <a:solidFill>
                  <a:srgbClr val="4AA3FF"/>
                </a:solidFill>
              </a:rPr>
              <a:t>↓</a:t>
            </a:r>
          </a:p>
        </p:txBody>
      </p:sp>
      <p:sp>
        <p:nvSpPr>
          <p:cNvPr id="17" name="TextBox 16"/>
          <p:cNvSpPr txBox="1"/>
          <p:nvPr/>
        </p:nvSpPr>
        <p:spPr>
          <a:xfrm>
            <a:off x="7269480" y="2578608"/>
            <a:ext cx="2331720" cy="640080"/>
          </a:xfrm>
          <a:prstGeom prst="rect">
            <a:avLst/>
          </a:prstGeom>
          <a:noFill/>
        </p:spPr>
        <p:txBody>
          <a:bodyPr wrap="square">
            <a:spAutoFit/>
          </a:bodyPr>
          <a:lstStyle/>
          <a:p>
            <a:pPr algn="ctr"/>
            <a:r>
              <a:rPr sz="950" b="0" i="0">
                <a:solidFill>
                  <a:srgbClr val="4AA3FF"/>
                </a:solidFill>
              </a:rPr>
              <a:t>USDC into
insurance pool</a:t>
            </a:r>
          </a:p>
        </p:txBody>
      </p:sp>
      <p:sp>
        <p:nvSpPr>
          <p:cNvPr id="18" name="TextBox 17"/>
          <p:cNvSpPr txBox="1"/>
          <p:nvPr/>
        </p:nvSpPr>
        <p:spPr>
          <a:xfrm>
            <a:off x="9464040" y="1901952"/>
            <a:ext cx="2331720" cy="384048"/>
          </a:xfrm>
          <a:prstGeom prst="rect">
            <a:avLst/>
          </a:prstGeom>
          <a:noFill/>
        </p:spPr>
        <p:txBody>
          <a:bodyPr wrap="square">
            <a:spAutoFit/>
          </a:bodyPr>
          <a:lstStyle/>
          <a:p>
            <a:pPr algn="ctr"/>
            <a:r>
              <a:rPr sz="1000" b="1" i="0">
                <a:solidFill>
                  <a:srgbClr val="FF6B6B"/>
                </a:solidFill>
              </a:rPr>
              <a:t>INSURERS
&amp; LENDERS</a:t>
            </a:r>
          </a:p>
        </p:txBody>
      </p:sp>
      <p:sp>
        <p:nvSpPr>
          <p:cNvPr id="19" name="TextBox 18"/>
          <p:cNvSpPr txBox="1"/>
          <p:nvPr/>
        </p:nvSpPr>
        <p:spPr>
          <a:xfrm>
            <a:off x="10378440" y="2331720"/>
            <a:ext cx="502920" cy="237744"/>
          </a:xfrm>
          <a:prstGeom prst="rect">
            <a:avLst/>
          </a:prstGeom>
          <a:noFill/>
        </p:spPr>
        <p:txBody>
          <a:bodyPr wrap="square">
            <a:spAutoFit/>
          </a:bodyPr>
          <a:lstStyle/>
          <a:p>
            <a:pPr algn="ctr"/>
            <a:r>
              <a:rPr sz="1400" b="1" i="0">
                <a:solidFill>
                  <a:srgbClr val="FF6B6B"/>
                </a:solidFill>
              </a:rPr>
              <a:t>↓</a:t>
            </a:r>
          </a:p>
        </p:txBody>
      </p:sp>
      <p:sp>
        <p:nvSpPr>
          <p:cNvPr id="20" name="TextBox 19"/>
          <p:cNvSpPr txBox="1"/>
          <p:nvPr/>
        </p:nvSpPr>
        <p:spPr>
          <a:xfrm>
            <a:off x="9464040" y="2578608"/>
            <a:ext cx="2331720" cy="640080"/>
          </a:xfrm>
          <a:prstGeom prst="rect">
            <a:avLst/>
          </a:prstGeom>
          <a:noFill/>
        </p:spPr>
        <p:txBody>
          <a:bodyPr wrap="square">
            <a:spAutoFit/>
          </a:bodyPr>
          <a:lstStyle/>
          <a:p>
            <a:pPr algn="ctr"/>
            <a:r>
              <a:rPr sz="950" b="0" i="0">
                <a:solidFill>
                  <a:srgbClr val="FF6B6B"/>
                </a:solidFill>
              </a:rPr>
              <a:t>Data subscription
API fees</a:t>
            </a:r>
          </a:p>
        </p:txBody>
      </p:sp>
      <p:sp>
        <p:nvSpPr>
          <p:cNvPr id="21" name="TextBox 20"/>
          <p:cNvSpPr txBox="1"/>
          <p:nvPr/>
        </p:nvSpPr>
        <p:spPr>
          <a:xfrm>
            <a:off x="4956048" y="3364992"/>
            <a:ext cx="2286000" cy="822960"/>
          </a:xfrm>
          <a:prstGeom prst="rect">
            <a:avLst/>
          </a:prstGeom>
          <a:noFill/>
        </p:spPr>
        <p:txBody>
          <a:bodyPr wrap="square">
            <a:spAutoFit/>
          </a:bodyPr>
          <a:lstStyle/>
          <a:p>
            <a:pPr algn="ctr"/>
            <a:r>
              <a:rPr sz="1100" b="1" i="0">
                <a:solidFill>
                  <a:srgbClr val="EDF4FF"/>
                </a:solidFill>
              </a:rPr>
              <a:t>MOTOCHAIN
&amp; RIDETRUE
PROTOCOL</a:t>
            </a:r>
          </a:p>
        </p:txBody>
      </p:sp>
      <p:sp>
        <p:nvSpPr>
          <p:cNvPr id="22" name="TextBox 21"/>
          <p:cNvSpPr txBox="1"/>
          <p:nvPr/>
        </p:nvSpPr>
        <p:spPr>
          <a:xfrm>
            <a:off x="320040" y="4315968"/>
            <a:ext cx="2331720" cy="731520"/>
          </a:xfrm>
          <a:prstGeom prst="rect">
            <a:avLst/>
          </a:prstGeom>
          <a:noFill/>
        </p:spPr>
        <p:txBody>
          <a:bodyPr wrap="square">
            <a:spAutoFit/>
          </a:bodyPr>
          <a:lstStyle/>
          <a:p>
            <a:pPr algn="ctr"/>
            <a:r>
              <a:rPr sz="950" b="0" i="0">
                <a:solidFill>
                  <a:srgbClr val="27D8D8"/>
                </a:solidFill>
              </a:rPr>
              <a:t>Claims paid
+ safe-rider rebates
+ MOTO stake rewards</a:t>
            </a:r>
          </a:p>
        </p:txBody>
      </p:sp>
      <p:sp>
        <p:nvSpPr>
          <p:cNvPr id="23" name="TextBox 22"/>
          <p:cNvSpPr txBox="1"/>
          <p:nvPr/>
        </p:nvSpPr>
        <p:spPr>
          <a:xfrm>
            <a:off x="1234440" y="4151376"/>
            <a:ext cx="502920" cy="237744"/>
          </a:xfrm>
          <a:prstGeom prst="rect">
            <a:avLst/>
          </a:prstGeom>
          <a:noFill/>
        </p:spPr>
        <p:txBody>
          <a:bodyPr wrap="square">
            <a:spAutoFit/>
          </a:bodyPr>
          <a:lstStyle/>
          <a:p>
            <a:pPr algn="ctr"/>
            <a:r>
              <a:rPr sz="1400" b="1" i="0">
                <a:solidFill>
                  <a:srgbClr val="27D8D8"/>
                </a:solidFill>
              </a:rPr>
              <a:t>↑</a:t>
            </a:r>
          </a:p>
        </p:txBody>
      </p:sp>
      <p:sp>
        <p:nvSpPr>
          <p:cNvPr id="24" name="TextBox 23"/>
          <p:cNvSpPr txBox="1"/>
          <p:nvPr/>
        </p:nvSpPr>
        <p:spPr>
          <a:xfrm>
            <a:off x="2651760" y="4315968"/>
            <a:ext cx="2331720" cy="731520"/>
          </a:xfrm>
          <a:prstGeom prst="rect">
            <a:avLst/>
          </a:prstGeom>
          <a:noFill/>
        </p:spPr>
        <p:txBody>
          <a:bodyPr wrap="square">
            <a:spAutoFit/>
          </a:bodyPr>
          <a:lstStyle/>
          <a:p>
            <a:pPr algn="ctr"/>
            <a:r>
              <a:rPr sz="950" b="0" i="0">
                <a:solidFill>
                  <a:srgbClr val="4EE59A"/>
                </a:solidFill>
              </a:rPr>
              <a:t>60% fee share
+ MOTO rewards
for quality streaks</a:t>
            </a:r>
          </a:p>
        </p:txBody>
      </p:sp>
      <p:sp>
        <p:nvSpPr>
          <p:cNvPr id="25" name="TextBox 24"/>
          <p:cNvSpPr txBox="1"/>
          <p:nvPr/>
        </p:nvSpPr>
        <p:spPr>
          <a:xfrm>
            <a:off x="3566160" y="4151376"/>
            <a:ext cx="502920" cy="237744"/>
          </a:xfrm>
          <a:prstGeom prst="rect">
            <a:avLst/>
          </a:prstGeom>
          <a:noFill/>
        </p:spPr>
        <p:txBody>
          <a:bodyPr wrap="square">
            <a:spAutoFit/>
          </a:bodyPr>
          <a:lstStyle/>
          <a:p>
            <a:pPr algn="ctr"/>
            <a:r>
              <a:rPr sz="1400" b="1" i="0">
                <a:solidFill>
                  <a:srgbClr val="4EE59A"/>
                </a:solidFill>
              </a:rPr>
              <a:t>↑</a:t>
            </a:r>
          </a:p>
        </p:txBody>
      </p:sp>
      <p:sp>
        <p:nvSpPr>
          <p:cNvPr id="26" name="TextBox 25"/>
          <p:cNvSpPr txBox="1"/>
          <p:nvPr/>
        </p:nvSpPr>
        <p:spPr>
          <a:xfrm>
            <a:off x="4983480" y="4315968"/>
            <a:ext cx="2331720" cy="731520"/>
          </a:xfrm>
          <a:prstGeom prst="rect">
            <a:avLst/>
          </a:prstGeom>
          <a:noFill/>
        </p:spPr>
        <p:txBody>
          <a:bodyPr wrap="square">
            <a:spAutoFit/>
          </a:bodyPr>
          <a:lstStyle/>
          <a:p>
            <a:pPr algn="ctr"/>
            <a:r>
              <a:rPr sz="950" b="0" i="0">
                <a:solidFill>
                  <a:srgbClr val="FFBF56"/>
                </a:solidFill>
              </a:rPr>
              <a:t>Verified inventory
+ MOTO early-adopter
rewards</a:t>
            </a:r>
          </a:p>
        </p:txBody>
      </p:sp>
      <p:sp>
        <p:nvSpPr>
          <p:cNvPr id="27" name="TextBox 26"/>
          <p:cNvSpPr txBox="1"/>
          <p:nvPr/>
        </p:nvSpPr>
        <p:spPr>
          <a:xfrm>
            <a:off x="5897880" y="4151376"/>
            <a:ext cx="502920" cy="237744"/>
          </a:xfrm>
          <a:prstGeom prst="rect">
            <a:avLst/>
          </a:prstGeom>
          <a:noFill/>
        </p:spPr>
        <p:txBody>
          <a:bodyPr wrap="square">
            <a:spAutoFit/>
          </a:bodyPr>
          <a:lstStyle/>
          <a:p>
            <a:pPr algn="ctr"/>
            <a:r>
              <a:rPr sz="1400" b="1" i="0">
                <a:solidFill>
                  <a:srgbClr val="FFBF56"/>
                </a:solidFill>
              </a:rPr>
              <a:t>↑</a:t>
            </a:r>
          </a:p>
        </p:txBody>
      </p:sp>
      <p:sp>
        <p:nvSpPr>
          <p:cNvPr id="28" name="TextBox 27"/>
          <p:cNvSpPr txBox="1"/>
          <p:nvPr/>
        </p:nvSpPr>
        <p:spPr>
          <a:xfrm>
            <a:off x="7269480" y="4315968"/>
            <a:ext cx="2331720" cy="731520"/>
          </a:xfrm>
          <a:prstGeom prst="rect">
            <a:avLst/>
          </a:prstGeom>
          <a:noFill/>
        </p:spPr>
        <p:txBody>
          <a:bodyPr wrap="square">
            <a:spAutoFit/>
          </a:bodyPr>
          <a:lstStyle/>
          <a:p>
            <a:pPr algn="ctr"/>
            <a:r>
              <a:rPr sz="950" b="0" i="0">
                <a:solidFill>
                  <a:srgbClr val="4AA3FF"/>
                </a:solidFill>
              </a:rPr>
              <a:t>Yield from DeFi
+ fee share</a:t>
            </a:r>
          </a:p>
        </p:txBody>
      </p:sp>
      <p:sp>
        <p:nvSpPr>
          <p:cNvPr id="29" name="TextBox 28"/>
          <p:cNvSpPr txBox="1"/>
          <p:nvPr/>
        </p:nvSpPr>
        <p:spPr>
          <a:xfrm>
            <a:off x="8183879" y="4151376"/>
            <a:ext cx="502920" cy="237744"/>
          </a:xfrm>
          <a:prstGeom prst="rect">
            <a:avLst/>
          </a:prstGeom>
          <a:noFill/>
        </p:spPr>
        <p:txBody>
          <a:bodyPr wrap="square">
            <a:spAutoFit/>
          </a:bodyPr>
          <a:lstStyle/>
          <a:p>
            <a:pPr algn="ctr"/>
            <a:r>
              <a:rPr sz="1400" b="1" i="0">
                <a:solidFill>
                  <a:srgbClr val="4AA3FF"/>
                </a:solidFill>
              </a:rPr>
              <a:t>↑</a:t>
            </a:r>
          </a:p>
        </p:txBody>
      </p:sp>
      <p:sp>
        <p:nvSpPr>
          <p:cNvPr id="30" name="TextBox 29"/>
          <p:cNvSpPr txBox="1"/>
          <p:nvPr/>
        </p:nvSpPr>
        <p:spPr>
          <a:xfrm>
            <a:off x="9464040" y="4315968"/>
            <a:ext cx="2331720" cy="731520"/>
          </a:xfrm>
          <a:prstGeom prst="rect">
            <a:avLst/>
          </a:prstGeom>
          <a:noFill/>
        </p:spPr>
        <p:txBody>
          <a:bodyPr wrap="square">
            <a:spAutoFit/>
          </a:bodyPr>
          <a:lstStyle/>
          <a:p>
            <a:pPr algn="ctr"/>
            <a:r>
              <a:rPr sz="950" b="0" i="0">
                <a:solidFill>
                  <a:srgbClr val="FF6B6B"/>
                </a:solidFill>
              </a:rPr>
              <a:t>Verified VIN history
+ privacy-preserving
rider risk scores</a:t>
            </a:r>
          </a:p>
        </p:txBody>
      </p:sp>
      <p:sp>
        <p:nvSpPr>
          <p:cNvPr id="31" name="TextBox 30"/>
          <p:cNvSpPr txBox="1"/>
          <p:nvPr/>
        </p:nvSpPr>
        <p:spPr>
          <a:xfrm>
            <a:off x="10378440" y="4151376"/>
            <a:ext cx="502920" cy="237744"/>
          </a:xfrm>
          <a:prstGeom prst="rect">
            <a:avLst/>
          </a:prstGeom>
          <a:noFill/>
        </p:spPr>
        <p:txBody>
          <a:bodyPr wrap="square">
            <a:spAutoFit/>
          </a:bodyPr>
          <a:lstStyle/>
          <a:p>
            <a:pPr algn="ctr"/>
            <a:r>
              <a:rPr sz="1400" b="1" i="0">
                <a:solidFill>
                  <a:srgbClr val="FF6B6B"/>
                </a:solidFill>
              </a:rPr>
              <a:t>↑</a:t>
            </a:r>
          </a:p>
        </p:txBody>
      </p:sp>
      <p:sp>
        <p:nvSpPr>
          <p:cNvPr id="32" name="TextBox 31"/>
          <p:cNvSpPr txBox="1"/>
          <p:nvPr/>
        </p:nvSpPr>
        <p:spPr>
          <a:xfrm>
            <a:off x="457200" y="5193792"/>
            <a:ext cx="11247120" cy="530352"/>
          </a:xfrm>
          <a:prstGeom prst="rect">
            <a:avLst/>
          </a:prstGeom>
          <a:noFill/>
        </p:spPr>
        <p:txBody>
          <a:bodyPr wrap="square">
            <a:spAutoFit/>
          </a:bodyPr>
          <a:lstStyle/>
          <a:p>
            <a:pPr algn="ctr"/>
            <a:r>
              <a:rPr sz="1050" b="0" i="0">
                <a:solidFill>
                  <a:srgbClr val="B8C8E0"/>
                </a:solidFill>
              </a:rPr>
              <a:t>Data flywheel:  more bikes + riders + mechanics  →  richer, more accurate data  →  better risk pricing  →  lower premiums  →  more participants  →  stronger dataset.  Each new entry makes every other entry more valuable.</a:t>
            </a:r>
          </a:p>
        </p:txBody>
      </p:sp>
      <p:sp>
        <p:nvSpPr>
          <p:cNvPr id="33" name="TextBox 32"/>
          <p:cNvSpPr txBox="1"/>
          <p:nvPr/>
        </p:nvSpPr>
        <p:spPr>
          <a:xfrm>
            <a:off x="9601200" y="6656832"/>
            <a:ext cx="2286000" cy="164592"/>
          </a:xfrm>
          <a:prstGeom prst="rect">
            <a:avLst/>
          </a:prstGeom>
          <a:noFill/>
        </p:spPr>
        <p:txBody>
          <a:bodyPr wrap="square">
            <a:spAutoFit/>
          </a:bodyPr>
          <a:lstStyle/>
          <a:p>
            <a:pPr algn="r"/>
            <a:r>
              <a:rPr sz="850" b="1" i="0">
                <a:solidFill>
                  <a:srgbClr val="9CC6FF"/>
                </a:solidFill>
              </a:rPr>
              <a:t>MotoChain &amp; RideTrue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315200" cy="292608"/>
          </a:xfrm>
          <a:prstGeom prst="rect">
            <a:avLst/>
          </a:prstGeom>
          <a:noFill/>
        </p:spPr>
        <p:txBody>
          <a:bodyPr wrap="square">
            <a:spAutoFit/>
          </a:bodyPr>
          <a:lstStyle/>
          <a:p>
            <a:pPr algn="l"/>
            <a:r>
              <a:rPr sz="1100" b="1" i="0">
                <a:solidFill>
                  <a:srgbClr val="9CC6FF"/>
                </a:solidFill>
              </a:rPr>
              <a:t>II.4  ·  DEALER STRATEGY</a:t>
            </a:r>
          </a:p>
        </p:txBody>
      </p:sp>
      <p:sp>
        <p:nvSpPr>
          <p:cNvPr id="3" name="TextBox 2"/>
          <p:cNvSpPr txBox="1"/>
          <p:nvPr/>
        </p:nvSpPr>
        <p:spPr>
          <a:xfrm>
            <a:off x="640080" y="676656"/>
            <a:ext cx="10972800" cy="658368"/>
          </a:xfrm>
          <a:prstGeom prst="rect">
            <a:avLst/>
          </a:prstGeom>
          <a:noFill/>
        </p:spPr>
        <p:txBody>
          <a:bodyPr wrap="square">
            <a:spAutoFit/>
          </a:bodyPr>
          <a:lstStyle/>
          <a:p>
            <a:pPr algn="l"/>
            <a:r>
              <a:rPr sz="3600" b="1" i="0">
                <a:solidFill>
                  <a:srgbClr val="EDF4FF"/>
                </a:solidFill>
              </a:rPr>
              <a:t>THE SECOND-HAND DEALER OPPORTUNITY</a:t>
            </a:r>
          </a:p>
        </p:txBody>
      </p:sp>
      <p:sp>
        <p:nvSpPr>
          <p:cNvPr id="4" name="TextBox 3"/>
          <p:cNvSpPr txBox="1"/>
          <p:nvPr/>
        </p:nvSpPr>
        <p:spPr>
          <a:xfrm>
            <a:off x="640080" y="1316736"/>
            <a:ext cx="11247120" cy="329184"/>
          </a:xfrm>
          <a:prstGeom prst="rect">
            <a:avLst/>
          </a:prstGeom>
          <a:noFill/>
        </p:spPr>
        <p:txBody>
          <a:bodyPr wrap="square">
            <a:spAutoFit/>
          </a:bodyPr>
          <a:lstStyle/>
          <a:p>
            <a:pPr algn="l"/>
            <a:r>
              <a:rPr sz="1300" b="0" i="0">
                <a:solidFill>
                  <a:srgbClr val="B8C8E0"/>
                </a:solidFill>
              </a:rPr>
              <a:t>Objection: "My market is already doing well — why register older motorcycles?"</a:t>
            </a:r>
          </a:p>
        </p:txBody>
      </p:sp>
      <p:sp>
        <p:nvSpPr>
          <p:cNvPr id="5" name="TextBox 4"/>
          <p:cNvSpPr txBox="1"/>
          <p:nvPr/>
        </p:nvSpPr>
        <p:spPr>
          <a:xfrm>
            <a:off x="640080" y="1700784"/>
            <a:ext cx="1097280" cy="54864"/>
          </a:xfrm>
          <a:prstGeom prst="rect">
            <a:avLst/>
          </a:prstGeom>
          <a:noFill/>
        </p:spPr>
        <p:txBody>
          <a:bodyPr wrap="square">
            <a:spAutoFit/>
          </a:bodyPr>
          <a:lstStyle/>
          <a:p>
            <a:pPr algn="l"/>
            <a:r>
              <a:rPr sz="950" b="0" i="0">
                <a:solidFill>
                  <a:srgbClr val="9CC6FF"/>
                </a:solidFill>
              </a:rPr>
              <a:t/>
            </a:r>
          </a:p>
        </p:txBody>
      </p:sp>
      <p:sp>
        <p:nvSpPr>
          <p:cNvPr id="6" name="TextBox 5"/>
          <p:cNvSpPr txBox="1"/>
          <p:nvPr/>
        </p:nvSpPr>
        <p:spPr>
          <a:xfrm>
            <a:off x="457200" y="1874519"/>
            <a:ext cx="5486400" cy="274320"/>
          </a:xfrm>
          <a:prstGeom prst="rect">
            <a:avLst/>
          </a:prstGeom>
          <a:noFill/>
        </p:spPr>
        <p:txBody>
          <a:bodyPr wrap="square">
            <a:spAutoFit/>
          </a:bodyPr>
          <a:lstStyle/>
          <a:p>
            <a:pPr algn="l"/>
            <a:r>
              <a:rPr sz="1000" b="1" i="0">
                <a:solidFill>
                  <a:srgbClr val="27D8D8"/>
                </a:solidFill>
              </a:rPr>
              <a:t>THE ANSWER: VERIFIED BIKES SELL FOR MORE</a:t>
            </a:r>
          </a:p>
        </p:txBody>
      </p:sp>
      <p:sp>
        <p:nvSpPr>
          <p:cNvPr id="7" name="TextBox 6"/>
          <p:cNvSpPr txBox="1"/>
          <p:nvPr/>
        </p:nvSpPr>
        <p:spPr>
          <a:xfrm>
            <a:off x="457200" y="2212848"/>
            <a:ext cx="4023360" cy="292608"/>
          </a:xfrm>
          <a:prstGeom prst="rect">
            <a:avLst/>
          </a:prstGeom>
          <a:noFill/>
        </p:spPr>
        <p:txBody>
          <a:bodyPr wrap="square">
            <a:spAutoFit/>
          </a:bodyPr>
          <a:lstStyle/>
          <a:p>
            <a:pPr algn="l"/>
            <a:r>
              <a:rPr sz="1100" b="0" i="0">
                <a:solidFill>
                  <a:srgbClr val="EDF4FF"/>
                </a:solidFill>
              </a:rPr>
              <a:t>One-time VIN registration fee</a:t>
            </a:r>
          </a:p>
        </p:txBody>
      </p:sp>
      <p:sp>
        <p:nvSpPr>
          <p:cNvPr id="8" name="TextBox 7"/>
          <p:cNvSpPr txBox="1"/>
          <p:nvPr/>
        </p:nvSpPr>
        <p:spPr>
          <a:xfrm>
            <a:off x="4572000" y="2212848"/>
            <a:ext cx="1280160" cy="292608"/>
          </a:xfrm>
          <a:prstGeom prst="rect">
            <a:avLst/>
          </a:prstGeom>
          <a:noFill/>
        </p:spPr>
        <p:txBody>
          <a:bodyPr wrap="square">
            <a:spAutoFit/>
          </a:bodyPr>
          <a:lstStyle/>
          <a:p>
            <a:pPr algn="r"/>
            <a:r>
              <a:rPr sz="1100" b="1" i="0">
                <a:solidFill>
                  <a:srgbClr val="4EE59A"/>
                </a:solidFill>
              </a:rPr>
              <a:t>₩10,000</a:t>
            </a:r>
          </a:p>
        </p:txBody>
      </p:sp>
      <p:sp>
        <p:nvSpPr>
          <p:cNvPr id="9" name="TextBox 8"/>
          <p:cNvSpPr txBox="1"/>
          <p:nvPr/>
        </p:nvSpPr>
        <p:spPr>
          <a:xfrm>
            <a:off x="457200" y="2532888"/>
            <a:ext cx="4023360" cy="292608"/>
          </a:xfrm>
          <a:prstGeom prst="rect">
            <a:avLst/>
          </a:prstGeom>
          <a:noFill/>
        </p:spPr>
        <p:txBody>
          <a:bodyPr wrap="square">
            <a:spAutoFit/>
          </a:bodyPr>
          <a:lstStyle/>
          <a:p>
            <a:pPr algn="l"/>
            <a:r>
              <a:rPr sz="1100" b="0" i="0">
                <a:solidFill>
                  <a:srgbClr val="EDF4FF"/>
                </a:solidFill>
              </a:rPr>
              <a:t>Typical price premium on verified bike</a:t>
            </a:r>
          </a:p>
        </p:txBody>
      </p:sp>
      <p:sp>
        <p:nvSpPr>
          <p:cNvPr id="10" name="TextBox 9"/>
          <p:cNvSpPr txBox="1"/>
          <p:nvPr/>
        </p:nvSpPr>
        <p:spPr>
          <a:xfrm>
            <a:off x="4572000" y="2532888"/>
            <a:ext cx="1280160" cy="292608"/>
          </a:xfrm>
          <a:prstGeom prst="rect">
            <a:avLst/>
          </a:prstGeom>
          <a:noFill/>
        </p:spPr>
        <p:txBody>
          <a:bodyPr wrap="square">
            <a:spAutoFit/>
          </a:bodyPr>
          <a:lstStyle/>
          <a:p>
            <a:pPr algn="r"/>
            <a:r>
              <a:rPr sz="1100" b="1" i="0">
                <a:solidFill>
                  <a:srgbClr val="4EE59A"/>
                </a:solidFill>
              </a:rPr>
              <a:t>₩200K – ₩500K+</a:t>
            </a:r>
          </a:p>
        </p:txBody>
      </p:sp>
      <p:sp>
        <p:nvSpPr>
          <p:cNvPr id="11" name="TextBox 10"/>
          <p:cNvSpPr txBox="1"/>
          <p:nvPr/>
        </p:nvSpPr>
        <p:spPr>
          <a:xfrm>
            <a:off x="457200" y="2852928"/>
            <a:ext cx="4023360" cy="292608"/>
          </a:xfrm>
          <a:prstGeom prst="rect">
            <a:avLst/>
          </a:prstGeom>
          <a:noFill/>
        </p:spPr>
        <p:txBody>
          <a:bodyPr wrap="square">
            <a:spAutoFit/>
          </a:bodyPr>
          <a:lstStyle/>
          <a:p>
            <a:pPr algn="l"/>
            <a:r>
              <a:rPr sz="1100" b="0" i="0">
                <a:solidFill>
                  <a:srgbClr val="EDF4FF"/>
                </a:solidFill>
              </a:rPr>
              <a:t>Net return on that fee</a:t>
            </a:r>
          </a:p>
        </p:txBody>
      </p:sp>
      <p:sp>
        <p:nvSpPr>
          <p:cNvPr id="12" name="TextBox 11"/>
          <p:cNvSpPr txBox="1"/>
          <p:nvPr/>
        </p:nvSpPr>
        <p:spPr>
          <a:xfrm>
            <a:off x="4572000" y="2852928"/>
            <a:ext cx="1280160" cy="292608"/>
          </a:xfrm>
          <a:prstGeom prst="rect">
            <a:avLst/>
          </a:prstGeom>
          <a:noFill/>
        </p:spPr>
        <p:txBody>
          <a:bodyPr wrap="square">
            <a:spAutoFit/>
          </a:bodyPr>
          <a:lstStyle/>
          <a:p>
            <a:pPr algn="r"/>
            <a:r>
              <a:rPr sz="1100" b="1" i="0">
                <a:solidFill>
                  <a:srgbClr val="4EE59A"/>
                </a:solidFill>
              </a:rPr>
              <a:t>20× – 50×</a:t>
            </a:r>
          </a:p>
        </p:txBody>
      </p:sp>
      <p:sp>
        <p:nvSpPr>
          <p:cNvPr id="13" name="TextBox 12"/>
          <p:cNvSpPr txBox="1"/>
          <p:nvPr/>
        </p:nvSpPr>
        <p:spPr>
          <a:xfrm>
            <a:off x="457200" y="3218688"/>
            <a:ext cx="5486400" cy="548640"/>
          </a:xfrm>
          <a:prstGeom prst="rect">
            <a:avLst/>
          </a:prstGeom>
          <a:noFill/>
        </p:spPr>
        <p:txBody>
          <a:bodyPr wrap="square">
            <a:spAutoFit/>
          </a:bodyPr>
          <a:lstStyle/>
          <a:p>
            <a:pPr algn="l"/>
            <a:r>
              <a:rPr sz="1050" b="0" i="0">
                <a:solidFill>
                  <a:srgbClr val="B8C8E0"/>
                </a:solidFill>
              </a:rPr>
              <a:t>For older bikes specifically: buyers face the greatest uncertainty in precisely that segment, which means verified condition is most valuable exactly where dealers need the pricing edge.</a:t>
            </a:r>
          </a:p>
        </p:txBody>
      </p:sp>
      <p:sp>
        <p:nvSpPr>
          <p:cNvPr id="14" name="TextBox 13"/>
          <p:cNvSpPr txBox="1"/>
          <p:nvPr/>
        </p:nvSpPr>
        <p:spPr>
          <a:xfrm>
            <a:off x="457200" y="3858768"/>
            <a:ext cx="5486400" cy="256032"/>
          </a:xfrm>
          <a:prstGeom prst="rect">
            <a:avLst/>
          </a:prstGeom>
          <a:noFill/>
        </p:spPr>
        <p:txBody>
          <a:bodyPr wrap="square">
            <a:spAutoFit/>
          </a:bodyPr>
          <a:lstStyle/>
          <a:p>
            <a:pPr algn="l"/>
            <a:r>
              <a:rPr sz="1000" b="1" i="0">
                <a:solidFill>
                  <a:srgbClr val="27D8D8"/>
                </a:solidFill>
              </a:rPr>
              <a:t>RETROACTIVE CONDITION ANCHORING</a:t>
            </a:r>
          </a:p>
        </p:txBody>
      </p:sp>
      <p:sp>
        <p:nvSpPr>
          <p:cNvPr id="15" name="TextBox 14"/>
          <p:cNvSpPr txBox="1"/>
          <p:nvPr/>
        </p:nvSpPr>
        <p:spPr>
          <a:xfrm>
            <a:off x="457200" y="4151376"/>
            <a:ext cx="5486400" cy="731520"/>
          </a:xfrm>
          <a:prstGeom prst="rect">
            <a:avLst/>
          </a:prstGeom>
          <a:noFill/>
        </p:spPr>
        <p:txBody>
          <a:bodyPr wrap="square">
            <a:spAutoFit/>
          </a:bodyPr>
          <a:lstStyle/>
          <a:p>
            <a:pPr algn="l"/>
            <a:r>
              <a:rPr sz="1050" b="0" i="0">
                <a:solidFill>
                  <a:srgbClr val="EDF4FF"/>
                </a:solidFill>
              </a:rPr>
              <a:t>Even without a full service history, a current-condition certification has real market value. MotoChain documents what the bike is today. Every future service record builds on that anchor, compounding the asset's verified value over time.</a:t>
            </a:r>
          </a:p>
        </p:txBody>
      </p:sp>
      <p:sp>
        <p:nvSpPr>
          <p:cNvPr id="16" name="TextBox 15"/>
          <p:cNvSpPr txBox="1"/>
          <p:nvPr/>
        </p:nvSpPr>
        <p:spPr>
          <a:xfrm>
            <a:off x="6126480" y="1874519"/>
            <a:ext cx="5760720" cy="274320"/>
          </a:xfrm>
          <a:prstGeom prst="rect">
            <a:avLst/>
          </a:prstGeom>
          <a:noFill/>
        </p:spPr>
        <p:txBody>
          <a:bodyPr wrap="square">
            <a:spAutoFit/>
          </a:bodyPr>
          <a:lstStyle/>
          <a:p>
            <a:pPr algn="l"/>
            <a:r>
              <a:rPr sz="1000" b="1" i="0">
                <a:solidFill>
                  <a:srgbClr val="FFBF56"/>
                </a:solidFill>
              </a:rPr>
              <a:t>EARLY-ADOPTER INCENTIVES</a:t>
            </a:r>
          </a:p>
        </p:txBody>
      </p:sp>
      <p:sp>
        <p:nvSpPr>
          <p:cNvPr id="17" name="TextBox 16"/>
          <p:cNvSpPr txBox="1"/>
          <p:nvPr/>
        </p:nvSpPr>
        <p:spPr>
          <a:xfrm>
            <a:off x="6126480" y="2212848"/>
            <a:ext cx="5669280" cy="201168"/>
          </a:xfrm>
          <a:prstGeom prst="rect">
            <a:avLst/>
          </a:prstGeom>
          <a:noFill/>
        </p:spPr>
        <p:txBody>
          <a:bodyPr wrap="square">
            <a:spAutoFit/>
          </a:bodyPr>
          <a:lstStyle/>
          <a:p>
            <a:pPr algn="l"/>
            <a:r>
              <a:rPr sz="1000" b="1" i="0">
                <a:solidFill>
                  <a:srgbClr val="C8DCFF"/>
                </a:solidFill>
              </a:rPr>
              <a:t>MOTO rewards</a:t>
            </a:r>
          </a:p>
        </p:txBody>
      </p:sp>
      <p:sp>
        <p:nvSpPr>
          <p:cNvPr id="18" name="TextBox 17"/>
          <p:cNvSpPr txBox="1"/>
          <p:nvPr/>
        </p:nvSpPr>
        <p:spPr>
          <a:xfrm>
            <a:off x="6126480" y="2432304"/>
            <a:ext cx="5669280" cy="347472"/>
          </a:xfrm>
          <a:prstGeom prst="rect">
            <a:avLst/>
          </a:prstGeom>
          <a:noFill/>
        </p:spPr>
        <p:txBody>
          <a:bodyPr wrap="square">
            <a:spAutoFit/>
          </a:bodyPr>
          <a:lstStyle/>
          <a:p>
            <a:pPr algn="l"/>
            <a:r>
              <a:rPr sz="1000" b="0" i="0">
                <a:solidFill>
                  <a:srgbClr val="B8C8E0"/>
                </a:solidFill>
              </a:rPr>
              <a:t>Dealers who register ≥50 older bikes in the launch cohort earn $MOTO rewards equivalent to 12 months of fee rebates.</a:t>
            </a:r>
          </a:p>
        </p:txBody>
      </p:sp>
      <p:sp>
        <p:nvSpPr>
          <p:cNvPr id="19" name="TextBox 18"/>
          <p:cNvSpPr txBox="1"/>
          <p:nvPr/>
        </p:nvSpPr>
        <p:spPr>
          <a:xfrm>
            <a:off x="6126480" y="2871215"/>
            <a:ext cx="5669280" cy="201168"/>
          </a:xfrm>
          <a:prstGeom prst="rect">
            <a:avLst/>
          </a:prstGeom>
          <a:noFill/>
        </p:spPr>
        <p:txBody>
          <a:bodyPr wrap="square">
            <a:spAutoFit/>
          </a:bodyPr>
          <a:lstStyle/>
          <a:p>
            <a:pPr algn="l"/>
            <a:r>
              <a:rPr sz="1000" b="1" i="0">
                <a:solidFill>
                  <a:srgbClr val="C8DCFF"/>
                </a:solidFill>
              </a:rPr>
              <a:t>Verified Dealer badge</a:t>
            </a:r>
          </a:p>
        </p:txBody>
      </p:sp>
      <p:sp>
        <p:nvSpPr>
          <p:cNvPr id="20" name="TextBox 19"/>
          <p:cNvSpPr txBox="1"/>
          <p:nvPr/>
        </p:nvSpPr>
        <p:spPr>
          <a:xfrm>
            <a:off x="6126480" y="3090672"/>
            <a:ext cx="5669280" cy="347472"/>
          </a:xfrm>
          <a:prstGeom prst="rect">
            <a:avLst/>
          </a:prstGeom>
          <a:noFill/>
        </p:spPr>
        <p:txBody>
          <a:bodyPr wrap="square">
            <a:spAutoFit/>
          </a:bodyPr>
          <a:lstStyle/>
          <a:p>
            <a:pPr algn="l"/>
            <a:r>
              <a:rPr sz="1000" b="0" i="0">
                <a:solidFill>
                  <a:srgbClr val="B8C8E0"/>
                </a:solidFill>
              </a:rPr>
              <a:t>Displayed on partner marketplaces — visible differentiation that grows with every registration, compounding trust over time.</a:t>
            </a:r>
          </a:p>
        </p:txBody>
      </p:sp>
      <p:sp>
        <p:nvSpPr>
          <p:cNvPr id="21" name="TextBox 20"/>
          <p:cNvSpPr txBox="1"/>
          <p:nvPr/>
        </p:nvSpPr>
        <p:spPr>
          <a:xfrm>
            <a:off x="6126480" y="3529583"/>
            <a:ext cx="5669280" cy="201168"/>
          </a:xfrm>
          <a:prstGeom prst="rect">
            <a:avLst/>
          </a:prstGeom>
          <a:noFill/>
        </p:spPr>
        <p:txBody>
          <a:bodyPr wrap="square">
            <a:spAutoFit/>
          </a:bodyPr>
          <a:lstStyle/>
          <a:p>
            <a:pPr algn="l"/>
            <a:r>
              <a:rPr sz="1000" b="1" i="0">
                <a:solidFill>
                  <a:srgbClr val="C8DCFF"/>
                </a:solidFill>
              </a:rPr>
              <a:t>Tier-based fee reductions</a:t>
            </a:r>
          </a:p>
        </p:txBody>
      </p:sp>
      <p:sp>
        <p:nvSpPr>
          <p:cNvPr id="22" name="TextBox 21"/>
          <p:cNvSpPr txBox="1"/>
          <p:nvPr/>
        </p:nvSpPr>
        <p:spPr>
          <a:xfrm>
            <a:off x="6126480" y="3749039"/>
            <a:ext cx="5669280" cy="347472"/>
          </a:xfrm>
          <a:prstGeom prst="rect">
            <a:avLst/>
          </a:prstGeom>
          <a:noFill/>
        </p:spPr>
        <p:txBody>
          <a:bodyPr wrap="square">
            <a:spAutoFit/>
          </a:bodyPr>
          <a:lstStyle/>
          <a:p>
            <a:pPr algn="l"/>
            <a:r>
              <a:rPr sz="1000" b="0" i="0">
                <a:solidFill>
                  <a:srgbClr val="B8C8E0"/>
                </a:solidFill>
              </a:rPr>
              <a:t>Higher verified inventory unlocks lower protocol fees on future ownership transfers — a direct financial incentive to keep growing.</a:t>
            </a:r>
          </a:p>
        </p:txBody>
      </p:sp>
      <p:sp>
        <p:nvSpPr>
          <p:cNvPr id="23" name="TextBox 22"/>
          <p:cNvSpPr txBox="1"/>
          <p:nvPr/>
        </p:nvSpPr>
        <p:spPr>
          <a:xfrm>
            <a:off x="6126480" y="4297680"/>
            <a:ext cx="5760720" cy="256032"/>
          </a:xfrm>
          <a:prstGeom prst="rect">
            <a:avLst/>
          </a:prstGeom>
          <a:noFill/>
        </p:spPr>
        <p:txBody>
          <a:bodyPr wrap="square">
            <a:spAutoFit/>
          </a:bodyPr>
          <a:lstStyle/>
          <a:p>
            <a:pPr algn="l"/>
            <a:r>
              <a:rPr sz="1000" b="1" i="0">
                <a:solidFill>
                  <a:srgbClr val="4EE59A"/>
                </a:solidFill>
              </a:rPr>
              <a:t>THE FLYWHEEL</a:t>
            </a:r>
          </a:p>
        </p:txBody>
      </p:sp>
      <p:sp>
        <p:nvSpPr>
          <p:cNvPr id="24" name="TextBox 23"/>
          <p:cNvSpPr txBox="1"/>
          <p:nvPr/>
        </p:nvSpPr>
        <p:spPr>
          <a:xfrm>
            <a:off x="6126480" y="4590288"/>
            <a:ext cx="5669280" cy="640080"/>
          </a:xfrm>
          <a:prstGeom prst="rect">
            <a:avLst/>
          </a:prstGeom>
          <a:noFill/>
        </p:spPr>
        <p:txBody>
          <a:bodyPr wrap="square">
            <a:spAutoFit/>
          </a:bodyPr>
          <a:lstStyle/>
          <a:p>
            <a:pPr algn="l"/>
            <a:r>
              <a:rPr sz="1050" b="0" i="0">
                <a:solidFill>
                  <a:srgbClr val="EDF4FF"/>
                </a:solidFill>
              </a:rPr>
              <a:t>Dealer registers old bike  →  buyer sees verified condition  →  buyer pays premium  →  dealer earns more per sale  →  dealer registers more bikes  →  protocol data grows  →  pricing improves for all participants.</a:t>
            </a:r>
          </a:p>
        </p:txBody>
      </p:sp>
      <p:sp>
        <p:nvSpPr>
          <p:cNvPr id="25" name="TextBox 24"/>
          <p:cNvSpPr txBox="1"/>
          <p:nvPr/>
        </p:nvSpPr>
        <p:spPr>
          <a:xfrm>
            <a:off x="640080" y="6629400"/>
            <a:ext cx="9052560" cy="182880"/>
          </a:xfrm>
          <a:prstGeom prst="rect">
            <a:avLst/>
          </a:prstGeom>
          <a:noFill/>
        </p:spPr>
        <p:txBody>
          <a:bodyPr wrap="square">
            <a:spAutoFit/>
          </a:bodyPr>
          <a:lstStyle/>
          <a:p>
            <a:pPr algn="l"/>
            <a:r>
              <a:rPr sz="850" b="0" i="0">
                <a:solidFill>
                  <a:srgbClr val="9CC6FF"/>
                </a:solidFill>
              </a:rPr>
              <a:t>Core reframe: MotoChain is not extra paperwork — it is the tool that turns old bikes into premium-priced inventory.</a:t>
            </a:r>
          </a:p>
        </p:txBody>
      </p:sp>
      <p:sp>
        <p:nvSpPr>
          <p:cNvPr id="26" name="TextBox 25"/>
          <p:cNvSpPr txBox="1"/>
          <p:nvPr/>
        </p:nvSpPr>
        <p:spPr>
          <a:xfrm>
            <a:off x="9601200" y="6656832"/>
            <a:ext cx="2286000" cy="164592"/>
          </a:xfrm>
          <a:prstGeom prst="rect">
            <a:avLst/>
          </a:prstGeom>
          <a:noFill/>
        </p:spPr>
        <p:txBody>
          <a:bodyPr wrap="square">
            <a:spAutoFit/>
          </a:bodyPr>
          <a:lstStyle/>
          <a:p>
            <a:pPr algn="r"/>
            <a:r>
              <a:rPr sz="850" b="1" i="0">
                <a:solidFill>
                  <a:srgbClr val="9CC6FF"/>
                </a:solidFill>
              </a:rPr>
              <a:t>MotoChain &amp; RideTrue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315200" cy="292608"/>
          </a:xfrm>
          <a:prstGeom prst="rect">
            <a:avLst/>
          </a:prstGeom>
          <a:noFill/>
        </p:spPr>
        <p:txBody>
          <a:bodyPr wrap="square">
            <a:spAutoFit/>
          </a:bodyPr>
          <a:lstStyle/>
          <a:p>
            <a:pPr algn="l"/>
            <a:r>
              <a:rPr sz="1100" b="1" i="0">
                <a:solidFill>
                  <a:srgbClr val="9CC6FF"/>
                </a:solidFill>
              </a:rPr>
              <a:t>II.5  ·  TOKEN UTILITY</a:t>
            </a:r>
          </a:p>
        </p:txBody>
      </p:sp>
      <p:sp>
        <p:nvSpPr>
          <p:cNvPr id="3" name="TextBox 2"/>
          <p:cNvSpPr txBox="1"/>
          <p:nvPr/>
        </p:nvSpPr>
        <p:spPr>
          <a:xfrm>
            <a:off x="640080" y="676656"/>
            <a:ext cx="10972800" cy="658368"/>
          </a:xfrm>
          <a:prstGeom prst="rect">
            <a:avLst/>
          </a:prstGeom>
          <a:noFill/>
        </p:spPr>
        <p:txBody>
          <a:bodyPr wrap="square">
            <a:spAutoFit/>
          </a:bodyPr>
          <a:lstStyle/>
          <a:p>
            <a:pPr algn="l"/>
            <a:r>
              <a:rPr sz="3600" b="1" i="0">
                <a:solidFill>
                  <a:srgbClr val="EDF4FF"/>
                </a:solidFill>
              </a:rPr>
              <a:t>$MOTO — EARN, NOT JUST HOLD</a:t>
            </a:r>
          </a:p>
        </p:txBody>
      </p:sp>
      <p:sp>
        <p:nvSpPr>
          <p:cNvPr id="4" name="TextBox 3"/>
          <p:cNvSpPr txBox="1"/>
          <p:nvPr/>
        </p:nvSpPr>
        <p:spPr>
          <a:xfrm>
            <a:off x="640080" y="1316736"/>
            <a:ext cx="11247120" cy="329184"/>
          </a:xfrm>
          <a:prstGeom prst="rect">
            <a:avLst/>
          </a:prstGeom>
          <a:noFill/>
        </p:spPr>
        <p:txBody>
          <a:bodyPr wrap="square">
            <a:spAutoFit/>
          </a:bodyPr>
          <a:lstStyle/>
          <a:p>
            <a:pPr algn="l"/>
            <a:r>
              <a:rPr sz="1300" b="0" i="0">
                <a:solidFill>
                  <a:srgbClr val="B8C8E0"/>
                </a:solidFill>
              </a:rPr>
              <a:t>Like Uniswap LP fees: put $MOTO to work in the protocol and earn from real activity — not token emissions.</a:t>
            </a:r>
          </a:p>
        </p:txBody>
      </p:sp>
      <p:sp>
        <p:nvSpPr>
          <p:cNvPr id="5" name="TextBox 4"/>
          <p:cNvSpPr txBox="1"/>
          <p:nvPr/>
        </p:nvSpPr>
        <p:spPr>
          <a:xfrm>
            <a:off x="640080" y="1700784"/>
            <a:ext cx="1097280" cy="54864"/>
          </a:xfrm>
          <a:prstGeom prst="rect">
            <a:avLst/>
          </a:prstGeom>
          <a:noFill/>
        </p:spPr>
        <p:txBody>
          <a:bodyPr wrap="square">
            <a:spAutoFit/>
          </a:bodyPr>
          <a:lstStyle/>
          <a:p>
            <a:pPr algn="l"/>
            <a:r>
              <a:rPr sz="950" b="0" i="0">
                <a:solidFill>
                  <a:srgbClr val="9CC6FF"/>
                </a:solidFill>
              </a:rPr>
              <a:t/>
            </a:r>
          </a:p>
        </p:txBody>
      </p:sp>
      <p:sp>
        <p:nvSpPr>
          <p:cNvPr id="6" name="TextBox 5"/>
          <p:cNvSpPr txBox="1"/>
          <p:nvPr/>
        </p:nvSpPr>
        <p:spPr>
          <a:xfrm>
            <a:off x="457200" y="1874519"/>
            <a:ext cx="2743200" cy="256032"/>
          </a:xfrm>
          <a:prstGeom prst="rect">
            <a:avLst/>
          </a:prstGeom>
          <a:noFill/>
        </p:spPr>
        <p:txBody>
          <a:bodyPr wrap="square">
            <a:spAutoFit/>
          </a:bodyPr>
          <a:lstStyle/>
          <a:p>
            <a:pPr algn="l"/>
            <a:r>
              <a:rPr sz="1000" b="1" i="0">
                <a:solidFill>
                  <a:srgbClr val="27D8D8"/>
                </a:solidFill>
              </a:rPr>
              <a:t>RIDERS</a:t>
            </a:r>
          </a:p>
        </p:txBody>
      </p:sp>
      <p:sp>
        <p:nvSpPr>
          <p:cNvPr id="7" name="TextBox 6"/>
          <p:cNvSpPr txBox="1"/>
          <p:nvPr/>
        </p:nvSpPr>
        <p:spPr>
          <a:xfrm>
            <a:off x="457200" y="2176272"/>
            <a:ext cx="2743200" cy="182880"/>
          </a:xfrm>
          <a:prstGeom prst="rect">
            <a:avLst/>
          </a:prstGeom>
          <a:noFill/>
        </p:spPr>
        <p:txBody>
          <a:bodyPr wrap="square">
            <a:spAutoFit/>
          </a:bodyPr>
          <a:lstStyle/>
          <a:p>
            <a:pPr algn="l"/>
            <a:r>
              <a:rPr sz="850" b="1" i="0">
                <a:solidFill>
                  <a:srgbClr val="9CC6FF"/>
                </a:solidFill>
              </a:rPr>
              <a:t>Action:</a:t>
            </a:r>
          </a:p>
        </p:txBody>
      </p:sp>
      <p:sp>
        <p:nvSpPr>
          <p:cNvPr id="8" name="TextBox 7"/>
          <p:cNvSpPr txBox="1"/>
          <p:nvPr/>
        </p:nvSpPr>
        <p:spPr>
          <a:xfrm>
            <a:off x="457200" y="2377440"/>
            <a:ext cx="2743200" cy="420624"/>
          </a:xfrm>
          <a:prstGeom prst="rect">
            <a:avLst/>
          </a:prstGeom>
          <a:noFill/>
        </p:spPr>
        <p:txBody>
          <a:bodyPr wrap="square">
            <a:spAutoFit/>
          </a:bodyPr>
          <a:lstStyle/>
          <a:p>
            <a:pPr algn="l"/>
            <a:r>
              <a:rPr sz="950" b="0" i="0">
                <a:solidFill>
                  <a:srgbClr val="EDF4FF"/>
                </a:solidFill>
              </a:rPr>
              <a:t>Maintain a high safety score + zero fraudulent claims</a:t>
            </a:r>
          </a:p>
        </p:txBody>
      </p:sp>
      <p:sp>
        <p:nvSpPr>
          <p:cNvPr id="9" name="TextBox 8"/>
          <p:cNvSpPr txBox="1"/>
          <p:nvPr/>
        </p:nvSpPr>
        <p:spPr>
          <a:xfrm>
            <a:off x="457200" y="2834640"/>
            <a:ext cx="2743200" cy="182880"/>
          </a:xfrm>
          <a:prstGeom prst="rect">
            <a:avLst/>
          </a:prstGeom>
          <a:noFill/>
        </p:spPr>
        <p:txBody>
          <a:bodyPr wrap="square">
            <a:spAutoFit/>
          </a:bodyPr>
          <a:lstStyle/>
          <a:p>
            <a:pPr algn="l"/>
            <a:r>
              <a:rPr sz="850" b="1" i="0">
                <a:solidFill>
                  <a:srgbClr val="27D8D8"/>
                </a:solidFill>
              </a:rPr>
              <a:t>Earn:</a:t>
            </a:r>
          </a:p>
        </p:txBody>
      </p:sp>
      <p:sp>
        <p:nvSpPr>
          <p:cNvPr id="10" name="TextBox 9"/>
          <p:cNvSpPr txBox="1"/>
          <p:nvPr/>
        </p:nvSpPr>
        <p:spPr>
          <a:xfrm>
            <a:off x="457200" y="3035808"/>
            <a:ext cx="2743200" cy="640080"/>
          </a:xfrm>
          <a:prstGeom prst="rect">
            <a:avLst/>
          </a:prstGeom>
          <a:noFill/>
        </p:spPr>
        <p:txBody>
          <a:bodyPr wrap="square">
            <a:spAutoFit/>
          </a:bodyPr>
          <a:lstStyle/>
          <a:p>
            <a:pPr algn="l"/>
            <a:r>
              <a:rPr sz="950" b="0" i="0">
                <a:solidFill>
                  <a:srgbClr val="B8C8E0"/>
                </a:solidFill>
              </a:rPr>
              <a:t>Stablecoin safe-rider rebates.
MOTO stake unlocks higher rebate tiers and priority dispute resolution.</a:t>
            </a:r>
          </a:p>
        </p:txBody>
      </p:sp>
      <p:sp>
        <p:nvSpPr>
          <p:cNvPr id="11" name="TextBox 10"/>
          <p:cNvSpPr txBox="1"/>
          <p:nvPr/>
        </p:nvSpPr>
        <p:spPr>
          <a:xfrm>
            <a:off x="3291840" y="1874519"/>
            <a:ext cx="2743200" cy="256032"/>
          </a:xfrm>
          <a:prstGeom prst="rect">
            <a:avLst/>
          </a:prstGeom>
          <a:noFill/>
        </p:spPr>
        <p:txBody>
          <a:bodyPr wrap="square">
            <a:spAutoFit/>
          </a:bodyPr>
          <a:lstStyle/>
          <a:p>
            <a:pPr algn="l"/>
            <a:r>
              <a:rPr sz="1000" b="1" i="0">
                <a:solidFill>
                  <a:srgbClr val="4EE59A"/>
                </a:solidFill>
              </a:rPr>
              <a:t>MECHANICS</a:t>
            </a:r>
          </a:p>
        </p:txBody>
      </p:sp>
      <p:sp>
        <p:nvSpPr>
          <p:cNvPr id="12" name="TextBox 11"/>
          <p:cNvSpPr txBox="1"/>
          <p:nvPr/>
        </p:nvSpPr>
        <p:spPr>
          <a:xfrm>
            <a:off x="3291840" y="2176272"/>
            <a:ext cx="2743200" cy="182880"/>
          </a:xfrm>
          <a:prstGeom prst="rect">
            <a:avLst/>
          </a:prstGeom>
          <a:noFill/>
        </p:spPr>
        <p:txBody>
          <a:bodyPr wrap="square">
            <a:spAutoFit/>
          </a:bodyPr>
          <a:lstStyle/>
          <a:p>
            <a:pPr algn="l"/>
            <a:r>
              <a:rPr sz="850" b="1" i="0">
                <a:solidFill>
                  <a:srgbClr val="9CC6FF"/>
                </a:solidFill>
              </a:rPr>
              <a:t>Action:</a:t>
            </a:r>
          </a:p>
        </p:txBody>
      </p:sp>
      <p:sp>
        <p:nvSpPr>
          <p:cNvPr id="13" name="TextBox 12"/>
          <p:cNvSpPr txBox="1"/>
          <p:nvPr/>
        </p:nvSpPr>
        <p:spPr>
          <a:xfrm>
            <a:off x="3291840" y="2377440"/>
            <a:ext cx="2743200" cy="420624"/>
          </a:xfrm>
          <a:prstGeom prst="rect">
            <a:avLst/>
          </a:prstGeom>
          <a:noFill/>
        </p:spPr>
        <p:txBody>
          <a:bodyPr wrap="square">
            <a:spAutoFit/>
          </a:bodyPr>
          <a:lstStyle/>
          <a:p>
            <a:pPr algn="l"/>
            <a:r>
              <a:rPr sz="950" b="0" i="0">
                <a:solidFill>
                  <a:srgbClr val="EDF4FF"/>
                </a:solidFill>
              </a:rPr>
              <a:t>Stake $MOTO → log verified service records</a:t>
            </a:r>
          </a:p>
        </p:txBody>
      </p:sp>
      <p:sp>
        <p:nvSpPr>
          <p:cNvPr id="14" name="TextBox 13"/>
          <p:cNvSpPr txBox="1"/>
          <p:nvPr/>
        </p:nvSpPr>
        <p:spPr>
          <a:xfrm>
            <a:off x="3291840" y="2834640"/>
            <a:ext cx="2743200" cy="182880"/>
          </a:xfrm>
          <a:prstGeom prst="rect">
            <a:avLst/>
          </a:prstGeom>
          <a:noFill/>
        </p:spPr>
        <p:txBody>
          <a:bodyPr wrap="square">
            <a:spAutoFit/>
          </a:bodyPr>
          <a:lstStyle/>
          <a:p>
            <a:pPr algn="l"/>
            <a:r>
              <a:rPr sz="850" b="1" i="0">
                <a:solidFill>
                  <a:srgbClr val="4EE59A"/>
                </a:solidFill>
              </a:rPr>
              <a:t>Earn:</a:t>
            </a:r>
          </a:p>
        </p:txBody>
      </p:sp>
      <p:sp>
        <p:nvSpPr>
          <p:cNvPr id="15" name="TextBox 14"/>
          <p:cNvSpPr txBox="1"/>
          <p:nvPr/>
        </p:nvSpPr>
        <p:spPr>
          <a:xfrm>
            <a:off x="3291840" y="3035808"/>
            <a:ext cx="2743200" cy="640080"/>
          </a:xfrm>
          <a:prstGeom prst="rect">
            <a:avLst/>
          </a:prstGeom>
          <a:noFill/>
        </p:spPr>
        <p:txBody>
          <a:bodyPr wrap="square">
            <a:spAutoFit/>
          </a:bodyPr>
          <a:lstStyle/>
          <a:p>
            <a:pPr algn="l"/>
            <a:r>
              <a:rPr sz="950" b="0" i="0">
                <a:solidFill>
                  <a:srgbClr val="B8C8E0"/>
                </a:solidFill>
              </a:rPr>
              <a:t>60% of ₩5,000 per entry (immediate fee share).
+MOTO rewards for quality-record streaks. Bad records slash the stake.</a:t>
            </a:r>
          </a:p>
        </p:txBody>
      </p:sp>
      <p:sp>
        <p:nvSpPr>
          <p:cNvPr id="16" name="TextBox 15"/>
          <p:cNvSpPr txBox="1"/>
          <p:nvPr/>
        </p:nvSpPr>
        <p:spPr>
          <a:xfrm>
            <a:off x="6126480" y="1874519"/>
            <a:ext cx="2743200" cy="256032"/>
          </a:xfrm>
          <a:prstGeom prst="rect">
            <a:avLst/>
          </a:prstGeom>
          <a:noFill/>
        </p:spPr>
        <p:txBody>
          <a:bodyPr wrap="square">
            <a:spAutoFit/>
          </a:bodyPr>
          <a:lstStyle/>
          <a:p>
            <a:pPr algn="l"/>
            <a:r>
              <a:rPr sz="1000" b="1" i="0">
                <a:solidFill>
                  <a:srgbClr val="FFBF56"/>
                </a:solidFill>
              </a:rPr>
              <a:t>DEALERS</a:t>
            </a:r>
          </a:p>
        </p:txBody>
      </p:sp>
      <p:sp>
        <p:nvSpPr>
          <p:cNvPr id="17" name="TextBox 16"/>
          <p:cNvSpPr txBox="1"/>
          <p:nvPr/>
        </p:nvSpPr>
        <p:spPr>
          <a:xfrm>
            <a:off x="6126480" y="2176272"/>
            <a:ext cx="2743200" cy="182880"/>
          </a:xfrm>
          <a:prstGeom prst="rect">
            <a:avLst/>
          </a:prstGeom>
          <a:noFill/>
        </p:spPr>
        <p:txBody>
          <a:bodyPr wrap="square">
            <a:spAutoFit/>
          </a:bodyPr>
          <a:lstStyle/>
          <a:p>
            <a:pPr algn="l"/>
            <a:r>
              <a:rPr sz="850" b="1" i="0">
                <a:solidFill>
                  <a:srgbClr val="9CC6FF"/>
                </a:solidFill>
              </a:rPr>
              <a:t>Action:</a:t>
            </a:r>
          </a:p>
        </p:txBody>
      </p:sp>
      <p:sp>
        <p:nvSpPr>
          <p:cNvPr id="18" name="TextBox 17"/>
          <p:cNvSpPr txBox="1"/>
          <p:nvPr/>
        </p:nvSpPr>
        <p:spPr>
          <a:xfrm>
            <a:off x="6126480" y="2377440"/>
            <a:ext cx="2743200" cy="420624"/>
          </a:xfrm>
          <a:prstGeom prst="rect">
            <a:avLst/>
          </a:prstGeom>
          <a:noFill/>
        </p:spPr>
        <p:txBody>
          <a:bodyPr wrap="square">
            <a:spAutoFit/>
          </a:bodyPr>
          <a:lstStyle/>
          <a:p>
            <a:pPr algn="l"/>
            <a:r>
              <a:rPr sz="950" b="0" i="0">
                <a:solidFill>
                  <a:srgbClr val="EDF4FF"/>
                </a:solidFill>
              </a:rPr>
              <a:t>Register bikes — especially older legacy inventory</a:t>
            </a:r>
          </a:p>
        </p:txBody>
      </p:sp>
      <p:sp>
        <p:nvSpPr>
          <p:cNvPr id="19" name="TextBox 18"/>
          <p:cNvSpPr txBox="1"/>
          <p:nvPr/>
        </p:nvSpPr>
        <p:spPr>
          <a:xfrm>
            <a:off x="6126480" y="2834640"/>
            <a:ext cx="2743200" cy="182880"/>
          </a:xfrm>
          <a:prstGeom prst="rect">
            <a:avLst/>
          </a:prstGeom>
          <a:noFill/>
        </p:spPr>
        <p:txBody>
          <a:bodyPr wrap="square">
            <a:spAutoFit/>
          </a:bodyPr>
          <a:lstStyle/>
          <a:p>
            <a:pPr algn="l"/>
            <a:r>
              <a:rPr sz="850" b="1" i="0">
                <a:solidFill>
                  <a:srgbClr val="FFBF56"/>
                </a:solidFill>
              </a:rPr>
              <a:t>Earn:</a:t>
            </a:r>
          </a:p>
        </p:txBody>
      </p:sp>
      <p:sp>
        <p:nvSpPr>
          <p:cNvPr id="20" name="TextBox 19"/>
          <p:cNvSpPr txBox="1"/>
          <p:nvPr/>
        </p:nvSpPr>
        <p:spPr>
          <a:xfrm>
            <a:off x="6126480" y="3035808"/>
            <a:ext cx="2743200" cy="640080"/>
          </a:xfrm>
          <a:prstGeom prst="rect">
            <a:avLst/>
          </a:prstGeom>
          <a:noFill/>
        </p:spPr>
        <p:txBody>
          <a:bodyPr wrap="square">
            <a:spAutoFit/>
          </a:bodyPr>
          <a:lstStyle/>
          <a:p>
            <a:pPr algn="l"/>
            <a:r>
              <a:rPr sz="950" b="0" i="0">
                <a:solidFill>
                  <a:srgbClr val="B8C8E0"/>
                </a:solidFill>
              </a:rPr>
              <a:t>MOTO from the 30% community ecosystem bucket.
Higher verified count = lower protocol fees on future transfers.</a:t>
            </a:r>
          </a:p>
        </p:txBody>
      </p:sp>
      <p:sp>
        <p:nvSpPr>
          <p:cNvPr id="21" name="TextBox 20"/>
          <p:cNvSpPr txBox="1"/>
          <p:nvPr/>
        </p:nvSpPr>
        <p:spPr>
          <a:xfrm>
            <a:off x="8961120" y="1874519"/>
            <a:ext cx="2743200" cy="256032"/>
          </a:xfrm>
          <a:prstGeom prst="rect">
            <a:avLst/>
          </a:prstGeom>
          <a:noFill/>
        </p:spPr>
        <p:txBody>
          <a:bodyPr wrap="square">
            <a:spAutoFit/>
          </a:bodyPr>
          <a:lstStyle/>
          <a:p>
            <a:pPr algn="l"/>
            <a:r>
              <a:rPr sz="1000" b="1" i="0">
                <a:solidFill>
                  <a:srgbClr val="4AA3FF"/>
                </a:solidFill>
              </a:rPr>
              <a:t>VALIDATORS &amp; ORACLES</a:t>
            </a:r>
          </a:p>
        </p:txBody>
      </p:sp>
      <p:sp>
        <p:nvSpPr>
          <p:cNvPr id="22" name="TextBox 21"/>
          <p:cNvSpPr txBox="1"/>
          <p:nvPr/>
        </p:nvSpPr>
        <p:spPr>
          <a:xfrm>
            <a:off x="8961120" y="2176272"/>
            <a:ext cx="2743200" cy="182880"/>
          </a:xfrm>
          <a:prstGeom prst="rect">
            <a:avLst/>
          </a:prstGeom>
          <a:noFill/>
        </p:spPr>
        <p:txBody>
          <a:bodyPr wrap="square">
            <a:spAutoFit/>
          </a:bodyPr>
          <a:lstStyle/>
          <a:p>
            <a:pPr algn="l"/>
            <a:r>
              <a:rPr sz="850" b="1" i="0">
                <a:solidFill>
                  <a:srgbClr val="9CC6FF"/>
                </a:solidFill>
              </a:rPr>
              <a:t>Action:</a:t>
            </a:r>
          </a:p>
        </p:txBody>
      </p:sp>
      <p:sp>
        <p:nvSpPr>
          <p:cNvPr id="23" name="TextBox 22"/>
          <p:cNvSpPr txBox="1"/>
          <p:nvPr/>
        </p:nvSpPr>
        <p:spPr>
          <a:xfrm>
            <a:off x="8961120" y="2377440"/>
            <a:ext cx="2743200" cy="420624"/>
          </a:xfrm>
          <a:prstGeom prst="rect">
            <a:avLst/>
          </a:prstGeom>
          <a:noFill/>
        </p:spPr>
        <p:txBody>
          <a:bodyPr wrap="square">
            <a:spAutoFit/>
          </a:bodyPr>
          <a:lstStyle/>
          <a:p>
            <a:pPr algn="l"/>
            <a:r>
              <a:rPr sz="950" b="0" i="0">
                <a:solidFill>
                  <a:srgbClr val="EDF4FF"/>
                </a:solidFill>
              </a:rPr>
              <a:t>Stake $MOTO to validate claims and data feeds</a:t>
            </a:r>
          </a:p>
        </p:txBody>
      </p:sp>
      <p:sp>
        <p:nvSpPr>
          <p:cNvPr id="24" name="TextBox 23"/>
          <p:cNvSpPr txBox="1"/>
          <p:nvPr/>
        </p:nvSpPr>
        <p:spPr>
          <a:xfrm>
            <a:off x="8961120" y="2834640"/>
            <a:ext cx="2743200" cy="182880"/>
          </a:xfrm>
          <a:prstGeom prst="rect">
            <a:avLst/>
          </a:prstGeom>
          <a:noFill/>
        </p:spPr>
        <p:txBody>
          <a:bodyPr wrap="square">
            <a:spAutoFit/>
          </a:bodyPr>
          <a:lstStyle/>
          <a:p>
            <a:pPr algn="l"/>
            <a:r>
              <a:rPr sz="850" b="1" i="0">
                <a:solidFill>
                  <a:srgbClr val="4AA3FF"/>
                </a:solidFill>
              </a:rPr>
              <a:t>Earn:</a:t>
            </a:r>
          </a:p>
        </p:txBody>
      </p:sp>
      <p:sp>
        <p:nvSpPr>
          <p:cNvPr id="25" name="TextBox 24"/>
          <p:cNvSpPr txBox="1"/>
          <p:nvPr/>
        </p:nvSpPr>
        <p:spPr>
          <a:xfrm>
            <a:off x="8961120" y="3035808"/>
            <a:ext cx="2743200" cy="640080"/>
          </a:xfrm>
          <a:prstGeom prst="rect">
            <a:avLst/>
          </a:prstGeom>
          <a:noFill/>
        </p:spPr>
        <p:txBody>
          <a:bodyPr wrap="square">
            <a:spAutoFit/>
          </a:bodyPr>
          <a:lstStyle/>
          <a:p>
            <a:pPr algn="l"/>
            <a:r>
              <a:rPr sz="950" b="0" i="0">
                <a:solidFill>
                  <a:srgbClr val="B8C8E0"/>
                </a:solidFill>
              </a:rPr>
              <a:t>Share of claim-processing fees on every approved claim.
Slashed for bad data. Rewarded for accurate, timely consensus.</a:t>
            </a:r>
          </a:p>
        </p:txBody>
      </p:sp>
      <p:sp>
        <p:nvSpPr>
          <p:cNvPr id="26" name="TextBox 25"/>
          <p:cNvSpPr txBox="1"/>
          <p:nvPr/>
        </p:nvSpPr>
        <p:spPr>
          <a:xfrm>
            <a:off x="457200" y="3794760"/>
            <a:ext cx="11247120" cy="36576"/>
          </a:xfrm>
          <a:prstGeom prst="rect">
            <a:avLst/>
          </a:prstGeom>
          <a:noFill/>
        </p:spPr>
        <p:txBody>
          <a:bodyPr wrap="square">
            <a:spAutoFit/>
          </a:bodyPr>
          <a:lstStyle/>
          <a:p>
            <a:pPr algn="l"/>
            <a:r>
              <a:rPr sz="950" b="0" i="0">
                <a:solidFill>
                  <a:srgbClr val="9CC6FF"/>
                </a:solidFill>
              </a:rPr>
              <a:t/>
            </a:r>
          </a:p>
        </p:txBody>
      </p:sp>
      <p:sp>
        <p:nvSpPr>
          <p:cNvPr id="27" name="TextBox 26"/>
          <p:cNvSpPr txBox="1"/>
          <p:nvPr/>
        </p:nvSpPr>
        <p:spPr>
          <a:xfrm>
            <a:off x="457200" y="3913632"/>
            <a:ext cx="5394960" cy="256032"/>
          </a:xfrm>
          <a:prstGeom prst="rect">
            <a:avLst/>
          </a:prstGeom>
          <a:noFill/>
        </p:spPr>
        <p:txBody>
          <a:bodyPr wrap="square">
            <a:spAutoFit/>
          </a:bodyPr>
          <a:lstStyle/>
          <a:p>
            <a:pPr algn="l"/>
            <a:r>
              <a:rPr sz="1000" b="1" i="0">
                <a:solidFill>
                  <a:srgbClr val="FFBF56"/>
                </a:solidFill>
              </a:rPr>
              <a:t>MOTO AS FEES</a:t>
            </a:r>
          </a:p>
        </p:txBody>
      </p:sp>
      <p:sp>
        <p:nvSpPr>
          <p:cNvPr id="28" name="TextBox 27"/>
          <p:cNvSpPr txBox="1"/>
          <p:nvPr/>
        </p:nvSpPr>
        <p:spPr>
          <a:xfrm>
            <a:off x="457200" y="4206240"/>
            <a:ext cx="5394960" cy="914400"/>
          </a:xfrm>
          <a:prstGeom prst="rect">
            <a:avLst/>
          </a:prstGeom>
          <a:noFill/>
        </p:spPr>
        <p:txBody>
          <a:bodyPr wrap="square">
            <a:spAutoFit/>
          </a:bodyPr>
          <a:lstStyle/>
          <a:p>
            <a:pPr algn="l"/>
            <a:r>
              <a:rPr sz="1050" b="0" i="0">
                <a:solidFill>
                  <a:srgbClr val="EDF4FF"/>
                </a:solidFill>
              </a:rPr>
              <a:t>VIN registration, ownership transfer, and API access fees can all be paid in $MOTO at a 20% discount versus stablecoin. The protocol burns a share of received $MOTO and routes the rest to the treasury — reducing stablecoin friction for early participants and creating a deflationary sink for the token.</a:t>
            </a:r>
          </a:p>
        </p:txBody>
      </p:sp>
      <p:sp>
        <p:nvSpPr>
          <p:cNvPr id="29" name="TextBox 28"/>
          <p:cNvSpPr txBox="1"/>
          <p:nvPr/>
        </p:nvSpPr>
        <p:spPr>
          <a:xfrm>
            <a:off x="6035040" y="3913632"/>
            <a:ext cx="5577840" cy="256032"/>
          </a:xfrm>
          <a:prstGeom prst="rect">
            <a:avLst/>
          </a:prstGeom>
          <a:noFill/>
        </p:spPr>
        <p:txBody>
          <a:bodyPr wrap="square">
            <a:spAutoFit/>
          </a:bodyPr>
          <a:lstStyle/>
          <a:p>
            <a:pPr algn="l"/>
            <a:r>
              <a:rPr sz="1000" b="1" i="0">
                <a:solidFill>
                  <a:srgbClr val="27D8D8"/>
                </a:solidFill>
              </a:rPr>
              <a:t>GOVERNANCE = PERMISSIONLESS FEES</a:t>
            </a:r>
          </a:p>
        </p:txBody>
      </p:sp>
      <p:sp>
        <p:nvSpPr>
          <p:cNvPr id="30" name="TextBox 29"/>
          <p:cNvSpPr txBox="1"/>
          <p:nvPr/>
        </p:nvSpPr>
        <p:spPr>
          <a:xfrm>
            <a:off x="6035040" y="4206240"/>
            <a:ext cx="5577840" cy="914400"/>
          </a:xfrm>
          <a:prstGeom prst="rect">
            <a:avLst/>
          </a:prstGeom>
          <a:noFill/>
        </p:spPr>
        <p:txBody>
          <a:bodyPr wrap="square">
            <a:spAutoFit/>
          </a:bodyPr>
          <a:lstStyle/>
          <a:p>
            <a:pPr algn="l"/>
            <a:r>
              <a:rPr sz="1050" b="0" i="0">
                <a:solidFill>
                  <a:srgbClr val="EDF4FF"/>
                </a:solidFill>
              </a:rPr>
              <a:t>Fee rates are not set by founders — they are voted by $MOTO holders. Any holder can submit a governance proposal to adjust fees, reserve ratios, or reward formulas. Governance enforces permissionless parameter control: the protocol serves its community, not a central admin. Mechanics need no business licence — stake is the credential.</a:t>
            </a:r>
          </a:p>
        </p:txBody>
      </p:sp>
      <p:sp>
        <p:nvSpPr>
          <p:cNvPr id="31" name="TextBox 30"/>
          <p:cNvSpPr txBox="1"/>
          <p:nvPr/>
        </p:nvSpPr>
        <p:spPr>
          <a:xfrm>
            <a:off x="640080" y="6629400"/>
            <a:ext cx="9052560" cy="182880"/>
          </a:xfrm>
          <a:prstGeom prst="rect">
            <a:avLst/>
          </a:prstGeom>
          <a:noFill/>
        </p:spPr>
        <p:txBody>
          <a:bodyPr wrap="square">
            <a:spAutoFit/>
          </a:bodyPr>
          <a:lstStyle/>
          <a:p>
            <a:pPr algn="l"/>
            <a:r>
              <a:rPr sz="850" b="0" i="0">
                <a:solidFill>
                  <a:srgbClr val="9CC6FF"/>
                </a:solidFill>
              </a:rPr>
              <a:t>Your stake is your entry credential. Earn from the activity you create — mechanics, dealers, validators, and riders all have a direct economic reason to contribute quality data.</a:t>
            </a:r>
          </a:p>
        </p:txBody>
      </p:sp>
      <p:sp>
        <p:nvSpPr>
          <p:cNvPr id="32" name="TextBox 31"/>
          <p:cNvSpPr txBox="1"/>
          <p:nvPr/>
        </p:nvSpPr>
        <p:spPr>
          <a:xfrm>
            <a:off x="9601200" y="6656832"/>
            <a:ext cx="2286000" cy="164592"/>
          </a:xfrm>
          <a:prstGeom prst="rect">
            <a:avLst/>
          </a:prstGeom>
          <a:noFill/>
        </p:spPr>
        <p:txBody>
          <a:bodyPr wrap="square">
            <a:spAutoFit/>
          </a:bodyPr>
          <a:lstStyle/>
          <a:p>
            <a:pPr algn="r"/>
            <a:r>
              <a:rPr sz="850" b="1" i="0">
                <a:solidFill>
                  <a:srgbClr val="9CC6FF"/>
                </a:solidFill>
              </a:rPr>
              <a:t>MotoChain &amp; RideTrue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427A57-3C4A-4543-BF97-47A4E97517E0}">
  <we:reference id="wa200010001" version="1.0.0.1" store="ko-KR" storeType="OMEX"/>
  <we:alternateReferences>
    <we:reference id="WA200010001" version="1.0.0.1" store="WA200010001" storeType="OMEX"/>
  </we:alternateReferences>
  <we:properties>
    <we:property name="claude.fileId" value="&quot;299b053a-fc29-4cf8-9ae3-61940a6f2b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1954</TotalTime>
  <Words>5285</Words>
  <Application>Microsoft Macintosh PowerPoint</Application>
  <PresentationFormat>와이드스크린</PresentationFormat>
  <Paragraphs>824</Paragraphs>
  <Slides>25</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25</vt:i4>
      </vt:variant>
    </vt:vector>
  </HeadingPairs>
  <TitlesOfParts>
    <vt:vector size="29" baseType="lpstr">
      <vt:lpstr>Aptos</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김미르</cp:lastModifiedBy>
  <cp:revision>9</cp:revision>
  <dcterms:created xsi:type="dcterms:W3CDTF">2013-01-27T09:14:16Z</dcterms:created>
  <dcterms:modified xsi:type="dcterms:W3CDTF">2026-05-21T12:45:47Z</dcterms:modified>
  <cp:category/>
</cp:coreProperties>
</file>